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of 45,598 customers holding THB 1,644,200,214 prior, THB 1,622,770,549 latest, −THB 21.4m or −1.3%. The split on the Save More flag is the whole story: 39,212 customers without it lost −THB 38.3m (−9.0%), while 6,386 with it gained +THB 16.9m (+1.4%). Sharpest of all is the group that emptied Save Max without a Save More holding: 3,722 customers retaining only 64.6% of balance. Note the direction of the move rate: Save More holders move out of Save Max far more often (43.0% against 9.5%) but the money stays in the bank, so moving the pocket and leaving the bank are different events. Caveat on composition: Save More holders are much larger balances - average THB 190,632 against THB 10,885 - so part of the gap is who holds the product rather than the product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customers are 25,711, 56.4% of the base and 57.5% of prior balance. They lost −THB 43.8m (−4.6%) while non-quality customers gained +THB 22.3m (+3.2%). Crossing quality with the Save More flag isolates it completely: quality customers without Save More lost −THB 43.8m, which is the entire quality-customer loss, while quality customers with Save More moved from THB 691,337,377 to THB 691,361,064, effectively flat. Both non-quality cells gained +3.2% and +3.2%. Within the target group the damage is worst among those who emptied Save Max - 2,639 customers down −54.0% - but the 19,639 who stayed still lost −8.0%, so this is not only a maturity event. Caveat: quality is a binary supplied with the data and its definition should be confirmed before it is used for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group: 22,278 quality customers with no Save More, holding THB 211,057,066 today against THB 254,840,501 last period, −THB 43.8m or −17.2%. Average balance THB 11,439. The proposal is a second savings pocket sized for this group. Save More's THB 1m cap is built for the existing holder base, which averages THB 190,632; a product aimed at a THB 11,439 balance is a different design. Timing matters more than rate: the worst cell is the one that emptied Save Max, so the offer has to land before maturity rather than after the balance has already moved. On sizing the prize: +THB 43.8m is simply the observed loss, shown as what the period would have looked like had the group held flat like quality customers with Save More. It is not a forecast, and the two groups differ sharply in balance - THB 11,439 against THB 201,380 - so the comparison is indicative only. Recommend running the next maturity wave with a held-out control group so the effect can be measured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Without Save More, the money leaves the bank</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*Save More flag read as held (1) or not held (null in source). Balances are total deposit balance, prior against latest period.</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Base 45,598   ·   Without Save More 39,212 (−THB 38.3m, −9.0%)   ·   With Save More 6,386 (+THB 16.9m, +1.4%)</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The two groups move in opposite directions: without Save More the balance goes, with it the balance stays.</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39,212</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without Save More</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86.0% of base · avg THB 10,885</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38.3m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lost</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−9.0% period on period</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6,386</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with Save More</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14.0% of base · avg THB 190,632</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+THB 16.9m</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gained</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+1.4% period on period</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Balance by Save More holding and Save Max behaviour</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Balances in THB m · 'Move' means the Save Max pocket is now empty</a:t>
            </a:r>
            <a:endParaRPr lang="en-US" sz="9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49808" y="3474720"/>
          <a:ext cx="6281928" cy="914400"/>
        </p:xfrm>
        <a:graphic>
          <a:graphicData uri="http://schemas.openxmlformats.org/drawingml/2006/table">
            <a:tbl>
              <a:tblPr/>
              <a:tblGrid>
                <a:gridCol w="1755648"/>
                <a:gridCol w="932688"/>
                <a:gridCol w="841248"/>
                <a:gridCol w="841248"/>
                <a:gridCol w="932688"/>
                <a:gridCol w="978408"/>
              </a:tblGrid>
              <a:tr h="237744">
                <a:tc>
                  <a:txBody>
                    <a:bodyPr/>
                    <a:lstStyle/>
                    <a:p>
                      <a:pPr algn="l" indent="0" marL="0">
                        <a:buNone/>
                      </a:pPr>
                      <a:r>
                        <a:rPr lang="en-US" sz="850" b="1" dirty="0">
                          <a:solidFill>
                            <a:srgbClr val="FFFFFF"/>
                          </a:solidFill>
                          <a:latin typeface="Graphik TH" pitchFamily="34" charset="0"/>
                          <a:ea typeface="Graphik TH" pitchFamily="34" charset="-122"/>
                          <a:cs typeface="Graphik TH" pitchFamily="34" charset="-120"/>
                        </a:rPr>
                        <a:t>Group</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Customers</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Prior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Latest</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Change</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Change %</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56032">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No Save More · moved</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3,722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74.3</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48.0</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−26.3m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−35.4%</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No Save More · stayed</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35,490</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352.6</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340.6</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−12.0m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−3.4%</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Has Save More · moved</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2,747</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681.2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686.5</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+5.2m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+0.8%</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Has Save More · stayed</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3,639</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536.1</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547.8</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+11.6m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+2.2%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56032">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All</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b="1" dirty="0">
                          <a:solidFill>
                            <a:srgbClr val="16233D"/>
                          </a:solidFill>
                          <a:latin typeface="Graphik TH" pitchFamily="34" charset="0"/>
                          <a:ea typeface="Graphik TH" pitchFamily="34" charset="-122"/>
                          <a:cs typeface="Graphik TH" pitchFamily="34" charset="-120"/>
                        </a:rPr>
                        <a:t>45,598</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b="1" dirty="0">
                          <a:solidFill>
                            <a:srgbClr val="16233D"/>
                          </a:solidFill>
                          <a:latin typeface="Graphik TH" pitchFamily="34" charset="0"/>
                          <a:ea typeface="Graphik TH" pitchFamily="34" charset="-122"/>
                          <a:cs typeface="Graphik TH" pitchFamily="34" charset="-120"/>
                        </a:rPr>
                        <a:t>1644.2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b="1" dirty="0">
                          <a:solidFill>
                            <a:srgbClr val="16233D"/>
                          </a:solidFill>
                          <a:latin typeface="Graphik TH" pitchFamily="34" charset="0"/>
                          <a:ea typeface="Graphik TH" pitchFamily="34" charset="-122"/>
                          <a:cs typeface="Graphik TH" pitchFamily="34" charset="-120"/>
                        </a:rPr>
                        <a:t>1622.8</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−21.4m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−1.3%</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r>
            </a:tbl>
          </a:graphicData>
        </a:graphic>
      </p:graphicFrame>
      <p:sp>
        <p:nvSpPr>
          <p:cNvPr id="26" name="Shape 23"/>
          <p:cNvSpPr/>
          <p:nvPr/>
        </p:nvSpPr>
        <p:spPr>
          <a:xfrm>
            <a:off x="7479792" y="2798064"/>
            <a:ext cx="4325112" cy="2322576"/>
          </a:xfrm>
          <a:prstGeom prst="roundRect">
            <a:avLst>
              <a:gd name="adj" fmla="val 3543"/>
            </a:avLst>
          </a:prstGeom>
          <a:solidFill>
            <a:srgbClr val="F1F4F9"/>
          </a:solidFill>
          <a:ln/>
        </p:spPr>
      </p:sp>
      <p:sp>
        <p:nvSpPr>
          <p:cNvPr id="27" name="Text 24"/>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Balance retained</a:t>
            </a:r>
            <a:endParaRPr lang="en-US" sz="1400" dirty="0"/>
          </a:p>
        </p:txBody>
      </p:sp>
      <p:sp>
        <p:nvSpPr>
          <p:cNvPr id="28" name="Text 25"/>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Latest ÷ prior · the rule marks 100%</a:t>
            </a:r>
            <a:endParaRPr lang="en-US" sz="950" dirty="0"/>
          </a:p>
        </p:txBody>
      </p:sp>
      <p:sp>
        <p:nvSpPr>
          <p:cNvPr id="29" name="Shape 26"/>
          <p:cNvSpPr/>
          <p:nvPr/>
        </p:nvSpPr>
        <p:spPr>
          <a:xfrm>
            <a:off x="10304457" y="3456432"/>
            <a:ext cx="10973" cy="1298448"/>
          </a:xfrm>
          <a:prstGeom prst="rect">
            <a:avLst/>
          </a:prstGeom>
          <a:solidFill>
            <a:srgbClr val="6B7A90"/>
          </a:solidFill>
          <a:ln/>
        </p:spPr>
      </p:sp>
      <p:sp>
        <p:nvSpPr>
          <p:cNvPr id="30" name="Text 27"/>
          <p:cNvSpPr/>
          <p:nvPr/>
        </p:nvSpPr>
        <p:spPr>
          <a:xfrm>
            <a:off x="7735824" y="3493008"/>
            <a:ext cx="1243584"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No SM · moved</a:t>
            </a:r>
            <a:endParaRPr lang="en-US" sz="950" dirty="0"/>
          </a:p>
        </p:txBody>
      </p:sp>
      <p:sp>
        <p:nvSpPr>
          <p:cNvPr id="31" name="Shape 28"/>
          <p:cNvSpPr/>
          <p:nvPr/>
        </p:nvSpPr>
        <p:spPr>
          <a:xfrm>
            <a:off x="9015984" y="3538728"/>
            <a:ext cx="1417320" cy="164592"/>
          </a:xfrm>
          <a:prstGeom prst="roundRect">
            <a:avLst>
              <a:gd name="adj" fmla="val 16667"/>
            </a:avLst>
          </a:prstGeom>
          <a:solidFill>
            <a:srgbClr val="E4E9F0"/>
          </a:solidFill>
          <a:ln/>
        </p:spPr>
      </p:sp>
      <p:sp>
        <p:nvSpPr>
          <p:cNvPr id="32" name="Shape 29"/>
          <p:cNvSpPr/>
          <p:nvPr/>
        </p:nvSpPr>
        <p:spPr>
          <a:xfrm>
            <a:off x="9015984" y="3538728"/>
            <a:ext cx="832208" cy="164592"/>
          </a:xfrm>
          <a:prstGeom prst="roundRect">
            <a:avLst>
              <a:gd name="adj" fmla="val 16667"/>
            </a:avLst>
          </a:prstGeom>
          <a:solidFill>
            <a:srgbClr val="C00000"/>
          </a:solidFill>
          <a:ln/>
        </p:spPr>
      </p:sp>
      <p:sp>
        <p:nvSpPr>
          <p:cNvPr id="33" name="Text 30"/>
          <p:cNvSpPr/>
          <p:nvPr/>
        </p:nvSpPr>
        <p:spPr>
          <a:xfrm>
            <a:off x="10570464" y="3493008"/>
            <a:ext cx="978408" cy="256032"/>
          </a:xfrm>
          <a:prstGeom prst="rect">
            <a:avLst/>
          </a:prstGeom>
          <a:noFill/>
          <a:ln/>
        </p:spPr>
        <p:txBody>
          <a:bodyPr wrap="square" lIns="0" tIns="0" rIns="0" bIns="0" rtlCol="0" anchor="ctr"/>
          <a:lstStyle/>
          <a:p>
            <a:pPr algn="r" indent="0" marL="0">
              <a:buNone/>
            </a:pPr>
            <a:r>
              <a:rPr lang="en-US" sz="950" b="1" dirty="0">
                <a:solidFill>
                  <a:srgbClr val="C00000"/>
                </a:solidFill>
                <a:latin typeface="Graphik TH" pitchFamily="34" charset="0"/>
                <a:ea typeface="Graphik TH" pitchFamily="34" charset="-122"/>
                <a:cs typeface="Graphik TH" pitchFamily="34" charset="-120"/>
              </a:rPr>
              <a:t>64.6%</a:t>
            </a:r>
            <a:endParaRPr lang="en-US" sz="950" dirty="0"/>
          </a:p>
        </p:txBody>
      </p:sp>
      <p:sp>
        <p:nvSpPr>
          <p:cNvPr id="34" name="Text 31"/>
          <p:cNvSpPr/>
          <p:nvPr/>
        </p:nvSpPr>
        <p:spPr>
          <a:xfrm>
            <a:off x="7735824" y="3803904"/>
            <a:ext cx="1243584"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No SM · stayed</a:t>
            </a:r>
            <a:endParaRPr lang="en-US" sz="950" dirty="0"/>
          </a:p>
        </p:txBody>
      </p:sp>
      <p:sp>
        <p:nvSpPr>
          <p:cNvPr id="35" name="Shape 32"/>
          <p:cNvSpPr/>
          <p:nvPr/>
        </p:nvSpPr>
        <p:spPr>
          <a:xfrm>
            <a:off x="9015984" y="3849624"/>
            <a:ext cx="1417320" cy="164592"/>
          </a:xfrm>
          <a:prstGeom prst="roundRect">
            <a:avLst>
              <a:gd name="adj" fmla="val 16667"/>
            </a:avLst>
          </a:prstGeom>
          <a:solidFill>
            <a:srgbClr val="E4E9F0"/>
          </a:solidFill>
          <a:ln/>
        </p:spPr>
      </p:sp>
      <p:sp>
        <p:nvSpPr>
          <p:cNvPr id="36" name="Shape 33"/>
          <p:cNvSpPr/>
          <p:nvPr/>
        </p:nvSpPr>
        <p:spPr>
          <a:xfrm>
            <a:off x="9015984" y="3849624"/>
            <a:ext cx="1244640" cy="164592"/>
          </a:xfrm>
          <a:prstGeom prst="roundRect">
            <a:avLst>
              <a:gd name="adj" fmla="val 16667"/>
            </a:avLst>
          </a:prstGeom>
          <a:solidFill>
            <a:srgbClr val="C00000"/>
          </a:solidFill>
          <a:ln/>
        </p:spPr>
      </p:sp>
      <p:sp>
        <p:nvSpPr>
          <p:cNvPr id="37" name="Text 34"/>
          <p:cNvSpPr/>
          <p:nvPr/>
        </p:nvSpPr>
        <p:spPr>
          <a:xfrm>
            <a:off x="10570464" y="3803904"/>
            <a:ext cx="978408" cy="256032"/>
          </a:xfrm>
          <a:prstGeom prst="rect">
            <a:avLst/>
          </a:prstGeom>
          <a:noFill/>
          <a:ln/>
        </p:spPr>
        <p:txBody>
          <a:bodyPr wrap="square" lIns="0" tIns="0" rIns="0" bIns="0" rtlCol="0" anchor="ctr"/>
          <a:lstStyle/>
          <a:p>
            <a:pPr algn="r" indent="0" marL="0">
              <a:buNone/>
            </a:pPr>
            <a:r>
              <a:rPr lang="en-US" sz="950" b="1" dirty="0">
                <a:solidFill>
                  <a:srgbClr val="C00000"/>
                </a:solidFill>
                <a:latin typeface="Graphik TH" pitchFamily="34" charset="0"/>
                <a:ea typeface="Graphik TH" pitchFamily="34" charset="-122"/>
                <a:cs typeface="Graphik TH" pitchFamily="34" charset="-120"/>
              </a:rPr>
              <a:t>96.6%</a:t>
            </a:r>
            <a:endParaRPr lang="en-US" sz="950" dirty="0"/>
          </a:p>
        </p:txBody>
      </p:sp>
      <p:sp>
        <p:nvSpPr>
          <p:cNvPr id="38" name="Text 35"/>
          <p:cNvSpPr/>
          <p:nvPr/>
        </p:nvSpPr>
        <p:spPr>
          <a:xfrm>
            <a:off x="7735824" y="4114800"/>
            <a:ext cx="1243584"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Has SM · moved</a:t>
            </a:r>
            <a:endParaRPr lang="en-US" sz="950" dirty="0"/>
          </a:p>
        </p:txBody>
      </p:sp>
      <p:sp>
        <p:nvSpPr>
          <p:cNvPr id="39" name="Shape 36"/>
          <p:cNvSpPr/>
          <p:nvPr/>
        </p:nvSpPr>
        <p:spPr>
          <a:xfrm>
            <a:off x="9015984" y="4160520"/>
            <a:ext cx="1417320" cy="164592"/>
          </a:xfrm>
          <a:prstGeom prst="roundRect">
            <a:avLst>
              <a:gd name="adj" fmla="val 16667"/>
            </a:avLst>
          </a:prstGeom>
          <a:solidFill>
            <a:srgbClr val="E4E9F0"/>
          </a:solidFill>
          <a:ln/>
        </p:spPr>
      </p:sp>
      <p:sp>
        <p:nvSpPr>
          <p:cNvPr id="40" name="Shape 37"/>
          <p:cNvSpPr/>
          <p:nvPr/>
        </p:nvSpPr>
        <p:spPr>
          <a:xfrm>
            <a:off x="9015984" y="4160520"/>
            <a:ext cx="1298357" cy="164592"/>
          </a:xfrm>
          <a:prstGeom prst="roundRect">
            <a:avLst>
              <a:gd name="adj" fmla="val 16667"/>
            </a:avLst>
          </a:prstGeom>
          <a:solidFill>
            <a:srgbClr val="1E8E86"/>
          </a:solidFill>
          <a:ln/>
        </p:spPr>
      </p:sp>
      <p:sp>
        <p:nvSpPr>
          <p:cNvPr id="41" name="Text 38"/>
          <p:cNvSpPr/>
          <p:nvPr/>
        </p:nvSpPr>
        <p:spPr>
          <a:xfrm>
            <a:off x="10570464" y="4114800"/>
            <a:ext cx="978408" cy="256032"/>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100.8%</a:t>
            </a:r>
            <a:endParaRPr lang="en-US" sz="950" dirty="0"/>
          </a:p>
        </p:txBody>
      </p:sp>
      <p:sp>
        <p:nvSpPr>
          <p:cNvPr id="42" name="Text 39"/>
          <p:cNvSpPr/>
          <p:nvPr/>
        </p:nvSpPr>
        <p:spPr>
          <a:xfrm>
            <a:off x="7735824" y="4425696"/>
            <a:ext cx="1243584"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Has SM · stayed</a:t>
            </a:r>
            <a:endParaRPr lang="en-US" sz="950" dirty="0"/>
          </a:p>
        </p:txBody>
      </p:sp>
      <p:sp>
        <p:nvSpPr>
          <p:cNvPr id="43" name="Shape 40"/>
          <p:cNvSpPr/>
          <p:nvPr/>
        </p:nvSpPr>
        <p:spPr>
          <a:xfrm>
            <a:off x="9015984" y="4471416"/>
            <a:ext cx="1417320" cy="164592"/>
          </a:xfrm>
          <a:prstGeom prst="roundRect">
            <a:avLst>
              <a:gd name="adj" fmla="val 16667"/>
            </a:avLst>
          </a:prstGeom>
          <a:solidFill>
            <a:srgbClr val="E4E9F0"/>
          </a:solidFill>
          <a:ln/>
        </p:spPr>
      </p:sp>
      <p:sp>
        <p:nvSpPr>
          <p:cNvPr id="44" name="Shape 41"/>
          <p:cNvSpPr/>
          <p:nvPr/>
        </p:nvSpPr>
        <p:spPr>
          <a:xfrm>
            <a:off x="9015984" y="4471416"/>
            <a:ext cx="1316441" cy="164592"/>
          </a:xfrm>
          <a:prstGeom prst="roundRect">
            <a:avLst>
              <a:gd name="adj" fmla="val 16667"/>
            </a:avLst>
          </a:prstGeom>
          <a:solidFill>
            <a:srgbClr val="1E8E86"/>
          </a:solidFill>
          <a:ln/>
        </p:spPr>
      </p:sp>
      <p:sp>
        <p:nvSpPr>
          <p:cNvPr id="45" name="Text 42"/>
          <p:cNvSpPr/>
          <p:nvPr/>
        </p:nvSpPr>
        <p:spPr>
          <a:xfrm>
            <a:off x="10570464" y="4425696"/>
            <a:ext cx="978408" cy="256032"/>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102.2%</a:t>
            </a:r>
            <a:endParaRPr lang="en-US" sz="950" dirty="0"/>
          </a:p>
        </p:txBody>
      </p:sp>
      <p:sp>
        <p:nvSpPr>
          <p:cNvPr id="46" name="Text 43"/>
          <p:cNvSpPr/>
          <p:nvPr/>
        </p:nvSpPr>
        <p:spPr>
          <a:xfrm>
            <a:off x="10030137" y="4773168"/>
            <a:ext cx="548640" cy="164592"/>
          </a:xfrm>
          <a:prstGeom prst="rect">
            <a:avLst/>
          </a:prstGeom>
          <a:noFill/>
          <a:ln/>
        </p:spPr>
        <p:txBody>
          <a:bodyPr wrap="square" lIns="0" tIns="0" rIns="0" bIns="0" rtlCol="0" anchor="ctr"/>
          <a:lstStyle/>
          <a:p>
            <a:pPr algn="ctr" indent="0" marL="0">
              <a:buNone/>
            </a:pPr>
            <a:r>
              <a:rPr lang="en-US" sz="800" dirty="0">
                <a:solidFill>
                  <a:srgbClr val="6B7A90"/>
                </a:solidFill>
                <a:latin typeface="Graphik TH" pitchFamily="34" charset="0"/>
                <a:ea typeface="Graphik TH" pitchFamily="34" charset="-122"/>
                <a:cs typeface="Graphik TH" pitchFamily="34" charset="-120"/>
              </a:rPr>
              <a:t>100%</a:t>
            </a:r>
            <a:endParaRPr lang="en-US" sz="800" dirty="0"/>
          </a:p>
        </p:txBody>
      </p:sp>
      <p:sp>
        <p:nvSpPr>
          <p:cNvPr id="47" name="Shape 44"/>
          <p:cNvSpPr/>
          <p:nvPr/>
        </p:nvSpPr>
        <p:spPr>
          <a:xfrm>
            <a:off x="530352" y="5285232"/>
            <a:ext cx="11274552" cy="786384"/>
          </a:xfrm>
          <a:prstGeom prst="roundRect">
            <a:avLst>
              <a:gd name="adj" fmla="val 10465"/>
            </a:avLst>
          </a:prstGeom>
          <a:solidFill>
            <a:srgbClr val="FBF0E6"/>
          </a:solidFill>
          <a:ln/>
        </p:spPr>
      </p:sp>
      <p:sp>
        <p:nvSpPr>
          <p:cNvPr id="48" name="Text 45"/>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Customers who emptied Save Max without a Save More holding kept only 65% of their balance</a:t>
            </a:r>
            <a:pPr indent="0" marL="0">
              <a:buNone/>
            </a:pPr>
            <a:r>
              <a:rPr lang="en-US" sz="1100" dirty="0">
                <a:solidFill>
                  <a:srgbClr val="16233D"/>
                </a:solidFill>
                <a:latin typeface="Graphik TH" pitchFamily="34" charset="0"/>
                <a:ea typeface="Graphik TH" pitchFamily="34" charset="-122"/>
                <a:cs typeface="Graphik TH" pitchFamily="34" charset="-120"/>
              </a:rPr>
              <a:t>  —  −THB 26.3m gone. The same behaviour with a Save More holding retained 101%. Without a second pocket to move into, the money moves out of the bank.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The whole loss sits with quality customers who have no Save More</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*Quality customer = makes transactions. Balances are total deposit balance, prior against latest period.</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Quality 25,711 (56.4%) −THB 43.8m   ·   Non-quality 19,887 +THB 22.3m   ·   Target 22,278 −THB 43.8m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Quality customers holding Save More kept their balance flat. Those without lost 17.2%.</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56.4%</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are quality customers</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25,711 of 45,598 · they transact</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22,278</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quality, no Save More</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the group losing money</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43.8m</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their balance loss</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−17.2% period on period</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+0.0%</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quality with Save More</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THB 691.3m held flat</a:t>
            </a:r>
            <a:endParaRPr lang="en-US" sz="950" dirty="0"/>
          </a:p>
        </p:txBody>
      </p:sp>
      <p:sp>
        <p:nvSpPr>
          <p:cNvPr id="22" name="Shape 20"/>
          <p:cNvSpPr/>
          <p:nvPr/>
        </p:nvSpPr>
        <p:spPr>
          <a:xfrm>
            <a:off x="530352" y="2798064"/>
            <a:ext cx="6720840" cy="2322576"/>
          </a:xfrm>
          <a:prstGeom prst="roundRect">
            <a:avLst>
              <a:gd name="adj" fmla="val 3543"/>
            </a:avLst>
          </a:prstGeom>
          <a:solidFill>
            <a:srgbClr val="F1F4F9"/>
          </a:solidFill>
          <a:ln/>
        </p:spPr>
      </p:sp>
      <p:sp>
        <p:nvSpPr>
          <p:cNvPr id="23" name="Text 21"/>
          <p:cNvSpPr/>
          <p:nvPr/>
        </p:nvSpPr>
        <p:spPr>
          <a:xfrm>
            <a:off x="786384" y="2944368"/>
            <a:ext cx="6208776"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Quality against Save More holding</a:t>
            </a:r>
            <a:endParaRPr lang="en-US" sz="1400" dirty="0"/>
          </a:p>
        </p:txBody>
      </p:sp>
      <p:sp>
        <p:nvSpPr>
          <p:cNvPr id="24" name="Text 22"/>
          <p:cNvSpPr/>
          <p:nvPr/>
        </p:nvSpPr>
        <p:spPr>
          <a:xfrm>
            <a:off x="786384" y="3218688"/>
            <a:ext cx="6208776"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Balances in THB m · the loss is confined to one cell</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49808" y="3474720"/>
          <a:ext cx="6281928" cy="914400"/>
        </p:xfrm>
        <a:graphic>
          <a:graphicData uri="http://schemas.openxmlformats.org/drawingml/2006/table">
            <a:tbl>
              <a:tblPr/>
              <a:tblGrid>
                <a:gridCol w="1956816"/>
                <a:gridCol w="896112"/>
                <a:gridCol w="804672"/>
                <a:gridCol w="804672"/>
                <a:gridCol w="886968"/>
                <a:gridCol w="932688"/>
              </a:tblGrid>
              <a:tr h="237744">
                <a:tc>
                  <a:txBody>
                    <a:bodyPr/>
                    <a:lstStyle/>
                    <a:p>
                      <a:pPr algn="l" indent="0" marL="0">
                        <a:buNone/>
                      </a:pPr>
                      <a:r>
                        <a:rPr lang="en-US" sz="850" b="1" dirty="0">
                          <a:solidFill>
                            <a:srgbClr val="FFFFFF"/>
                          </a:solidFill>
                          <a:latin typeface="Graphik TH" pitchFamily="34" charset="0"/>
                          <a:ea typeface="Graphik TH" pitchFamily="34" charset="-122"/>
                          <a:cs typeface="Graphik TH" pitchFamily="34" charset="-120"/>
                        </a:rPr>
                        <a:t>Group</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Customers</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Prior</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Latest</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Change</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c>
                  <a:txBody>
                    <a:bodyPr/>
                    <a:lstStyle/>
                    <a:p>
                      <a:pPr algn="r" indent="0" marL="0">
                        <a:buNone/>
                      </a:pPr>
                      <a:r>
                        <a:rPr lang="en-US" sz="850" b="1" dirty="0">
                          <a:solidFill>
                            <a:srgbClr val="FFFFFF"/>
                          </a:solidFill>
                          <a:latin typeface="Graphik TH" pitchFamily="34" charset="0"/>
                          <a:ea typeface="Graphik TH" pitchFamily="34" charset="-122"/>
                          <a:cs typeface="Graphik TH" pitchFamily="34" charset="-120"/>
                        </a:rPr>
                        <a:t>Change %</a:t>
                      </a:r>
                      <a:endParaRPr lang="en-US" sz="85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045D66"/>
                    </a:solidFill>
                  </a:tcPr>
                </a:tc>
              </a:tr>
              <a:tr h="292608">
                <a:tc>
                  <a:txBody>
                    <a:bodyPr/>
                    <a:lstStyle/>
                    <a:p>
                      <a:pPr algn="l" indent="0" marL="0">
                        <a:buNone/>
                      </a:pPr>
                      <a:r>
                        <a:rPr lang="en-US" sz="900" b="1" dirty="0">
                          <a:solidFill>
                            <a:srgbClr val="C00000"/>
                          </a:solidFill>
                          <a:latin typeface="Graphik TH" pitchFamily="34" charset="0"/>
                          <a:ea typeface="Graphik TH" pitchFamily="34" charset="-122"/>
                          <a:cs typeface="Graphik TH" pitchFamily="34" charset="-120"/>
                        </a:rPr>
                        <a:t>Quality · no Save More</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6E2E2"/>
                    </a:solidFill>
                  </a:tcPr>
                </a:tc>
                <a:tc>
                  <a:txBody>
                    <a:bodyPr/>
                    <a:lstStyle/>
                    <a:p>
                      <a:pPr algn="r" indent="0" marL="0">
                        <a:buNone/>
                      </a:pPr>
                      <a:r>
                        <a:rPr lang="en-US" sz="900" b="1" dirty="0">
                          <a:solidFill>
                            <a:srgbClr val="16233D"/>
                          </a:solidFill>
                          <a:latin typeface="Graphik TH" pitchFamily="34" charset="0"/>
                          <a:ea typeface="Graphik TH" pitchFamily="34" charset="-122"/>
                          <a:cs typeface="Graphik TH" pitchFamily="34" charset="-120"/>
                        </a:rPr>
                        <a:t>22,278</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6E2E2"/>
                    </a:solidFill>
                  </a:tcPr>
                </a:tc>
                <a:tc>
                  <a:txBody>
                    <a:bodyPr/>
                    <a:lstStyle/>
                    <a:p>
                      <a:pPr algn="r" indent="0" marL="0">
                        <a:buNone/>
                      </a:pPr>
                      <a:r>
                        <a:rPr lang="en-US" sz="900" b="1" dirty="0">
                          <a:solidFill>
                            <a:srgbClr val="16233D"/>
                          </a:solidFill>
                          <a:latin typeface="Graphik TH" pitchFamily="34" charset="0"/>
                          <a:ea typeface="Graphik TH" pitchFamily="34" charset="-122"/>
                          <a:cs typeface="Graphik TH" pitchFamily="34" charset="-120"/>
                        </a:rPr>
                        <a:t>254.8</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6E2E2"/>
                    </a:solidFill>
                  </a:tcPr>
                </a:tc>
                <a:tc>
                  <a:txBody>
                    <a:bodyPr/>
                    <a:lstStyle/>
                    <a:p>
                      <a:pPr algn="r" indent="0" marL="0">
                        <a:buNone/>
                      </a:pPr>
                      <a:r>
                        <a:rPr lang="en-US" sz="900" b="1" dirty="0">
                          <a:solidFill>
                            <a:srgbClr val="16233D"/>
                          </a:solidFill>
                          <a:latin typeface="Graphik TH" pitchFamily="34" charset="0"/>
                          <a:ea typeface="Graphik TH" pitchFamily="34" charset="-122"/>
                          <a:cs typeface="Graphik TH" pitchFamily="34" charset="-120"/>
                        </a:rPr>
                        <a:t>211.1</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6E2E2"/>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−43.8m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6E2E2"/>
                    </a:solidFill>
                  </a:tcPr>
                </a:tc>
                <a:tc>
                  <a:txBody>
                    <a:bodyPr/>
                    <a:lstStyle/>
                    <a:p>
                      <a:pPr algn="r" indent="0" marL="0">
                        <a:buNone/>
                      </a:pPr>
                      <a:r>
                        <a:rPr lang="en-US" sz="900" b="1" dirty="0">
                          <a:solidFill>
                            <a:srgbClr val="C00000"/>
                          </a:solidFill>
                          <a:latin typeface="Graphik TH" pitchFamily="34" charset="0"/>
                          <a:ea typeface="Graphik TH" pitchFamily="34" charset="-122"/>
                          <a:cs typeface="Graphik TH" pitchFamily="34" charset="-120"/>
                        </a:rPr>
                        <a:t>−17.2%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6E2E2"/>
                    </a:solidFill>
                  </a:tcPr>
                </a:tc>
              </a:tr>
              <a:tr h="292608">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Quality · has Save More</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3,433</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691.3</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691.4</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+0.0m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+0.0%</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92608">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Non-quality · no Save More</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16,934</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172.0</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177.5</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+5.5m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+3.2%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r h="292608">
                <a:tc>
                  <a:txBody>
                    <a:bodyPr/>
                    <a:lstStyle/>
                    <a:p>
                      <a:pPr algn="l" indent="0" marL="0">
                        <a:buNone/>
                      </a:pPr>
                      <a:r>
                        <a:rPr lang="en-US" sz="900" b="1" dirty="0">
                          <a:solidFill>
                            <a:srgbClr val="16233D"/>
                          </a:solidFill>
                          <a:latin typeface="Graphik TH" pitchFamily="34" charset="0"/>
                          <a:ea typeface="Graphik TH" pitchFamily="34" charset="-122"/>
                          <a:cs typeface="Graphik TH" pitchFamily="34" charset="-120"/>
                        </a:rPr>
                        <a:t>Non-quality · has Save More</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1F4F9"/>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2,953</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526.0</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dirty="0">
                          <a:solidFill>
                            <a:srgbClr val="16233D"/>
                          </a:solidFill>
                          <a:latin typeface="Graphik TH" pitchFamily="34" charset="0"/>
                          <a:ea typeface="Graphik TH" pitchFamily="34" charset="-122"/>
                          <a:cs typeface="Graphik TH" pitchFamily="34" charset="-120"/>
                        </a:rPr>
                        <a:t>542.9</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+16.8m</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E8E86"/>
                          </a:solidFill>
                          <a:latin typeface="Graphik TH" pitchFamily="34" charset="0"/>
                          <a:ea typeface="Graphik TH" pitchFamily="34" charset="-122"/>
                          <a:cs typeface="Graphik TH" pitchFamily="34" charset="-120"/>
                        </a:rPr>
                        <a:t>+3.2%</a:t>
                      </a:r>
                      <a:endParaRPr lang="en-US" sz="900" dirty="0">
                        <a:latin typeface="Graphik TH" charset="0"/>
                        <a:ea typeface="Graphik TH" charset="0"/>
                        <a:cs typeface="Graphik TH" charset="0"/>
                      </a:endParaRPr>
                    </a:p>
                  </a:txBody>
                  <a:tcPr marL="54864" marR="54864" marT="9144" marB="9144" anchor="ctr">
                    <a:lnL w="6350" cap="flat" cmpd="sng" algn="ctr">
                      <a:solidFill>
                        <a:srgbClr val="D8DFE9"/>
                      </a:solidFill>
                      <a:prstDash val="solid"/>
                      <a:round/>
                      <a:headEnd type="none" w="med" len="med"/>
                      <a:tailEnd type="none" w="med" len="med"/>
                    </a:lnL>
                    <a:lnR w="6350" cap="flat" cmpd="sng" algn="ctr">
                      <a:solidFill>
                        <a:srgbClr val="D8DFE9"/>
                      </a:solidFill>
                      <a:prstDash val="solid"/>
                      <a:round/>
                      <a:headEnd type="none" w="med" len="med"/>
                      <a:tailEnd type="none" w="med" len="med"/>
                    </a:lnR>
                    <a:lnT w="6350" cap="flat" cmpd="sng" algn="ctr">
                      <a:solidFill>
                        <a:srgbClr val="D8DFE9"/>
                      </a:solidFill>
                      <a:prstDash val="solid"/>
                      <a:round/>
                      <a:headEnd type="none" w="med" len="med"/>
                      <a:tailEnd type="none" w="med" len="med"/>
                    </a:lnT>
                    <a:lnB w="6350" cap="flat" cmpd="sng" algn="ctr">
                      <a:solidFill>
                        <a:srgbClr val="D8DFE9"/>
                      </a:solidFill>
                      <a:prstDash val="solid"/>
                      <a:round/>
                      <a:headEnd type="none" w="med" len="med"/>
                      <a:tailEnd type="none" w="med" len="med"/>
                    </a:lnB>
                    <a:solidFill>
                      <a:srgbClr val="FFFFFF"/>
                    </a:solidFill>
                  </a:tcPr>
                </a:tc>
              </a:tr>
            </a:tbl>
          </a:graphicData>
        </a:graphic>
      </p:graphicFrame>
      <p:sp>
        <p:nvSpPr>
          <p:cNvPr id="26" name="Text 23"/>
          <p:cNvSpPr/>
          <p:nvPr/>
        </p:nvSpPr>
        <p:spPr>
          <a:xfrm>
            <a:off x="786384" y="4919472"/>
            <a:ext cx="6217920" cy="182880"/>
          </a:xfrm>
          <a:prstGeom prst="rect">
            <a:avLst/>
          </a:prstGeom>
          <a:noFill/>
          <a:ln/>
        </p:spPr>
        <p:txBody>
          <a:bodyPr wrap="square" lIns="0" tIns="0" rIns="0" bIns="0" rtlCol="0" anchor="ctr"/>
          <a:lstStyle/>
          <a:p>
            <a:pPr indent="0" marL="0">
              <a:buNone/>
            </a:pPr>
            <a:r>
              <a:rPr lang="en-US" sz="900" i="1" dirty="0">
                <a:solidFill>
                  <a:srgbClr val="6B7A90"/>
                </a:solidFill>
                <a:latin typeface="Graphik TH" pitchFamily="34" charset="0"/>
                <a:ea typeface="Graphik TH" pitchFamily="34" charset="-122"/>
                <a:cs typeface="Graphik TH" pitchFamily="34" charset="-120"/>
              </a:rPr>
              <a:t>Quality customers are 57.5% of prior balance — this is not a small-value population.</a:t>
            </a:r>
            <a:endParaRPr lang="en-US" sz="900" dirty="0"/>
          </a:p>
        </p:txBody>
      </p:sp>
      <p:sp>
        <p:nvSpPr>
          <p:cNvPr id="27" name="Shape 24"/>
          <p:cNvSpPr/>
          <p:nvPr/>
        </p:nvSpPr>
        <p:spPr>
          <a:xfrm>
            <a:off x="7479792" y="2798064"/>
            <a:ext cx="4325112" cy="2322576"/>
          </a:xfrm>
          <a:prstGeom prst="roundRect">
            <a:avLst>
              <a:gd name="adj" fmla="val 3543"/>
            </a:avLst>
          </a:prstGeom>
          <a:solidFill>
            <a:srgbClr val="F1F4F9"/>
          </a:solidFill>
          <a:ln/>
        </p:spPr>
      </p:sp>
      <p:sp>
        <p:nvSpPr>
          <p:cNvPr id="28" name="Text 25"/>
          <p:cNvSpPr/>
          <p:nvPr/>
        </p:nvSpPr>
        <p:spPr>
          <a:xfrm>
            <a:off x="7735824" y="2944368"/>
            <a:ext cx="3813048"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Inside the target group</a:t>
            </a:r>
            <a:endParaRPr lang="en-US" sz="1400" dirty="0"/>
          </a:p>
        </p:txBody>
      </p:sp>
      <p:sp>
        <p:nvSpPr>
          <p:cNvPr id="29" name="Text 26"/>
          <p:cNvSpPr/>
          <p:nvPr/>
        </p:nvSpPr>
        <p:spPr>
          <a:xfrm>
            <a:off x="7735824" y="3218688"/>
            <a:ext cx="3813048"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Quality customers with no Save More</a:t>
            </a:r>
            <a:endParaRPr lang="en-US" sz="950" dirty="0"/>
          </a:p>
        </p:txBody>
      </p:sp>
      <p:sp>
        <p:nvSpPr>
          <p:cNvPr id="30" name="Text 27"/>
          <p:cNvSpPr/>
          <p:nvPr/>
        </p:nvSpPr>
        <p:spPr>
          <a:xfrm>
            <a:off x="7735824" y="3474720"/>
            <a:ext cx="1417320" cy="365760"/>
          </a:xfrm>
          <a:prstGeom prst="rect">
            <a:avLst/>
          </a:prstGeom>
          <a:noFill/>
          <a:ln/>
        </p:spPr>
        <p:txBody>
          <a:bodyPr wrap="square" lIns="0" tIns="0" rIns="0" bIns="0" rtlCol="0" anchor="ctr"/>
          <a:lstStyle/>
          <a:p>
            <a:pPr indent="0" marL="0">
              <a:buNone/>
            </a:pPr>
            <a:r>
              <a:rPr lang="en-US" sz="2100" b="1" dirty="0">
                <a:solidFill>
                  <a:srgbClr val="C00000"/>
                </a:solidFill>
                <a:latin typeface="Graphik TH" pitchFamily="34" charset="0"/>
                <a:ea typeface="Graphik TH" pitchFamily="34" charset="-122"/>
                <a:cs typeface="Graphik TH" pitchFamily="34" charset="-120"/>
              </a:rPr>
              <a:t>2,639</a:t>
            </a:r>
            <a:endParaRPr lang="en-US" sz="2100" dirty="0"/>
          </a:p>
        </p:txBody>
      </p:sp>
      <p:sp>
        <p:nvSpPr>
          <p:cNvPr id="31" name="Text 28"/>
          <p:cNvSpPr/>
          <p:nvPr/>
        </p:nvSpPr>
        <p:spPr>
          <a:xfrm>
            <a:off x="9198864" y="3474720"/>
            <a:ext cx="2350008" cy="219456"/>
          </a:xfrm>
          <a:prstGeom prst="rect">
            <a:avLst/>
          </a:prstGeom>
          <a:noFill/>
          <a:ln/>
        </p:spPr>
        <p:txBody>
          <a:bodyPr wrap="square" lIns="0" tIns="0" rIns="0" bIns="0" rtlCol="0" anchor="t"/>
          <a:lstStyle/>
          <a:p>
            <a:pPr indent="0" marL="0">
              <a:buNone/>
            </a:pPr>
            <a:r>
              <a:rPr lang="en-US" sz="1050" b="1" dirty="0">
                <a:solidFill>
                  <a:srgbClr val="16233D"/>
                </a:solidFill>
                <a:latin typeface="Graphik TH" pitchFamily="34" charset="0"/>
                <a:ea typeface="Graphik TH" pitchFamily="34" charset="-122"/>
                <a:cs typeface="Graphik TH" pitchFamily="34" charset="-120"/>
              </a:rPr>
              <a:t>emptied Save Max</a:t>
            </a:r>
            <a:endParaRPr lang="en-US" sz="1050" dirty="0"/>
          </a:p>
        </p:txBody>
      </p:sp>
      <p:sp>
        <p:nvSpPr>
          <p:cNvPr id="32" name="Text 29"/>
          <p:cNvSpPr/>
          <p:nvPr/>
        </p:nvSpPr>
        <p:spPr>
          <a:xfrm>
            <a:off x="9198864" y="3675888"/>
            <a:ext cx="2350008" cy="201168"/>
          </a:xfrm>
          <a:prstGeom prst="rect">
            <a:avLst/>
          </a:prstGeom>
          <a:noFill/>
          <a:ln/>
        </p:spPr>
        <p:txBody>
          <a:bodyPr wrap="square" lIns="0" tIns="0" rIns="0" bIns="0" rtlCol="0" anchor="t"/>
          <a:lstStyle/>
          <a:p>
            <a:pPr indent="0" marL="0">
              <a:buNone/>
            </a:pPr>
            <a:r>
              <a:rPr lang="en-US" sz="950" dirty="0">
                <a:solidFill>
                  <a:srgbClr val="C00000"/>
                </a:solidFill>
                <a:latin typeface="Graphik TH" pitchFamily="34" charset="0"/>
                <a:ea typeface="Graphik TH" pitchFamily="34" charset="-122"/>
                <a:cs typeface="Graphik TH" pitchFamily="34" charset="-120"/>
              </a:rPr>
              <a:t>−54.0% · −THB 27.4m</a:t>
            </a:r>
            <a:endParaRPr lang="en-US" sz="950" dirty="0"/>
          </a:p>
        </p:txBody>
      </p:sp>
      <p:sp>
        <p:nvSpPr>
          <p:cNvPr id="33" name="Text 30"/>
          <p:cNvSpPr/>
          <p:nvPr/>
        </p:nvSpPr>
        <p:spPr>
          <a:xfrm>
            <a:off x="7735824" y="4133088"/>
            <a:ext cx="1417320" cy="365760"/>
          </a:xfrm>
          <a:prstGeom prst="rect">
            <a:avLst/>
          </a:prstGeom>
          <a:noFill/>
          <a:ln/>
        </p:spPr>
        <p:txBody>
          <a:bodyPr wrap="square" lIns="0" tIns="0" rIns="0" bIns="0" rtlCol="0" anchor="ctr"/>
          <a:lstStyle/>
          <a:p>
            <a:pPr indent="0" marL="0">
              <a:buNone/>
            </a:pPr>
            <a:r>
              <a:rPr lang="en-US" sz="2100" b="1" dirty="0">
                <a:solidFill>
                  <a:srgbClr val="E9A03B"/>
                </a:solidFill>
                <a:latin typeface="Graphik TH" pitchFamily="34" charset="0"/>
                <a:ea typeface="Graphik TH" pitchFamily="34" charset="-122"/>
                <a:cs typeface="Graphik TH" pitchFamily="34" charset="-120"/>
              </a:rPr>
              <a:t>19,639</a:t>
            </a:r>
            <a:endParaRPr lang="en-US" sz="2100" dirty="0"/>
          </a:p>
        </p:txBody>
      </p:sp>
      <p:sp>
        <p:nvSpPr>
          <p:cNvPr id="34" name="Text 31"/>
          <p:cNvSpPr/>
          <p:nvPr/>
        </p:nvSpPr>
        <p:spPr>
          <a:xfrm>
            <a:off x="9198864" y="4133088"/>
            <a:ext cx="2350008" cy="219456"/>
          </a:xfrm>
          <a:prstGeom prst="rect">
            <a:avLst/>
          </a:prstGeom>
          <a:noFill/>
          <a:ln/>
        </p:spPr>
        <p:txBody>
          <a:bodyPr wrap="square" lIns="0" tIns="0" rIns="0" bIns="0" rtlCol="0" anchor="t"/>
          <a:lstStyle/>
          <a:p>
            <a:pPr indent="0" marL="0">
              <a:buNone/>
            </a:pPr>
            <a:r>
              <a:rPr lang="en-US" sz="1050" b="1" dirty="0">
                <a:solidFill>
                  <a:srgbClr val="16233D"/>
                </a:solidFill>
                <a:latin typeface="Graphik TH" pitchFamily="34" charset="0"/>
                <a:ea typeface="Graphik TH" pitchFamily="34" charset="-122"/>
                <a:cs typeface="Graphik TH" pitchFamily="34" charset="-120"/>
              </a:rPr>
              <a:t>stayed in Save Max</a:t>
            </a:r>
            <a:endParaRPr lang="en-US" sz="1050" dirty="0"/>
          </a:p>
        </p:txBody>
      </p:sp>
      <p:sp>
        <p:nvSpPr>
          <p:cNvPr id="35" name="Text 32"/>
          <p:cNvSpPr/>
          <p:nvPr/>
        </p:nvSpPr>
        <p:spPr>
          <a:xfrm>
            <a:off x="9198864" y="4334256"/>
            <a:ext cx="2350008" cy="201168"/>
          </a:xfrm>
          <a:prstGeom prst="rect">
            <a:avLst/>
          </a:prstGeom>
          <a:noFill/>
          <a:ln/>
        </p:spPr>
        <p:txBody>
          <a:bodyPr wrap="square" lIns="0" tIns="0" rIns="0" bIns="0" rtlCol="0" anchor="t"/>
          <a:lstStyle/>
          <a:p>
            <a:pPr indent="0" marL="0">
              <a:buNone/>
            </a:pPr>
            <a:r>
              <a:rPr lang="en-US" sz="950" dirty="0">
                <a:solidFill>
                  <a:srgbClr val="E9A03B"/>
                </a:solidFill>
                <a:latin typeface="Graphik TH" pitchFamily="34" charset="0"/>
                <a:ea typeface="Graphik TH" pitchFamily="34" charset="-122"/>
                <a:cs typeface="Graphik TH" pitchFamily="34" charset="-120"/>
              </a:rPr>
              <a:t>−8.0% · −THB 16.4m</a:t>
            </a:r>
            <a:endParaRPr lang="en-US" sz="950" dirty="0"/>
          </a:p>
        </p:txBody>
      </p:sp>
      <p:sp>
        <p:nvSpPr>
          <p:cNvPr id="36" name="Shape 33"/>
          <p:cNvSpPr/>
          <p:nvPr/>
        </p:nvSpPr>
        <p:spPr>
          <a:xfrm>
            <a:off x="7735824" y="4663440"/>
            <a:ext cx="3813048" cy="365760"/>
          </a:xfrm>
          <a:prstGeom prst="roundRect">
            <a:avLst>
              <a:gd name="adj" fmla="val 22500"/>
            </a:avLst>
          </a:prstGeom>
          <a:solidFill>
            <a:srgbClr val="FBF0E6"/>
          </a:solidFill>
          <a:ln/>
        </p:spPr>
      </p:sp>
      <p:sp>
        <p:nvSpPr>
          <p:cNvPr id="37" name="Text 34"/>
          <p:cNvSpPr/>
          <p:nvPr/>
        </p:nvSpPr>
        <p:spPr>
          <a:xfrm>
            <a:off x="7882128" y="4663440"/>
            <a:ext cx="3520440" cy="365760"/>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Even the ones who stayed put lost −8.0% of balance.</a:t>
            </a:r>
            <a:endParaRPr lang="en-US" sz="950" dirty="0"/>
          </a:p>
        </p:txBody>
      </p:sp>
      <p:sp>
        <p:nvSpPr>
          <p:cNvPr id="38" name="Shape 35"/>
          <p:cNvSpPr/>
          <p:nvPr/>
        </p:nvSpPr>
        <p:spPr>
          <a:xfrm>
            <a:off x="530352" y="5285232"/>
            <a:ext cx="11274552" cy="786384"/>
          </a:xfrm>
          <a:prstGeom prst="roundRect">
            <a:avLst>
              <a:gd name="adj" fmla="val 10465"/>
            </a:avLst>
          </a:prstGeom>
          <a:solidFill>
            <a:srgbClr val="FBF0E6"/>
          </a:solidFill>
          <a:ln/>
        </p:spPr>
      </p:sp>
      <p:sp>
        <p:nvSpPr>
          <p:cNvPr id="39" name="Text 36"/>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C00000"/>
                </a:solidFill>
                <a:latin typeface="Graphik TH" pitchFamily="34" charset="0"/>
                <a:ea typeface="Graphik TH" pitchFamily="34" charset="-122"/>
                <a:cs typeface="Graphik TH" pitchFamily="34" charset="-120"/>
              </a:rPr>
              <a:t>Quality customers with Save More held +0.0%; without it they lost −17.2%</a:t>
            </a:r>
            <a:pPr indent="0" marL="0">
              <a:buNone/>
            </a:pPr>
            <a:r>
              <a:rPr lang="en-US" sz="1100" dirty="0">
                <a:solidFill>
                  <a:srgbClr val="16233D"/>
                </a:solidFill>
                <a:latin typeface="Graphik TH" pitchFamily="34" charset="0"/>
                <a:ea typeface="Graphik TH" pitchFamily="34" charset="-122"/>
                <a:cs typeface="Graphik TH" pitchFamily="34" charset="-120"/>
              </a:rPr>
              <a:t>  —  and non-quality customers gained in both columns. The loss is not about balance size or Save Max behaviour, it is about whether an engaged customer had somewhere else to keep the money.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83464"/>
            <a:ext cx="11274552" cy="384048"/>
          </a:xfrm>
          <a:prstGeom prst="rect">
            <a:avLst/>
          </a:prstGeom>
          <a:noFill/>
          <a:ln/>
        </p:spPr>
        <p:txBody>
          <a:bodyPr wrap="square" lIns="0" tIns="0" rIns="0" bIns="0" rtlCol="0" anchor="ctr"/>
          <a:lstStyle/>
          <a:p>
            <a:pPr indent="0" marL="0">
              <a:buNone/>
            </a:pPr>
            <a:r>
              <a:rPr lang="en-US" sz="2200" b="1" dirty="0">
                <a:solidFill>
                  <a:srgbClr val="045D66"/>
                </a:solidFill>
                <a:latin typeface="Graphik TH" pitchFamily="34" charset="0"/>
                <a:ea typeface="Graphik TH" pitchFamily="34" charset="-122"/>
                <a:cs typeface="Graphik TH" pitchFamily="34" charset="-120"/>
              </a:rPr>
              <a:t>Action plan : give these customers a second savings pocket</a:t>
            </a:r>
            <a:endParaRPr lang="en-US" sz="2200" dirty="0"/>
          </a:p>
        </p:txBody>
      </p:sp>
      <p:sp>
        <p:nvSpPr>
          <p:cNvPr id="3" name="Text 1"/>
          <p:cNvSpPr/>
          <p:nvPr/>
        </p:nvSpPr>
        <p:spPr>
          <a:xfrm>
            <a:off x="530352" y="713232"/>
            <a:ext cx="11274552" cy="237744"/>
          </a:xfrm>
          <a:prstGeom prst="rect">
            <a:avLst/>
          </a:prstGeom>
          <a:noFill/>
          <a:ln/>
        </p:spPr>
        <p:txBody>
          <a:bodyPr wrap="square" lIns="0" tIns="0" rIns="0" bIns="0" rtlCol="0" anchor="ctr"/>
          <a:lstStyle/>
          <a:p>
            <a:pPr indent="0" marL="0">
              <a:buNone/>
            </a:pPr>
            <a:r>
              <a:rPr lang="en-US" sz="1150" i="1" dirty="0">
                <a:solidFill>
                  <a:srgbClr val="6B6B6B"/>
                </a:solidFill>
                <a:latin typeface="Graphik TH" pitchFamily="34" charset="0"/>
                <a:ea typeface="Graphik TH" pitchFamily="34" charset="-122"/>
                <a:cs typeface="Graphik TH" pitchFamily="34" charset="-120"/>
              </a:rPr>
              <a:t>*Sizing uses the observed target group. The retention figure is what the period would have looked like had the group held flat, not a forecast.</a:t>
            </a:r>
            <a:endParaRPr lang="en-US" sz="1150" dirty="0"/>
          </a:p>
        </p:txBody>
      </p:sp>
      <p:sp>
        <p:nvSpPr>
          <p:cNvPr id="4" name="Text 2"/>
          <p:cNvSpPr/>
          <p:nvPr/>
        </p:nvSpPr>
        <p:spPr>
          <a:xfrm>
            <a:off x="548640" y="996696"/>
            <a:ext cx="11064240" cy="237744"/>
          </a:xfrm>
          <a:prstGeom prst="rect">
            <a:avLst/>
          </a:prstGeom>
          <a:noFill/>
          <a:ln/>
        </p:spPr>
        <p:txBody>
          <a:bodyPr wrap="square" lIns="0" tIns="0" rIns="0" bIns="0" rtlCol="0" anchor="ctr"/>
          <a:lstStyle/>
          <a:p>
            <a:pPr indent="0" marL="0">
              <a:buNone/>
            </a:pPr>
            <a:r>
              <a:rPr lang="en-US" sz="1300" b="1" dirty="0">
                <a:solidFill>
                  <a:srgbClr val="045D66"/>
                </a:solidFill>
                <a:latin typeface="Graphik TH" pitchFamily="34" charset="0"/>
                <a:ea typeface="Graphik TH" pitchFamily="34" charset="-122"/>
                <a:cs typeface="Graphik TH" pitchFamily="34" charset="-120"/>
              </a:rPr>
              <a:t>Target 22,278 quality customers with no Save More   ·   Balance today THB 211.1m   ·   Lost last period −THB 43.8m</a:t>
            </a:r>
            <a:endParaRPr lang="en-US" sz="1300" dirty="0"/>
          </a:p>
        </p:txBody>
      </p:sp>
      <p:sp>
        <p:nvSpPr>
          <p:cNvPr id="5" name="Text 3"/>
          <p:cNvSpPr/>
          <p:nvPr/>
        </p:nvSpPr>
        <p:spPr>
          <a:xfrm>
            <a:off x="548640" y="1280160"/>
            <a:ext cx="11064240" cy="274320"/>
          </a:xfrm>
          <a:prstGeom prst="rect">
            <a:avLst/>
          </a:prstGeom>
          <a:noFill/>
          <a:ln/>
        </p:spPr>
        <p:txBody>
          <a:bodyPr wrap="square" lIns="0" tIns="0" rIns="0" bIns="0" rtlCol="0" anchor="ctr"/>
          <a:lstStyle/>
          <a:p>
            <a:pPr indent="0" marL="0">
              <a:buNone/>
            </a:pPr>
            <a:r>
              <a:rPr lang="en-US" sz="1400" dirty="0">
                <a:solidFill>
                  <a:srgbClr val="16233D"/>
                </a:solidFill>
                <a:latin typeface="Graphik TH" pitchFamily="34" charset="0"/>
                <a:ea typeface="Graphik TH" pitchFamily="34" charset="-122"/>
                <a:cs typeface="Graphik TH" pitchFamily="34" charset="-120"/>
              </a:rPr>
              <a:t>They transact, they hold balance, and they have nowhere in the bank to move it when the promotion ends.</a:t>
            </a:r>
            <a:endParaRPr lang="en-US" sz="1400" dirty="0"/>
          </a:p>
        </p:txBody>
      </p:sp>
      <p:sp>
        <p:nvSpPr>
          <p:cNvPr id="6" name="Shape 4"/>
          <p:cNvSpPr/>
          <p:nvPr/>
        </p:nvSpPr>
        <p:spPr>
          <a:xfrm>
            <a:off x="530352" y="1645920"/>
            <a:ext cx="2647188" cy="987552"/>
          </a:xfrm>
          <a:prstGeom prst="roundRect">
            <a:avLst>
              <a:gd name="adj" fmla="val 8333"/>
            </a:avLst>
          </a:prstGeom>
          <a:solidFill>
            <a:srgbClr val="F1F4F9"/>
          </a:solidFill>
          <a:ln/>
        </p:spPr>
      </p:sp>
      <p:sp>
        <p:nvSpPr>
          <p:cNvPr id="7" name="Text 5"/>
          <p:cNvSpPr/>
          <p:nvPr/>
        </p:nvSpPr>
        <p:spPr>
          <a:xfrm>
            <a:off x="749808"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22,278</a:t>
            </a:r>
            <a:endParaRPr lang="en-US" sz="2400" dirty="0"/>
          </a:p>
        </p:txBody>
      </p:sp>
      <p:sp>
        <p:nvSpPr>
          <p:cNvPr id="8" name="Text 6"/>
          <p:cNvSpPr/>
          <p:nvPr/>
        </p:nvSpPr>
        <p:spPr>
          <a:xfrm>
            <a:off x="749808"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customers to target</a:t>
            </a:r>
            <a:endParaRPr lang="en-US" sz="1150" dirty="0"/>
          </a:p>
        </p:txBody>
      </p:sp>
      <p:sp>
        <p:nvSpPr>
          <p:cNvPr id="9" name="Text 7"/>
          <p:cNvSpPr/>
          <p:nvPr/>
        </p:nvSpPr>
        <p:spPr>
          <a:xfrm>
            <a:off x="749808"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48.9% of the base · they transact</a:t>
            </a:r>
            <a:endParaRPr lang="en-US" sz="950" dirty="0"/>
          </a:p>
        </p:txBody>
      </p:sp>
      <p:sp>
        <p:nvSpPr>
          <p:cNvPr id="10" name="Shape 8"/>
          <p:cNvSpPr/>
          <p:nvPr/>
        </p:nvSpPr>
        <p:spPr>
          <a:xfrm>
            <a:off x="3406140" y="1645920"/>
            <a:ext cx="2647188" cy="987552"/>
          </a:xfrm>
          <a:prstGeom prst="roundRect">
            <a:avLst>
              <a:gd name="adj" fmla="val 8333"/>
            </a:avLst>
          </a:prstGeom>
          <a:solidFill>
            <a:srgbClr val="F1F4F9"/>
          </a:solidFill>
          <a:ln/>
        </p:spPr>
      </p:sp>
      <p:sp>
        <p:nvSpPr>
          <p:cNvPr id="11" name="Text 9"/>
          <p:cNvSpPr/>
          <p:nvPr/>
        </p:nvSpPr>
        <p:spPr>
          <a:xfrm>
            <a:off x="3625596" y="1719072"/>
            <a:ext cx="2208276" cy="402336"/>
          </a:xfrm>
          <a:prstGeom prst="rect">
            <a:avLst/>
          </a:prstGeom>
          <a:noFill/>
          <a:ln/>
        </p:spPr>
        <p:txBody>
          <a:bodyPr wrap="square" lIns="0" tIns="0" rIns="0" bIns="0" rtlCol="0" anchor="ctr"/>
          <a:lstStyle/>
          <a:p>
            <a:pPr indent="0" marL="0">
              <a:buNone/>
            </a:pPr>
            <a:r>
              <a:rPr lang="en-US" sz="2400" b="1" dirty="0">
                <a:solidFill>
                  <a:srgbClr val="E9A03B"/>
                </a:solidFill>
                <a:latin typeface="Graphik TH" pitchFamily="34" charset="0"/>
                <a:ea typeface="Graphik TH" pitchFamily="34" charset="-122"/>
                <a:cs typeface="Graphik TH" pitchFamily="34" charset="-120"/>
              </a:rPr>
              <a:t>THB 211.1m</a:t>
            </a:r>
            <a:endParaRPr lang="en-US" sz="2400" dirty="0"/>
          </a:p>
        </p:txBody>
      </p:sp>
      <p:sp>
        <p:nvSpPr>
          <p:cNvPr id="12" name="Text 10"/>
          <p:cNvSpPr/>
          <p:nvPr/>
        </p:nvSpPr>
        <p:spPr>
          <a:xfrm>
            <a:off x="3625596"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balance still with us</a:t>
            </a:r>
            <a:endParaRPr lang="en-US" sz="1150" dirty="0"/>
          </a:p>
        </p:txBody>
      </p:sp>
      <p:sp>
        <p:nvSpPr>
          <p:cNvPr id="13" name="Text 11"/>
          <p:cNvSpPr/>
          <p:nvPr/>
        </p:nvSpPr>
        <p:spPr>
          <a:xfrm>
            <a:off x="3625596"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down from THB 254.8m</a:t>
            </a:r>
            <a:endParaRPr lang="en-US" sz="950" dirty="0"/>
          </a:p>
        </p:txBody>
      </p:sp>
      <p:sp>
        <p:nvSpPr>
          <p:cNvPr id="14" name="Shape 12"/>
          <p:cNvSpPr/>
          <p:nvPr/>
        </p:nvSpPr>
        <p:spPr>
          <a:xfrm>
            <a:off x="6281928" y="1645920"/>
            <a:ext cx="2647188" cy="987552"/>
          </a:xfrm>
          <a:prstGeom prst="roundRect">
            <a:avLst>
              <a:gd name="adj" fmla="val 8333"/>
            </a:avLst>
          </a:prstGeom>
          <a:solidFill>
            <a:srgbClr val="F1F4F9"/>
          </a:solidFill>
          <a:ln/>
        </p:spPr>
      </p:sp>
      <p:sp>
        <p:nvSpPr>
          <p:cNvPr id="15" name="Text 13"/>
          <p:cNvSpPr/>
          <p:nvPr/>
        </p:nvSpPr>
        <p:spPr>
          <a:xfrm>
            <a:off x="6501384" y="1719072"/>
            <a:ext cx="2208276" cy="402336"/>
          </a:xfrm>
          <a:prstGeom prst="rect">
            <a:avLst/>
          </a:prstGeom>
          <a:noFill/>
          <a:ln/>
        </p:spPr>
        <p:txBody>
          <a:bodyPr wrap="square" lIns="0" tIns="0" rIns="0" bIns="0" rtlCol="0" anchor="ctr"/>
          <a:lstStyle/>
          <a:p>
            <a:pPr indent="0" marL="0">
              <a:buNone/>
            </a:pPr>
            <a:r>
              <a:rPr lang="en-US" sz="2400" b="1" dirty="0">
                <a:solidFill>
                  <a:srgbClr val="C00000"/>
                </a:solidFill>
                <a:latin typeface="Graphik TH" pitchFamily="34" charset="0"/>
                <a:ea typeface="Graphik TH" pitchFamily="34" charset="-122"/>
                <a:cs typeface="Graphik TH" pitchFamily="34" charset="-120"/>
              </a:rPr>
              <a:t>THB 43.8m</a:t>
            </a:r>
            <a:endParaRPr lang="en-US" sz="2400" dirty="0"/>
          </a:p>
        </p:txBody>
      </p:sp>
      <p:sp>
        <p:nvSpPr>
          <p:cNvPr id="16" name="Text 14"/>
          <p:cNvSpPr/>
          <p:nvPr/>
        </p:nvSpPr>
        <p:spPr>
          <a:xfrm>
            <a:off x="6501384"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at stake per period</a:t>
            </a:r>
            <a:endParaRPr lang="en-US" sz="1150" dirty="0"/>
          </a:p>
        </p:txBody>
      </p:sp>
      <p:sp>
        <p:nvSpPr>
          <p:cNvPr id="17" name="Text 15"/>
          <p:cNvSpPr/>
          <p:nvPr/>
        </p:nvSpPr>
        <p:spPr>
          <a:xfrm>
            <a:off x="6501384"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if the decline continues</a:t>
            </a:r>
            <a:endParaRPr lang="en-US" sz="950" dirty="0"/>
          </a:p>
        </p:txBody>
      </p:sp>
      <p:sp>
        <p:nvSpPr>
          <p:cNvPr id="18" name="Shape 16"/>
          <p:cNvSpPr/>
          <p:nvPr/>
        </p:nvSpPr>
        <p:spPr>
          <a:xfrm>
            <a:off x="9157716" y="1645920"/>
            <a:ext cx="2647188" cy="987552"/>
          </a:xfrm>
          <a:prstGeom prst="roundRect">
            <a:avLst>
              <a:gd name="adj" fmla="val 8333"/>
            </a:avLst>
          </a:prstGeom>
          <a:solidFill>
            <a:srgbClr val="F1F4F9"/>
          </a:solidFill>
          <a:ln/>
        </p:spPr>
      </p:sp>
      <p:sp>
        <p:nvSpPr>
          <p:cNvPr id="19" name="Text 17"/>
          <p:cNvSpPr/>
          <p:nvPr/>
        </p:nvSpPr>
        <p:spPr>
          <a:xfrm>
            <a:off x="9377172" y="1719072"/>
            <a:ext cx="2208276" cy="402336"/>
          </a:xfrm>
          <a:prstGeom prst="rect">
            <a:avLst/>
          </a:prstGeom>
          <a:noFill/>
          <a:ln/>
        </p:spPr>
        <p:txBody>
          <a:bodyPr wrap="square" lIns="0" tIns="0" rIns="0" bIns="0" rtlCol="0" anchor="ctr"/>
          <a:lstStyle/>
          <a:p>
            <a:pPr indent="0" marL="0">
              <a:buNone/>
            </a:pPr>
            <a:r>
              <a:rPr lang="en-US" sz="2400" b="1" dirty="0">
                <a:solidFill>
                  <a:srgbClr val="00A896"/>
                </a:solidFill>
                <a:latin typeface="Graphik TH" pitchFamily="34" charset="0"/>
                <a:ea typeface="Graphik TH" pitchFamily="34" charset="-122"/>
                <a:cs typeface="Graphik TH" pitchFamily="34" charset="-120"/>
              </a:rPr>
              <a:t>THB 11,439</a:t>
            </a:r>
            <a:endParaRPr lang="en-US" sz="2400" dirty="0"/>
          </a:p>
        </p:txBody>
      </p:sp>
      <p:sp>
        <p:nvSpPr>
          <p:cNvPr id="20" name="Text 18"/>
          <p:cNvSpPr/>
          <p:nvPr/>
        </p:nvSpPr>
        <p:spPr>
          <a:xfrm>
            <a:off x="9377172" y="2121408"/>
            <a:ext cx="2208276" cy="237744"/>
          </a:xfrm>
          <a:prstGeom prst="rect">
            <a:avLst/>
          </a:prstGeom>
          <a:noFill/>
          <a:ln/>
        </p:spPr>
        <p:txBody>
          <a:bodyPr wrap="square" lIns="0" tIns="0" rIns="0" bIns="0" rtlCol="0" anchor="t"/>
          <a:lstStyle/>
          <a:p>
            <a:pPr indent="0" marL="0">
              <a:buNone/>
            </a:pPr>
            <a:r>
              <a:rPr lang="en-US" sz="1150" b="1" dirty="0">
                <a:solidFill>
                  <a:srgbClr val="16233D"/>
                </a:solidFill>
                <a:latin typeface="Graphik TH" pitchFamily="34" charset="0"/>
                <a:ea typeface="Graphik TH" pitchFamily="34" charset="-122"/>
                <a:cs typeface="Graphik TH" pitchFamily="34" charset="-120"/>
              </a:rPr>
              <a:t>average balance</a:t>
            </a:r>
            <a:endParaRPr lang="en-US" sz="1150" dirty="0"/>
          </a:p>
        </p:txBody>
      </p:sp>
      <p:sp>
        <p:nvSpPr>
          <p:cNvPr id="21" name="Text 19"/>
          <p:cNvSpPr/>
          <p:nvPr/>
        </p:nvSpPr>
        <p:spPr>
          <a:xfrm>
            <a:off x="9377172" y="2350008"/>
            <a:ext cx="2208276" cy="237744"/>
          </a:xfrm>
          <a:prstGeom prst="rect">
            <a:avLst/>
          </a:prstGeom>
          <a:noFill/>
          <a:ln/>
        </p:spPr>
        <p:txBody>
          <a:bodyPr wrap="square" lIns="0" tIns="0" rIns="0" bIns="0" rtlCol="0" anchor="t"/>
          <a:lstStyle/>
          <a:p>
            <a:pPr indent="0" marL="0">
              <a:buNone/>
            </a:pPr>
            <a:r>
              <a:rPr lang="en-US" sz="950" dirty="0">
                <a:solidFill>
                  <a:srgbClr val="6B7A90"/>
                </a:solidFill>
                <a:latin typeface="Graphik TH" pitchFamily="34" charset="0"/>
                <a:ea typeface="Graphik TH" pitchFamily="34" charset="-122"/>
                <a:cs typeface="Graphik TH" pitchFamily="34" charset="-120"/>
              </a:rPr>
              <a:t>small individually, large in total</a:t>
            </a:r>
            <a:endParaRPr lang="en-US" sz="950" dirty="0"/>
          </a:p>
        </p:txBody>
      </p:sp>
      <p:sp>
        <p:nvSpPr>
          <p:cNvPr id="22" name="Shape 20"/>
          <p:cNvSpPr/>
          <p:nvPr/>
        </p:nvSpPr>
        <p:spPr>
          <a:xfrm>
            <a:off x="530352" y="2798064"/>
            <a:ext cx="5522976" cy="2322576"/>
          </a:xfrm>
          <a:prstGeom prst="roundRect">
            <a:avLst>
              <a:gd name="adj" fmla="val 3543"/>
            </a:avLst>
          </a:prstGeom>
          <a:solidFill>
            <a:srgbClr val="F1F4F9"/>
          </a:solidFill>
          <a:ln/>
        </p:spPr>
      </p:sp>
      <p:sp>
        <p:nvSpPr>
          <p:cNvPr id="23" name="Text 21"/>
          <p:cNvSpPr/>
          <p:nvPr/>
        </p:nvSpPr>
        <p:spPr>
          <a:xfrm>
            <a:off x="786384"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What to offer</a:t>
            </a:r>
            <a:endParaRPr lang="en-US" sz="1400" dirty="0"/>
          </a:p>
        </p:txBody>
      </p:sp>
      <p:sp>
        <p:nvSpPr>
          <p:cNvPr id="24" name="Text 22"/>
          <p:cNvSpPr/>
          <p:nvPr/>
        </p:nvSpPr>
        <p:spPr>
          <a:xfrm>
            <a:off x="786384"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A pocket sized for this group, not for the Save More base</a:t>
            </a:r>
            <a:endParaRPr lang="en-US" sz="950" dirty="0"/>
          </a:p>
        </p:txBody>
      </p:sp>
      <p:sp>
        <p:nvSpPr>
          <p:cNvPr id="25" name="Shape 23"/>
          <p:cNvSpPr/>
          <p:nvPr/>
        </p:nvSpPr>
        <p:spPr>
          <a:xfrm>
            <a:off x="786384" y="3493008"/>
            <a:ext cx="237744" cy="237744"/>
          </a:xfrm>
          <a:prstGeom prst="roundRect">
            <a:avLst>
              <a:gd name="adj" fmla="val 19231"/>
            </a:avLst>
          </a:prstGeom>
          <a:solidFill>
            <a:srgbClr val="045D66"/>
          </a:solidFill>
          <a:ln/>
        </p:spPr>
      </p:sp>
      <p:sp>
        <p:nvSpPr>
          <p:cNvPr id="26" name="Text 24"/>
          <p:cNvSpPr/>
          <p:nvPr/>
        </p:nvSpPr>
        <p:spPr>
          <a:xfrm>
            <a:off x="786384" y="34930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Graphik TH" pitchFamily="34" charset="0"/>
                <a:ea typeface="Graphik TH" pitchFamily="34" charset="-122"/>
                <a:cs typeface="Graphik TH" pitchFamily="34" charset="-120"/>
              </a:rPr>
              <a:t>1</a:t>
            </a:r>
            <a:endParaRPr lang="en-US" sz="1000" dirty="0"/>
          </a:p>
        </p:txBody>
      </p:sp>
      <p:sp>
        <p:nvSpPr>
          <p:cNvPr id="27" name="Text 25"/>
          <p:cNvSpPr/>
          <p:nvPr/>
        </p:nvSpPr>
        <p:spPr>
          <a:xfrm>
            <a:off x="1133856" y="3474720"/>
            <a:ext cx="4023360" cy="219456"/>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Second savings pocket</a:t>
            </a:r>
            <a:endParaRPr lang="en-US" sz="1100" dirty="0"/>
          </a:p>
        </p:txBody>
      </p:sp>
      <p:sp>
        <p:nvSpPr>
          <p:cNvPr id="28" name="Text 26"/>
          <p:cNvSpPr/>
          <p:nvPr/>
        </p:nvSpPr>
        <p:spPr>
          <a:xfrm>
            <a:off x="1133856" y="3675888"/>
            <a:ext cx="4041648" cy="347472"/>
          </a:xfrm>
          <a:prstGeom prst="rect">
            <a:avLst/>
          </a:prstGeom>
          <a:noFill/>
          <a:ln/>
        </p:spPr>
        <p:txBody>
          <a:bodyPr wrap="square" lIns="0" tIns="0" rIns="0" bIns="0" rtlCol="0" anchor="t"/>
          <a:lstStyle/>
          <a:p>
            <a:pPr indent="0" marL="0">
              <a:buNone/>
            </a:pPr>
            <a:r>
              <a:rPr lang="en-US" sz="900" dirty="0">
                <a:solidFill>
                  <a:srgbClr val="6B7A90"/>
                </a:solidFill>
                <a:latin typeface="Graphik TH" pitchFamily="34" charset="0"/>
                <a:ea typeface="Graphik TH" pitchFamily="34" charset="-122"/>
                <a:cs typeface="Graphik TH" pitchFamily="34" charset="-120"/>
              </a:rPr>
              <a:t>A capped, higher-rate pocket they can open in-app, sized for balances around THB 11,439 rather than the THB 1m Save More cap.</a:t>
            </a:r>
            <a:endParaRPr lang="en-US" sz="900" dirty="0"/>
          </a:p>
        </p:txBody>
      </p:sp>
      <p:sp>
        <p:nvSpPr>
          <p:cNvPr id="29" name="Shape 27"/>
          <p:cNvSpPr/>
          <p:nvPr/>
        </p:nvSpPr>
        <p:spPr>
          <a:xfrm>
            <a:off x="786384" y="4041648"/>
            <a:ext cx="237744" cy="237744"/>
          </a:xfrm>
          <a:prstGeom prst="roundRect">
            <a:avLst>
              <a:gd name="adj" fmla="val 19231"/>
            </a:avLst>
          </a:prstGeom>
          <a:solidFill>
            <a:srgbClr val="045D66"/>
          </a:solidFill>
          <a:ln/>
        </p:spPr>
      </p:sp>
      <p:sp>
        <p:nvSpPr>
          <p:cNvPr id="30" name="Text 28"/>
          <p:cNvSpPr/>
          <p:nvPr/>
        </p:nvSpPr>
        <p:spPr>
          <a:xfrm>
            <a:off x="786384" y="40416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Graphik TH" pitchFamily="34" charset="0"/>
                <a:ea typeface="Graphik TH" pitchFamily="34" charset="-122"/>
                <a:cs typeface="Graphik TH" pitchFamily="34" charset="-120"/>
              </a:rPr>
              <a:t>2</a:t>
            </a:r>
            <a:endParaRPr lang="en-US" sz="1000" dirty="0"/>
          </a:p>
        </p:txBody>
      </p:sp>
      <p:sp>
        <p:nvSpPr>
          <p:cNvPr id="31" name="Text 29"/>
          <p:cNvSpPr/>
          <p:nvPr/>
        </p:nvSpPr>
        <p:spPr>
          <a:xfrm>
            <a:off x="1133856" y="4023360"/>
            <a:ext cx="4023360" cy="219456"/>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Open it before maturity</a:t>
            </a:r>
            <a:endParaRPr lang="en-US" sz="1100" dirty="0"/>
          </a:p>
        </p:txBody>
      </p:sp>
      <p:sp>
        <p:nvSpPr>
          <p:cNvPr id="32" name="Text 30"/>
          <p:cNvSpPr/>
          <p:nvPr/>
        </p:nvSpPr>
        <p:spPr>
          <a:xfrm>
            <a:off x="1133856" y="4224528"/>
            <a:ext cx="4041648" cy="347472"/>
          </a:xfrm>
          <a:prstGeom prst="rect">
            <a:avLst/>
          </a:prstGeom>
          <a:noFill/>
          <a:ln/>
        </p:spPr>
        <p:txBody>
          <a:bodyPr wrap="square" lIns="0" tIns="0" rIns="0" bIns="0" rtlCol="0" anchor="t"/>
          <a:lstStyle/>
          <a:p>
            <a:pPr indent="0" marL="0">
              <a:buNone/>
            </a:pPr>
            <a:r>
              <a:rPr lang="en-US" sz="900" dirty="0">
                <a:solidFill>
                  <a:srgbClr val="6B7A90"/>
                </a:solidFill>
                <a:latin typeface="Graphik TH" pitchFamily="34" charset="0"/>
                <a:ea typeface="Graphik TH" pitchFamily="34" charset="-122"/>
                <a:cs typeface="Graphik TH" pitchFamily="34" charset="-120"/>
              </a:rPr>
              <a:t>Offer at the point the Save Max promotion is due to end, not after the balance has already moved.</a:t>
            </a:r>
            <a:endParaRPr lang="en-US" sz="900" dirty="0"/>
          </a:p>
        </p:txBody>
      </p:sp>
      <p:sp>
        <p:nvSpPr>
          <p:cNvPr id="33" name="Shape 31"/>
          <p:cNvSpPr/>
          <p:nvPr/>
        </p:nvSpPr>
        <p:spPr>
          <a:xfrm>
            <a:off x="786384" y="4590288"/>
            <a:ext cx="237744" cy="237744"/>
          </a:xfrm>
          <a:prstGeom prst="roundRect">
            <a:avLst>
              <a:gd name="adj" fmla="val 19231"/>
            </a:avLst>
          </a:prstGeom>
          <a:solidFill>
            <a:srgbClr val="045D66"/>
          </a:solidFill>
          <a:ln/>
        </p:spPr>
      </p:sp>
      <p:sp>
        <p:nvSpPr>
          <p:cNvPr id="34" name="Text 32"/>
          <p:cNvSpPr/>
          <p:nvPr/>
        </p:nvSpPr>
        <p:spPr>
          <a:xfrm>
            <a:off x="786384" y="45902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Graphik TH" pitchFamily="34" charset="0"/>
                <a:ea typeface="Graphik TH" pitchFamily="34" charset="-122"/>
                <a:cs typeface="Graphik TH" pitchFamily="34" charset="-120"/>
              </a:rPr>
              <a:t>3</a:t>
            </a:r>
            <a:endParaRPr lang="en-US" sz="1000" dirty="0"/>
          </a:p>
        </p:txBody>
      </p:sp>
      <p:sp>
        <p:nvSpPr>
          <p:cNvPr id="35" name="Text 33"/>
          <p:cNvSpPr/>
          <p:nvPr/>
        </p:nvSpPr>
        <p:spPr>
          <a:xfrm>
            <a:off x="1133856" y="4572000"/>
            <a:ext cx="4023360" cy="219456"/>
          </a:xfrm>
          <a:prstGeom prst="rect">
            <a:avLst/>
          </a:prstGeom>
          <a:noFill/>
          <a:ln/>
        </p:spPr>
        <p:txBody>
          <a:bodyPr wrap="square" lIns="0" tIns="0" rIns="0" bIns="0" rtlCol="0" anchor="ctr"/>
          <a:lstStyle/>
          <a:p>
            <a:pPr indent="0" marL="0">
              <a:buNone/>
            </a:pPr>
            <a:r>
              <a:rPr lang="en-US" sz="1100" b="1" dirty="0">
                <a:solidFill>
                  <a:srgbClr val="16233D"/>
                </a:solidFill>
                <a:latin typeface="Graphik TH" pitchFamily="34" charset="0"/>
                <a:ea typeface="Graphik TH" pitchFamily="34" charset="-122"/>
                <a:cs typeface="Graphik TH" pitchFamily="34" charset="-120"/>
              </a:rPr>
              <a:t>Keep the transaction link</a:t>
            </a:r>
            <a:endParaRPr lang="en-US" sz="1100" dirty="0"/>
          </a:p>
        </p:txBody>
      </p:sp>
      <p:sp>
        <p:nvSpPr>
          <p:cNvPr id="36" name="Text 34"/>
          <p:cNvSpPr/>
          <p:nvPr/>
        </p:nvSpPr>
        <p:spPr>
          <a:xfrm>
            <a:off x="1133856" y="4773168"/>
            <a:ext cx="4041648" cy="347472"/>
          </a:xfrm>
          <a:prstGeom prst="rect">
            <a:avLst/>
          </a:prstGeom>
          <a:noFill/>
          <a:ln/>
        </p:spPr>
        <p:txBody>
          <a:bodyPr wrap="square" lIns="0" tIns="0" rIns="0" bIns="0" rtlCol="0" anchor="t"/>
          <a:lstStyle/>
          <a:p>
            <a:pPr indent="0" marL="0">
              <a:buNone/>
            </a:pPr>
            <a:r>
              <a:rPr lang="en-US" sz="900" dirty="0">
                <a:solidFill>
                  <a:srgbClr val="6B7A90"/>
                </a:solidFill>
                <a:latin typeface="Graphik TH" pitchFamily="34" charset="0"/>
                <a:ea typeface="Graphik TH" pitchFamily="34" charset="-122"/>
                <a:cs typeface="Graphik TH" pitchFamily="34" charset="-120"/>
              </a:rPr>
              <a:t>Position it beside the account they already transact on, so the pocket adds to the relationship instead of replacing it.</a:t>
            </a:r>
            <a:endParaRPr lang="en-US" sz="900" dirty="0"/>
          </a:p>
        </p:txBody>
      </p:sp>
      <p:sp>
        <p:nvSpPr>
          <p:cNvPr id="37" name="Shape 35"/>
          <p:cNvSpPr/>
          <p:nvPr/>
        </p:nvSpPr>
        <p:spPr>
          <a:xfrm>
            <a:off x="6281928" y="2798064"/>
            <a:ext cx="5522976" cy="2322576"/>
          </a:xfrm>
          <a:prstGeom prst="roundRect">
            <a:avLst>
              <a:gd name="adj" fmla="val 3543"/>
            </a:avLst>
          </a:prstGeom>
          <a:solidFill>
            <a:srgbClr val="F1F4F9"/>
          </a:solidFill>
          <a:ln/>
        </p:spPr>
      </p:sp>
      <p:sp>
        <p:nvSpPr>
          <p:cNvPr id="38" name="Text 36"/>
          <p:cNvSpPr/>
          <p:nvPr/>
        </p:nvSpPr>
        <p:spPr>
          <a:xfrm>
            <a:off x="6537960" y="2944368"/>
            <a:ext cx="5010912" cy="274320"/>
          </a:xfrm>
          <a:prstGeom prst="rect">
            <a:avLst/>
          </a:prstGeom>
          <a:noFill/>
          <a:ln/>
        </p:spPr>
        <p:txBody>
          <a:bodyPr wrap="square" lIns="0" tIns="0" rIns="0" bIns="0" rtlCol="0" anchor="ctr"/>
          <a:lstStyle/>
          <a:p>
            <a:pPr indent="0" marL="0">
              <a:buNone/>
            </a:pPr>
            <a:r>
              <a:rPr lang="en-US" sz="1400" b="1" dirty="0">
                <a:solidFill>
                  <a:srgbClr val="16233D"/>
                </a:solidFill>
                <a:latin typeface="Cambria" pitchFamily="34" charset="0"/>
                <a:ea typeface="Cambria" pitchFamily="34" charset="-122"/>
                <a:cs typeface="Cambria" pitchFamily="34" charset="-120"/>
              </a:rPr>
              <a:t>Why it should hold</a:t>
            </a:r>
            <a:endParaRPr lang="en-US" sz="1400" dirty="0"/>
          </a:p>
        </p:txBody>
      </p:sp>
      <p:sp>
        <p:nvSpPr>
          <p:cNvPr id="39" name="Text 37"/>
          <p:cNvSpPr/>
          <p:nvPr/>
        </p:nvSpPr>
        <p:spPr>
          <a:xfrm>
            <a:off x="6537960" y="3218688"/>
            <a:ext cx="5010912" cy="237744"/>
          </a:xfrm>
          <a:prstGeom prst="rect">
            <a:avLst/>
          </a:prstGeom>
          <a:noFill/>
          <a:ln/>
        </p:spPr>
        <p:txBody>
          <a:bodyPr wrap="square" lIns="0" tIns="0" rIns="0" bIns="0" rtlCol="0" anchor="ctr"/>
          <a:lstStyle/>
          <a:p>
            <a:pPr indent="0" marL="0">
              <a:buNone/>
            </a:pPr>
            <a:r>
              <a:rPr lang="en-US" sz="950" dirty="0">
                <a:solidFill>
                  <a:srgbClr val="6B7A90"/>
                </a:solidFill>
                <a:latin typeface="Graphik TH" pitchFamily="34" charset="0"/>
                <a:ea typeface="Graphik TH" pitchFamily="34" charset="-122"/>
                <a:cs typeface="Graphik TH" pitchFamily="34" charset="-120"/>
              </a:rPr>
              <a:t>What the same customers did when they had a second pocket</a:t>
            </a:r>
            <a:endParaRPr lang="en-US" sz="950" dirty="0"/>
          </a:p>
        </p:txBody>
      </p:sp>
      <p:sp>
        <p:nvSpPr>
          <p:cNvPr id="40" name="Shape 38"/>
          <p:cNvSpPr/>
          <p:nvPr/>
        </p:nvSpPr>
        <p:spPr>
          <a:xfrm>
            <a:off x="9805693" y="3456432"/>
            <a:ext cx="10973" cy="1298448"/>
          </a:xfrm>
          <a:prstGeom prst="rect">
            <a:avLst/>
          </a:prstGeom>
          <a:solidFill>
            <a:srgbClr val="6B7A90"/>
          </a:solidFill>
          <a:ln/>
        </p:spPr>
      </p:sp>
      <p:sp>
        <p:nvSpPr>
          <p:cNvPr id="41" name="Text 39"/>
          <p:cNvSpPr/>
          <p:nvPr/>
        </p:nvSpPr>
        <p:spPr>
          <a:xfrm>
            <a:off x="6537960" y="3493008"/>
            <a:ext cx="196596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Quality · has Save More</a:t>
            </a:r>
            <a:endParaRPr lang="en-US" sz="950" dirty="0"/>
          </a:p>
        </p:txBody>
      </p:sp>
      <p:sp>
        <p:nvSpPr>
          <p:cNvPr id="42" name="Shape 40"/>
          <p:cNvSpPr/>
          <p:nvPr/>
        </p:nvSpPr>
        <p:spPr>
          <a:xfrm>
            <a:off x="8558784" y="3538728"/>
            <a:ext cx="1371600" cy="164592"/>
          </a:xfrm>
          <a:prstGeom prst="roundRect">
            <a:avLst>
              <a:gd name="adj" fmla="val 16667"/>
            </a:avLst>
          </a:prstGeom>
          <a:solidFill>
            <a:srgbClr val="E4E9F0"/>
          </a:solidFill>
          <a:ln/>
        </p:spPr>
      </p:sp>
      <p:sp>
        <p:nvSpPr>
          <p:cNvPr id="43" name="Shape 41"/>
          <p:cNvSpPr/>
          <p:nvPr/>
        </p:nvSpPr>
        <p:spPr>
          <a:xfrm>
            <a:off x="8558784" y="3538728"/>
            <a:ext cx="1246952" cy="164592"/>
          </a:xfrm>
          <a:prstGeom prst="roundRect">
            <a:avLst>
              <a:gd name="adj" fmla="val 16667"/>
            </a:avLst>
          </a:prstGeom>
          <a:solidFill>
            <a:srgbClr val="1E8E86"/>
          </a:solidFill>
          <a:ln/>
        </p:spPr>
      </p:sp>
      <p:sp>
        <p:nvSpPr>
          <p:cNvPr id="44" name="Text 42"/>
          <p:cNvSpPr/>
          <p:nvPr/>
        </p:nvSpPr>
        <p:spPr>
          <a:xfrm>
            <a:off x="10113264" y="3493008"/>
            <a:ext cx="978408" cy="256032"/>
          </a:xfrm>
          <a:prstGeom prst="rect">
            <a:avLst/>
          </a:prstGeom>
          <a:noFill/>
          <a:ln/>
        </p:spPr>
        <p:txBody>
          <a:bodyPr wrap="square" lIns="0" tIns="0" rIns="0" bIns="0" rtlCol="0" anchor="ctr"/>
          <a:lstStyle/>
          <a:p>
            <a:pPr algn="r" indent="0" marL="0">
              <a:buNone/>
            </a:pPr>
            <a:r>
              <a:rPr lang="en-US" sz="950" b="1" dirty="0">
                <a:solidFill>
                  <a:srgbClr val="1E8E86"/>
                </a:solidFill>
                <a:latin typeface="Graphik TH" pitchFamily="34" charset="0"/>
                <a:ea typeface="Graphik TH" pitchFamily="34" charset="-122"/>
                <a:cs typeface="Graphik TH" pitchFamily="34" charset="-120"/>
              </a:rPr>
              <a:t>100.0%</a:t>
            </a:r>
            <a:endParaRPr lang="en-US" sz="950" dirty="0"/>
          </a:p>
        </p:txBody>
      </p:sp>
      <p:sp>
        <p:nvSpPr>
          <p:cNvPr id="45" name="Text 43"/>
          <p:cNvSpPr/>
          <p:nvPr/>
        </p:nvSpPr>
        <p:spPr>
          <a:xfrm>
            <a:off x="6537960" y="3803904"/>
            <a:ext cx="196596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Quality · no Save More</a:t>
            </a:r>
            <a:endParaRPr lang="en-US" sz="950" dirty="0"/>
          </a:p>
        </p:txBody>
      </p:sp>
      <p:sp>
        <p:nvSpPr>
          <p:cNvPr id="46" name="Shape 44"/>
          <p:cNvSpPr/>
          <p:nvPr/>
        </p:nvSpPr>
        <p:spPr>
          <a:xfrm>
            <a:off x="8558784" y="3849624"/>
            <a:ext cx="1371600" cy="164592"/>
          </a:xfrm>
          <a:prstGeom prst="roundRect">
            <a:avLst>
              <a:gd name="adj" fmla="val 16667"/>
            </a:avLst>
          </a:prstGeom>
          <a:solidFill>
            <a:srgbClr val="E4E9F0"/>
          </a:solidFill>
          <a:ln/>
        </p:spPr>
      </p:sp>
      <p:sp>
        <p:nvSpPr>
          <p:cNvPr id="47" name="Shape 45"/>
          <p:cNvSpPr/>
          <p:nvPr/>
        </p:nvSpPr>
        <p:spPr>
          <a:xfrm>
            <a:off x="8558784" y="3849624"/>
            <a:ext cx="1032681" cy="164592"/>
          </a:xfrm>
          <a:prstGeom prst="roundRect">
            <a:avLst>
              <a:gd name="adj" fmla="val 16667"/>
            </a:avLst>
          </a:prstGeom>
          <a:solidFill>
            <a:srgbClr val="C00000"/>
          </a:solidFill>
          <a:ln/>
        </p:spPr>
      </p:sp>
      <p:sp>
        <p:nvSpPr>
          <p:cNvPr id="48" name="Text 46"/>
          <p:cNvSpPr/>
          <p:nvPr/>
        </p:nvSpPr>
        <p:spPr>
          <a:xfrm>
            <a:off x="10113264" y="3803904"/>
            <a:ext cx="978408" cy="256032"/>
          </a:xfrm>
          <a:prstGeom prst="rect">
            <a:avLst/>
          </a:prstGeom>
          <a:noFill/>
          <a:ln/>
        </p:spPr>
        <p:txBody>
          <a:bodyPr wrap="square" lIns="0" tIns="0" rIns="0" bIns="0" rtlCol="0" anchor="ctr"/>
          <a:lstStyle/>
          <a:p>
            <a:pPr algn="r" indent="0" marL="0">
              <a:buNone/>
            </a:pPr>
            <a:r>
              <a:rPr lang="en-US" sz="950" b="1" dirty="0">
                <a:solidFill>
                  <a:srgbClr val="C00000"/>
                </a:solidFill>
                <a:latin typeface="Graphik TH" pitchFamily="34" charset="0"/>
                <a:ea typeface="Graphik TH" pitchFamily="34" charset="-122"/>
                <a:cs typeface="Graphik TH" pitchFamily="34" charset="-120"/>
              </a:rPr>
              <a:t>82.8%</a:t>
            </a:r>
            <a:endParaRPr lang="en-US" sz="950" dirty="0"/>
          </a:p>
        </p:txBody>
      </p:sp>
      <p:sp>
        <p:nvSpPr>
          <p:cNvPr id="49" name="Text 47"/>
          <p:cNvSpPr/>
          <p:nvPr/>
        </p:nvSpPr>
        <p:spPr>
          <a:xfrm>
            <a:off x="6537960" y="4114800"/>
            <a:ext cx="196596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Non-quality · has Save More</a:t>
            </a:r>
            <a:endParaRPr lang="en-US" sz="950" dirty="0"/>
          </a:p>
        </p:txBody>
      </p:sp>
      <p:sp>
        <p:nvSpPr>
          <p:cNvPr id="50" name="Shape 48"/>
          <p:cNvSpPr/>
          <p:nvPr/>
        </p:nvSpPr>
        <p:spPr>
          <a:xfrm>
            <a:off x="8558784" y="4160520"/>
            <a:ext cx="1371600" cy="164592"/>
          </a:xfrm>
          <a:prstGeom prst="roundRect">
            <a:avLst>
              <a:gd name="adj" fmla="val 16667"/>
            </a:avLst>
          </a:prstGeom>
          <a:solidFill>
            <a:srgbClr val="E4E9F0"/>
          </a:solidFill>
          <a:ln/>
        </p:spPr>
      </p:sp>
      <p:sp>
        <p:nvSpPr>
          <p:cNvPr id="51" name="Shape 49"/>
          <p:cNvSpPr/>
          <p:nvPr/>
        </p:nvSpPr>
        <p:spPr>
          <a:xfrm>
            <a:off x="8558784" y="4160520"/>
            <a:ext cx="1286826" cy="164592"/>
          </a:xfrm>
          <a:prstGeom prst="roundRect">
            <a:avLst>
              <a:gd name="adj" fmla="val 16667"/>
            </a:avLst>
          </a:prstGeom>
          <a:solidFill>
            <a:srgbClr val="8DA0B8"/>
          </a:solidFill>
          <a:ln/>
        </p:spPr>
      </p:sp>
      <p:sp>
        <p:nvSpPr>
          <p:cNvPr id="52" name="Text 50"/>
          <p:cNvSpPr/>
          <p:nvPr/>
        </p:nvSpPr>
        <p:spPr>
          <a:xfrm>
            <a:off x="10113264" y="4114800"/>
            <a:ext cx="978408" cy="256032"/>
          </a:xfrm>
          <a:prstGeom prst="rect">
            <a:avLst/>
          </a:prstGeom>
          <a:noFill/>
          <a:ln/>
        </p:spPr>
        <p:txBody>
          <a:bodyPr wrap="square" lIns="0" tIns="0" rIns="0" bIns="0" rtlCol="0" anchor="ctr"/>
          <a:lstStyle/>
          <a:p>
            <a:pPr algn="r" indent="0" marL="0">
              <a:buNone/>
            </a:pPr>
            <a:r>
              <a:rPr lang="en-US" sz="950" b="1" dirty="0">
                <a:solidFill>
                  <a:srgbClr val="8DA0B8"/>
                </a:solidFill>
                <a:latin typeface="Graphik TH" pitchFamily="34" charset="0"/>
                <a:ea typeface="Graphik TH" pitchFamily="34" charset="-122"/>
                <a:cs typeface="Graphik TH" pitchFamily="34" charset="-120"/>
              </a:rPr>
              <a:t>103.2%</a:t>
            </a:r>
            <a:endParaRPr lang="en-US" sz="950" dirty="0"/>
          </a:p>
        </p:txBody>
      </p:sp>
      <p:sp>
        <p:nvSpPr>
          <p:cNvPr id="53" name="Text 51"/>
          <p:cNvSpPr/>
          <p:nvPr/>
        </p:nvSpPr>
        <p:spPr>
          <a:xfrm>
            <a:off x="6537960" y="4425696"/>
            <a:ext cx="1965960" cy="256032"/>
          </a:xfrm>
          <a:prstGeom prst="rect">
            <a:avLst/>
          </a:prstGeom>
          <a:noFill/>
          <a:ln/>
        </p:spPr>
        <p:txBody>
          <a:bodyPr wrap="square" lIns="0" tIns="0" rIns="0" bIns="0" rtlCol="0" anchor="ctr"/>
          <a:lstStyle/>
          <a:p>
            <a:pPr indent="0" marL="0">
              <a:buNone/>
            </a:pPr>
            <a:r>
              <a:rPr lang="en-US" sz="950" dirty="0">
                <a:solidFill>
                  <a:srgbClr val="16233D"/>
                </a:solidFill>
                <a:latin typeface="Graphik TH" pitchFamily="34" charset="0"/>
                <a:ea typeface="Graphik TH" pitchFamily="34" charset="-122"/>
                <a:cs typeface="Graphik TH" pitchFamily="34" charset="-120"/>
              </a:rPr>
              <a:t>Non-quality · no Save More</a:t>
            </a:r>
            <a:endParaRPr lang="en-US" sz="950" dirty="0"/>
          </a:p>
        </p:txBody>
      </p:sp>
      <p:sp>
        <p:nvSpPr>
          <p:cNvPr id="54" name="Shape 52"/>
          <p:cNvSpPr/>
          <p:nvPr/>
        </p:nvSpPr>
        <p:spPr>
          <a:xfrm>
            <a:off x="8558784" y="4471416"/>
            <a:ext cx="1371600" cy="164592"/>
          </a:xfrm>
          <a:prstGeom prst="roundRect">
            <a:avLst>
              <a:gd name="adj" fmla="val 16667"/>
            </a:avLst>
          </a:prstGeom>
          <a:solidFill>
            <a:srgbClr val="E4E9F0"/>
          </a:solidFill>
          <a:ln/>
        </p:spPr>
      </p:sp>
      <p:sp>
        <p:nvSpPr>
          <p:cNvPr id="55" name="Shape 53"/>
          <p:cNvSpPr/>
          <p:nvPr/>
        </p:nvSpPr>
        <p:spPr>
          <a:xfrm>
            <a:off x="8558784" y="4471416"/>
            <a:ext cx="1286714" cy="164592"/>
          </a:xfrm>
          <a:prstGeom prst="roundRect">
            <a:avLst>
              <a:gd name="adj" fmla="val 16667"/>
            </a:avLst>
          </a:prstGeom>
          <a:solidFill>
            <a:srgbClr val="8DA0B8"/>
          </a:solidFill>
          <a:ln/>
        </p:spPr>
      </p:sp>
      <p:sp>
        <p:nvSpPr>
          <p:cNvPr id="56" name="Text 54"/>
          <p:cNvSpPr/>
          <p:nvPr/>
        </p:nvSpPr>
        <p:spPr>
          <a:xfrm>
            <a:off x="10113264" y="4425696"/>
            <a:ext cx="978408" cy="256032"/>
          </a:xfrm>
          <a:prstGeom prst="rect">
            <a:avLst/>
          </a:prstGeom>
          <a:noFill/>
          <a:ln/>
        </p:spPr>
        <p:txBody>
          <a:bodyPr wrap="square" lIns="0" tIns="0" rIns="0" bIns="0" rtlCol="0" anchor="ctr"/>
          <a:lstStyle/>
          <a:p>
            <a:pPr algn="r" indent="0" marL="0">
              <a:buNone/>
            </a:pPr>
            <a:r>
              <a:rPr lang="en-US" sz="950" b="1" dirty="0">
                <a:solidFill>
                  <a:srgbClr val="8DA0B8"/>
                </a:solidFill>
                <a:latin typeface="Graphik TH" pitchFamily="34" charset="0"/>
                <a:ea typeface="Graphik TH" pitchFamily="34" charset="-122"/>
                <a:cs typeface="Graphik TH" pitchFamily="34" charset="-120"/>
              </a:rPr>
              <a:t>103.2%</a:t>
            </a:r>
            <a:endParaRPr lang="en-US" sz="950" dirty="0"/>
          </a:p>
        </p:txBody>
      </p:sp>
      <p:sp>
        <p:nvSpPr>
          <p:cNvPr id="57" name="Text 55"/>
          <p:cNvSpPr/>
          <p:nvPr/>
        </p:nvSpPr>
        <p:spPr>
          <a:xfrm>
            <a:off x="6537960" y="4773168"/>
            <a:ext cx="5010912" cy="292608"/>
          </a:xfrm>
          <a:prstGeom prst="rect">
            <a:avLst/>
          </a:prstGeom>
          <a:noFill/>
          <a:ln/>
        </p:spPr>
        <p:txBody>
          <a:bodyPr wrap="square" lIns="0" tIns="0" rIns="0" bIns="0" rtlCol="0" anchor="t"/>
          <a:lstStyle/>
          <a:p>
            <a:pPr indent="0" marL="0">
              <a:buNone/>
            </a:pPr>
            <a:r>
              <a:rPr lang="en-US" sz="900" i="1" dirty="0">
                <a:solidFill>
                  <a:srgbClr val="6B7A90"/>
                </a:solidFill>
                <a:latin typeface="Graphik TH" pitchFamily="34" charset="0"/>
                <a:ea typeface="Graphik TH" pitchFamily="34" charset="-122"/>
                <a:cs typeface="Graphik TH" pitchFamily="34" charset="-120"/>
              </a:rPr>
              <a:t>Balance retained. Engaged customers with a second pocket held flat; the same customers without one lost −17.2%.</a:t>
            </a:r>
            <a:endParaRPr lang="en-US" sz="900" dirty="0"/>
          </a:p>
        </p:txBody>
      </p:sp>
      <p:sp>
        <p:nvSpPr>
          <p:cNvPr id="58" name="Shape 56"/>
          <p:cNvSpPr/>
          <p:nvPr/>
        </p:nvSpPr>
        <p:spPr>
          <a:xfrm>
            <a:off x="530352" y="5285232"/>
            <a:ext cx="11274552" cy="786384"/>
          </a:xfrm>
          <a:prstGeom prst="roundRect">
            <a:avLst>
              <a:gd name="adj" fmla="val 10465"/>
            </a:avLst>
          </a:prstGeom>
          <a:solidFill>
            <a:srgbClr val="E8F6F3"/>
          </a:solidFill>
          <a:ln/>
        </p:spPr>
      </p:sp>
      <p:sp>
        <p:nvSpPr>
          <p:cNvPr id="59" name="Text 57"/>
          <p:cNvSpPr/>
          <p:nvPr/>
        </p:nvSpPr>
        <p:spPr>
          <a:xfrm>
            <a:off x="804672" y="5285232"/>
            <a:ext cx="10725912" cy="786384"/>
          </a:xfrm>
          <a:prstGeom prst="rect">
            <a:avLst/>
          </a:prstGeom>
          <a:noFill/>
          <a:ln/>
        </p:spPr>
        <p:txBody>
          <a:bodyPr wrap="square" lIns="0" tIns="0" rIns="0" bIns="0" rtlCol="0" anchor="ctr"/>
          <a:lstStyle/>
          <a:p>
            <a:pPr indent="0" marL="0">
              <a:buNone/>
            </a:pPr>
            <a:r>
              <a:rPr lang="en-US" sz="1100" b="1" dirty="0">
                <a:solidFill>
                  <a:srgbClr val="045D66"/>
                </a:solidFill>
                <a:latin typeface="Graphik TH" pitchFamily="34" charset="0"/>
                <a:ea typeface="Graphik TH" pitchFamily="34" charset="-122"/>
                <a:cs typeface="Graphik TH" pitchFamily="34" charset="-120"/>
              </a:rPr>
              <a:t>22,278 customers who transact, hold THB 211.1m, and are leaving at −17.2% a period</a:t>
            </a:r>
            <a:pPr indent="0" marL="0">
              <a:buNone/>
            </a:pPr>
            <a:r>
              <a:rPr lang="en-US" sz="1100" dirty="0">
                <a:solidFill>
                  <a:srgbClr val="16233D"/>
                </a:solidFill>
                <a:latin typeface="Graphik TH" pitchFamily="34" charset="0"/>
                <a:ea typeface="Graphik TH" pitchFamily="34" charset="-122"/>
                <a:cs typeface="Graphik TH" pitchFamily="34" charset="-120"/>
              </a:rPr>
              <a:t>  —  they are the customers worth keeping. Give them a pocket sized for a THB 11,439 balance and the money has a reason to stay. Measure the next maturity wave against a held-out control before scaling.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Save More gap and the savings-pocket opportunity</dc:title>
  <dc:subject>PptxGenJS Presentation</dc:subject>
  <dc:creator>Deposit Analytics</dc:creator>
  <cp:lastModifiedBy>Deposit Analytics</cp:lastModifiedBy>
  <cp:revision>1</cp:revision>
  <dcterms:created xsi:type="dcterms:W3CDTF">2026-09-30T10:00:54Z</dcterms:created>
  <dcterms:modified xsi:type="dcterms:W3CDTF">2026-09-30T10:00:54Z</dcterms:modified>
</cp:coreProperties>
</file>
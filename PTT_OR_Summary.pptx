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6233D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6233D"/>
                </a:solidFill>
                <a:latin typeface="Calibri"/>
              </a:rPr>
              <a:t>Share of transactions and value</a:t>
            </a:r>
          </a:p>
        </c:rich>
      </c:tx>
      <c:layout/>
      <c:overlay val="0"/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Amazon</c:v>
                </c:pt>
              </c:strCache>
            </c:strRef>
          </c:tx>
          <c:spPr>
            <a:solidFill>
              <a:srgbClr val="3FB89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Value  18.85B</c:v>
                  </c:pt>
                  <c:pt idx="1">
                    <c:v>Transactions  40.78M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8.4</c:v>
                </c:pt>
                <c:pt idx="1">
                  <c:v>51.2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Oil</c:v>
                </c:pt>
              </c:strCache>
            </c:strRef>
          </c:tx>
          <c:spPr>
            <a:solidFill>
              <a:srgbClr val="165A73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Value  18.85B</c:v>
                  </c:pt>
                  <c:pt idx="1">
                    <c:v>Transactions  40.78M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91.6</c:v>
                </c:pt>
                <c:pt idx="1">
                  <c:v>48.8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6233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6233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One-page read of the PTT OR figures as of Apr 2026. Reach is thin: 5,785,346 monthly transacting users is 5.9% of the 98,500,000 base. Oil is the larger footprint - 4,714,288 users against Amazon's 2,969,442 - and dominates value at 91.6% on 48.8% of transactions. Average ticket 76.09 vs 867.19, a 11.4x gap. The cross-shop asymmetry is the actionable piece: Amazon users are far more likely to also buy fuel than the reverse, so Oil is the harder brand to pull customers into.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PTT OR  ·  DATA AS OF APR 2026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the transactions, nine-tenths of the value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and Oil run almost the same number of transactions, but Oil's ticket is 11× larger, so it carries 91.6% of the value.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26464"/>
            <a:ext cx="2560320" cy="1005840"/>
          </a:xfrm>
          <a:prstGeom prst="roundRect">
            <a:avLst>
              <a:gd name="adj" fmla="val 8182"/>
            </a:avLst>
          </a:prstGeom>
          <a:solidFill>
            <a:srgbClr val="F1F4F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1790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98.5M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base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215798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426464"/>
            <a:ext cx="2560320" cy="1005840"/>
          </a:xfrm>
          <a:prstGeom prst="roundRect">
            <a:avLst>
              <a:gd name="adj" fmla="val 8182"/>
            </a:avLst>
          </a:prstGeom>
          <a:solidFill>
            <a:srgbClr val="F1F4F9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151790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5.79M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3611880" y="19202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transacting users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11880" y="215798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· 5.9% of base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426464"/>
            <a:ext cx="2560320" cy="1005840"/>
          </a:xfrm>
          <a:prstGeom prst="roundRect">
            <a:avLst>
              <a:gd name="adj" fmla="val 8182"/>
            </a:avLst>
          </a:prstGeom>
          <a:solidFill>
            <a:srgbClr val="F1F4F9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51790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40.78M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6446520" y="19202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46520" y="215798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ticket 462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52560" y="1426464"/>
            <a:ext cx="2560320" cy="1005840"/>
          </a:xfrm>
          <a:prstGeom prst="roundRect">
            <a:avLst>
              <a:gd name="adj" fmla="val 8182"/>
            </a:avLst>
          </a:prstGeom>
          <a:solidFill>
            <a:srgbClr val="F1F4F9"/>
          </a:solidFill>
          <a:ln/>
        </p:spPr>
      </p:sp>
      <p:sp>
        <p:nvSpPr>
          <p:cNvPr id="18" name="Text 16"/>
          <p:cNvSpPr/>
          <p:nvPr/>
        </p:nvSpPr>
        <p:spPr>
          <a:xfrm>
            <a:off x="9281160" y="151790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9A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18.85B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9281160" y="19202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value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281160" y="215798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91.6% of it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2615184"/>
            <a:ext cx="5440680" cy="2231136"/>
          </a:xfrm>
          <a:prstGeom prst="roundRect">
            <a:avLst>
              <a:gd name="adj" fmla="val 3689"/>
            </a:avLst>
          </a:prstGeom>
          <a:solidFill>
            <a:srgbClr val="F1F4F9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276148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transacts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3035808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5.79M monthly transacting users, split by what they buy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34015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only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286000" y="3456432"/>
            <a:ext cx="1965960" cy="182880"/>
          </a:xfrm>
          <a:prstGeom prst="roundRect">
            <a:avLst>
              <a:gd name="adj" fmla="val 20000"/>
            </a:avLst>
          </a:prstGeom>
          <a:solidFill>
            <a:srgbClr val="165A73"/>
          </a:solidFill>
          <a:ln/>
        </p:spPr>
      </p:sp>
      <p:sp>
        <p:nvSpPr>
          <p:cNvPr id="26" name="Text 24"/>
          <p:cNvSpPr/>
          <p:nvPr/>
        </p:nvSpPr>
        <p:spPr>
          <a:xfrm>
            <a:off x="4343400" y="34015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2.82M  ·  48.7%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22960" y="38039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286000" y="3858768"/>
            <a:ext cx="1322803" cy="182880"/>
          </a:xfrm>
          <a:prstGeom prst="roundRect">
            <a:avLst>
              <a:gd name="adj" fmla="val 20000"/>
            </a:avLst>
          </a:prstGeom>
          <a:solidFill>
            <a:srgbClr val="3FB89F"/>
          </a:solidFill>
          <a:ln/>
        </p:spPr>
      </p:sp>
      <p:sp>
        <p:nvSpPr>
          <p:cNvPr id="29" name="Text 27"/>
          <p:cNvSpPr/>
          <p:nvPr/>
        </p:nvSpPr>
        <p:spPr>
          <a:xfrm>
            <a:off x="4343400" y="38039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1.90M  ·  32.8%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22960" y="4206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only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286000" y="4261104"/>
            <a:ext cx="748728" cy="182880"/>
          </a:xfrm>
          <a:prstGeom prst="roundRect">
            <a:avLst>
              <a:gd name="adj" fmla="val 20000"/>
            </a:avLst>
          </a:prstGeom>
          <a:solidFill>
            <a:srgbClr val="8DA0B8"/>
          </a:solidFill>
          <a:ln/>
        </p:spPr>
      </p:sp>
      <p:sp>
        <p:nvSpPr>
          <p:cNvPr id="32" name="Text 30"/>
          <p:cNvSpPr/>
          <p:nvPr/>
        </p:nvSpPr>
        <p:spPr>
          <a:xfrm>
            <a:off x="4343400" y="4206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1.07M  ·  18.6%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172200" y="2615184"/>
            <a:ext cx="5440680" cy="2231136"/>
          </a:xfrm>
          <a:prstGeom prst="roundRect">
            <a:avLst>
              <a:gd name="adj" fmla="val 3689"/>
            </a:avLst>
          </a:prstGeom>
          <a:solidFill>
            <a:srgbClr val="F1F4F9"/>
          </a:solidFill>
          <a:ln/>
        </p:spPr>
      </p:sp>
      <p:graphicFrame>
        <p:nvGraphicFramePr>
          <p:cNvPr id="34" name="Chart 0" descr=""/>
          <p:cNvGraphicFramePr/>
          <p:nvPr/>
        </p:nvGraphicFramePr>
        <p:xfrm>
          <a:off x="6291072" y="2706624"/>
          <a:ext cx="5230368" cy="20482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5" name="Shape 32"/>
          <p:cNvSpPr/>
          <p:nvPr/>
        </p:nvSpPr>
        <p:spPr>
          <a:xfrm>
            <a:off x="548640" y="4992624"/>
            <a:ext cx="11064240" cy="1188720"/>
          </a:xfrm>
          <a:prstGeom prst="roundRect">
            <a:avLst>
              <a:gd name="adj" fmla="val 6923"/>
            </a:avLst>
          </a:prstGeom>
          <a:solidFill>
            <a:srgbClr val="0E1E3C"/>
          </a:solidFill>
          <a:ln/>
        </p:spPr>
      </p:sp>
      <p:sp>
        <p:nvSpPr>
          <p:cNvPr id="36" name="Text 33"/>
          <p:cNvSpPr/>
          <p:nvPr/>
        </p:nvSpPr>
        <p:spPr>
          <a:xfrm>
            <a:off x="914400" y="5157216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5F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SEPARATES THE TWO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914400" y="5413248"/>
            <a:ext cx="10332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5F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ticket is 76 at Amazon against 867 at Oil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3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 near-equal transaction counts split value 8.4% / 91.6%. Amazon users transact more often (7.0 each against 4.2) but spend 535 against 3,661.</a:t>
            </a:r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3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Cross-shopping runs one way: 63.9% of Amazon users also buy oil, but only 40.2% of Oil users visit Amazon.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548640" y="629107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figures as supplied, PTT OR, data as of Apr 2026; currency not stated. 'mtu amazon' and 'mtu oil' are read as single-brand users and 'mtu both' as the overlap — on that reading the three sum to 5,787,554 against the stated 5,785,346, a gap of 2,208 worth confirming. Per-user figures divide each brand's transactions by its total users, single-brand plus both. All percentages are computed from the supplied counts.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PTT OR - summary as of Apr 2026</dc:title>
  <dc:subject>PptxGenJS Presentation</dc:subject>
  <dc:creator>PTT OR</dc:creator>
  <cp:lastModifiedBy>PTT OR</cp:lastModifiedBy>
  <cp:revision>1</cp:revision>
  <dcterms:created xsi:type="dcterms:W3CDTF">2026-08-20T06:10:32Z</dcterms:created>
  <dcterms:modified xsi:type="dcterms:W3CDTF">2026-08-20T06:10:32Z</dcterms:modified>
</cp:coreProperties>
</file>
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Base 21,412,441 (age 20-60). Flagship holders 1,545,264 = 7.2%: N 678,687, N-1 866,577. Penetration by cash need runs 3.2 / 5.2 / 8.9 / 9.7 percent from Null to High; by risk it runs 10.4 / 6.7 / 4.2 percent from Low to High. Low-risk customers are 40.1% of the base but 57.6% of all flagship owners. The Null-risk and Null-cash-need cells are tiny (High/Null holds 1,698 customers at 61% penetration) and should not be read as a segment.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Flagship base a year earlier 1,270,758; 192,567 changed handset (15.2%); 1,078,191 did not. N holders upgraded at 14.8% and N-1 holders at 15.4% - near identical, so being a generation behind does not itself drive replacement. Upgrade rate by cash need runs 8.2 / 12.9 / 15.7 / 17.2 percent from Null to High. By risk it is flat: Low 14.7, Mid 15.9, High 15.2. Of the upgraders, 77.8% went to the newest model and 22.2% moved to the previous generation. Data note: four rows of the N/N-1 model mapping look mis-paired (Galaxy S26 to S25+, iPhone 16 Pro and 16 both to 15 Pro Max, duplicate Galaxy S25+), which would shift the N-1 counts.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83464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AIS Mobile Flagship Base : 21.41M base, 1.55M on a flagship (7.2%)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30352" y="713232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6B6B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*Risk and cash need as of 202508, device as of 202604, base filtered to age 20–60.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Base 21.41M   ·   Newest model (N) 678.7K   ·   Previous model (N-1) 866.6K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2618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Flagship ownership climbs with cash need and falls with risk — the densest pocket is high cash need paired with low risk.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30352" y="1645920"/>
            <a:ext cx="2615184" cy="987552"/>
          </a:xfrm>
          <a:prstGeom prst="roundRect">
            <a:avLst>
              <a:gd name="adj" fmla="val 8333"/>
            </a:avLst>
          </a:prstGeom>
          <a:solidFill>
            <a:srgbClr val="F1F4F9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1719072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A89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21.41M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749808" y="212140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customers in base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49808" y="235000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age 20–60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74136" y="1645920"/>
            <a:ext cx="2615184" cy="987552"/>
          </a:xfrm>
          <a:prstGeom prst="roundRect">
            <a:avLst>
              <a:gd name="adj" fmla="val 8333"/>
            </a:avLst>
          </a:prstGeom>
          <a:solidFill>
            <a:srgbClr val="F1F4F9"/>
          </a:solidFill>
          <a:ln/>
        </p:spPr>
      </p:sp>
      <p:sp>
        <p:nvSpPr>
          <p:cNvPr id="11" name="Text 9"/>
          <p:cNvSpPr/>
          <p:nvPr/>
        </p:nvSpPr>
        <p:spPr>
          <a:xfrm>
            <a:off x="3593592" y="1719072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A89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1.55M</a:t>
            </a:r>
            <a:endParaRPr lang="en-US" sz="2500" dirty="0"/>
          </a:p>
        </p:txBody>
      </p:sp>
      <p:sp>
        <p:nvSpPr>
          <p:cNvPr id="12" name="Text 10"/>
          <p:cNvSpPr/>
          <p:nvPr/>
        </p:nvSpPr>
        <p:spPr>
          <a:xfrm>
            <a:off x="3593592" y="212140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hold a flagship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593592" y="235000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7.2% of base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217920" y="1645920"/>
            <a:ext cx="2615184" cy="987552"/>
          </a:xfrm>
          <a:prstGeom prst="roundRect">
            <a:avLst>
              <a:gd name="adj" fmla="val 8333"/>
            </a:avLst>
          </a:prstGeom>
          <a:solidFill>
            <a:srgbClr val="F1F4F9"/>
          </a:solidFill>
          <a:ln/>
        </p:spPr>
      </p:sp>
      <p:sp>
        <p:nvSpPr>
          <p:cNvPr id="15" name="Text 13"/>
          <p:cNvSpPr/>
          <p:nvPr/>
        </p:nvSpPr>
        <p:spPr>
          <a:xfrm>
            <a:off x="6437376" y="1719072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A89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3.2%</a:t>
            </a:r>
            <a:endParaRPr lang="en-US" sz="2500" dirty="0"/>
          </a:p>
        </p:txBody>
      </p:sp>
      <p:sp>
        <p:nvSpPr>
          <p:cNvPr id="16" name="Text 14"/>
          <p:cNvSpPr/>
          <p:nvPr/>
        </p:nvSpPr>
        <p:spPr>
          <a:xfrm>
            <a:off x="6437376" y="212140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are on the newest model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437376" y="235000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678.7K customers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9061704" y="1645920"/>
            <a:ext cx="2615184" cy="987552"/>
          </a:xfrm>
          <a:prstGeom prst="roundRect">
            <a:avLst>
              <a:gd name="adj" fmla="val 8333"/>
            </a:avLst>
          </a:prstGeom>
          <a:solidFill>
            <a:srgbClr val="F1F4F9"/>
          </a:solidFill>
          <a:ln/>
        </p:spPr>
      </p:sp>
      <p:sp>
        <p:nvSpPr>
          <p:cNvPr id="19" name="Text 17"/>
          <p:cNvSpPr/>
          <p:nvPr/>
        </p:nvSpPr>
        <p:spPr>
          <a:xfrm>
            <a:off x="9281160" y="1719072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C0000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2.5×</a:t>
            </a:r>
            <a:endParaRPr lang="en-US" sz="2500" dirty="0"/>
          </a:p>
        </p:txBody>
      </p:sp>
      <p:sp>
        <p:nvSpPr>
          <p:cNvPr id="20" name="Text 18"/>
          <p:cNvSpPr/>
          <p:nvPr/>
        </p:nvSpPr>
        <p:spPr>
          <a:xfrm>
            <a:off x="9281160" y="212140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risk penetration gap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9281160" y="235000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10.4% low vs 4.2% high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30352" y="2761488"/>
            <a:ext cx="3291840" cy="2743200"/>
          </a:xfrm>
          <a:prstGeom prst="roundRect">
            <a:avLst>
              <a:gd name="adj" fmla="val 3000"/>
            </a:avLst>
          </a:prstGeom>
          <a:solidFill>
            <a:srgbClr val="F1F4F9"/>
          </a:solidFill>
          <a:ln/>
        </p:spPr>
      </p:sp>
      <p:sp>
        <p:nvSpPr>
          <p:cNvPr id="23" name="Text 21"/>
          <p:cNvSpPr/>
          <p:nvPr/>
        </p:nvSpPr>
        <p:spPr>
          <a:xfrm>
            <a:off x="749808" y="2907792"/>
            <a:ext cx="2852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Penetration by cash need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49808" y="3163824"/>
            <a:ext cx="2852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Flagship holders as % of each cash-need group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49808" y="351129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High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728216" y="3566160"/>
            <a:ext cx="804672" cy="173736"/>
          </a:xfrm>
          <a:prstGeom prst="roundRect">
            <a:avLst>
              <a:gd name="adj" fmla="val 21053"/>
            </a:avLst>
          </a:prstGeom>
          <a:solidFill>
            <a:srgbClr val="165A73"/>
          </a:solidFill>
          <a:ln/>
        </p:spPr>
      </p:sp>
      <p:sp>
        <p:nvSpPr>
          <p:cNvPr id="27" name="Text 25"/>
          <p:cNvSpPr/>
          <p:nvPr/>
        </p:nvSpPr>
        <p:spPr>
          <a:xfrm>
            <a:off x="2642616" y="3511296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9.7%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49808" y="396849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Mid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728216" y="4023360"/>
            <a:ext cx="740251" cy="173736"/>
          </a:xfrm>
          <a:prstGeom prst="roundRect">
            <a:avLst>
              <a:gd name="adj" fmla="val 21053"/>
            </a:avLst>
          </a:prstGeom>
          <a:solidFill>
            <a:srgbClr val="1E8E86"/>
          </a:solidFill>
          <a:ln/>
        </p:spPr>
      </p:sp>
      <p:sp>
        <p:nvSpPr>
          <p:cNvPr id="30" name="Text 28"/>
          <p:cNvSpPr/>
          <p:nvPr/>
        </p:nvSpPr>
        <p:spPr>
          <a:xfrm>
            <a:off x="2642616" y="3968496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8.9%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49808" y="442569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Low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728216" y="4480560"/>
            <a:ext cx="430378" cy="173736"/>
          </a:xfrm>
          <a:prstGeom prst="roundRect">
            <a:avLst>
              <a:gd name="adj" fmla="val 21053"/>
            </a:avLst>
          </a:prstGeom>
          <a:solidFill>
            <a:srgbClr val="3FB89F"/>
          </a:solidFill>
          <a:ln/>
        </p:spPr>
      </p:sp>
      <p:sp>
        <p:nvSpPr>
          <p:cNvPr id="33" name="Text 31"/>
          <p:cNvSpPr/>
          <p:nvPr/>
        </p:nvSpPr>
        <p:spPr>
          <a:xfrm>
            <a:off x="2642616" y="4425696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5.2%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49808" y="488289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Null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728216" y="4937760"/>
            <a:ext cx="262747" cy="173736"/>
          </a:xfrm>
          <a:prstGeom prst="roundRect">
            <a:avLst>
              <a:gd name="adj" fmla="val 21053"/>
            </a:avLst>
          </a:prstGeom>
          <a:solidFill>
            <a:srgbClr val="8DA0B8"/>
          </a:solidFill>
          <a:ln/>
        </p:spPr>
      </p:sp>
      <p:sp>
        <p:nvSpPr>
          <p:cNvPr id="36" name="Text 34"/>
          <p:cNvSpPr/>
          <p:nvPr/>
        </p:nvSpPr>
        <p:spPr>
          <a:xfrm>
            <a:off x="2642616" y="4882896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3.2%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4050792" y="2761488"/>
            <a:ext cx="3291840" cy="2743200"/>
          </a:xfrm>
          <a:prstGeom prst="roundRect">
            <a:avLst>
              <a:gd name="adj" fmla="val 3000"/>
            </a:avLst>
          </a:prstGeom>
          <a:solidFill>
            <a:srgbClr val="F1F4F9"/>
          </a:solidFill>
          <a:ln/>
        </p:spPr>
      </p:sp>
      <p:sp>
        <p:nvSpPr>
          <p:cNvPr id="38" name="Text 36"/>
          <p:cNvSpPr/>
          <p:nvPr/>
        </p:nvSpPr>
        <p:spPr>
          <a:xfrm>
            <a:off x="4270248" y="2907792"/>
            <a:ext cx="2852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Penetration by risk level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4270248" y="3163824"/>
            <a:ext cx="2852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Flagship holders as % of each risk group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4270248" y="351129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Low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248656" y="3566160"/>
            <a:ext cx="804672" cy="173736"/>
          </a:xfrm>
          <a:prstGeom prst="roundRect">
            <a:avLst>
              <a:gd name="adj" fmla="val 21053"/>
            </a:avLst>
          </a:prstGeom>
          <a:solidFill>
            <a:srgbClr val="3FB89F"/>
          </a:solidFill>
          <a:ln/>
        </p:spPr>
      </p:sp>
      <p:sp>
        <p:nvSpPr>
          <p:cNvPr id="42" name="Text 40"/>
          <p:cNvSpPr/>
          <p:nvPr/>
        </p:nvSpPr>
        <p:spPr>
          <a:xfrm>
            <a:off x="6163056" y="3511296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10.4%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4270248" y="396849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Mid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5248656" y="4023360"/>
            <a:ext cx="521178" cy="173736"/>
          </a:xfrm>
          <a:prstGeom prst="roundRect">
            <a:avLst>
              <a:gd name="adj" fmla="val 21053"/>
            </a:avLst>
          </a:prstGeom>
          <a:solidFill>
            <a:srgbClr val="1E8E86"/>
          </a:solidFill>
          <a:ln/>
        </p:spPr>
      </p:sp>
      <p:sp>
        <p:nvSpPr>
          <p:cNvPr id="45" name="Text 43"/>
          <p:cNvSpPr/>
          <p:nvPr/>
        </p:nvSpPr>
        <p:spPr>
          <a:xfrm>
            <a:off x="6163056" y="3968496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6.7%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4270248" y="442569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High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5248656" y="4480560"/>
            <a:ext cx="325989" cy="173736"/>
          </a:xfrm>
          <a:prstGeom prst="roundRect">
            <a:avLst>
              <a:gd name="adj" fmla="val 21053"/>
            </a:avLst>
          </a:prstGeom>
          <a:solidFill>
            <a:srgbClr val="165A73"/>
          </a:solidFill>
          <a:ln/>
        </p:spPr>
      </p:sp>
      <p:sp>
        <p:nvSpPr>
          <p:cNvPr id="48" name="Text 46"/>
          <p:cNvSpPr/>
          <p:nvPr/>
        </p:nvSpPr>
        <p:spPr>
          <a:xfrm>
            <a:off x="6163056" y="4425696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4.2%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4270248" y="488289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Null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5248656" y="4937760"/>
            <a:ext cx="174225" cy="173736"/>
          </a:xfrm>
          <a:prstGeom prst="roundRect">
            <a:avLst>
              <a:gd name="adj" fmla="val 21053"/>
            </a:avLst>
          </a:prstGeom>
          <a:solidFill>
            <a:srgbClr val="8DA0B8"/>
          </a:solidFill>
          <a:ln/>
        </p:spPr>
      </p:sp>
      <p:sp>
        <p:nvSpPr>
          <p:cNvPr id="51" name="Text 49"/>
          <p:cNvSpPr/>
          <p:nvPr/>
        </p:nvSpPr>
        <p:spPr>
          <a:xfrm>
            <a:off x="6163056" y="4882896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2.2%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7571232" y="2761488"/>
            <a:ext cx="4233672" cy="2743200"/>
          </a:xfrm>
          <a:prstGeom prst="roundRect">
            <a:avLst>
              <a:gd name="adj" fmla="val 3000"/>
            </a:avLst>
          </a:prstGeom>
          <a:solidFill>
            <a:srgbClr val="F1F4F9"/>
          </a:solidFill>
          <a:ln/>
        </p:spPr>
      </p:sp>
      <p:sp>
        <p:nvSpPr>
          <p:cNvPr id="53" name="Text 51"/>
          <p:cNvSpPr/>
          <p:nvPr/>
        </p:nvSpPr>
        <p:spPr>
          <a:xfrm>
            <a:off x="7790688" y="2907792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flagship owners are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7790688" y="3163824"/>
            <a:ext cx="3794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Largest cash-need / risk cells by flagship volume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7790688" y="3511296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Mid / Low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9134856" y="3566160"/>
            <a:ext cx="969264" cy="173736"/>
          </a:xfrm>
          <a:prstGeom prst="roundRect">
            <a:avLst>
              <a:gd name="adj" fmla="val 21053"/>
            </a:avLst>
          </a:prstGeom>
          <a:solidFill>
            <a:srgbClr val="165A73"/>
          </a:solidFill>
          <a:ln/>
        </p:spPr>
      </p:sp>
      <p:sp>
        <p:nvSpPr>
          <p:cNvPr id="57" name="Text 55"/>
          <p:cNvSpPr/>
          <p:nvPr/>
        </p:nvSpPr>
        <p:spPr>
          <a:xfrm>
            <a:off x="10213848" y="35112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375.6K · 13.8%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7790688" y="389534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Low / Low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9134856" y="3950208"/>
            <a:ext cx="846308" cy="173736"/>
          </a:xfrm>
          <a:prstGeom prst="roundRect">
            <a:avLst>
              <a:gd name="adj" fmla="val 21053"/>
            </a:avLst>
          </a:prstGeom>
          <a:solidFill>
            <a:srgbClr val="165A73"/>
          </a:solidFill>
          <a:ln/>
        </p:spPr>
      </p:sp>
      <p:sp>
        <p:nvSpPr>
          <p:cNvPr id="60" name="Text 58"/>
          <p:cNvSpPr/>
          <p:nvPr/>
        </p:nvSpPr>
        <p:spPr>
          <a:xfrm>
            <a:off x="10213848" y="389534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328.0K · 7.3%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7790688" y="427939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High / Low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9134856" y="4334256"/>
            <a:ext cx="458556" cy="173736"/>
          </a:xfrm>
          <a:prstGeom prst="roundRect">
            <a:avLst>
              <a:gd name="adj" fmla="val 21053"/>
            </a:avLst>
          </a:prstGeom>
          <a:solidFill>
            <a:srgbClr val="165A73"/>
          </a:solidFill>
          <a:ln/>
        </p:spPr>
      </p:sp>
      <p:sp>
        <p:nvSpPr>
          <p:cNvPr id="63" name="Text 61"/>
          <p:cNvSpPr/>
          <p:nvPr/>
        </p:nvSpPr>
        <p:spPr>
          <a:xfrm>
            <a:off x="10213848" y="427939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177.7K · 14.0%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7790688" y="466344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Mid / Mid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9134856" y="4718304"/>
            <a:ext cx="370841" cy="173736"/>
          </a:xfrm>
          <a:prstGeom prst="roundRect">
            <a:avLst>
              <a:gd name="adj" fmla="val 21053"/>
            </a:avLst>
          </a:prstGeom>
          <a:solidFill>
            <a:srgbClr val="165A73"/>
          </a:solidFill>
          <a:ln/>
        </p:spPr>
      </p:sp>
      <p:sp>
        <p:nvSpPr>
          <p:cNvPr id="66" name="Text 64"/>
          <p:cNvSpPr/>
          <p:nvPr/>
        </p:nvSpPr>
        <p:spPr>
          <a:xfrm>
            <a:off x="10213848" y="46634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143.7K · 8.6%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7790688" y="504748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High / High</a:t>
            </a:r>
            <a:endParaRPr lang="en-US" sz="1100" dirty="0"/>
          </a:p>
        </p:txBody>
      </p:sp>
      <p:sp>
        <p:nvSpPr>
          <p:cNvPr id="68" name="Shape 66"/>
          <p:cNvSpPr/>
          <p:nvPr/>
        </p:nvSpPr>
        <p:spPr>
          <a:xfrm>
            <a:off x="9134856" y="5102352"/>
            <a:ext cx="344230" cy="173736"/>
          </a:xfrm>
          <a:prstGeom prst="roundRect">
            <a:avLst>
              <a:gd name="adj" fmla="val 21053"/>
            </a:avLst>
          </a:prstGeom>
          <a:solidFill>
            <a:srgbClr val="165A73"/>
          </a:solidFill>
          <a:ln/>
        </p:spPr>
      </p:sp>
      <p:sp>
        <p:nvSpPr>
          <p:cNvPr id="69" name="Text 67"/>
          <p:cNvSpPr/>
          <p:nvPr/>
        </p:nvSpPr>
        <p:spPr>
          <a:xfrm>
            <a:off x="10213848" y="504748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133.4K · 6.3%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83464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AIS Mobile Flagship Upgrades : 192.6K of 1.27M upgraded (15.2%)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30352" y="713232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6B6B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*Flagship defined by the model list in the source. Risk-Null cells hold only 5.4K flagship customers, so their rates are not reliable.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Flagship base 1.27M   ·   Upgraded 192.6K   ·   Kept the same handset 1.08M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2618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Only one flagship owner in seven changed handset over the year. Cash need predicts who upgrades; risk level does not.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30352" y="1645920"/>
            <a:ext cx="2615184" cy="987552"/>
          </a:xfrm>
          <a:prstGeom prst="roundRect">
            <a:avLst>
              <a:gd name="adj" fmla="val 8333"/>
            </a:avLst>
          </a:prstGeom>
          <a:solidFill>
            <a:srgbClr val="F1F4F9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1719072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A89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1.27M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749808" y="212140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held a flagship in 202504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49808" y="235000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5.9% of base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74136" y="1645920"/>
            <a:ext cx="2615184" cy="987552"/>
          </a:xfrm>
          <a:prstGeom prst="roundRect">
            <a:avLst>
              <a:gd name="adj" fmla="val 8333"/>
            </a:avLst>
          </a:prstGeom>
          <a:solidFill>
            <a:srgbClr val="F1F4F9"/>
          </a:solidFill>
          <a:ln/>
        </p:spPr>
      </p:sp>
      <p:sp>
        <p:nvSpPr>
          <p:cNvPr id="11" name="Text 9"/>
          <p:cNvSpPr/>
          <p:nvPr/>
        </p:nvSpPr>
        <p:spPr>
          <a:xfrm>
            <a:off x="3593592" y="1719072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A89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192.6K</a:t>
            </a:r>
            <a:endParaRPr lang="en-US" sz="2500" dirty="0"/>
          </a:p>
        </p:txBody>
      </p:sp>
      <p:sp>
        <p:nvSpPr>
          <p:cNvPr id="12" name="Text 10"/>
          <p:cNvSpPr/>
          <p:nvPr/>
        </p:nvSpPr>
        <p:spPr>
          <a:xfrm>
            <a:off x="3593592" y="212140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upgraded by 202604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593592" y="235000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15.2% of flagship holders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217920" y="1645920"/>
            <a:ext cx="2615184" cy="987552"/>
          </a:xfrm>
          <a:prstGeom prst="roundRect">
            <a:avLst>
              <a:gd name="adj" fmla="val 8333"/>
            </a:avLst>
          </a:prstGeom>
          <a:solidFill>
            <a:srgbClr val="F1F4F9"/>
          </a:solidFill>
          <a:ln/>
        </p:spPr>
      </p:sp>
      <p:sp>
        <p:nvSpPr>
          <p:cNvPr id="15" name="Text 13"/>
          <p:cNvSpPr/>
          <p:nvPr/>
        </p:nvSpPr>
        <p:spPr>
          <a:xfrm>
            <a:off x="6437376" y="1719072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C0000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84.8%</a:t>
            </a:r>
            <a:endParaRPr lang="en-US" sz="2500" dirty="0"/>
          </a:p>
        </p:txBody>
      </p:sp>
      <p:sp>
        <p:nvSpPr>
          <p:cNvPr id="16" name="Text 14"/>
          <p:cNvSpPr/>
          <p:nvPr/>
        </p:nvSpPr>
        <p:spPr>
          <a:xfrm>
            <a:off x="6437376" y="212140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kept the same handset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437376" y="235000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1.08M customers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9061704" y="1645920"/>
            <a:ext cx="2615184" cy="987552"/>
          </a:xfrm>
          <a:prstGeom prst="roundRect">
            <a:avLst>
              <a:gd name="adj" fmla="val 8333"/>
            </a:avLst>
          </a:prstGeom>
          <a:solidFill>
            <a:srgbClr val="F1F4F9"/>
          </a:solidFill>
          <a:ln/>
        </p:spPr>
      </p:sp>
      <p:sp>
        <p:nvSpPr>
          <p:cNvPr id="19" name="Text 17"/>
          <p:cNvSpPr/>
          <p:nvPr/>
        </p:nvSpPr>
        <p:spPr>
          <a:xfrm>
            <a:off x="9281160" y="1719072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A89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77.8%</a:t>
            </a:r>
            <a:endParaRPr lang="en-US" sz="2500" dirty="0"/>
          </a:p>
        </p:txBody>
      </p:sp>
      <p:sp>
        <p:nvSpPr>
          <p:cNvPr id="20" name="Text 18"/>
          <p:cNvSpPr/>
          <p:nvPr/>
        </p:nvSpPr>
        <p:spPr>
          <a:xfrm>
            <a:off x="9281160" y="212140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of upgraders took N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9281160" y="235000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149.8K to the newest model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30352" y="2761488"/>
            <a:ext cx="3291840" cy="2743200"/>
          </a:xfrm>
          <a:prstGeom prst="roundRect">
            <a:avLst>
              <a:gd name="adj" fmla="val 3000"/>
            </a:avLst>
          </a:prstGeom>
          <a:solidFill>
            <a:srgbClr val="F1F4F9"/>
          </a:solidFill>
          <a:ln/>
        </p:spPr>
      </p:sp>
      <p:sp>
        <p:nvSpPr>
          <p:cNvPr id="23" name="Text 21"/>
          <p:cNvSpPr/>
          <p:nvPr/>
        </p:nvSpPr>
        <p:spPr>
          <a:xfrm>
            <a:off x="749808" y="2907792"/>
            <a:ext cx="2852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Upgrade rate by cash need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49808" y="3163824"/>
            <a:ext cx="2852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Share who changed handset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49808" y="351129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High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728216" y="3566160"/>
            <a:ext cx="804672" cy="173736"/>
          </a:xfrm>
          <a:prstGeom prst="roundRect">
            <a:avLst>
              <a:gd name="adj" fmla="val 21053"/>
            </a:avLst>
          </a:prstGeom>
          <a:solidFill>
            <a:srgbClr val="165A73"/>
          </a:solidFill>
          <a:ln/>
        </p:spPr>
      </p:sp>
      <p:sp>
        <p:nvSpPr>
          <p:cNvPr id="27" name="Text 25"/>
          <p:cNvSpPr/>
          <p:nvPr/>
        </p:nvSpPr>
        <p:spPr>
          <a:xfrm>
            <a:off x="2642616" y="3511296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17.2%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49808" y="396849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Mid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728216" y="4023360"/>
            <a:ext cx="734832" cy="173736"/>
          </a:xfrm>
          <a:prstGeom prst="roundRect">
            <a:avLst>
              <a:gd name="adj" fmla="val 21053"/>
            </a:avLst>
          </a:prstGeom>
          <a:solidFill>
            <a:srgbClr val="1E8E86"/>
          </a:solidFill>
          <a:ln/>
        </p:spPr>
      </p:sp>
      <p:sp>
        <p:nvSpPr>
          <p:cNvPr id="30" name="Text 28"/>
          <p:cNvSpPr/>
          <p:nvPr/>
        </p:nvSpPr>
        <p:spPr>
          <a:xfrm>
            <a:off x="2642616" y="3968496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15.7%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49808" y="442569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Low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728216" y="4480560"/>
            <a:ext cx="604272" cy="173736"/>
          </a:xfrm>
          <a:prstGeom prst="roundRect">
            <a:avLst>
              <a:gd name="adj" fmla="val 21053"/>
            </a:avLst>
          </a:prstGeom>
          <a:solidFill>
            <a:srgbClr val="3FB89F"/>
          </a:solidFill>
          <a:ln/>
        </p:spPr>
      </p:sp>
      <p:sp>
        <p:nvSpPr>
          <p:cNvPr id="33" name="Text 31"/>
          <p:cNvSpPr/>
          <p:nvPr/>
        </p:nvSpPr>
        <p:spPr>
          <a:xfrm>
            <a:off x="2642616" y="4425696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12.9%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49808" y="488289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Null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728216" y="4937760"/>
            <a:ext cx="386209" cy="173736"/>
          </a:xfrm>
          <a:prstGeom prst="roundRect">
            <a:avLst>
              <a:gd name="adj" fmla="val 21053"/>
            </a:avLst>
          </a:prstGeom>
          <a:solidFill>
            <a:srgbClr val="8DA0B8"/>
          </a:solidFill>
          <a:ln/>
        </p:spPr>
      </p:sp>
      <p:sp>
        <p:nvSpPr>
          <p:cNvPr id="36" name="Text 34"/>
          <p:cNvSpPr/>
          <p:nvPr/>
        </p:nvSpPr>
        <p:spPr>
          <a:xfrm>
            <a:off x="2642616" y="4882896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8.2%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4050792" y="2761488"/>
            <a:ext cx="3291840" cy="2743200"/>
          </a:xfrm>
          <a:prstGeom prst="roundRect">
            <a:avLst>
              <a:gd name="adj" fmla="val 3000"/>
            </a:avLst>
          </a:prstGeom>
          <a:solidFill>
            <a:srgbClr val="F1F4F9"/>
          </a:solidFill>
          <a:ln/>
        </p:spPr>
      </p:sp>
      <p:sp>
        <p:nvSpPr>
          <p:cNvPr id="38" name="Text 36"/>
          <p:cNvSpPr/>
          <p:nvPr/>
        </p:nvSpPr>
        <p:spPr>
          <a:xfrm>
            <a:off x="4270248" y="2907792"/>
            <a:ext cx="2852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Upgrade rate by risk level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4270248" y="3163824"/>
            <a:ext cx="2852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Share who changed handset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4270248" y="351129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Mid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248656" y="3566160"/>
            <a:ext cx="804672" cy="173736"/>
          </a:xfrm>
          <a:prstGeom prst="roundRect">
            <a:avLst>
              <a:gd name="adj" fmla="val 21053"/>
            </a:avLst>
          </a:prstGeom>
          <a:solidFill>
            <a:srgbClr val="1E8E86"/>
          </a:solidFill>
          <a:ln/>
        </p:spPr>
      </p:sp>
      <p:sp>
        <p:nvSpPr>
          <p:cNvPr id="42" name="Text 40"/>
          <p:cNvSpPr/>
          <p:nvPr/>
        </p:nvSpPr>
        <p:spPr>
          <a:xfrm>
            <a:off x="6163056" y="3511296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15.9%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4270248" y="396849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High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5248656" y="4023360"/>
            <a:ext cx="768854" cy="173736"/>
          </a:xfrm>
          <a:prstGeom prst="roundRect">
            <a:avLst>
              <a:gd name="adj" fmla="val 21053"/>
            </a:avLst>
          </a:prstGeom>
          <a:solidFill>
            <a:srgbClr val="165A73"/>
          </a:solidFill>
          <a:ln/>
        </p:spPr>
      </p:sp>
      <p:sp>
        <p:nvSpPr>
          <p:cNvPr id="45" name="Text 43"/>
          <p:cNvSpPr/>
          <p:nvPr/>
        </p:nvSpPr>
        <p:spPr>
          <a:xfrm>
            <a:off x="6163056" y="3968496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15.2%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4270248" y="442569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Low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5248656" y="4480560"/>
            <a:ext cx="745202" cy="173736"/>
          </a:xfrm>
          <a:prstGeom prst="roundRect">
            <a:avLst>
              <a:gd name="adj" fmla="val 21053"/>
            </a:avLst>
          </a:prstGeom>
          <a:solidFill>
            <a:srgbClr val="3FB89F"/>
          </a:solidFill>
          <a:ln/>
        </p:spPr>
      </p:sp>
      <p:sp>
        <p:nvSpPr>
          <p:cNvPr id="48" name="Text 46"/>
          <p:cNvSpPr/>
          <p:nvPr/>
        </p:nvSpPr>
        <p:spPr>
          <a:xfrm>
            <a:off x="6163056" y="4425696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14.7%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4270248" y="5120640"/>
            <a:ext cx="2852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Risk Null omitted — 5.4K holders only. The three real bands sit within 1.2 points of each other.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571232" y="2761488"/>
            <a:ext cx="4233672" cy="2743200"/>
          </a:xfrm>
          <a:prstGeom prst="roundRect">
            <a:avLst>
              <a:gd name="adj" fmla="val 3000"/>
            </a:avLst>
          </a:prstGeom>
          <a:solidFill>
            <a:srgbClr val="F1F4F9"/>
          </a:solidFill>
          <a:ln/>
        </p:spPr>
      </p:sp>
      <p:sp>
        <p:nvSpPr>
          <p:cNvPr id="51" name="Text 49"/>
          <p:cNvSpPr/>
          <p:nvPr/>
        </p:nvSpPr>
        <p:spPr>
          <a:xfrm>
            <a:off x="7790688" y="2907792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upgraders went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7790688" y="3163824"/>
            <a:ext cx="3794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192.6K customers who changed handset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7790688" y="3511296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N-1 → N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9134856" y="3566160"/>
            <a:ext cx="969264" cy="173736"/>
          </a:xfrm>
          <a:prstGeom prst="roundRect">
            <a:avLst>
              <a:gd name="adj" fmla="val 21053"/>
            </a:avLst>
          </a:prstGeom>
          <a:solidFill>
            <a:srgbClr val="165A73"/>
          </a:solidFill>
          <a:ln/>
        </p:spPr>
      </p:sp>
      <p:sp>
        <p:nvSpPr>
          <p:cNvPr id="55" name="Text 53"/>
          <p:cNvSpPr/>
          <p:nvPr/>
        </p:nvSpPr>
        <p:spPr>
          <a:xfrm>
            <a:off x="10213848" y="35112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78.6K · 40.8%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7790688" y="389534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N → N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9134856" y="3950208"/>
            <a:ext cx="878569" cy="173736"/>
          </a:xfrm>
          <a:prstGeom prst="roundRect">
            <a:avLst>
              <a:gd name="adj" fmla="val 21053"/>
            </a:avLst>
          </a:prstGeom>
          <a:solidFill>
            <a:srgbClr val="1E8E86"/>
          </a:solidFill>
          <a:ln/>
        </p:spPr>
      </p:sp>
      <p:sp>
        <p:nvSpPr>
          <p:cNvPr id="58" name="Text 56"/>
          <p:cNvSpPr/>
          <p:nvPr/>
        </p:nvSpPr>
        <p:spPr>
          <a:xfrm>
            <a:off x="10213848" y="389534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71.2K · 37.0%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7790688" y="427939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N-1 → N-1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9134856" y="4334256"/>
            <a:ext cx="527371" cy="173736"/>
          </a:xfrm>
          <a:prstGeom prst="roundRect">
            <a:avLst>
              <a:gd name="adj" fmla="val 21053"/>
            </a:avLst>
          </a:prstGeom>
          <a:solidFill>
            <a:srgbClr val="3FB89F"/>
          </a:solidFill>
          <a:ln/>
        </p:spPr>
      </p:sp>
      <p:sp>
        <p:nvSpPr>
          <p:cNvPr id="61" name="Text 59"/>
          <p:cNvSpPr/>
          <p:nvPr/>
        </p:nvSpPr>
        <p:spPr>
          <a:xfrm>
            <a:off x="10213848" y="427939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42.8K · 22.2%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7790688" y="5120640"/>
            <a:ext cx="3794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N-1 → N-1 customers upgraded a generation but are still one behind the newest model.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AIS Mobile - flagship base and upgrades</dc:title>
  <dc:subject>PptxGenJS Presentation</dc:subject>
  <dc:creator>AIS Mobile</dc:creator>
  <cp:lastModifiedBy>AIS Mobile</cp:lastModifiedBy>
  <cp:revision>1</cp:revision>
  <dcterms:created xsi:type="dcterms:W3CDTF">2026-08-21T03:09:51Z</dcterms:created>
  <dcterms:modified xsi:type="dcterms:W3CDTF">2026-08-21T03:09:51Z</dcterms:modified>
</cp:coreProperties>
</file>
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21,412,441 (age 20-60). Flagship holders 1,545,264 = 7.2%: N 678,687, N-1 866,577. Penetration by cash need runs 3.2 / 5.2 / 8.9 / 9.7 percent from Null to High; by risk it runs 10.4 / 6.7 / 4.2 percent from Low to High. Low-risk customers are 40.1% of the base but 57.6% of all flagship owners. The Null-risk and Null-cash-need cells are tiny (High/Null holds 1,698 customers at 61% penetration) and should not be read as a segment.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Flagship base a year earlier 1,270,758; 192,567 changed handset (15.2%); 1,078,191 did not. N holders upgraded at 14.8% and N-1 holders at 15.4% - near identical, so being a generation behind does not itself drive replacement. Upgrade rate by cash need runs 8.2 / 12.9 / 15.7 / 17.2 percent from Null to High. By risk it is flat: Low 14.7, Mid 15.9, High 15.2. Of the upgraders, 77.8% went to the newest model and 22.2% moved to the previous generation. Data note: four rows of the N/N-1 model mapping look mis-paired (Galaxy S26 to S25+, iPhone 16 Pro and 16 both to 15 Pro Max, duplicate Galaxy S25+), which would shift the N-1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The 202604 N generation did not exist at 202504, so all 678,687 N holders bought within the year; N-1 buyers are the 42,756 who moved N-1 to N-1 plus 414,589 who acquired it from outside the flagship base. That gives 1,136,032 purchases observed in the year. Only 943,465 of the 202604 flagship pool is traceable through the five transition states, so 943,465 arrived from outside - an acquisition rate of 4.68% on the 20,141,683 non-flagship base. Forecast applies those rates to the 202604 position. Caveats: one year of transitions only, no seasonality, and the estimate assumes a comparable flagship launch in the coming year. The inflow term carries about 80% of the volume, so the estimate is far more sensitive to the acquisition rate than to the upgrade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83464"/>
            <a:ext cx="11274552" cy="384048"/>
          </a:xfrm>
          <a:prstGeom prst="rect">
            <a:avLst/>
          </a:prstGeom>
          <a:noFill/>
          <a:ln/>
        </p:spPr>
        <p:txBody>
          <a:bodyPr wrap="square" lIns="0" tIns="0" rIns="0" bIns="0" rtlCol="0" anchor="ctr"/>
          <a:lstStyle/>
          <a:p>
            <a:pPr indent="0" marL="0">
              <a:buNone/>
            </a:pPr>
            <a:r>
              <a:rPr lang="en-US" sz="2200" b="1" dirty="0">
                <a:solidFill>
                  <a:srgbClr val="045D66"/>
                </a:solidFill>
                <a:latin typeface="Graphik TH" pitchFamily="34" charset="0"/>
                <a:ea typeface="Graphik TH" pitchFamily="34" charset="-122"/>
                <a:cs typeface="Graphik TH" pitchFamily="34" charset="-120"/>
              </a:rPr>
              <a:t>AIS Mobile Flagship Base : 21.41M base, 1.55M on a flagship (7.2%)</a:t>
            </a:r>
            <a:endParaRPr lang="en-US" sz="2200" dirty="0"/>
          </a:p>
        </p:txBody>
      </p:sp>
      <p:sp>
        <p:nvSpPr>
          <p:cNvPr id="3" name="Text 1"/>
          <p:cNvSpPr/>
          <p:nvPr/>
        </p:nvSpPr>
        <p:spPr>
          <a:xfrm>
            <a:off x="530352" y="713232"/>
            <a:ext cx="11274552" cy="237744"/>
          </a:xfrm>
          <a:prstGeom prst="rect">
            <a:avLst/>
          </a:prstGeom>
          <a:noFill/>
          <a:ln/>
        </p:spPr>
        <p:txBody>
          <a:bodyPr wrap="square" lIns="0" tIns="0" rIns="0" bIns="0" rtlCol="0" anchor="ctr"/>
          <a:lstStyle/>
          <a:p>
            <a:pPr indent="0" marL="0">
              <a:buNone/>
            </a:pPr>
            <a:r>
              <a:rPr lang="en-US" sz="1150" i="1" dirty="0">
                <a:solidFill>
                  <a:srgbClr val="6B6B6B"/>
                </a:solidFill>
                <a:latin typeface="Graphik TH" pitchFamily="34" charset="0"/>
                <a:ea typeface="Graphik TH" pitchFamily="34" charset="-122"/>
                <a:cs typeface="Graphik TH" pitchFamily="34" charset="-120"/>
              </a:rPr>
              <a:t>*Risk and cash need as of 202508, device as of 202604, base filtered to age 20–60.</a:t>
            </a:r>
            <a:endParaRPr lang="en-US" sz="1150" dirty="0"/>
          </a:p>
        </p:txBody>
      </p:sp>
      <p:sp>
        <p:nvSpPr>
          <p:cNvPr id="4" name="Text 2"/>
          <p:cNvSpPr/>
          <p:nvPr/>
        </p:nvSpPr>
        <p:spPr>
          <a:xfrm>
            <a:off x="548640" y="1024128"/>
            <a:ext cx="11064240" cy="237744"/>
          </a:xfrm>
          <a:prstGeom prst="rect">
            <a:avLst/>
          </a:prstGeom>
          <a:noFill/>
          <a:ln/>
        </p:spPr>
        <p:txBody>
          <a:bodyPr wrap="square" lIns="0" tIns="0" rIns="0" bIns="0" rtlCol="0" anchor="ctr"/>
          <a:lstStyle/>
          <a:p>
            <a:pPr indent="0" marL="0">
              <a:buNone/>
            </a:pPr>
            <a:r>
              <a:rPr lang="en-US" sz="1300" b="1" dirty="0">
                <a:solidFill>
                  <a:srgbClr val="045D66"/>
                </a:solidFill>
                <a:latin typeface="Graphik TH" pitchFamily="34" charset="0"/>
                <a:ea typeface="Graphik TH" pitchFamily="34" charset="-122"/>
                <a:cs typeface="Graphik TH" pitchFamily="34" charset="-120"/>
              </a:rPr>
              <a:t>Base 21.41M   ·   Newest model (N) 678.7K   ·   Previous model (N-1) 866.6K</a:t>
            </a:r>
            <a:endParaRPr lang="en-US" sz="1300" dirty="0"/>
          </a:p>
        </p:txBody>
      </p:sp>
      <p:sp>
        <p:nvSpPr>
          <p:cNvPr id="5" name="Text 3"/>
          <p:cNvSpPr/>
          <p:nvPr/>
        </p:nvSpPr>
        <p:spPr>
          <a:xfrm>
            <a:off x="548640" y="1261872"/>
            <a:ext cx="11064240" cy="274320"/>
          </a:xfrm>
          <a:prstGeom prst="rect">
            <a:avLst/>
          </a:prstGeom>
          <a:noFill/>
          <a:ln/>
        </p:spPr>
        <p:txBody>
          <a:bodyPr wrap="square" lIns="0" tIns="0" rIns="0" bIns="0" rtlCol="0" anchor="ctr"/>
          <a:lstStyle/>
          <a:p>
            <a:pPr indent="0" marL="0">
              <a:buNone/>
            </a:pPr>
            <a:r>
              <a:rPr lang="en-US" sz="1400" dirty="0">
                <a:solidFill>
                  <a:srgbClr val="16233D"/>
                </a:solidFill>
                <a:latin typeface="Graphik TH" pitchFamily="34" charset="0"/>
                <a:ea typeface="Graphik TH" pitchFamily="34" charset="-122"/>
                <a:cs typeface="Graphik TH" pitchFamily="34" charset="-120"/>
              </a:rPr>
              <a:t>Flagship ownership climbs with cash need and falls with risk — the densest pocket is high cash need paired with low risk.</a:t>
            </a:r>
            <a:endParaRPr lang="en-US" sz="1400" dirty="0"/>
          </a:p>
        </p:txBody>
      </p:sp>
      <p:sp>
        <p:nvSpPr>
          <p:cNvPr id="6" name="Shape 4"/>
          <p:cNvSpPr/>
          <p:nvPr/>
        </p:nvSpPr>
        <p:spPr>
          <a:xfrm>
            <a:off x="530352" y="1645920"/>
            <a:ext cx="2615184" cy="987552"/>
          </a:xfrm>
          <a:prstGeom prst="roundRect">
            <a:avLst>
              <a:gd name="adj" fmla="val 8333"/>
            </a:avLst>
          </a:prstGeom>
          <a:solidFill>
            <a:srgbClr val="F1F4F9"/>
          </a:solidFill>
          <a:ln/>
        </p:spPr>
      </p:sp>
      <p:sp>
        <p:nvSpPr>
          <p:cNvPr id="7" name="Text 5"/>
          <p:cNvSpPr/>
          <p:nvPr/>
        </p:nvSpPr>
        <p:spPr>
          <a:xfrm>
            <a:off x="749808" y="1719072"/>
            <a:ext cx="2194560" cy="402336"/>
          </a:xfrm>
          <a:prstGeom prst="rect">
            <a:avLst/>
          </a:prstGeom>
          <a:noFill/>
          <a:ln/>
        </p:spPr>
        <p:txBody>
          <a:bodyPr wrap="square" lIns="0" tIns="0" rIns="0" bIns="0" rtlCol="0" anchor="ctr"/>
          <a:lstStyle/>
          <a:p>
            <a:pPr indent="0" marL="0">
              <a:buNone/>
            </a:pPr>
            <a:r>
              <a:rPr lang="en-US" sz="2500" b="1" dirty="0">
                <a:solidFill>
                  <a:srgbClr val="00A896"/>
                </a:solidFill>
                <a:latin typeface="Graphik TH" pitchFamily="34" charset="0"/>
                <a:ea typeface="Graphik TH" pitchFamily="34" charset="-122"/>
                <a:cs typeface="Graphik TH" pitchFamily="34" charset="-120"/>
              </a:rPr>
              <a:t>21.41M</a:t>
            </a:r>
            <a:endParaRPr lang="en-US" sz="2500" dirty="0"/>
          </a:p>
        </p:txBody>
      </p:sp>
      <p:sp>
        <p:nvSpPr>
          <p:cNvPr id="8" name="Text 6"/>
          <p:cNvSpPr/>
          <p:nvPr/>
        </p:nvSpPr>
        <p:spPr>
          <a:xfrm>
            <a:off x="749808" y="2121408"/>
            <a:ext cx="2194560"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customers in base</a:t>
            </a:r>
            <a:endParaRPr lang="en-US" sz="1150" dirty="0"/>
          </a:p>
        </p:txBody>
      </p:sp>
      <p:sp>
        <p:nvSpPr>
          <p:cNvPr id="9" name="Text 7"/>
          <p:cNvSpPr/>
          <p:nvPr/>
        </p:nvSpPr>
        <p:spPr>
          <a:xfrm>
            <a:off x="749808" y="2350008"/>
            <a:ext cx="2194560" cy="237744"/>
          </a:xfrm>
          <a:prstGeom prst="rect">
            <a:avLst/>
          </a:prstGeom>
          <a:noFill/>
          <a:ln/>
        </p:spPr>
        <p:txBody>
          <a:bodyPr wrap="square" lIns="0" tIns="0" rIns="0" bIns="0" rtlCol="0" anchor="t"/>
          <a:lstStyle/>
          <a:p>
            <a:pPr indent="0" marL="0">
              <a:buNone/>
            </a:pPr>
            <a:r>
              <a:rPr lang="en-US" sz="1000" dirty="0">
                <a:solidFill>
                  <a:srgbClr val="6B7A90"/>
                </a:solidFill>
                <a:latin typeface="Graphik TH" pitchFamily="34" charset="0"/>
                <a:ea typeface="Graphik TH" pitchFamily="34" charset="-122"/>
                <a:cs typeface="Graphik TH" pitchFamily="34" charset="-120"/>
              </a:rPr>
              <a:t>age 20–60</a:t>
            </a:r>
            <a:endParaRPr lang="en-US" sz="1000" dirty="0"/>
          </a:p>
        </p:txBody>
      </p:sp>
      <p:sp>
        <p:nvSpPr>
          <p:cNvPr id="10" name="Shape 8"/>
          <p:cNvSpPr/>
          <p:nvPr/>
        </p:nvSpPr>
        <p:spPr>
          <a:xfrm>
            <a:off x="3374136" y="1645920"/>
            <a:ext cx="2615184" cy="987552"/>
          </a:xfrm>
          <a:prstGeom prst="roundRect">
            <a:avLst>
              <a:gd name="adj" fmla="val 8333"/>
            </a:avLst>
          </a:prstGeom>
          <a:solidFill>
            <a:srgbClr val="F1F4F9"/>
          </a:solidFill>
          <a:ln/>
        </p:spPr>
      </p:sp>
      <p:sp>
        <p:nvSpPr>
          <p:cNvPr id="11" name="Text 9"/>
          <p:cNvSpPr/>
          <p:nvPr/>
        </p:nvSpPr>
        <p:spPr>
          <a:xfrm>
            <a:off x="3593592" y="1719072"/>
            <a:ext cx="2194560" cy="402336"/>
          </a:xfrm>
          <a:prstGeom prst="rect">
            <a:avLst/>
          </a:prstGeom>
          <a:noFill/>
          <a:ln/>
        </p:spPr>
        <p:txBody>
          <a:bodyPr wrap="square" lIns="0" tIns="0" rIns="0" bIns="0" rtlCol="0" anchor="ctr"/>
          <a:lstStyle/>
          <a:p>
            <a:pPr indent="0" marL="0">
              <a:buNone/>
            </a:pPr>
            <a:r>
              <a:rPr lang="en-US" sz="2500" b="1" dirty="0">
                <a:solidFill>
                  <a:srgbClr val="00A896"/>
                </a:solidFill>
                <a:latin typeface="Graphik TH" pitchFamily="34" charset="0"/>
                <a:ea typeface="Graphik TH" pitchFamily="34" charset="-122"/>
                <a:cs typeface="Graphik TH" pitchFamily="34" charset="-120"/>
              </a:rPr>
              <a:t>1.55M</a:t>
            </a:r>
            <a:endParaRPr lang="en-US" sz="2500" dirty="0"/>
          </a:p>
        </p:txBody>
      </p:sp>
      <p:sp>
        <p:nvSpPr>
          <p:cNvPr id="12" name="Text 10"/>
          <p:cNvSpPr/>
          <p:nvPr/>
        </p:nvSpPr>
        <p:spPr>
          <a:xfrm>
            <a:off x="3593592" y="2121408"/>
            <a:ext cx="2194560"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hold a flagship</a:t>
            </a:r>
            <a:endParaRPr lang="en-US" sz="1150" dirty="0"/>
          </a:p>
        </p:txBody>
      </p:sp>
      <p:sp>
        <p:nvSpPr>
          <p:cNvPr id="13" name="Text 11"/>
          <p:cNvSpPr/>
          <p:nvPr/>
        </p:nvSpPr>
        <p:spPr>
          <a:xfrm>
            <a:off x="3593592" y="2350008"/>
            <a:ext cx="2194560" cy="237744"/>
          </a:xfrm>
          <a:prstGeom prst="rect">
            <a:avLst/>
          </a:prstGeom>
          <a:noFill/>
          <a:ln/>
        </p:spPr>
        <p:txBody>
          <a:bodyPr wrap="square" lIns="0" tIns="0" rIns="0" bIns="0" rtlCol="0" anchor="t"/>
          <a:lstStyle/>
          <a:p>
            <a:pPr indent="0" marL="0">
              <a:buNone/>
            </a:pPr>
            <a:r>
              <a:rPr lang="en-US" sz="1000" dirty="0">
                <a:solidFill>
                  <a:srgbClr val="6B7A90"/>
                </a:solidFill>
                <a:latin typeface="Graphik TH" pitchFamily="34" charset="0"/>
                <a:ea typeface="Graphik TH" pitchFamily="34" charset="-122"/>
                <a:cs typeface="Graphik TH" pitchFamily="34" charset="-120"/>
              </a:rPr>
              <a:t>7.2% of base</a:t>
            </a:r>
            <a:endParaRPr lang="en-US" sz="1000" dirty="0"/>
          </a:p>
        </p:txBody>
      </p:sp>
      <p:sp>
        <p:nvSpPr>
          <p:cNvPr id="14" name="Shape 12"/>
          <p:cNvSpPr/>
          <p:nvPr/>
        </p:nvSpPr>
        <p:spPr>
          <a:xfrm>
            <a:off x="6217920" y="1645920"/>
            <a:ext cx="2615184" cy="987552"/>
          </a:xfrm>
          <a:prstGeom prst="roundRect">
            <a:avLst>
              <a:gd name="adj" fmla="val 8333"/>
            </a:avLst>
          </a:prstGeom>
          <a:solidFill>
            <a:srgbClr val="F1F4F9"/>
          </a:solidFill>
          <a:ln/>
        </p:spPr>
      </p:sp>
      <p:sp>
        <p:nvSpPr>
          <p:cNvPr id="15" name="Text 13"/>
          <p:cNvSpPr/>
          <p:nvPr/>
        </p:nvSpPr>
        <p:spPr>
          <a:xfrm>
            <a:off x="6437376" y="1719072"/>
            <a:ext cx="2194560" cy="402336"/>
          </a:xfrm>
          <a:prstGeom prst="rect">
            <a:avLst/>
          </a:prstGeom>
          <a:noFill/>
          <a:ln/>
        </p:spPr>
        <p:txBody>
          <a:bodyPr wrap="square" lIns="0" tIns="0" rIns="0" bIns="0" rtlCol="0" anchor="ctr"/>
          <a:lstStyle/>
          <a:p>
            <a:pPr indent="0" marL="0">
              <a:buNone/>
            </a:pPr>
            <a:r>
              <a:rPr lang="en-US" sz="2500" b="1" dirty="0">
                <a:solidFill>
                  <a:srgbClr val="00A896"/>
                </a:solidFill>
                <a:latin typeface="Graphik TH" pitchFamily="34" charset="0"/>
                <a:ea typeface="Graphik TH" pitchFamily="34" charset="-122"/>
                <a:cs typeface="Graphik TH" pitchFamily="34" charset="-120"/>
              </a:rPr>
              <a:t>3.2%</a:t>
            </a:r>
            <a:endParaRPr lang="en-US" sz="2500" dirty="0"/>
          </a:p>
        </p:txBody>
      </p:sp>
      <p:sp>
        <p:nvSpPr>
          <p:cNvPr id="16" name="Text 14"/>
          <p:cNvSpPr/>
          <p:nvPr/>
        </p:nvSpPr>
        <p:spPr>
          <a:xfrm>
            <a:off x="6437376" y="2121408"/>
            <a:ext cx="2194560"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are on the newest model</a:t>
            </a:r>
            <a:endParaRPr lang="en-US" sz="1150" dirty="0"/>
          </a:p>
        </p:txBody>
      </p:sp>
      <p:sp>
        <p:nvSpPr>
          <p:cNvPr id="17" name="Text 15"/>
          <p:cNvSpPr/>
          <p:nvPr/>
        </p:nvSpPr>
        <p:spPr>
          <a:xfrm>
            <a:off x="6437376" y="2350008"/>
            <a:ext cx="2194560" cy="237744"/>
          </a:xfrm>
          <a:prstGeom prst="rect">
            <a:avLst/>
          </a:prstGeom>
          <a:noFill/>
          <a:ln/>
        </p:spPr>
        <p:txBody>
          <a:bodyPr wrap="square" lIns="0" tIns="0" rIns="0" bIns="0" rtlCol="0" anchor="t"/>
          <a:lstStyle/>
          <a:p>
            <a:pPr indent="0" marL="0">
              <a:buNone/>
            </a:pPr>
            <a:r>
              <a:rPr lang="en-US" sz="1000" dirty="0">
                <a:solidFill>
                  <a:srgbClr val="6B7A90"/>
                </a:solidFill>
                <a:latin typeface="Graphik TH" pitchFamily="34" charset="0"/>
                <a:ea typeface="Graphik TH" pitchFamily="34" charset="-122"/>
                <a:cs typeface="Graphik TH" pitchFamily="34" charset="-120"/>
              </a:rPr>
              <a:t>678.7K customers</a:t>
            </a:r>
            <a:endParaRPr lang="en-US" sz="1000" dirty="0"/>
          </a:p>
        </p:txBody>
      </p:sp>
      <p:sp>
        <p:nvSpPr>
          <p:cNvPr id="18" name="Shape 16"/>
          <p:cNvSpPr/>
          <p:nvPr/>
        </p:nvSpPr>
        <p:spPr>
          <a:xfrm>
            <a:off x="9061704" y="1645920"/>
            <a:ext cx="2615184" cy="987552"/>
          </a:xfrm>
          <a:prstGeom prst="roundRect">
            <a:avLst>
              <a:gd name="adj" fmla="val 8333"/>
            </a:avLst>
          </a:prstGeom>
          <a:solidFill>
            <a:srgbClr val="F1F4F9"/>
          </a:solidFill>
          <a:ln/>
        </p:spPr>
      </p:sp>
      <p:sp>
        <p:nvSpPr>
          <p:cNvPr id="19" name="Text 17"/>
          <p:cNvSpPr/>
          <p:nvPr/>
        </p:nvSpPr>
        <p:spPr>
          <a:xfrm>
            <a:off x="9281160" y="1719072"/>
            <a:ext cx="2194560" cy="402336"/>
          </a:xfrm>
          <a:prstGeom prst="rect">
            <a:avLst/>
          </a:prstGeom>
          <a:noFill/>
          <a:ln/>
        </p:spPr>
        <p:txBody>
          <a:bodyPr wrap="square" lIns="0" tIns="0" rIns="0" bIns="0" rtlCol="0" anchor="ctr"/>
          <a:lstStyle/>
          <a:p>
            <a:pPr indent="0" marL="0">
              <a:buNone/>
            </a:pPr>
            <a:r>
              <a:rPr lang="en-US" sz="2500" b="1" dirty="0">
                <a:solidFill>
                  <a:srgbClr val="C00000"/>
                </a:solidFill>
                <a:latin typeface="Graphik TH" pitchFamily="34" charset="0"/>
                <a:ea typeface="Graphik TH" pitchFamily="34" charset="-122"/>
                <a:cs typeface="Graphik TH" pitchFamily="34" charset="-120"/>
              </a:rPr>
              <a:t>2.5×</a:t>
            </a:r>
            <a:endParaRPr lang="en-US" sz="2500" dirty="0"/>
          </a:p>
        </p:txBody>
      </p:sp>
      <p:sp>
        <p:nvSpPr>
          <p:cNvPr id="20" name="Text 18"/>
          <p:cNvSpPr/>
          <p:nvPr/>
        </p:nvSpPr>
        <p:spPr>
          <a:xfrm>
            <a:off x="9281160" y="2121408"/>
            <a:ext cx="2194560"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risk penetration gap</a:t>
            </a:r>
            <a:endParaRPr lang="en-US" sz="1150" dirty="0"/>
          </a:p>
        </p:txBody>
      </p:sp>
      <p:sp>
        <p:nvSpPr>
          <p:cNvPr id="21" name="Text 19"/>
          <p:cNvSpPr/>
          <p:nvPr/>
        </p:nvSpPr>
        <p:spPr>
          <a:xfrm>
            <a:off x="9281160" y="2350008"/>
            <a:ext cx="2194560" cy="237744"/>
          </a:xfrm>
          <a:prstGeom prst="rect">
            <a:avLst/>
          </a:prstGeom>
          <a:noFill/>
          <a:ln/>
        </p:spPr>
        <p:txBody>
          <a:bodyPr wrap="square" lIns="0" tIns="0" rIns="0" bIns="0" rtlCol="0" anchor="t"/>
          <a:lstStyle/>
          <a:p>
            <a:pPr indent="0" marL="0">
              <a:buNone/>
            </a:pPr>
            <a:r>
              <a:rPr lang="en-US" sz="1000" dirty="0">
                <a:solidFill>
                  <a:srgbClr val="6B7A90"/>
                </a:solidFill>
                <a:latin typeface="Graphik TH" pitchFamily="34" charset="0"/>
                <a:ea typeface="Graphik TH" pitchFamily="34" charset="-122"/>
                <a:cs typeface="Graphik TH" pitchFamily="34" charset="-120"/>
              </a:rPr>
              <a:t>10.4% low vs 4.2% high</a:t>
            </a:r>
            <a:endParaRPr lang="en-US" sz="1000" dirty="0"/>
          </a:p>
        </p:txBody>
      </p:sp>
      <p:sp>
        <p:nvSpPr>
          <p:cNvPr id="22" name="Shape 20"/>
          <p:cNvSpPr/>
          <p:nvPr/>
        </p:nvSpPr>
        <p:spPr>
          <a:xfrm>
            <a:off x="530352" y="2761488"/>
            <a:ext cx="3291840" cy="2743200"/>
          </a:xfrm>
          <a:prstGeom prst="roundRect">
            <a:avLst>
              <a:gd name="adj" fmla="val 3000"/>
            </a:avLst>
          </a:prstGeom>
          <a:solidFill>
            <a:srgbClr val="F1F4F9"/>
          </a:solidFill>
          <a:ln/>
        </p:spPr>
      </p:sp>
      <p:sp>
        <p:nvSpPr>
          <p:cNvPr id="23" name="Text 21"/>
          <p:cNvSpPr/>
          <p:nvPr/>
        </p:nvSpPr>
        <p:spPr>
          <a:xfrm>
            <a:off x="749808" y="2907792"/>
            <a:ext cx="2852928" cy="256032"/>
          </a:xfrm>
          <a:prstGeom prst="rect">
            <a:avLst/>
          </a:prstGeom>
          <a:noFill/>
          <a:ln/>
        </p:spPr>
        <p:txBody>
          <a:bodyPr wrap="square" lIns="0" tIns="0" rIns="0" bIns="0" rtlCol="0" anchor="ctr"/>
          <a:lstStyle/>
          <a:p>
            <a:pPr indent="0" marL="0">
              <a:buNone/>
            </a:pPr>
            <a:r>
              <a:rPr lang="en-US" sz="1300" b="1" dirty="0">
                <a:solidFill>
                  <a:srgbClr val="16233D"/>
                </a:solidFill>
                <a:latin typeface="Cambria" pitchFamily="34" charset="0"/>
                <a:ea typeface="Cambria" pitchFamily="34" charset="-122"/>
                <a:cs typeface="Cambria" pitchFamily="34" charset="-120"/>
              </a:rPr>
              <a:t>Penetration by cash need</a:t>
            </a:r>
            <a:endParaRPr lang="en-US" sz="1300" dirty="0"/>
          </a:p>
        </p:txBody>
      </p:sp>
      <p:sp>
        <p:nvSpPr>
          <p:cNvPr id="24" name="Text 22"/>
          <p:cNvSpPr/>
          <p:nvPr/>
        </p:nvSpPr>
        <p:spPr>
          <a:xfrm>
            <a:off x="749808" y="3163824"/>
            <a:ext cx="2852928" cy="219456"/>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Flagship holders as % of each cash-need group</a:t>
            </a:r>
            <a:endParaRPr lang="en-US" sz="950" dirty="0"/>
          </a:p>
        </p:txBody>
      </p:sp>
      <p:sp>
        <p:nvSpPr>
          <p:cNvPr id="25" name="Text 23"/>
          <p:cNvSpPr/>
          <p:nvPr/>
        </p:nvSpPr>
        <p:spPr>
          <a:xfrm>
            <a:off x="749808" y="3511296"/>
            <a:ext cx="86868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High</a:t>
            </a:r>
            <a:endParaRPr lang="en-US" sz="1100" dirty="0"/>
          </a:p>
        </p:txBody>
      </p:sp>
      <p:sp>
        <p:nvSpPr>
          <p:cNvPr id="26" name="Shape 24"/>
          <p:cNvSpPr/>
          <p:nvPr/>
        </p:nvSpPr>
        <p:spPr>
          <a:xfrm>
            <a:off x="1728216" y="3566160"/>
            <a:ext cx="804672" cy="173736"/>
          </a:xfrm>
          <a:prstGeom prst="roundRect">
            <a:avLst>
              <a:gd name="adj" fmla="val 21053"/>
            </a:avLst>
          </a:prstGeom>
          <a:solidFill>
            <a:srgbClr val="165A73"/>
          </a:solidFill>
          <a:ln/>
        </p:spPr>
      </p:sp>
      <p:sp>
        <p:nvSpPr>
          <p:cNvPr id="27" name="Text 25"/>
          <p:cNvSpPr/>
          <p:nvPr/>
        </p:nvSpPr>
        <p:spPr>
          <a:xfrm>
            <a:off x="2642616" y="3511296"/>
            <a:ext cx="96012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9.7%</a:t>
            </a:r>
            <a:endParaRPr lang="en-US" sz="1100" dirty="0"/>
          </a:p>
        </p:txBody>
      </p:sp>
      <p:sp>
        <p:nvSpPr>
          <p:cNvPr id="28" name="Text 26"/>
          <p:cNvSpPr/>
          <p:nvPr/>
        </p:nvSpPr>
        <p:spPr>
          <a:xfrm>
            <a:off x="749808" y="3968496"/>
            <a:ext cx="86868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Mid</a:t>
            </a:r>
            <a:endParaRPr lang="en-US" sz="1100" dirty="0"/>
          </a:p>
        </p:txBody>
      </p:sp>
      <p:sp>
        <p:nvSpPr>
          <p:cNvPr id="29" name="Shape 27"/>
          <p:cNvSpPr/>
          <p:nvPr/>
        </p:nvSpPr>
        <p:spPr>
          <a:xfrm>
            <a:off x="1728216" y="4023360"/>
            <a:ext cx="740251" cy="173736"/>
          </a:xfrm>
          <a:prstGeom prst="roundRect">
            <a:avLst>
              <a:gd name="adj" fmla="val 21053"/>
            </a:avLst>
          </a:prstGeom>
          <a:solidFill>
            <a:srgbClr val="1E8E86"/>
          </a:solidFill>
          <a:ln/>
        </p:spPr>
      </p:sp>
      <p:sp>
        <p:nvSpPr>
          <p:cNvPr id="30" name="Text 28"/>
          <p:cNvSpPr/>
          <p:nvPr/>
        </p:nvSpPr>
        <p:spPr>
          <a:xfrm>
            <a:off x="2642616" y="3968496"/>
            <a:ext cx="96012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8.9%</a:t>
            </a:r>
            <a:endParaRPr lang="en-US" sz="1100" dirty="0"/>
          </a:p>
        </p:txBody>
      </p:sp>
      <p:sp>
        <p:nvSpPr>
          <p:cNvPr id="31" name="Text 29"/>
          <p:cNvSpPr/>
          <p:nvPr/>
        </p:nvSpPr>
        <p:spPr>
          <a:xfrm>
            <a:off x="749808" y="4425696"/>
            <a:ext cx="86868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Low</a:t>
            </a:r>
            <a:endParaRPr lang="en-US" sz="1100" dirty="0"/>
          </a:p>
        </p:txBody>
      </p:sp>
      <p:sp>
        <p:nvSpPr>
          <p:cNvPr id="32" name="Shape 30"/>
          <p:cNvSpPr/>
          <p:nvPr/>
        </p:nvSpPr>
        <p:spPr>
          <a:xfrm>
            <a:off x="1728216" y="4480560"/>
            <a:ext cx="430378" cy="173736"/>
          </a:xfrm>
          <a:prstGeom prst="roundRect">
            <a:avLst>
              <a:gd name="adj" fmla="val 21053"/>
            </a:avLst>
          </a:prstGeom>
          <a:solidFill>
            <a:srgbClr val="3FB89F"/>
          </a:solidFill>
          <a:ln/>
        </p:spPr>
      </p:sp>
      <p:sp>
        <p:nvSpPr>
          <p:cNvPr id="33" name="Text 31"/>
          <p:cNvSpPr/>
          <p:nvPr/>
        </p:nvSpPr>
        <p:spPr>
          <a:xfrm>
            <a:off x="2642616" y="4425696"/>
            <a:ext cx="96012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5.2%</a:t>
            </a:r>
            <a:endParaRPr lang="en-US" sz="1100" dirty="0"/>
          </a:p>
        </p:txBody>
      </p:sp>
      <p:sp>
        <p:nvSpPr>
          <p:cNvPr id="34" name="Text 32"/>
          <p:cNvSpPr/>
          <p:nvPr/>
        </p:nvSpPr>
        <p:spPr>
          <a:xfrm>
            <a:off x="749808" y="4882896"/>
            <a:ext cx="86868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Null</a:t>
            </a:r>
            <a:endParaRPr lang="en-US" sz="1100" dirty="0"/>
          </a:p>
        </p:txBody>
      </p:sp>
      <p:sp>
        <p:nvSpPr>
          <p:cNvPr id="35" name="Shape 33"/>
          <p:cNvSpPr/>
          <p:nvPr/>
        </p:nvSpPr>
        <p:spPr>
          <a:xfrm>
            <a:off x="1728216" y="4937760"/>
            <a:ext cx="262747" cy="173736"/>
          </a:xfrm>
          <a:prstGeom prst="roundRect">
            <a:avLst>
              <a:gd name="adj" fmla="val 21053"/>
            </a:avLst>
          </a:prstGeom>
          <a:solidFill>
            <a:srgbClr val="8DA0B8"/>
          </a:solidFill>
          <a:ln/>
        </p:spPr>
      </p:sp>
      <p:sp>
        <p:nvSpPr>
          <p:cNvPr id="36" name="Text 34"/>
          <p:cNvSpPr/>
          <p:nvPr/>
        </p:nvSpPr>
        <p:spPr>
          <a:xfrm>
            <a:off x="2642616" y="4882896"/>
            <a:ext cx="96012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3.2%</a:t>
            </a:r>
            <a:endParaRPr lang="en-US" sz="1100" dirty="0"/>
          </a:p>
        </p:txBody>
      </p:sp>
      <p:sp>
        <p:nvSpPr>
          <p:cNvPr id="37" name="Shape 35"/>
          <p:cNvSpPr/>
          <p:nvPr/>
        </p:nvSpPr>
        <p:spPr>
          <a:xfrm>
            <a:off x="4050792" y="2761488"/>
            <a:ext cx="3291840" cy="2743200"/>
          </a:xfrm>
          <a:prstGeom prst="roundRect">
            <a:avLst>
              <a:gd name="adj" fmla="val 3000"/>
            </a:avLst>
          </a:prstGeom>
          <a:solidFill>
            <a:srgbClr val="F1F4F9"/>
          </a:solidFill>
          <a:ln/>
        </p:spPr>
      </p:sp>
      <p:sp>
        <p:nvSpPr>
          <p:cNvPr id="38" name="Text 36"/>
          <p:cNvSpPr/>
          <p:nvPr/>
        </p:nvSpPr>
        <p:spPr>
          <a:xfrm>
            <a:off x="4270248" y="2907792"/>
            <a:ext cx="2852928" cy="256032"/>
          </a:xfrm>
          <a:prstGeom prst="rect">
            <a:avLst/>
          </a:prstGeom>
          <a:noFill/>
          <a:ln/>
        </p:spPr>
        <p:txBody>
          <a:bodyPr wrap="square" lIns="0" tIns="0" rIns="0" bIns="0" rtlCol="0" anchor="ctr"/>
          <a:lstStyle/>
          <a:p>
            <a:pPr indent="0" marL="0">
              <a:buNone/>
            </a:pPr>
            <a:r>
              <a:rPr lang="en-US" sz="1300" b="1" dirty="0">
                <a:solidFill>
                  <a:srgbClr val="16233D"/>
                </a:solidFill>
                <a:latin typeface="Cambria" pitchFamily="34" charset="0"/>
                <a:ea typeface="Cambria" pitchFamily="34" charset="-122"/>
                <a:cs typeface="Cambria" pitchFamily="34" charset="-120"/>
              </a:rPr>
              <a:t>Penetration by risk level</a:t>
            </a:r>
            <a:endParaRPr lang="en-US" sz="1300" dirty="0"/>
          </a:p>
        </p:txBody>
      </p:sp>
      <p:sp>
        <p:nvSpPr>
          <p:cNvPr id="39" name="Text 37"/>
          <p:cNvSpPr/>
          <p:nvPr/>
        </p:nvSpPr>
        <p:spPr>
          <a:xfrm>
            <a:off x="4270248" y="3163824"/>
            <a:ext cx="2852928" cy="219456"/>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Flagship holders as % of each risk group</a:t>
            </a:r>
            <a:endParaRPr lang="en-US" sz="950" dirty="0"/>
          </a:p>
        </p:txBody>
      </p:sp>
      <p:sp>
        <p:nvSpPr>
          <p:cNvPr id="40" name="Text 38"/>
          <p:cNvSpPr/>
          <p:nvPr/>
        </p:nvSpPr>
        <p:spPr>
          <a:xfrm>
            <a:off x="4270248" y="3511296"/>
            <a:ext cx="86868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Low</a:t>
            </a:r>
            <a:endParaRPr lang="en-US" sz="1100" dirty="0"/>
          </a:p>
        </p:txBody>
      </p:sp>
      <p:sp>
        <p:nvSpPr>
          <p:cNvPr id="41" name="Shape 39"/>
          <p:cNvSpPr/>
          <p:nvPr/>
        </p:nvSpPr>
        <p:spPr>
          <a:xfrm>
            <a:off x="5248656" y="3566160"/>
            <a:ext cx="804672" cy="173736"/>
          </a:xfrm>
          <a:prstGeom prst="roundRect">
            <a:avLst>
              <a:gd name="adj" fmla="val 21053"/>
            </a:avLst>
          </a:prstGeom>
          <a:solidFill>
            <a:srgbClr val="3FB89F"/>
          </a:solidFill>
          <a:ln/>
        </p:spPr>
      </p:sp>
      <p:sp>
        <p:nvSpPr>
          <p:cNvPr id="42" name="Text 40"/>
          <p:cNvSpPr/>
          <p:nvPr/>
        </p:nvSpPr>
        <p:spPr>
          <a:xfrm>
            <a:off x="6163056" y="3511296"/>
            <a:ext cx="96012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10.4%</a:t>
            </a:r>
            <a:endParaRPr lang="en-US" sz="1100" dirty="0"/>
          </a:p>
        </p:txBody>
      </p:sp>
      <p:sp>
        <p:nvSpPr>
          <p:cNvPr id="43" name="Text 41"/>
          <p:cNvSpPr/>
          <p:nvPr/>
        </p:nvSpPr>
        <p:spPr>
          <a:xfrm>
            <a:off x="4270248" y="3968496"/>
            <a:ext cx="86868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Mid</a:t>
            </a:r>
            <a:endParaRPr lang="en-US" sz="1100" dirty="0"/>
          </a:p>
        </p:txBody>
      </p:sp>
      <p:sp>
        <p:nvSpPr>
          <p:cNvPr id="44" name="Shape 42"/>
          <p:cNvSpPr/>
          <p:nvPr/>
        </p:nvSpPr>
        <p:spPr>
          <a:xfrm>
            <a:off x="5248656" y="4023360"/>
            <a:ext cx="521178" cy="173736"/>
          </a:xfrm>
          <a:prstGeom prst="roundRect">
            <a:avLst>
              <a:gd name="adj" fmla="val 21053"/>
            </a:avLst>
          </a:prstGeom>
          <a:solidFill>
            <a:srgbClr val="1E8E86"/>
          </a:solidFill>
          <a:ln/>
        </p:spPr>
      </p:sp>
      <p:sp>
        <p:nvSpPr>
          <p:cNvPr id="45" name="Text 43"/>
          <p:cNvSpPr/>
          <p:nvPr/>
        </p:nvSpPr>
        <p:spPr>
          <a:xfrm>
            <a:off x="6163056" y="3968496"/>
            <a:ext cx="96012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6.7%</a:t>
            </a:r>
            <a:endParaRPr lang="en-US" sz="1100" dirty="0"/>
          </a:p>
        </p:txBody>
      </p:sp>
      <p:sp>
        <p:nvSpPr>
          <p:cNvPr id="46" name="Text 44"/>
          <p:cNvSpPr/>
          <p:nvPr/>
        </p:nvSpPr>
        <p:spPr>
          <a:xfrm>
            <a:off x="4270248" y="4425696"/>
            <a:ext cx="86868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High</a:t>
            </a:r>
            <a:endParaRPr lang="en-US" sz="1100" dirty="0"/>
          </a:p>
        </p:txBody>
      </p:sp>
      <p:sp>
        <p:nvSpPr>
          <p:cNvPr id="47" name="Shape 45"/>
          <p:cNvSpPr/>
          <p:nvPr/>
        </p:nvSpPr>
        <p:spPr>
          <a:xfrm>
            <a:off x="5248656" y="4480560"/>
            <a:ext cx="325989" cy="173736"/>
          </a:xfrm>
          <a:prstGeom prst="roundRect">
            <a:avLst>
              <a:gd name="adj" fmla="val 21053"/>
            </a:avLst>
          </a:prstGeom>
          <a:solidFill>
            <a:srgbClr val="165A73"/>
          </a:solidFill>
          <a:ln/>
        </p:spPr>
      </p:sp>
      <p:sp>
        <p:nvSpPr>
          <p:cNvPr id="48" name="Text 46"/>
          <p:cNvSpPr/>
          <p:nvPr/>
        </p:nvSpPr>
        <p:spPr>
          <a:xfrm>
            <a:off x="6163056" y="4425696"/>
            <a:ext cx="96012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4.2%</a:t>
            </a:r>
            <a:endParaRPr lang="en-US" sz="1100" dirty="0"/>
          </a:p>
        </p:txBody>
      </p:sp>
      <p:sp>
        <p:nvSpPr>
          <p:cNvPr id="49" name="Text 47"/>
          <p:cNvSpPr/>
          <p:nvPr/>
        </p:nvSpPr>
        <p:spPr>
          <a:xfrm>
            <a:off x="4270248" y="4882896"/>
            <a:ext cx="86868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Null</a:t>
            </a:r>
            <a:endParaRPr lang="en-US" sz="1100" dirty="0"/>
          </a:p>
        </p:txBody>
      </p:sp>
      <p:sp>
        <p:nvSpPr>
          <p:cNvPr id="50" name="Shape 48"/>
          <p:cNvSpPr/>
          <p:nvPr/>
        </p:nvSpPr>
        <p:spPr>
          <a:xfrm>
            <a:off x="5248656" y="4937760"/>
            <a:ext cx="174225" cy="173736"/>
          </a:xfrm>
          <a:prstGeom prst="roundRect">
            <a:avLst>
              <a:gd name="adj" fmla="val 21053"/>
            </a:avLst>
          </a:prstGeom>
          <a:solidFill>
            <a:srgbClr val="8DA0B8"/>
          </a:solidFill>
          <a:ln/>
        </p:spPr>
      </p:sp>
      <p:sp>
        <p:nvSpPr>
          <p:cNvPr id="51" name="Text 49"/>
          <p:cNvSpPr/>
          <p:nvPr/>
        </p:nvSpPr>
        <p:spPr>
          <a:xfrm>
            <a:off x="6163056" y="4882896"/>
            <a:ext cx="96012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2.2%</a:t>
            </a:r>
            <a:endParaRPr lang="en-US" sz="1100" dirty="0"/>
          </a:p>
        </p:txBody>
      </p:sp>
      <p:sp>
        <p:nvSpPr>
          <p:cNvPr id="52" name="Shape 50"/>
          <p:cNvSpPr/>
          <p:nvPr/>
        </p:nvSpPr>
        <p:spPr>
          <a:xfrm>
            <a:off x="7571232" y="2761488"/>
            <a:ext cx="4233672" cy="2743200"/>
          </a:xfrm>
          <a:prstGeom prst="roundRect">
            <a:avLst>
              <a:gd name="adj" fmla="val 3000"/>
            </a:avLst>
          </a:prstGeom>
          <a:solidFill>
            <a:srgbClr val="F1F4F9"/>
          </a:solidFill>
          <a:ln/>
        </p:spPr>
      </p:sp>
      <p:sp>
        <p:nvSpPr>
          <p:cNvPr id="53" name="Text 51"/>
          <p:cNvSpPr/>
          <p:nvPr/>
        </p:nvSpPr>
        <p:spPr>
          <a:xfrm>
            <a:off x="7790688" y="2907792"/>
            <a:ext cx="3794760" cy="256032"/>
          </a:xfrm>
          <a:prstGeom prst="rect">
            <a:avLst/>
          </a:prstGeom>
          <a:noFill/>
          <a:ln/>
        </p:spPr>
        <p:txBody>
          <a:bodyPr wrap="square" lIns="0" tIns="0" rIns="0" bIns="0" rtlCol="0" anchor="ctr"/>
          <a:lstStyle/>
          <a:p>
            <a:pPr indent="0" marL="0">
              <a:buNone/>
            </a:pPr>
            <a:r>
              <a:rPr lang="en-US" sz="1300" b="1" dirty="0">
                <a:solidFill>
                  <a:srgbClr val="16233D"/>
                </a:solidFill>
                <a:latin typeface="Cambria" pitchFamily="34" charset="0"/>
                <a:ea typeface="Cambria" pitchFamily="34" charset="-122"/>
                <a:cs typeface="Cambria" pitchFamily="34" charset="-120"/>
              </a:rPr>
              <a:t>Where the flagship owners are</a:t>
            </a:r>
            <a:endParaRPr lang="en-US" sz="1300" dirty="0"/>
          </a:p>
        </p:txBody>
      </p:sp>
      <p:sp>
        <p:nvSpPr>
          <p:cNvPr id="54" name="Text 52"/>
          <p:cNvSpPr/>
          <p:nvPr/>
        </p:nvSpPr>
        <p:spPr>
          <a:xfrm>
            <a:off x="7790688" y="3163824"/>
            <a:ext cx="3794760" cy="219456"/>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Largest cash-need / risk cells by flagship volume</a:t>
            </a:r>
            <a:endParaRPr lang="en-US" sz="950" dirty="0"/>
          </a:p>
        </p:txBody>
      </p:sp>
      <p:sp>
        <p:nvSpPr>
          <p:cNvPr id="55" name="Text 53"/>
          <p:cNvSpPr/>
          <p:nvPr/>
        </p:nvSpPr>
        <p:spPr>
          <a:xfrm>
            <a:off x="7790688" y="3511296"/>
            <a:ext cx="123444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Mid / Low</a:t>
            </a:r>
            <a:endParaRPr lang="en-US" sz="1100" dirty="0"/>
          </a:p>
        </p:txBody>
      </p:sp>
      <p:sp>
        <p:nvSpPr>
          <p:cNvPr id="56" name="Shape 54"/>
          <p:cNvSpPr/>
          <p:nvPr/>
        </p:nvSpPr>
        <p:spPr>
          <a:xfrm>
            <a:off x="9134856" y="3566160"/>
            <a:ext cx="969264" cy="173736"/>
          </a:xfrm>
          <a:prstGeom prst="roundRect">
            <a:avLst>
              <a:gd name="adj" fmla="val 21053"/>
            </a:avLst>
          </a:prstGeom>
          <a:solidFill>
            <a:srgbClr val="165A73"/>
          </a:solidFill>
          <a:ln/>
        </p:spPr>
      </p:sp>
      <p:sp>
        <p:nvSpPr>
          <p:cNvPr id="57" name="Text 55"/>
          <p:cNvSpPr/>
          <p:nvPr/>
        </p:nvSpPr>
        <p:spPr>
          <a:xfrm>
            <a:off x="10213848" y="3511296"/>
            <a:ext cx="137160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375.6K · 13.8%</a:t>
            </a:r>
            <a:endParaRPr lang="en-US" sz="1100" dirty="0"/>
          </a:p>
        </p:txBody>
      </p:sp>
      <p:sp>
        <p:nvSpPr>
          <p:cNvPr id="58" name="Text 56"/>
          <p:cNvSpPr/>
          <p:nvPr/>
        </p:nvSpPr>
        <p:spPr>
          <a:xfrm>
            <a:off x="7790688" y="3895344"/>
            <a:ext cx="123444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Low / Low</a:t>
            </a:r>
            <a:endParaRPr lang="en-US" sz="1100" dirty="0"/>
          </a:p>
        </p:txBody>
      </p:sp>
      <p:sp>
        <p:nvSpPr>
          <p:cNvPr id="59" name="Shape 57"/>
          <p:cNvSpPr/>
          <p:nvPr/>
        </p:nvSpPr>
        <p:spPr>
          <a:xfrm>
            <a:off x="9134856" y="3950208"/>
            <a:ext cx="846308" cy="173736"/>
          </a:xfrm>
          <a:prstGeom prst="roundRect">
            <a:avLst>
              <a:gd name="adj" fmla="val 21053"/>
            </a:avLst>
          </a:prstGeom>
          <a:solidFill>
            <a:srgbClr val="165A73"/>
          </a:solidFill>
          <a:ln/>
        </p:spPr>
      </p:sp>
      <p:sp>
        <p:nvSpPr>
          <p:cNvPr id="60" name="Text 58"/>
          <p:cNvSpPr/>
          <p:nvPr/>
        </p:nvSpPr>
        <p:spPr>
          <a:xfrm>
            <a:off x="10213848" y="3895344"/>
            <a:ext cx="137160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328.0K · 7.3%</a:t>
            </a:r>
            <a:endParaRPr lang="en-US" sz="1100" dirty="0"/>
          </a:p>
        </p:txBody>
      </p:sp>
      <p:sp>
        <p:nvSpPr>
          <p:cNvPr id="61" name="Text 59"/>
          <p:cNvSpPr/>
          <p:nvPr/>
        </p:nvSpPr>
        <p:spPr>
          <a:xfrm>
            <a:off x="7790688" y="4279392"/>
            <a:ext cx="123444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High / Low</a:t>
            </a:r>
            <a:endParaRPr lang="en-US" sz="1100" dirty="0"/>
          </a:p>
        </p:txBody>
      </p:sp>
      <p:sp>
        <p:nvSpPr>
          <p:cNvPr id="62" name="Shape 60"/>
          <p:cNvSpPr/>
          <p:nvPr/>
        </p:nvSpPr>
        <p:spPr>
          <a:xfrm>
            <a:off x="9134856" y="4334256"/>
            <a:ext cx="458556" cy="173736"/>
          </a:xfrm>
          <a:prstGeom prst="roundRect">
            <a:avLst>
              <a:gd name="adj" fmla="val 21053"/>
            </a:avLst>
          </a:prstGeom>
          <a:solidFill>
            <a:srgbClr val="165A73"/>
          </a:solidFill>
          <a:ln/>
        </p:spPr>
      </p:sp>
      <p:sp>
        <p:nvSpPr>
          <p:cNvPr id="63" name="Text 61"/>
          <p:cNvSpPr/>
          <p:nvPr/>
        </p:nvSpPr>
        <p:spPr>
          <a:xfrm>
            <a:off x="10213848" y="4279392"/>
            <a:ext cx="137160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177.7K · 14.0%</a:t>
            </a:r>
            <a:endParaRPr lang="en-US" sz="1100" dirty="0"/>
          </a:p>
        </p:txBody>
      </p:sp>
      <p:sp>
        <p:nvSpPr>
          <p:cNvPr id="64" name="Text 62"/>
          <p:cNvSpPr/>
          <p:nvPr/>
        </p:nvSpPr>
        <p:spPr>
          <a:xfrm>
            <a:off x="7790688" y="4663440"/>
            <a:ext cx="123444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Mid / Mid</a:t>
            </a:r>
            <a:endParaRPr lang="en-US" sz="1100" dirty="0"/>
          </a:p>
        </p:txBody>
      </p:sp>
      <p:sp>
        <p:nvSpPr>
          <p:cNvPr id="65" name="Shape 63"/>
          <p:cNvSpPr/>
          <p:nvPr/>
        </p:nvSpPr>
        <p:spPr>
          <a:xfrm>
            <a:off x="9134856" y="4718304"/>
            <a:ext cx="370841" cy="173736"/>
          </a:xfrm>
          <a:prstGeom prst="roundRect">
            <a:avLst>
              <a:gd name="adj" fmla="val 21053"/>
            </a:avLst>
          </a:prstGeom>
          <a:solidFill>
            <a:srgbClr val="165A73"/>
          </a:solidFill>
          <a:ln/>
        </p:spPr>
      </p:sp>
      <p:sp>
        <p:nvSpPr>
          <p:cNvPr id="66" name="Text 64"/>
          <p:cNvSpPr/>
          <p:nvPr/>
        </p:nvSpPr>
        <p:spPr>
          <a:xfrm>
            <a:off x="10213848" y="4663440"/>
            <a:ext cx="137160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143.7K · 8.6%</a:t>
            </a:r>
            <a:endParaRPr lang="en-US" sz="1100" dirty="0"/>
          </a:p>
        </p:txBody>
      </p:sp>
      <p:sp>
        <p:nvSpPr>
          <p:cNvPr id="67" name="Text 65"/>
          <p:cNvSpPr/>
          <p:nvPr/>
        </p:nvSpPr>
        <p:spPr>
          <a:xfrm>
            <a:off x="7790688" y="5047488"/>
            <a:ext cx="123444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High / High</a:t>
            </a:r>
            <a:endParaRPr lang="en-US" sz="1100" dirty="0"/>
          </a:p>
        </p:txBody>
      </p:sp>
      <p:sp>
        <p:nvSpPr>
          <p:cNvPr id="68" name="Shape 66"/>
          <p:cNvSpPr/>
          <p:nvPr/>
        </p:nvSpPr>
        <p:spPr>
          <a:xfrm>
            <a:off x="9134856" y="5102352"/>
            <a:ext cx="344230" cy="173736"/>
          </a:xfrm>
          <a:prstGeom prst="roundRect">
            <a:avLst>
              <a:gd name="adj" fmla="val 21053"/>
            </a:avLst>
          </a:prstGeom>
          <a:solidFill>
            <a:srgbClr val="165A73"/>
          </a:solidFill>
          <a:ln/>
        </p:spPr>
      </p:sp>
      <p:sp>
        <p:nvSpPr>
          <p:cNvPr id="69" name="Text 67"/>
          <p:cNvSpPr/>
          <p:nvPr/>
        </p:nvSpPr>
        <p:spPr>
          <a:xfrm>
            <a:off x="10213848" y="5047488"/>
            <a:ext cx="137160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133.4K · 6.3%</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83464"/>
            <a:ext cx="11274552" cy="384048"/>
          </a:xfrm>
          <a:prstGeom prst="rect">
            <a:avLst/>
          </a:prstGeom>
          <a:noFill/>
          <a:ln/>
        </p:spPr>
        <p:txBody>
          <a:bodyPr wrap="square" lIns="0" tIns="0" rIns="0" bIns="0" rtlCol="0" anchor="ctr"/>
          <a:lstStyle/>
          <a:p>
            <a:pPr indent="0" marL="0">
              <a:buNone/>
            </a:pPr>
            <a:r>
              <a:rPr lang="en-US" sz="2200" b="1" dirty="0">
                <a:solidFill>
                  <a:srgbClr val="045D66"/>
                </a:solidFill>
                <a:latin typeface="Graphik TH" pitchFamily="34" charset="0"/>
                <a:ea typeface="Graphik TH" pitchFamily="34" charset="-122"/>
                <a:cs typeface="Graphik TH" pitchFamily="34" charset="-120"/>
              </a:rPr>
              <a:t>AIS Mobile Flagship Upgrades : 192.6K of 1.27M upgraded (15.2%)</a:t>
            </a:r>
            <a:endParaRPr lang="en-US" sz="2200" dirty="0"/>
          </a:p>
        </p:txBody>
      </p:sp>
      <p:sp>
        <p:nvSpPr>
          <p:cNvPr id="3" name="Text 1"/>
          <p:cNvSpPr/>
          <p:nvPr/>
        </p:nvSpPr>
        <p:spPr>
          <a:xfrm>
            <a:off x="530352" y="713232"/>
            <a:ext cx="11274552" cy="237744"/>
          </a:xfrm>
          <a:prstGeom prst="rect">
            <a:avLst/>
          </a:prstGeom>
          <a:noFill/>
          <a:ln/>
        </p:spPr>
        <p:txBody>
          <a:bodyPr wrap="square" lIns="0" tIns="0" rIns="0" bIns="0" rtlCol="0" anchor="ctr"/>
          <a:lstStyle/>
          <a:p>
            <a:pPr indent="0" marL="0">
              <a:buNone/>
            </a:pPr>
            <a:r>
              <a:rPr lang="en-US" sz="1150" i="1" dirty="0">
                <a:solidFill>
                  <a:srgbClr val="6B6B6B"/>
                </a:solidFill>
                <a:latin typeface="Graphik TH" pitchFamily="34" charset="0"/>
                <a:ea typeface="Graphik TH" pitchFamily="34" charset="-122"/>
                <a:cs typeface="Graphik TH" pitchFamily="34" charset="-120"/>
              </a:rPr>
              <a:t>*Flagship defined by the model list in the source. Risk-Null cells hold only 5.4K flagship customers, so their rates are not reliable.</a:t>
            </a:r>
            <a:endParaRPr lang="en-US" sz="1150" dirty="0"/>
          </a:p>
        </p:txBody>
      </p:sp>
      <p:sp>
        <p:nvSpPr>
          <p:cNvPr id="4" name="Text 2"/>
          <p:cNvSpPr/>
          <p:nvPr/>
        </p:nvSpPr>
        <p:spPr>
          <a:xfrm>
            <a:off x="548640" y="1024128"/>
            <a:ext cx="11064240" cy="237744"/>
          </a:xfrm>
          <a:prstGeom prst="rect">
            <a:avLst/>
          </a:prstGeom>
          <a:noFill/>
          <a:ln/>
        </p:spPr>
        <p:txBody>
          <a:bodyPr wrap="square" lIns="0" tIns="0" rIns="0" bIns="0" rtlCol="0" anchor="ctr"/>
          <a:lstStyle/>
          <a:p>
            <a:pPr indent="0" marL="0">
              <a:buNone/>
            </a:pPr>
            <a:r>
              <a:rPr lang="en-US" sz="1300" b="1" dirty="0">
                <a:solidFill>
                  <a:srgbClr val="045D66"/>
                </a:solidFill>
                <a:latin typeface="Graphik TH" pitchFamily="34" charset="0"/>
                <a:ea typeface="Graphik TH" pitchFamily="34" charset="-122"/>
                <a:cs typeface="Graphik TH" pitchFamily="34" charset="-120"/>
              </a:rPr>
              <a:t>Flagship base 1.27M   ·   Upgraded 192.6K   ·   Kept the same handset 1.08M</a:t>
            </a:r>
            <a:endParaRPr lang="en-US" sz="1300" dirty="0"/>
          </a:p>
        </p:txBody>
      </p:sp>
      <p:sp>
        <p:nvSpPr>
          <p:cNvPr id="5" name="Text 3"/>
          <p:cNvSpPr/>
          <p:nvPr/>
        </p:nvSpPr>
        <p:spPr>
          <a:xfrm>
            <a:off x="548640" y="1261872"/>
            <a:ext cx="11064240" cy="274320"/>
          </a:xfrm>
          <a:prstGeom prst="rect">
            <a:avLst/>
          </a:prstGeom>
          <a:noFill/>
          <a:ln/>
        </p:spPr>
        <p:txBody>
          <a:bodyPr wrap="square" lIns="0" tIns="0" rIns="0" bIns="0" rtlCol="0" anchor="ctr"/>
          <a:lstStyle/>
          <a:p>
            <a:pPr indent="0" marL="0">
              <a:buNone/>
            </a:pPr>
            <a:r>
              <a:rPr lang="en-US" sz="1400" dirty="0">
                <a:solidFill>
                  <a:srgbClr val="16233D"/>
                </a:solidFill>
                <a:latin typeface="Graphik TH" pitchFamily="34" charset="0"/>
                <a:ea typeface="Graphik TH" pitchFamily="34" charset="-122"/>
                <a:cs typeface="Graphik TH" pitchFamily="34" charset="-120"/>
              </a:rPr>
              <a:t>Only one flagship owner in seven changed handset over the year. Cash need predicts who upgrades; risk level does not.</a:t>
            </a:r>
            <a:endParaRPr lang="en-US" sz="1400" dirty="0"/>
          </a:p>
        </p:txBody>
      </p:sp>
      <p:sp>
        <p:nvSpPr>
          <p:cNvPr id="6" name="Shape 4"/>
          <p:cNvSpPr/>
          <p:nvPr/>
        </p:nvSpPr>
        <p:spPr>
          <a:xfrm>
            <a:off x="530352" y="1645920"/>
            <a:ext cx="2615184" cy="987552"/>
          </a:xfrm>
          <a:prstGeom prst="roundRect">
            <a:avLst>
              <a:gd name="adj" fmla="val 8333"/>
            </a:avLst>
          </a:prstGeom>
          <a:solidFill>
            <a:srgbClr val="F1F4F9"/>
          </a:solidFill>
          <a:ln/>
        </p:spPr>
      </p:sp>
      <p:sp>
        <p:nvSpPr>
          <p:cNvPr id="7" name="Text 5"/>
          <p:cNvSpPr/>
          <p:nvPr/>
        </p:nvSpPr>
        <p:spPr>
          <a:xfrm>
            <a:off x="749808" y="1719072"/>
            <a:ext cx="2194560" cy="402336"/>
          </a:xfrm>
          <a:prstGeom prst="rect">
            <a:avLst/>
          </a:prstGeom>
          <a:noFill/>
          <a:ln/>
        </p:spPr>
        <p:txBody>
          <a:bodyPr wrap="square" lIns="0" tIns="0" rIns="0" bIns="0" rtlCol="0" anchor="ctr"/>
          <a:lstStyle/>
          <a:p>
            <a:pPr indent="0" marL="0">
              <a:buNone/>
            </a:pPr>
            <a:r>
              <a:rPr lang="en-US" sz="2500" b="1" dirty="0">
                <a:solidFill>
                  <a:srgbClr val="00A896"/>
                </a:solidFill>
                <a:latin typeface="Graphik TH" pitchFamily="34" charset="0"/>
                <a:ea typeface="Graphik TH" pitchFamily="34" charset="-122"/>
                <a:cs typeface="Graphik TH" pitchFamily="34" charset="-120"/>
              </a:rPr>
              <a:t>1.27M</a:t>
            </a:r>
            <a:endParaRPr lang="en-US" sz="2500" dirty="0"/>
          </a:p>
        </p:txBody>
      </p:sp>
      <p:sp>
        <p:nvSpPr>
          <p:cNvPr id="8" name="Text 6"/>
          <p:cNvSpPr/>
          <p:nvPr/>
        </p:nvSpPr>
        <p:spPr>
          <a:xfrm>
            <a:off x="749808" y="2121408"/>
            <a:ext cx="2194560"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held a flagship in 202504</a:t>
            </a:r>
            <a:endParaRPr lang="en-US" sz="1150" dirty="0"/>
          </a:p>
        </p:txBody>
      </p:sp>
      <p:sp>
        <p:nvSpPr>
          <p:cNvPr id="9" name="Text 7"/>
          <p:cNvSpPr/>
          <p:nvPr/>
        </p:nvSpPr>
        <p:spPr>
          <a:xfrm>
            <a:off x="749808" y="2350008"/>
            <a:ext cx="2194560" cy="237744"/>
          </a:xfrm>
          <a:prstGeom prst="rect">
            <a:avLst/>
          </a:prstGeom>
          <a:noFill/>
          <a:ln/>
        </p:spPr>
        <p:txBody>
          <a:bodyPr wrap="square" lIns="0" tIns="0" rIns="0" bIns="0" rtlCol="0" anchor="t"/>
          <a:lstStyle/>
          <a:p>
            <a:pPr indent="0" marL="0">
              <a:buNone/>
            </a:pPr>
            <a:r>
              <a:rPr lang="en-US" sz="1000" dirty="0">
                <a:solidFill>
                  <a:srgbClr val="6B7A90"/>
                </a:solidFill>
                <a:latin typeface="Graphik TH" pitchFamily="34" charset="0"/>
                <a:ea typeface="Graphik TH" pitchFamily="34" charset="-122"/>
                <a:cs typeface="Graphik TH" pitchFamily="34" charset="-120"/>
              </a:rPr>
              <a:t>5.9% of base</a:t>
            </a:r>
            <a:endParaRPr lang="en-US" sz="1000" dirty="0"/>
          </a:p>
        </p:txBody>
      </p:sp>
      <p:sp>
        <p:nvSpPr>
          <p:cNvPr id="10" name="Shape 8"/>
          <p:cNvSpPr/>
          <p:nvPr/>
        </p:nvSpPr>
        <p:spPr>
          <a:xfrm>
            <a:off x="3374136" y="1645920"/>
            <a:ext cx="2615184" cy="987552"/>
          </a:xfrm>
          <a:prstGeom prst="roundRect">
            <a:avLst>
              <a:gd name="adj" fmla="val 8333"/>
            </a:avLst>
          </a:prstGeom>
          <a:solidFill>
            <a:srgbClr val="F1F4F9"/>
          </a:solidFill>
          <a:ln/>
        </p:spPr>
      </p:sp>
      <p:sp>
        <p:nvSpPr>
          <p:cNvPr id="11" name="Text 9"/>
          <p:cNvSpPr/>
          <p:nvPr/>
        </p:nvSpPr>
        <p:spPr>
          <a:xfrm>
            <a:off x="3593592" y="1719072"/>
            <a:ext cx="2194560" cy="402336"/>
          </a:xfrm>
          <a:prstGeom prst="rect">
            <a:avLst/>
          </a:prstGeom>
          <a:noFill/>
          <a:ln/>
        </p:spPr>
        <p:txBody>
          <a:bodyPr wrap="square" lIns="0" tIns="0" rIns="0" bIns="0" rtlCol="0" anchor="ctr"/>
          <a:lstStyle/>
          <a:p>
            <a:pPr indent="0" marL="0">
              <a:buNone/>
            </a:pPr>
            <a:r>
              <a:rPr lang="en-US" sz="2500" b="1" dirty="0">
                <a:solidFill>
                  <a:srgbClr val="00A896"/>
                </a:solidFill>
                <a:latin typeface="Graphik TH" pitchFamily="34" charset="0"/>
                <a:ea typeface="Graphik TH" pitchFamily="34" charset="-122"/>
                <a:cs typeface="Graphik TH" pitchFamily="34" charset="-120"/>
              </a:rPr>
              <a:t>192.6K</a:t>
            </a:r>
            <a:endParaRPr lang="en-US" sz="2500" dirty="0"/>
          </a:p>
        </p:txBody>
      </p:sp>
      <p:sp>
        <p:nvSpPr>
          <p:cNvPr id="12" name="Text 10"/>
          <p:cNvSpPr/>
          <p:nvPr/>
        </p:nvSpPr>
        <p:spPr>
          <a:xfrm>
            <a:off x="3593592" y="2121408"/>
            <a:ext cx="2194560"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upgraded by 202604</a:t>
            </a:r>
            <a:endParaRPr lang="en-US" sz="1150" dirty="0"/>
          </a:p>
        </p:txBody>
      </p:sp>
      <p:sp>
        <p:nvSpPr>
          <p:cNvPr id="13" name="Text 11"/>
          <p:cNvSpPr/>
          <p:nvPr/>
        </p:nvSpPr>
        <p:spPr>
          <a:xfrm>
            <a:off x="3593592" y="2350008"/>
            <a:ext cx="2194560" cy="237744"/>
          </a:xfrm>
          <a:prstGeom prst="rect">
            <a:avLst/>
          </a:prstGeom>
          <a:noFill/>
          <a:ln/>
        </p:spPr>
        <p:txBody>
          <a:bodyPr wrap="square" lIns="0" tIns="0" rIns="0" bIns="0" rtlCol="0" anchor="t"/>
          <a:lstStyle/>
          <a:p>
            <a:pPr indent="0" marL="0">
              <a:buNone/>
            </a:pPr>
            <a:r>
              <a:rPr lang="en-US" sz="1000" dirty="0">
                <a:solidFill>
                  <a:srgbClr val="6B7A90"/>
                </a:solidFill>
                <a:latin typeface="Graphik TH" pitchFamily="34" charset="0"/>
                <a:ea typeface="Graphik TH" pitchFamily="34" charset="-122"/>
                <a:cs typeface="Graphik TH" pitchFamily="34" charset="-120"/>
              </a:rPr>
              <a:t>15.2% of flagship holders</a:t>
            </a:r>
            <a:endParaRPr lang="en-US" sz="1000" dirty="0"/>
          </a:p>
        </p:txBody>
      </p:sp>
      <p:sp>
        <p:nvSpPr>
          <p:cNvPr id="14" name="Shape 12"/>
          <p:cNvSpPr/>
          <p:nvPr/>
        </p:nvSpPr>
        <p:spPr>
          <a:xfrm>
            <a:off x="6217920" y="1645920"/>
            <a:ext cx="2615184" cy="987552"/>
          </a:xfrm>
          <a:prstGeom prst="roundRect">
            <a:avLst>
              <a:gd name="adj" fmla="val 8333"/>
            </a:avLst>
          </a:prstGeom>
          <a:solidFill>
            <a:srgbClr val="F1F4F9"/>
          </a:solidFill>
          <a:ln/>
        </p:spPr>
      </p:sp>
      <p:sp>
        <p:nvSpPr>
          <p:cNvPr id="15" name="Text 13"/>
          <p:cNvSpPr/>
          <p:nvPr/>
        </p:nvSpPr>
        <p:spPr>
          <a:xfrm>
            <a:off x="6437376" y="1719072"/>
            <a:ext cx="2194560" cy="402336"/>
          </a:xfrm>
          <a:prstGeom prst="rect">
            <a:avLst/>
          </a:prstGeom>
          <a:noFill/>
          <a:ln/>
        </p:spPr>
        <p:txBody>
          <a:bodyPr wrap="square" lIns="0" tIns="0" rIns="0" bIns="0" rtlCol="0" anchor="ctr"/>
          <a:lstStyle/>
          <a:p>
            <a:pPr indent="0" marL="0">
              <a:buNone/>
            </a:pPr>
            <a:r>
              <a:rPr lang="en-US" sz="2500" b="1" dirty="0">
                <a:solidFill>
                  <a:srgbClr val="C00000"/>
                </a:solidFill>
                <a:latin typeface="Graphik TH" pitchFamily="34" charset="0"/>
                <a:ea typeface="Graphik TH" pitchFamily="34" charset="-122"/>
                <a:cs typeface="Graphik TH" pitchFamily="34" charset="-120"/>
              </a:rPr>
              <a:t>84.8%</a:t>
            </a:r>
            <a:endParaRPr lang="en-US" sz="2500" dirty="0"/>
          </a:p>
        </p:txBody>
      </p:sp>
      <p:sp>
        <p:nvSpPr>
          <p:cNvPr id="16" name="Text 14"/>
          <p:cNvSpPr/>
          <p:nvPr/>
        </p:nvSpPr>
        <p:spPr>
          <a:xfrm>
            <a:off x="6437376" y="2121408"/>
            <a:ext cx="2194560"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kept the same handset</a:t>
            </a:r>
            <a:endParaRPr lang="en-US" sz="1150" dirty="0"/>
          </a:p>
        </p:txBody>
      </p:sp>
      <p:sp>
        <p:nvSpPr>
          <p:cNvPr id="17" name="Text 15"/>
          <p:cNvSpPr/>
          <p:nvPr/>
        </p:nvSpPr>
        <p:spPr>
          <a:xfrm>
            <a:off x="6437376" y="2350008"/>
            <a:ext cx="2194560" cy="237744"/>
          </a:xfrm>
          <a:prstGeom prst="rect">
            <a:avLst/>
          </a:prstGeom>
          <a:noFill/>
          <a:ln/>
        </p:spPr>
        <p:txBody>
          <a:bodyPr wrap="square" lIns="0" tIns="0" rIns="0" bIns="0" rtlCol="0" anchor="t"/>
          <a:lstStyle/>
          <a:p>
            <a:pPr indent="0" marL="0">
              <a:buNone/>
            </a:pPr>
            <a:r>
              <a:rPr lang="en-US" sz="1000" dirty="0">
                <a:solidFill>
                  <a:srgbClr val="6B7A90"/>
                </a:solidFill>
                <a:latin typeface="Graphik TH" pitchFamily="34" charset="0"/>
                <a:ea typeface="Graphik TH" pitchFamily="34" charset="-122"/>
                <a:cs typeface="Graphik TH" pitchFamily="34" charset="-120"/>
              </a:rPr>
              <a:t>1.08M customers</a:t>
            </a:r>
            <a:endParaRPr lang="en-US" sz="1000" dirty="0"/>
          </a:p>
        </p:txBody>
      </p:sp>
      <p:sp>
        <p:nvSpPr>
          <p:cNvPr id="18" name="Shape 16"/>
          <p:cNvSpPr/>
          <p:nvPr/>
        </p:nvSpPr>
        <p:spPr>
          <a:xfrm>
            <a:off x="9061704" y="1645920"/>
            <a:ext cx="2615184" cy="987552"/>
          </a:xfrm>
          <a:prstGeom prst="roundRect">
            <a:avLst>
              <a:gd name="adj" fmla="val 8333"/>
            </a:avLst>
          </a:prstGeom>
          <a:solidFill>
            <a:srgbClr val="F1F4F9"/>
          </a:solidFill>
          <a:ln/>
        </p:spPr>
      </p:sp>
      <p:sp>
        <p:nvSpPr>
          <p:cNvPr id="19" name="Text 17"/>
          <p:cNvSpPr/>
          <p:nvPr/>
        </p:nvSpPr>
        <p:spPr>
          <a:xfrm>
            <a:off x="9281160" y="1719072"/>
            <a:ext cx="2194560" cy="402336"/>
          </a:xfrm>
          <a:prstGeom prst="rect">
            <a:avLst/>
          </a:prstGeom>
          <a:noFill/>
          <a:ln/>
        </p:spPr>
        <p:txBody>
          <a:bodyPr wrap="square" lIns="0" tIns="0" rIns="0" bIns="0" rtlCol="0" anchor="ctr"/>
          <a:lstStyle/>
          <a:p>
            <a:pPr indent="0" marL="0">
              <a:buNone/>
            </a:pPr>
            <a:r>
              <a:rPr lang="en-US" sz="2500" b="1" dirty="0">
                <a:solidFill>
                  <a:srgbClr val="00A896"/>
                </a:solidFill>
                <a:latin typeface="Graphik TH" pitchFamily="34" charset="0"/>
                <a:ea typeface="Graphik TH" pitchFamily="34" charset="-122"/>
                <a:cs typeface="Graphik TH" pitchFamily="34" charset="-120"/>
              </a:rPr>
              <a:t>77.8%</a:t>
            </a:r>
            <a:endParaRPr lang="en-US" sz="2500" dirty="0"/>
          </a:p>
        </p:txBody>
      </p:sp>
      <p:sp>
        <p:nvSpPr>
          <p:cNvPr id="20" name="Text 18"/>
          <p:cNvSpPr/>
          <p:nvPr/>
        </p:nvSpPr>
        <p:spPr>
          <a:xfrm>
            <a:off x="9281160" y="2121408"/>
            <a:ext cx="2194560"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of upgraders took N</a:t>
            </a:r>
            <a:endParaRPr lang="en-US" sz="1150" dirty="0"/>
          </a:p>
        </p:txBody>
      </p:sp>
      <p:sp>
        <p:nvSpPr>
          <p:cNvPr id="21" name="Text 19"/>
          <p:cNvSpPr/>
          <p:nvPr/>
        </p:nvSpPr>
        <p:spPr>
          <a:xfrm>
            <a:off x="9281160" y="2350008"/>
            <a:ext cx="2194560" cy="237744"/>
          </a:xfrm>
          <a:prstGeom prst="rect">
            <a:avLst/>
          </a:prstGeom>
          <a:noFill/>
          <a:ln/>
        </p:spPr>
        <p:txBody>
          <a:bodyPr wrap="square" lIns="0" tIns="0" rIns="0" bIns="0" rtlCol="0" anchor="t"/>
          <a:lstStyle/>
          <a:p>
            <a:pPr indent="0" marL="0">
              <a:buNone/>
            </a:pPr>
            <a:r>
              <a:rPr lang="en-US" sz="1000" dirty="0">
                <a:solidFill>
                  <a:srgbClr val="6B7A90"/>
                </a:solidFill>
                <a:latin typeface="Graphik TH" pitchFamily="34" charset="0"/>
                <a:ea typeface="Graphik TH" pitchFamily="34" charset="-122"/>
                <a:cs typeface="Graphik TH" pitchFamily="34" charset="-120"/>
              </a:rPr>
              <a:t>149.8K to the newest model</a:t>
            </a:r>
            <a:endParaRPr lang="en-US" sz="1000" dirty="0"/>
          </a:p>
        </p:txBody>
      </p:sp>
      <p:sp>
        <p:nvSpPr>
          <p:cNvPr id="22" name="Shape 20"/>
          <p:cNvSpPr/>
          <p:nvPr/>
        </p:nvSpPr>
        <p:spPr>
          <a:xfrm>
            <a:off x="530352" y="2761488"/>
            <a:ext cx="3291840" cy="2743200"/>
          </a:xfrm>
          <a:prstGeom prst="roundRect">
            <a:avLst>
              <a:gd name="adj" fmla="val 3000"/>
            </a:avLst>
          </a:prstGeom>
          <a:solidFill>
            <a:srgbClr val="F1F4F9"/>
          </a:solidFill>
          <a:ln/>
        </p:spPr>
      </p:sp>
      <p:sp>
        <p:nvSpPr>
          <p:cNvPr id="23" name="Text 21"/>
          <p:cNvSpPr/>
          <p:nvPr/>
        </p:nvSpPr>
        <p:spPr>
          <a:xfrm>
            <a:off x="749808" y="2907792"/>
            <a:ext cx="2852928" cy="256032"/>
          </a:xfrm>
          <a:prstGeom prst="rect">
            <a:avLst/>
          </a:prstGeom>
          <a:noFill/>
          <a:ln/>
        </p:spPr>
        <p:txBody>
          <a:bodyPr wrap="square" lIns="0" tIns="0" rIns="0" bIns="0" rtlCol="0" anchor="ctr"/>
          <a:lstStyle/>
          <a:p>
            <a:pPr indent="0" marL="0">
              <a:buNone/>
            </a:pPr>
            <a:r>
              <a:rPr lang="en-US" sz="1300" b="1" dirty="0">
                <a:solidFill>
                  <a:srgbClr val="16233D"/>
                </a:solidFill>
                <a:latin typeface="Cambria" pitchFamily="34" charset="0"/>
                <a:ea typeface="Cambria" pitchFamily="34" charset="-122"/>
                <a:cs typeface="Cambria" pitchFamily="34" charset="-120"/>
              </a:rPr>
              <a:t>Upgrade rate by cash need</a:t>
            </a:r>
            <a:endParaRPr lang="en-US" sz="1300" dirty="0"/>
          </a:p>
        </p:txBody>
      </p:sp>
      <p:sp>
        <p:nvSpPr>
          <p:cNvPr id="24" name="Text 22"/>
          <p:cNvSpPr/>
          <p:nvPr/>
        </p:nvSpPr>
        <p:spPr>
          <a:xfrm>
            <a:off x="749808" y="3163824"/>
            <a:ext cx="2852928" cy="219456"/>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Share who changed handset</a:t>
            </a:r>
            <a:endParaRPr lang="en-US" sz="950" dirty="0"/>
          </a:p>
        </p:txBody>
      </p:sp>
      <p:sp>
        <p:nvSpPr>
          <p:cNvPr id="25" name="Text 23"/>
          <p:cNvSpPr/>
          <p:nvPr/>
        </p:nvSpPr>
        <p:spPr>
          <a:xfrm>
            <a:off x="749808" y="3511296"/>
            <a:ext cx="86868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High</a:t>
            </a:r>
            <a:endParaRPr lang="en-US" sz="1100" dirty="0"/>
          </a:p>
        </p:txBody>
      </p:sp>
      <p:sp>
        <p:nvSpPr>
          <p:cNvPr id="26" name="Shape 24"/>
          <p:cNvSpPr/>
          <p:nvPr/>
        </p:nvSpPr>
        <p:spPr>
          <a:xfrm>
            <a:off x="1728216" y="3566160"/>
            <a:ext cx="804672" cy="173736"/>
          </a:xfrm>
          <a:prstGeom prst="roundRect">
            <a:avLst>
              <a:gd name="adj" fmla="val 21053"/>
            </a:avLst>
          </a:prstGeom>
          <a:solidFill>
            <a:srgbClr val="165A73"/>
          </a:solidFill>
          <a:ln/>
        </p:spPr>
      </p:sp>
      <p:sp>
        <p:nvSpPr>
          <p:cNvPr id="27" name="Text 25"/>
          <p:cNvSpPr/>
          <p:nvPr/>
        </p:nvSpPr>
        <p:spPr>
          <a:xfrm>
            <a:off x="2642616" y="3511296"/>
            <a:ext cx="96012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17.2%</a:t>
            </a:r>
            <a:endParaRPr lang="en-US" sz="1100" dirty="0"/>
          </a:p>
        </p:txBody>
      </p:sp>
      <p:sp>
        <p:nvSpPr>
          <p:cNvPr id="28" name="Text 26"/>
          <p:cNvSpPr/>
          <p:nvPr/>
        </p:nvSpPr>
        <p:spPr>
          <a:xfrm>
            <a:off x="749808" y="3968496"/>
            <a:ext cx="86868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Mid</a:t>
            </a:r>
            <a:endParaRPr lang="en-US" sz="1100" dirty="0"/>
          </a:p>
        </p:txBody>
      </p:sp>
      <p:sp>
        <p:nvSpPr>
          <p:cNvPr id="29" name="Shape 27"/>
          <p:cNvSpPr/>
          <p:nvPr/>
        </p:nvSpPr>
        <p:spPr>
          <a:xfrm>
            <a:off x="1728216" y="4023360"/>
            <a:ext cx="734832" cy="173736"/>
          </a:xfrm>
          <a:prstGeom prst="roundRect">
            <a:avLst>
              <a:gd name="adj" fmla="val 21053"/>
            </a:avLst>
          </a:prstGeom>
          <a:solidFill>
            <a:srgbClr val="1E8E86"/>
          </a:solidFill>
          <a:ln/>
        </p:spPr>
      </p:sp>
      <p:sp>
        <p:nvSpPr>
          <p:cNvPr id="30" name="Text 28"/>
          <p:cNvSpPr/>
          <p:nvPr/>
        </p:nvSpPr>
        <p:spPr>
          <a:xfrm>
            <a:off x="2642616" y="3968496"/>
            <a:ext cx="96012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15.7%</a:t>
            </a:r>
            <a:endParaRPr lang="en-US" sz="1100" dirty="0"/>
          </a:p>
        </p:txBody>
      </p:sp>
      <p:sp>
        <p:nvSpPr>
          <p:cNvPr id="31" name="Text 29"/>
          <p:cNvSpPr/>
          <p:nvPr/>
        </p:nvSpPr>
        <p:spPr>
          <a:xfrm>
            <a:off x="749808" y="4425696"/>
            <a:ext cx="86868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Low</a:t>
            </a:r>
            <a:endParaRPr lang="en-US" sz="1100" dirty="0"/>
          </a:p>
        </p:txBody>
      </p:sp>
      <p:sp>
        <p:nvSpPr>
          <p:cNvPr id="32" name="Shape 30"/>
          <p:cNvSpPr/>
          <p:nvPr/>
        </p:nvSpPr>
        <p:spPr>
          <a:xfrm>
            <a:off x="1728216" y="4480560"/>
            <a:ext cx="604272" cy="173736"/>
          </a:xfrm>
          <a:prstGeom prst="roundRect">
            <a:avLst>
              <a:gd name="adj" fmla="val 21053"/>
            </a:avLst>
          </a:prstGeom>
          <a:solidFill>
            <a:srgbClr val="3FB89F"/>
          </a:solidFill>
          <a:ln/>
        </p:spPr>
      </p:sp>
      <p:sp>
        <p:nvSpPr>
          <p:cNvPr id="33" name="Text 31"/>
          <p:cNvSpPr/>
          <p:nvPr/>
        </p:nvSpPr>
        <p:spPr>
          <a:xfrm>
            <a:off x="2642616" y="4425696"/>
            <a:ext cx="96012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12.9%</a:t>
            </a:r>
            <a:endParaRPr lang="en-US" sz="1100" dirty="0"/>
          </a:p>
        </p:txBody>
      </p:sp>
      <p:sp>
        <p:nvSpPr>
          <p:cNvPr id="34" name="Text 32"/>
          <p:cNvSpPr/>
          <p:nvPr/>
        </p:nvSpPr>
        <p:spPr>
          <a:xfrm>
            <a:off x="749808" y="4882896"/>
            <a:ext cx="86868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Null</a:t>
            </a:r>
            <a:endParaRPr lang="en-US" sz="1100" dirty="0"/>
          </a:p>
        </p:txBody>
      </p:sp>
      <p:sp>
        <p:nvSpPr>
          <p:cNvPr id="35" name="Shape 33"/>
          <p:cNvSpPr/>
          <p:nvPr/>
        </p:nvSpPr>
        <p:spPr>
          <a:xfrm>
            <a:off x="1728216" y="4937760"/>
            <a:ext cx="386209" cy="173736"/>
          </a:xfrm>
          <a:prstGeom prst="roundRect">
            <a:avLst>
              <a:gd name="adj" fmla="val 21053"/>
            </a:avLst>
          </a:prstGeom>
          <a:solidFill>
            <a:srgbClr val="8DA0B8"/>
          </a:solidFill>
          <a:ln/>
        </p:spPr>
      </p:sp>
      <p:sp>
        <p:nvSpPr>
          <p:cNvPr id="36" name="Text 34"/>
          <p:cNvSpPr/>
          <p:nvPr/>
        </p:nvSpPr>
        <p:spPr>
          <a:xfrm>
            <a:off x="2642616" y="4882896"/>
            <a:ext cx="96012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8.2%</a:t>
            </a:r>
            <a:endParaRPr lang="en-US" sz="1100" dirty="0"/>
          </a:p>
        </p:txBody>
      </p:sp>
      <p:sp>
        <p:nvSpPr>
          <p:cNvPr id="37" name="Shape 35"/>
          <p:cNvSpPr/>
          <p:nvPr/>
        </p:nvSpPr>
        <p:spPr>
          <a:xfrm>
            <a:off x="4050792" y="2761488"/>
            <a:ext cx="3291840" cy="2743200"/>
          </a:xfrm>
          <a:prstGeom prst="roundRect">
            <a:avLst>
              <a:gd name="adj" fmla="val 3000"/>
            </a:avLst>
          </a:prstGeom>
          <a:solidFill>
            <a:srgbClr val="F1F4F9"/>
          </a:solidFill>
          <a:ln/>
        </p:spPr>
      </p:sp>
      <p:sp>
        <p:nvSpPr>
          <p:cNvPr id="38" name="Text 36"/>
          <p:cNvSpPr/>
          <p:nvPr/>
        </p:nvSpPr>
        <p:spPr>
          <a:xfrm>
            <a:off x="4270248" y="2907792"/>
            <a:ext cx="2852928" cy="256032"/>
          </a:xfrm>
          <a:prstGeom prst="rect">
            <a:avLst/>
          </a:prstGeom>
          <a:noFill/>
          <a:ln/>
        </p:spPr>
        <p:txBody>
          <a:bodyPr wrap="square" lIns="0" tIns="0" rIns="0" bIns="0" rtlCol="0" anchor="ctr"/>
          <a:lstStyle/>
          <a:p>
            <a:pPr indent="0" marL="0">
              <a:buNone/>
            </a:pPr>
            <a:r>
              <a:rPr lang="en-US" sz="1300" b="1" dirty="0">
                <a:solidFill>
                  <a:srgbClr val="16233D"/>
                </a:solidFill>
                <a:latin typeface="Cambria" pitchFamily="34" charset="0"/>
                <a:ea typeface="Cambria" pitchFamily="34" charset="-122"/>
                <a:cs typeface="Cambria" pitchFamily="34" charset="-120"/>
              </a:rPr>
              <a:t>Upgrade rate by risk level</a:t>
            </a:r>
            <a:endParaRPr lang="en-US" sz="1300" dirty="0"/>
          </a:p>
        </p:txBody>
      </p:sp>
      <p:sp>
        <p:nvSpPr>
          <p:cNvPr id="39" name="Text 37"/>
          <p:cNvSpPr/>
          <p:nvPr/>
        </p:nvSpPr>
        <p:spPr>
          <a:xfrm>
            <a:off x="4270248" y="3163824"/>
            <a:ext cx="2852928" cy="219456"/>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Share who changed handset</a:t>
            </a:r>
            <a:endParaRPr lang="en-US" sz="950" dirty="0"/>
          </a:p>
        </p:txBody>
      </p:sp>
      <p:sp>
        <p:nvSpPr>
          <p:cNvPr id="40" name="Text 38"/>
          <p:cNvSpPr/>
          <p:nvPr/>
        </p:nvSpPr>
        <p:spPr>
          <a:xfrm>
            <a:off x="4270248" y="3511296"/>
            <a:ext cx="86868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Mid</a:t>
            </a:r>
            <a:endParaRPr lang="en-US" sz="1100" dirty="0"/>
          </a:p>
        </p:txBody>
      </p:sp>
      <p:sp>
        <p:nvSpPr>
          <p:cNvPr id="41" name="Shape 39"/>
          <p:cNvSpPr/>
          <p:nvPr/>
        </p:nvSpPr>
        <p:spPr>
          <a:xfrm>
            <a:off x="5248656" y="3566160"/>
            <a:ext cx="804672" cy="173736"/>
          </a:xfrm>
          <a:prstGeom prst="roundRect">
            <a:avLst>
              <a:gd name="adj" fmla="val 21053"/>
            </a:avLst>
          </a:prstGeom>
          <a:solidFill>
            <a:srgbClr val="1E8E86"/>
          </a:solidFill>
          <a:ln/>
        </p:spPr>
      </p:sp>
      <p:sp>
        <p:nvSpPr>
          <p:cNvPr id="42" name="Text 40"/>
          <p:cNvSpPr/>
          <p:nvPr/>
        </p:nvSpPr>
        <p:spPr>
          <a:xfrm>
            <a:off x="6163056" y="3511296"/>
            <a:ext cx="96012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15.9%</a:t>
            </a:r>
            <a:endParaRPr lang="en-US" sz="1100" dirty="0"/>
          </a:p>
        </p:txBody>
      </p:sp>
      <p:sp>
        <p:nvSpPr>
          <p:cNvPr id="43" name="Text 41"/>
          <p:cNvSpPr/>
          <p:nvPr/>
        </p:nvSpPr>
        <p:spPr>
          <a:xfrm>
            <a:off x="4270248" y="3968496"/>
            <a:ext cx="86868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High</a:t>
            </a:r>
            <a:endParaRPr lang="en-US" sz="1100" dirty="0"/>
          </a:p>
        </p:txBody>
      </p:sp>
      <p:sp>
        <p:nvSpPr>
          <p:cNvPr id="44" name="Shape 42"/>
          <p:cNvSpPr/>
          <p:nvPr/>
        </p:nvSpPr>
        <p:spPr>
          <a:xfrm>
            <a:off x="5248656" y="4023360"/>
            <a:ext cx="768854" cy="173736"/>
          </a:xfrm>
          <a:prstGeom prst="roundRect">
            <a:avLst>
              <a:gd name="adj" fmla="val 21053"/>
            </a:avLst>
          </a:prstGeom>
          <a:solidFill>
            <a:srgbClr val="165A73"/>
          </a:solidFill>
          <a:ln/>
        </p:spPr>
      </p:sp>
      <p:sp>
        <p:nvSpPr>
          <p:cNvPr id="45" name="Text 43"/>
          <p:cNvSpPr/>
          <p:nvPr/>
        </p:nvSpPr>
        <p:spPr>
          <a:xfrm>
            <a:off x="6163056" y="3968496"/>
            <a:ext cx="96012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15.2%</a:t>
            </a:r>
            <a:endParaRPr lang="en-US" sz="1100" dirty="0"/>
          </a:p>
        </p:txBody>
      </p:sp>
      <p:sp>
        <p:nvSpPr>
          <p:cNvPr id="46" name="Text 44"/>
          <p:cNvSpPr/>
          <p:nvPr/>
        </p:nvSpPr>
        <p:spPr>
          <a:xfrm>
            <a:off x="4270248" y="4425696"/>
            <a:ext cx="86868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Low</a:t>
            </a:r>
            <a:endParaRPr lang="en-US" sz="1100" dirty="0"/>
          </a:p>
        </p:txBody>
      </p:sp>
      <p:sp>
        <p:nvSpPr>
          <p:cNvPr id="47" name="Shape 45"/>
          <p:cNvSpPr/>
          <p:nvPr/>
        </p:nvSpPr>
        <p:spPr>
          <a:xfrm>
            <a:off x="5248656" y="4480560"/>
            <a:ext cx="745202" cy="173736"/>
          </a:xfrm>
          <a:prstGeom prst="roundRect">
            <a:avLst>
              <a:gd name="adj" fmla="val 21053"/>
            </a:avLst>
          </a:prstGeom>
          <a:solidFill>
            <a:srgbClr val="3FB89F"/>
          </a:solidFill>
          <a:ln/>
        </p:spPr>
      </p:sp>
      <p:sp>
        <p:nvSpPr>
          <p:cNvPr id="48" name="Text 46"/>
          <p:cNvSpPr/>
          <p:nvPr/>
        </p:nvSpPr>
        <p:spPr>
          <a:xfrm>
            <a:off x="6163056" y="4425696"/>
            <a:ext cx="96012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14.7%</a:t>
            </a:r>
            <a:endParaRPr lang="en-US" sz="1100" dirty="0"/>
          </a:p>
        </p:txBody>
      </p:sp>
      <p:sp>
        <p:nvSpPr>
          <p:cNvPr id="49" name="Text 47"/>
          <p:cNvSpPr/>
          <p:nvPr/>
        </p:nvSpPr>
        <p:spPr>
          <a:xfrm>
            <a:off x="4270248" y="5120640"/>
            <a:ext cx="2852928" cy="310896"/>
          </a:xfrm>
          <a:prstGeom prst="rect">
            <a:avLst/>
          </a:prstGeom>
          <a:noFill/>
          <a:ln/>
        </p:spPr>
        <p:txBody>
          <a:bodyPr wrap="square" lIns="0" tIns="0" rIns="0" bIns="0" rtlCol="0" anchor="ctr"/>
          <a:lstStyle/>
          <a:p>
            <a:pPr indent="0" marL="0">
              <a:buNone/>
            </a:pPr>
            <a:r>
              <a:rPr lang="en-US" sz="900" i="1" dirty="0">
                <a:solidFill>
                  <a:srgbClr val="6B7A90"/>
                </a:solidFill>
                <a:latin typeface="Graphik TH" pitchFamily="34" charset="0"/>
                <a:ea typeface="Graphik TH" pitchFamily="34" charset="-122"/>
                <a:cs typeface="Graphik TH" pitchFamily="34" charset="-120"/>
              </a:rPr>
              <a:t>Risk Null omitted — 5.4K holders only. The three real bands sit within 1.2 points of each other.</a:t>
            </a:r>
            <a:endParaRPr lang="en-US" sz="900" dirty="0"/>
          </a:p>
        </p:txBody>
      </p:sp>
      <p:sp>
        <p:nvSpPr>
          <p:cNvPr id="50" name="Shape 48"/>
          <p:cNvSpPr/>
          <p:nvPr/>
        </p:nvSpPr>
        <p:spPr>
          <a:xfrm>
            <a:off x="7571232" y="2761488"/>
            <a:ext cx="4233672" cy="2743200"/>
          </a:xfrm>
          <a:prstGeom prst="roundRect">
            <a:avLst>
              <a:gd name="adj" fmla="val 3000"/>
            </a:avLst>
          </a:prstGeom>
          <a:solidFill>
            <a:srgbClr val="F1F4F9"/>
          </a:solidFill>
          <a:ln/>
        </p:spPr>
      </p:sp>
      <p:sp>
        <p:nvSpPr>
          <p:cNvPr id="51" name="Text 49"/>
          <p:cNvSpPr/>
          <p:nvPr/>
        </p:nvSpPr>
        <p:spPr>
          <a:xfrm>
            <a:off x="7790688" y="2907792"/>
            <a:ext cx="3794760" cy="256032"/>
          </a:xfrm>
          <a:prstGeom prst="rect">
            <a:avLst/>
          </a:prstGeom>
          <a:noFill/>
          <a:ln/>
        </p:spPr>
        <p:txBody>
          <a:bodyPr wrap="square" lIns="0" tIns="0" rIns="0" bIns="0" rtlCol="0" anchor="ctr"/>
          <a:lstStyle/>
          <a:p>
            <a:pPr indent="0" marL="0">
              <a:buNone/>
            </a:pPr>
            <a:r>
              <a:rPr lang="en-US" sz="1300" b="1" dirty="0">
                <a:solidFill>
                  <a:srgbClr val="16233D"/>
                </a:solidFill>
                <a:latin typeface="Cambria" pitchFamily="34" charset="0"/>
                <a:ea typeface="Cambria" pitchFamily="34" charset="-122"/>
                <a:cs typeface="Cambria" pitchFamily="34" charset="-120"/>
              </a:rPr>
              <a:t>Where the upgraders went</a:t>
            </a:r>
            <a:endParaRPr lang="en-US" sz="1300" dirty="0"/>
          </a:p>
        </p:txBody>
      </p:sp>
      <p:sp>
        <p:nvSpPr>
          <p:cNvPr id="52" name="Text 50"/>
          <p:cNvSpPr/>
          <p:nvPr/>
        </p:nvSpPr>
        <p:spPr>
          <a:xfrm>
            <a:off x="7790688" y="3163824"/>
            <a:ext cx="3794760" cy="219456"/>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192.6K customers who changed handset</a:t>
            </a:r>
            <a:endParaRPr lang="en-US" sz="950" dirty="0"/>
          </a:p>
        </p:txBody>
      </p:sp>
      <p:sp>
        <p:nvSpPr>
          <p:cNvPr id="53" name="Text 51"/>
          <p:cNvSpPr/>
          <p:nvPr/>
        </p:nvSpPr>
        <p:spPr>
          <a:xfrm>
            <a:off x="7790688" y="3511296"/>
            <a:ext cx="123444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N-1 → N</a:t>
            </a:r>
            <a:endParaRPr lang="en-US" sz="1100" dirty="0"/>
          </a:p>
        </p:txBody>
      </p:sp>
      <p:sp>
        <p:nvSpPr>
          <p:cNvPr id="54" name="Shape 52"/>
          <p:cNvSpPr/>
          <p:nvPr/>
        </p:nvSpPr>
        <p:spPr>
          <a:xfrm>
            <a:off x="9134856" y="3566160"/>
            <a:ext cx="969264" cy="173736"/>
          </a:xfrm>
          <a:prstGeom prst="roundRect">
            <a:avLst>
              <a:gd name="adj" fmla="val 21053"/>
            </a:avLst>
          </a:prstGeom>
          <a:solidFill>
            <a:srgbClr val="165A73"/>
          </a:solidFill>
          <a:ln/>
        </p:spPr>
      </p:sp>
      <p:sp>
        <p:nvSpPr>
          <p:cNvPr id="55" name="Text 53"/>
          <p:cNvSpPr/>
          <p:nvPr/>
        </p:nvSpPr>
        <p:spPr>
          <a:xfrm>
            <a:off x="10213848" y="3511296"/>
            <a:ext cx="137160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78.6K · 40.8%</a:t>
            </a:r>
            <a:endParaRPr lang="en-US" sz="1100" dirty="0"/>
          </a:p>
        </p:txBody>
      </p:sp>
      <p:sp>
        <p:nvSpPr>
          <p:cNvPr id="56" name="Text 54"/>
          <p:cNvSpPr/>
          <p:nvPr/>
        </p:nvSpPr>
        <p:spPr>
          <a:xfrm>
            <a:off x="7790688" y="3895344"/>
            <a:ext cx="123444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N → N</a:t>
            </a:r>
            <a:endParaRPr lang="en-US" sz="1100" dirty="0"/>
          </a:p>
        </p:txBody>
      </p:sp>
      <p:sp>
        <p:nvSpPr>
          <p:cNvPr id="57" name="Shape 55"/>
          <p:cNvSpPr/>
          <p:nvPr/>
        </p:nvSpPr>
        <p:spPr>
          <a:xfrm>
            <a:off x="9134856" y="3950208"/>
            <a:ext cx="878569" cy="173736"/>
          </a:xfrm>
          <a:prstGeom prst="roundRect">
            <a:avLst>
              <a:gd name="adj" fmla="val 21053"/>
            </a:avLst>
          </a:prstGeom>
          <a:solidFill>
            <a:srgbClr val="1E8E86"/>
          </a:solidFill>
          <a:ln/>
        </p:spPr>
      </p:sp>
      <p:sp>
        <p:nvSpPr>
          <p:cNvPr id="58" name="Text 56"/>
          <p:cNvSpPr/>
          <p:nvPr/>
        </p:nvSpPr>
        <p:spPr>
          <a:xfrm>
            <a:off x="10213848" y="3895344"/>
            <a:ext cx="137160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71.2K · 37.0%</a:t>
            </a:r>
            <a:endParaRPr lang="en-US" sz="1100" dirty="0"/>
          </a:p>
        </p:txBody>
      </p:sp>
      <p:sp>
        <p:nvSpPr>
          <p:cNvPr id="59" name="Text 57"/>
          <p:cNvSpPr/>
          <p:nvPr/>
        </p:nvSpPr>
        <p:spPr>
          <a:xfrm>
            <a:off x="7790688" y="4279392"/>
            <a:ext cx="123444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N-1 → N-1</a:t>
            </a:r>
            <a:endParaRPr lang="en-US" sz="1100" dirty="0"/>
          </a:p>
        </p:txBody>
      </p:sp>
      <p:sp>
        <p:nvSpPr>
          <p:cNvPr id="60" name="Shape 58"/>
          <p:cNvSpPr/>
          <p:nvPr/>
        </p:nvSpPr>
        <p:spPr>
          <a:xfrm>
            <a:off x="9134856" y="4334256"/>
            <a:ext cx="527371" cy="173736"/>
          </a:xfrm>
          <a:prstGeom prst="roundRect">
            <a:avLst>
              <a:gd name="adj" fmla="val 21053"/>
            </a:avLst>
          </a:prstGeom>
          <a:solidFill>
            <a:srgbClr val="3FB89F"/>
          </a:solidFill>
          <a:ln/>
        </p:spPr>
      </p:sp>
      <p:sp>
        <p:nvSpPr>
          <p:cNvPr id="61" name="Text 59"/>
          <p:cNvSpPr/>
          <p:nvPr/>
        </p:nvSpPr>
        <p:spPr>
          <a:xfrm>
            <a:off x="10213848" y="4279392"/>
            <a:ext cx="137160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42.8K · 22.2%</a:t>
            </a:r>
            <a:endParaRPr lang="en-US" sz="1100" dirty="0"/>
          </a:p>
        </p:txBody>
      </p:sp>
      <p:sp>
        <p:nvSpPr>
          <p:cNvPr id="62" name="Text 60"/>
          <p:cNvSpPr/>
          <p:nvPr/>
        </p:nvSpPr>
        <p:spPr>
          <a:xfrm>
            <a:off x="7790688" y="5120640"/>
            <a:ext cx="3794760" cy="310896"/>
          </a:xfrm>
          <a:prstGeom prst="rect">
            <a:avLst/>
          </a:prstGeom>
          <a:noFill/>
          <a:ln/>
        </p:spPr>
        <p:txBody>
          <a:bodyPr wrap="square" lIns="0" tIns="0" rIns="0" bIns="0" rtlCol="0" anchor="ctr"/>
          <a:lstStyle/>
          <a:p>
            <a:pPr indent="0" marL="0">
              <a:buNone/>
            </a:pPr>
            <a:r>
              <a:rPr lang="en-US" sz="900" i="1" dirty="0">
                <a:solidFill>
                  <a:srgbClr val="6B7A90"/>
                </a:solidFill>
                <a:latin typeface="Graphik TH" pitchFamily="34" charset="0"/>
                <a:ea typeface="Graphik TH" pitchFamily="34" charset="-122"/>
                <a:cs typeface="Graphik TH" pitchFamily="34" charset="-120"/>
              </a:rPr>
              <a:t>N-1 → N-1 customers upgraded a generation but are still one behind the newest model.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83464"/>
            <a:ext cx="11274552" cy="384048"/>
          </a:xfrm>
          <a:prstGeom prst="rect">
            <a:avLst/>
          </a:prstGeom>
          <a:noFill/>
          <a:ln/>
        </p:spPr>
        <p:txBody>
          <a:bodyPr wrap="square" lIns="0" tIns="0" rIns="0" bIns="0" rtlCol="0" anchor="ctr"/>
          <a:lstStyle/>
          <a:p>
            <a:pPr indent="0" marL="0">
              <a:buNone/>
            </a:pPr>
            <a:r>
              <a:rPr lang="en-US" sz="2200" b="1" dirty="0">
                <a:solidFill>
                  <a:srgbClr val="045D66"/>
                </a:solidFill>
                <a:latin typeface="Graphik TH" pitchFamily="34" charset="0"/>
                <a:ea typeface="Graphik TH" pitchFamily="34" charset="-122"/>
                <a:cs typeface="Graphik TH" pitchFamily="34" charset="-120"/>
              </a:rPr>
              <a:t>AIS Mobile Flagship Demand : ~1.16M buyers in the coming year</a:t>
            </a:r>
            <a:endParaRPr lang="en-US" sz="2200" dirty="0"/>
          </a:p>
        </p:txBody>
      </p:sp>
      <p:sp>
        <p:nvSpPr>
          <p:cNvPr id="3" name="Text 1"/>
          <p:cNvSpPr/>
          <p:nvPr/>
        </p:nvSpPr>
        <p:spPr>
          <a:xfrm>
            <a:off x="530352" y="713232"/>
            <a:ext cx="11274552" cy="237744"/>
          </a:xfrm>
          <a:prstGeom prst="rect">
            <a:avLst/>
          </a:prstGeom>
          <a:noFill/>
          <a:ln/>
        </p:spPr>
        <p:txBody>
          <a:bodyPr wrap="square" lIns="0" tIns="0" rIns="0" bIns="0" rtlCol="0" anchor="ctr"/>
          <a:lstStyle/>
          <a:p>
            <a:pPr indent="0" marL="0">
              <a:buNone/>
            </a:pPr>
            <a:r>
              <a:rPr lang="en-US" sz="1150" i="1" dirty="0">
                <a:solidFill>
                  <a:srgbClr val="6B6B6B"/>
                </a:solidFill>
                <a:latin typeface="Graphik TH" pitchFamily="34" charset="0"/>
                <a:ea typeface="Graphik TH" pitchFamily="34" charset="-122"/>
                <a:cs typeface="Graphik TH" pitchFamily="34" charset="-120"/>
              </a:rPr>
              <a:t>*For the coming year (202604 → 202704), modelled on the observed 202504 → 202604 transitions; assumes a comparable flagship launch.</a:t>
            </a:r>
            <a:endParaRPr lang="en-US" sz="1150" dirty="0"/>
          </a:p>
        </p:txBody>
      </p:sp>
      <p:sp>
        <p:nvSpPr>
          <p:cNvPr id="4" name="Text 2"/>
          <p:cNvSpPr/>
          <p:nvPr/>
        </p:nvSpPr>
        <p:spPr>
          <a:xfrm>
            <a:off x="548640" y="1024128"/>
            <a:ext cx="11064240" cy="237744"/>
          </a:xfrm>
          <a:prstGeom prst="rect">
            <a:avLst/>
          </a:prstGeom>
          <a:noFill/>
          <a:ln/>
        </p:spPr>
        <p:txBody>
          <a:bodyPr wrap="square" lIns="0" tIns="0" rIns="0" bIns="0" rtlCol="0" anchor="ctr"/>
          <a:lstStyle/>
          <a:p>
            <a:pPr indent="0" marL="0">
              <a:buNone/>
            </a:pPr>
            <a:r>
              <a:rPr lang="en-US" sz="1300" b="1" dirty="0">
                <a:solidFill>
                  <a:srgbClr val="045D66"/>
                </a:solidFill>
                <a:latin typeface="Graphik TH" pitchFamily="34" charset="0"/>
                <a:ea typeface="Graphik TH" pitchFamily="34" charset="-122"/>
                <a:cs typeface="Graphik TH" pitchFamily="34" charset="-120"/>
              </a:rPr>
              <a:t>Bought in the past year 1.14M   ·   Estimated for the coming year 1.16M   ·   Range 1.04M – 1.30M</a:t>
            </a:r>
            <a:endParaRPr lang="en-US" sz="1300" dirty="0"/>
          </a:p>
        </p:txBody>
      </p:sp>
      <p:sp>
        <p:nvSpPr>
          <p:cNvPr id="5" name="Text 3"/>
          <p:cNvSpPr/>
          <p:nvPr/>
        </p:nvSpPr>
        <p:spPr>
          <a:xfrm>
            <a:off x="548640" y="1261872"/>
            <a:ext cx="11064240" cy="274320"/>
          </a:xfrm>
          <a:prstGeom prst="rect">
            <a:avLst/>
          </a:prstGeom>
          <a:noFill/>
          <a:ln/>
        </p:spPr>
        <p:txBody>
          <a:bodyPr wrap="square" lIns="0" tIns="0" rIns="0" bIns="0" rtlCol="0" anchor="ctr"/>
          <a:lstStyle/>
          <a:p>
            <a:pPr indent="0" marL="0">
              <a:buNone/>
            </a:pPr>
            <a:r>
              <a:rPr lang="en-US" sz="1400" dirty="0">
                <a:solidFill>
                  <a:srgbClr val="16233D"/>
                </a:solidFill>
                <a:latin typeface="Graphik TH" pitchFamily="34" charset="0"/>
                <a:ea typeface="Graphik TH" pitchFamily="34" charset="-122"/>
                <a:cs typeface="Graphik TH" pitchFamily="34" charset="-120"/>
              </a:rPr>
              <a:t>Four in five buyers come from outside today's flagship base — demand is inflow-driven, not owners cycling.</a:t>
            </a:r>
            <a:endParaRPr lang="en-US" sz="1400" dirty="0"/>
          </a:p>
        </p:txBody>
      </p:sp>
      <p:sp>
        <p:nvSpPr>
          <p:cNvPr id="6" name="Shape 4"/>
          <p:cNvSpPr/>
          <p:nvPr/>
        </p:nvSpPr>
        <p:spPr>
          <a:xfrm>
            <a:off x="530352" y="1645920"/>
            <a:ext cx="2615184" cy="987552"/>
          </a:xfrm>
          <a:prstGeom prst="roundRect">
            <a:avLst>
              <a:gd name="adj" fmla="val 8333"/>
            </a:avLst>
          </a:prstGeom>
          <a:solidFill>
            <a:srgbClr val="F1F4F9"/>
          </a:solidFill>
          <a:ln/>
        </p:spPr>
      </p:sp>
      <p:sp>
        <p:nvSpPr>
          <p:cNvPr id="7" name="Text 5"/>
          <p:cNvSpPr/>
          <p:nvPr/>
        </p:nvSpPr>
        <p:spPr>
          <a:xfrm>
            <a:off x="749808" y="1719072"/>
            <a:ext cx="2194560" cy="402336"/>
          </a:xfrm>
          <a:prstGeom prst="rect">
            <a:avLst/>
          </a:prstGeom>
          <a:noFill/>
          <a:ln/>
        </p:spPr>
        <p:txBody>
          <a:bodyPr wrap="square" lIns="0" tIns="0" rIns="0" bIns="0" rtlCol="0" anchor="ctr"/>
          <a:lstStyle/>
          <a:p>
            <a:pPr indent="0" marL="0">
              <a:buNone/>
            </a:pPr>
            <a:r>
              <a:rPr lang="en-US" sz="2500" b="1" dirty="0">
                <a:solidFill>
                  <a:srgbClr val="00A896"/>
                </a:solidFill>
                <a:latin typeface="Graphik TH" pitchFamily="34" charset="0"/>
                <a:ea typeface="Graphik TH" pitchFamily="34" charset="-122"/>
                <a:cs typeface="Graphik TH" pitchFamily="34" charset="-120"/>
              </a:rPr>
              <a:t>1.14M</a:t>
            </a:r>
            <a:endParaRPr lang="en-US" sz="2500" dirty="0"/>
          </a:p>
        </p:txBody>
      </p:sp>
      <p:sp>
        <p:nvSpPr>
          <p:cNvPr id="8" name="Text 6"/>
          <p:cNvSpPr/>
          <p:nvPr/>
        </p:nvSpPr>
        <p:spPr>
          <a:xfrm>
            <a:off x="749808" y="2121408"/>
            <a:ext cx="2194560"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bought in the past year</a:t>
            </a:r>
            <a:endParaRPr lang="en-US" sz="1150" dirty="0"/>
          </a:p>
        </p:txBody>
      </p:sp>
      <p:sp>
        <p:nvSpPr>
          <p:cNvPr id="9" name="Text 7"/>
          <p:cNvSpPr/>
          <p:nvPr/>
        </p:nvSpPr>
        <p:spPr>
          <a:xfrm>
            <a:off x="749808" y="2350008"/>
            <a:ext cx="2194560" cy="237744"/>
          </a:xfrm>
          <a:prstGeom prst="rect">
            <a:avLst/>
          </a:prstGeom>
          <a:noFill/>
          <a:ln/>
        </p:spPr>
        <p:txBody>
          <a:bodyPr wrap="square" lIns="0" tIns="0" rIns="0" bIns="0" rtlCol="0" anchor="t"/>
          <a:lstStyle/>
          <a:p>
            <a:pPr indent="0" marL="0">
              <a:buNone/>
            </a:pPr>
            <a:r>
              <a:rPr lang="en-US" sz="1000" dirty="0">
                <a:solidFill>
                  <a:srgbClr val="6B7A90"/>
                </a:solidFill>
                <a:latin typeface="Graphik TH" pitchFamily="34" charset="0"/>
                <a:ea typeface="Graphik TH" pitchFamily="34" charset="-122"/>
                <a:cs typeface="Graphik TH" pitchFamily="34" charset="-120"/>
              </a:rPr>
              <a:t>observed 202504 → 202604</a:t>
            </a:r>
            <a:endParaRPr lang="en-US" sz="1000" dirty="0"/>
          </a:p>
        </p:txBody>
      </p:sp>
      <p:sp>
        <p:nvSpPr>
          <p:cNvPr id="10" name="Shape 8"/>
          <p:cNvSpPr/>
          <p:nvPr/>
        </p:nvSpPr>
        <p:spPr>
          <a:xfrm>
            <a:off x="3374136" y="1645920"/>
            <a:ext cx="2615184" cy="987552"/>
          </a:xfrm>
          <a:prstGeom prst="roundRect">
            <a:avLst>
              <a:gd name="adj" fmla="val 8333"/>
            </a:avLst>
          </a:prstGeom>
          <a:solidFill>
            <a:srgbClr val="F1F4F9"/>
          </a:solidFill>
          <a:ln/>
        </p:spPr>
      </p:sp>
      <p:sp>
        <p:nvSpPr>
          <p:cNvPr id="11" name="Text 9"/>
          <p:cNvSpPr/>
          <p:nvPr/>
        </p:nvSpPr>
        <p:spPr>
          <a:xfrm>
            <a:off x="3593592" y="1719072"/>
            <a:ext cx="2194560" cy="402336"/>
          </a:xfrm>
          <a:prstGeom prst="rect">
            <a:avLst/>
          </a:prstGeom>
          <a:noFill/>
          <a:ln/>
        </p:spPr>
        <p:txBody>
          <a:bodyPr wrap="square" lIns="0" tIns="0" rIns="0" bIns="0" rtlCol="0" anchor="ctr"/>
          <a:lstStyle/>
          <a:p>
            <a:pPr indent="0" marL="0">
              <a:buNone/>
            </a:pPr>
            <a:r>
              <a:rPr lang="en-US" sz="2500" b="1" dirty="0">
                <a:solidFill>
                  <a:srgbClr val="00A896"/>
                </a:solidFill>
                <a:latin typeface="Graphik TH" pitchFamily="34" charset="0"/>
                <a:ea typeface="Graphik TH" pitchFamily="34" charset="-122"/>
                <a:cs typeface="Graphik TH" pitchFamily="34" charset="-120"/>
              </a:rPr>
              <a:t>1.16M</a:t>
            </a:r>
            <a:endParaRPr lang="en-US" sz="2500" dirty="0"/>
          </a:p>
        </p:txBody>
      </p:sp>
      <p:sp>
        <p:nvSpPr>
          <p:cNvPr id="12" name="Text 10"/>
          <p:cNvSpPr/>
          <p:nvPr/>
        </p:nvSpPr>
        <p:spPr>
          <a:xfrm>
            <a:off x="3593592" y="2121408"/>
            <a:ext cx="2194560"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estimated, coming year</a:t>
            </a:r>
            <a:endParaRPr lang="en-US" sz="1150" dirty="0"/>
          </a:p>
        </p:txBody>
      </p:sp>
      <p:sp>
        <p:nvSpPr>
          <p:cNvPr id="13" name="Text 11"/>
          <p:cNvSpPr/>
          <p:nvPr/>
        </p:nvSpPr>
        <p:spPr>
          <a:xfrm>
            <a:off x="3593592" y="2350008"/>
            <a:ext cx="2194560" cy="237744"/>
          </a:xfrm>
          <a:prstGeom prst="rect">
            <a:avLst/>
          </a:prstGeom>
          <a:noFill/>
          <a:ln/>
        </p:spPr>
        <p:txBody>
          <a:bodyPr wrap="square" lIns="0" tIns="0" rIns="0" bIns="0" rtlCol="0" anchor="t"/>
          <a:lstStyle/>
          <a:p>
            <a:pPr indent="0" marL="0">
              <a:buNone/>
            </a:pPr>
            <a:r>
              <a:rPr lang="en-US" sz="1000" dirty="0">
                <a:solidFill>
                  <a:srgbClr val="6B7A90"/>
                </a:solidFill>
                <a:latin typeface="Graphik TH" pitchFamily="34" charset="0"/>
                <a:ea typeface="Graphik TH" pitchFamily="34" charset="-122"/>
                <a:cs typeface="Graphik TH" pitchFamily="34" charset="-120"/>
              </a:rPr>
              <a:t>base case</a:t>
            </a:r>
            <a:endParaRPr lang="en-US" sz="1000" dirty="0"/>
          </a:p>
        </p:txBody>
      </p:sp>
      <p:sp>
        <p:nvSpPr>
          <p:cNvPr id="14" name="Shape 12"/>
          <p:cNvSpPr/>
          <p:nvPr/>
        </p:nvSpPr>
        <p:spPr>
          <a:xfrm>
            <a:off x="6217920" y="1645920"/>
            <a:ext cx="2615184" cy="987552"/>
          </a:xfrm>
          <a:prstGeom prst="roundRect">
            <a:avLst>
              <a:gd name="adj" fmla="val 8333"/>
            </a:avLst>
          </a:prstGeom>
          <a:solidFill>
            <a:srgbClr val="F1F4F9"/>
          </a:solidFill>
          <a:ln/>
        </p:spPr>
      </p:sp>
      <p:sp>
        <p:nvSpPr>
          <p:cNvPr id="15" name="Text 13"/>
          <p:cNvSpPr/>
          <p:nvPr/>
        </p:nvSpPr>
        <p:spPr>
          <a:xfrm>
            <a:off x="6437376" y="1719072"/>
            <a:ext cx="2194560" cy="402336"/>
          </a:xfrm>
          <a:prstGeom prst="rect">
            <a:avLst/>
          </a:prstGeom>
          <a:noFill/>
          <a:ln/>
        </p:spPr>
        <p:txBody>
          <a:bodyPr wrap="square" lIns="0" tIns="0" rIns="0" bIns="0" rtlCol="0" anchor="ctr"/>
          <a:lstStyle/>
          <a:p>
            <a:pPr indent="0" marL="0">
              <a:buNone/>
            </a:pPr>
            <a:r>
              <a:rPr lang="en-US" sz="2500" b="1" dirty="0">
                <a:solidFill>
                  <a:srgbClr val="00A896"/>
                </a:solidFill>
                <a:latin typeface="Graphik TH" pitchFamily="34" charset="0"/>
                <a:ea typeface="Graphik TH" pitchFamily="34" charset="-122"/>
                <a:cs typeface="Graphik TH" pitchFamily="34" charset="-120"/>
              </a:rPr>
              <a:t>708.5K</a:t>
            </a:r>
            <a:endParaRPr lang="en-US" sz="2500" dirty="0"/>
          </a:p>
        </p:txBody>
      </p:sp>
      <p:sp>
        <p:nvSpPr>
          <p:cNvPr id="16" name="Text 14"/>
          <p:cNvSpPr/>
          <p:nvPr/>
        </p:nvSpPr>
        <p:spPr>
          <a:xfrm>
            <a:off x="6437376" y="2121408"/>
            <a:ext cx="2194560"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expected to buy N</a:t>
            </a:r>
            <a:endParaRPr lang="en-US" sz="1150" dirty="0"/>
          </a:p>
        </p:txBody>
      </p:sp>
      <p:sp>
        <p:nvSpPr>
          <p:cNvPr id="17" name="Text 15"/>
          <p:cNvSpPr/>
          <p:nvPr/>
        </p:nvSpPr>
        <p:spPr>
          <a:xfrm>
            <a:off x="6437376" y="2350008"/>
            <a:ext cx="2194560" cy="237744"/>
          </a:xfrm>
          <a:prstGeom prst="rect">
            <a:avLst/>
          </a:prstGeom>
          <a:noFill/>
          <a:ln/>
        </p:spPr>
        <p:txBody>
          <a:bodyPr wrap="square" lIns="0" tIns="0" rIns="0" bIns="0" rtlCol="0" anchor="t"/>
          <a:lstStyle/>
          <a:p>
            <a:pPr indent="0" marL="0">
              <a:buNone/>
            </a:pPr>
            <a:r>
              <a:rPr lang="en-US" sz="1000" dirty="0">
                <a:solidFill>
                  <a:srgbClr val="6B7A90"/>
                </a:solidFill>
                <a:latin typeface="Graphik TH" pitchFamily="34" charset="0"/>
                <a:ea typeface="Graphik TH" pitchFamily="34" charset="-122"/>
                <a:cs typeface="Graphik TH" pitchFamily="34" charset="-120"/>
              </a:rPr>
              <a:t>455.8K to buy N-1</a:t>
            </a:r>
            <a:endParaRPr lang="en-US" sz="1000" dirty="0"/>
          </a:p>
        </p:txBody>
      </p:sp>
      <p:sp>
        <p:nvSpPr>
          <p:cNvPr id="18" name="Shape 16"/>
          <p:cNvSpPr/>
          <p:nvPr/>
        </p:nvSpPr>
        <p:spPr>
          <a:xfrm>
            <a:off x="9061704" y="1645920"/>
            <a:ext cx="2615184" cy="987552"/>
          </a:xfrm>
          <a:prstGeom prst="roundRect">
            <a:avLst>
              <a:gd name="adj" fmla="val 8333"/>
            </a:avLst>
          </a:prstGeom>
          <a:solidFill>
            <a:srgbClr val="F1F4F9"/>
          </a:solidFill>
          <a:ln/>
        </p:spPr>
      </p:sp>
      <p:sp>
        <p:nvSpPr>
          <p:cNvPr id="19" name="Text 17"/>
          <p:cNvSpPr/>
          <p:nvPr/>
        </p:nvSpPr>
        <p:spPr>
          <a:xfrm>
            <a:off x="9281160" y="1719072"/>
            <a:ext cx="2194560" cy="402336"/>
          </a:xfrm>
          <a:prstGeom prst="rect">
            <a:avLst/>
          </a:prstGeom>
          <a:noFill/>
          <a:ln/>
        </p:spPr>
        <p:txBody>
          <a:bodyPr wrap="square" lIns="0" tIns="0" rIns="0" bIns="0" rtlCol="0" anchor="ctr"/>
          <a:lstStyle/>
          <a:p>
            <a:pPr indent="0" marL="0">
              <a:buNone/>
            </a:pPr>
            <a:r>
              <a:rPr lang="en-US" sz="2500" b="1" dirty="0">
                <a:solidFill>
                  <a:srgbClr val="C00000"/>
                </a:solidFill>
                <a:latin typeface="Graphik TH" pitchFamily="34" charset="0"/>
                <a:ea typeface="Graphik TH" pitchFamily="34" charset="-122"/>
                <a:cs typeface="Graphik TH" pitchFamily="34" charset="-120"/>
              </a:rPr>
              <a:t>79.9%</a:t>
            </a:r>
            <a:endParaRPr lang="en-US" sz="2500" dirty="0"/>
          </a:p>
        </p:txBody>
      </p:sp>
      <p:sp>
        <p:nvSpPr>
          <p:cNvPr id="20" name="Text 18"/>
          <p:cNvSpPr/>
          <p:nvPr/>
        </p:nvSpPr>
        <p:spPr>
          <a:xfrm>
            <a:off x="9281160" y="2121408"/>
            <a:ext cx="2194560"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from outside the base</a:t>
            </a:r>
            <a:endParaRPr lang="en-US" sz="1150" dirty="0"/>
          </a:p>
        </p:txBody>
      </p:sp>
      <p:sp>
        <p:nvSpPr>
          <p:cNvPr id="21" name="Text 19"/>
          <p:cNvSpPr/>
          <p:nvPr/>
        </p:nvSpPr>
        <p:spPr>
          <a:xfrm>
            <a:off x="9281160" y="2350008"/>
            <a:ext cx="2194560" cy="237744"/>
          </a:xfrm>
          <a:prstGeom prst="rect">
            <a:avLst/>
          </a:prstGeom>
          <a:noFill/>
          <a:ln/>
        </p:spPr>
        <p:txBody>
          <a:bodyPr wrap="square" lIns="0" tIns="0" rIns="0" bIns="0" rtlCol="0" anchor="t"/>
          <a:lstStyle/>
          <a:p>
            <a:pPr indent="0" marL="0">
              <a:buNone/>
            </a:pPr>
            <a:r>
              <a:rPr lang="en-US" sz="1000" dirty="0">
                <a:solidFill>
                  <a:srgbClr val="6B7A90"/>
                </a:solidFill>
                <a:latin typeface="Graphik TH" pitchFamily="34" charset="0"/>
                <a:ea typeface="Graphik TH" pitchFamily="34" charset="-122"/>
                <a:cs typeface="Graphik TH" pitchFamily="34" charset="-120"/>
              </a:rPr>
              <a:t>930.6K of 1.16M</a:t>
            </a:r>
            <a:endParaRPr lang="en-US" sz="1000" dirty="0"/>
          </a:p>
        </p:txBody>
      </p:sp>
      <p:sp>
        <p:nvSpPr>
          <p:cNvPr id="22" name="Shape 20"/>
          <p:cNvSpPr/>
          <p:nvPr/>
        </p:nvSpPr>
        <p:spPr>
          <a:xfrm>
            <a:off x="530352" y="2761488"/>
            <a:ext cx="4233672" cy="2743200"/>
          </a:xfrm>
          <a:prstGeom prst="roundRect">
            <a:avLst>
              <a:gd name="adj" fmla="val 3000"/>
            </a:avLst>
          </a:prstGeom>
          <a:solidFill>
            <a:srgbClr val="F1F4F9"/>
          </a:solidFill>
          <a:ln/>
        </p:spPr>
      </p:sp>
      <p:sp>
        <p:nvSpPr>
          <p:cNvPr id="23" name="Text 21"/>
          <p:cNvSpPr/>
          <p:nvPr/>
        </p:nvSpPr>
        <p:spPr>
          <a:xfrm>
            <a:off x="749808" y="2907792"/>
            <a:ext cx="3794760" cy="256032"/>
          </a:xfrm>
          <a:prstGeom prst="rect">
            <a:avLst/>
          </a:prstGeom>
          <a:noFill/>
          <a:ln/>
        </p:spPr>
        <p:txBody>
          <a:bodyPr wrap="square" lIns="0" tIns="0" rIns="0" bIns="0" rtlCol="0" anchor="ctr"/>
          <a:lstStyle/>
          <a:p>
            <a:pPr indent="0" marL="0">
              <a:buNone/>
            </a:pPr>
            <a:r>
              <a:rPr lang="en-US" sz="1300" b="1" dirty="0">
                <a:solidFill>
                  <a:srgbClr val="16233D"/>
                </a:solidFill>
                <a:latin typeface="Cambria" pitchFamily="34" charset="0"/>
                <a:ea typeface="Cambria" pitchFamily="34" charset="-122"/>
                <a:cs typeface="Cambria" pitchFamily="34" charset="-120"/>
              </a:rPr>
              <a:t>How the estimate builds</a:t>
            </a:r>
            <a:endParaRPr lang="en-US" sz="1300" dirty="0"/>
          </a:p>
        </p:txBody>
      </p:sp>
      <p:sp>
        <p:nvSpPr>
          <p:cNvPr id="24" name="Text 22"/>
          <p:cNvSpPr/>
          <p:nvPr/>
        </p:nvSpPr>
        <p:spPr>
          <a:xfrm>
            <a:off x="749808" y="3163824"/>
            <a:ext cx="3794760" cy="219456"/>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1.16M buyers, by source and device</a:t>
            </a:r>
            <a:endParaRPr lang="en-US" sz="950" dirty="0"/>
          </a:p>
        </p:txBody>
      </p:sp>
      <p:sp>
        <p:nvSpPr>
          <p:cNvPr id="25" name="Text 23"/>
          <p:cNvSpPr/>
          <p:nvPr/>
        </p:nvSpPr>
        <p:spPr>
          <a:xfrm>
            <a:off x="749808" y="3511296"/>
            <a:ext cx="132588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Inflow → N</a:t>
            </a:r>
            <a:endParaRPr lang="en-US" sz="1100" dirty="0"/>
          </a:p>
        </p:txBody>
      </p:sp>
      <p:sp>
        <p:nvSpPr>
          <p:cNvPr id="26" name="Shape 24"/>
          <p:cNvSpPr/>
          <p:nvPr/>
        </p:nvSpPr>
        <p:spPr>
          <a:xfrm>
            <a:off x="2185416" y="3566160"/>
            <a:ext cx="832104" cy="173736"/>
          </a:xfrm>
          <a:prstGeom prst="roundRect">
            <a:avLst>
              <a:gd name="adj" fmla="val 21053"/>
            </a:avLst>
          </a:prstGeom>
          <a:solidFill>
            <a:srgbClr val="165A73"/>
          </a:solidFill>
          <a:ln/>
        </p:spPr>
      </p:sp>
      <p:sp>
        <p:nvSpPr>
          <p:cNvPr id="27" name="Text 25"/>
          <p:cNvSpPr/>
          <p:nvPr/>
        </p:nvSpPr>
        <p:spPr>
          <a:xfrm>
            <a:off x="3127248" y="3511296"/>
            <a:ext cx="141732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521.7K · 44.8%</a:t>
            </a:r>
            <a:endParaRPr lang="en-US" sz="1100" dirty="0"/>
          </a:p>
        </p:txBody>
      </p:sp>
      <p:sp>
        <p:nvSpPr>
          <p:cNvPr id="28" name="Text 26"/>
          <p:cNvSpPr/>
          <p:nvPr/>
        </p:nvSpPr>
        <p:spPr>
          <a:xfrm>
            <a:off x="749808" y="3913632"/>
            <a:ext cx="132588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Inflow → N-1</a:t>
            </a:r>
            <a:endParaRPr lang="en-US" sz="1100" dirty="0"/>
          </a:p>
        </p:txBody>
      </p:sp>
      <p:sp>
        <p:nvSpPr>
          <p:cNvPr id="29" name="Shape 27"/>
          <p:cNvSpPr/>
          <p:nvPr/>
        </p:nvSpPr>
        <p:spPr>
          <a:xfrm>
            <a:off x="2185416" y="3968496"/>
            <a:ext cx="652291" cy="173736"/>
          </a:xfrm>
          <a:prstGeom prst="roundRect">
            <a:avLst>
              <a:gd name="adj" fmla="val 21053"/>
            </a:avLst>
          </a:prstGeom>
          <a:solidFill>
            <a:srgbClr val="1E8E86"/>
          </a:solidFill>
          <a:ln/>
        </p:spPr>
      </p:sp>
      <p:sp>
        <p:nvSpPr>
          <p:cNvPr id="30" name="Text 28"/>
          <p:cNvSpPr/>
          <p:nvPr/>
        </p:nvSpPr>
        <p:spPr>
          <a:xfrm>
            <a:off x="3127248" y="3913632"/>
            <a:ext cx="141732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408.9K · 35.1%</a:t>
            </a:r>
            <a:endParaRPr lang="en-US" sz="1100" dirty="0"/>
          </a:p>
        </p:txBody>
      </p:sp>
      <p:sp>
        <p:nvSpPr>
          <p:cNvPr id="31" name="Text 29"/>
          <p:cNvSpPr/>
          <p:nvPr/>
        </p:nvSpPr>
        <p:spPr>
          <a:xfrm>
            <a:off x="749808" y="4315968"/>
            <a:ext cx="132588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Existing → N</a:t>
            </a:r>
            <a:endParaRPr lang="en-US" sz="1100" dirty="0"/>
          </a:p>
        </p:txBody>
      </p:sp>
      <p:sp>
        <p:nvSpPr>
          <p:cNvPr id="32" name="Shape 30"/>
          <p:cNvSpPr/>
          <p:nvPr/>
        </p:nvSpPr>
        <p:spPr>
          <a:xfrm>
            <a:off x="2185416" y="4370832"/>
            <a:ext cx="297935" cy="173736"/>
          </a:xfrm>
          <a:prstGeom prst="roundRect">
            <a:avLst>
              <a:gd name="adj" fmla="val 21053"/>
            </a:avLst>
          </a:prstGeom>
          <a:solidFill>
            <a:srgbClr val="3FB89F"/>
          </a:solidFill>
          <a:ln/>
        </p:spPr>
      </p:sp>
      <p:sp>
        <p:nvSpPr>
          <p:cNvPr id="33" name="Text 31"/>
          <p:cNvSpPr/>
          <p:nvPr/>
        </p:nvSpPr>
        <p:spPr>
          <a:xfrm>
            <a:off x="3127248" y="4315968"/>
            <a:ext cx="141732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186.8K · 16.0%</a:t>
            </a:r>
            <a:endParaRPr lang="en-US" sz="1100" dirty="0"/>
          </a:p>
        </p:txBody>
      </p:sp>
      <p:sp>
        <p:nvSpPr>
          <p:cNvPr id="34" name="Text 32"/>
          <p:cNvSpPr/>
          <p:nvPr/>
        </p:nvSpPr>
        <p:spPr>
          <a:xfrm>
            <a:off x="749808" y="4718304"/>
            <a:ext cx="132588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Existing → N-1</a:t>
            </a:r>
            <a:endParaRPr lang="en-US" sz="1100" dirty="0"/>
          </a:p>
        </p:txBody>
      </p:sp>
      <p:sp>
        <p:nvSpPr>
          <p:cNvPr id="35" name="Shape 33"/>
          <p:cNvSpPr/>
          <p:nvPr/>
        </p:nvSpPr>
        <p:spPr>
          <a:xfrm>
            <a:off x="2185416" y="4773168"/>
            <a:ext cx="74782" cy="173736"/>
          </a:xfrm>
          <a:prstGeom prst="roundRect">
            <a:avLst>
              <a:gd name="adj" fmla="val 48910"/>
            </a:avLst>
          </a:prstGeom>
          <a:solidFill>
            <a:srgbClr val="8DA0B8"/>
          </a:solidFill>
          <a:ln/>
        </p:spPr>
      </p:sp>
      <p:sp>
        <p:nvSpPr>
          <p:cNvPr id="36" name="Text 34"/>
          <p:cNvSpPr/>
          <p:nvPr/>
        </p:nvSpPr>
        <p:spPr>
          <a:xfrm>
            <a:off x="3127248" y="4718304"/>
            <a:ext cx="141732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46.9K · 4.0%</a:t>
            </a:r>
            <a:endParaRPr lang="en-US" sz="1100" dirty="0"/>
          </a:p>
        </p:txBody>
      </p:sp>
      <p:sp>
        <p:nvSpPr>
          <p:cNvPr id="37" name="Text 35"/>
          <p:cNvSpPr/>
          <p:nvPr/>
        </p:nvSpPr>
        <p:spPr>
          <a:xfrm>
            <a:off x="749808" y="5120640"/>
            <a:ext cx="3794760" cy="310896"/>
          </a:xfrm>
          <a:prstGeom prst="rect">
            <a:avLst/>
          </a:prstGeom>
          <a:noFill/>
          <a:ln/>
        </p:spPr>
        <p:txBody>
          <a:bodyPr wrap="square" lIns="0" tIns="0" rIns="0" bIns="0" rtlCol="0" anchor="ctr"/>
          <a:lstStyle/>
          <a:p>
            <a:pPr indent="0" marL="0">
              <a:buNone/>
            </a:pPr>
            <a:r>
              <a:rPr lang="en-US" sz="900" i="1" dirty="0">
                <a:solidFill>
                  <a:srgbClr val="6B7A90"/>
                </a:solidFill>
                <a:latin typeface="Graphik TH" pitchFamily="34" charset="0"/>
                <a:ea typeface="Graphik TH" pitchFamily="34" charset="-122"/>
                <a:cs typeface="Graphik TH" pitchFamily="34" charset="-120"/>
              </a:rPr>
              <a:t>Inflow applies the observed 4.68% acquisition rate to the 19.87M non-flagship base; replacement applies the observed upgrade rates to today's 1.55M flagship holders.</a:t>
            </a:r>
            <a:endParaRPr lang="en-US" sz="900" dirty="0"/>
          </a:p>
        </p:txBody>
      </p:sp>
      <p:sp>
        <p:nvSpPr>
          <p:cNvPr id="38" name="Shape 36"/>
          <p:cNvSpPr/>
          <p:nvPr/>
        </p:nvSpPr>
        <p:spPr>
          <a:xfrm>
            <a:off x="4992624" y="2761488"/>
            <a:ext cx="3291840" cy="2743200"/>
          </a:xfrm>
          <a:prstGeom prst="roundRect">
            <a:avLst>
              <a:gd name="adj" fmla="val 3000"/>
            </a:avLst>
          </a:prstGeom>
          <a:solidFill>
            <a:srgbClr val="F1F4F9"/>
          </a:solidFill>
          <a:ln/>
        </p:spPr>
      </p:sp>
      <p:sp>
        <p:nvSpPr>
          <p:cNvPr id="39" name="Text 37"/>
          <p:cNvSpPr/>
          <p:nvPr/>
        </p:nvSpPr>
        <p:spPr>
          <a:xfrm>
            <a:off x="5212080" y="2907792"/>
            <a:ext cx="2852928" cy="256032"/>
          </a:xfrm>
          <a:prstGeom prst="rect">
            <a:avLst/>
          </a:prstGeom>
          <a:noFill/>
          <a:ln/>
        </p:spPr>
        <p:txBody>
          <a:bodyPr wrap="square" lIns="0" tIns="0" rIns="0" bIns="0" rtlCol="0" anchor="ctr"/>
          <a:lstStyle/>
          <a:p>
            <a:pPr indent="0" marL="0">
              <a:buNone/>
            </a:pPr>
            <a:r>
              <a:rPr lang="en-US" sz="1300" b="1" dirty="0">
                <a:solidFill>
                  <a:srgbClr val="16233D"/>
                </a:solidFill>
                <a:latin typeface="Cambria" pitchFamily="34" charset="0"/>
                <a:ea typeface="Cambria" pitchFamily="34" charset="-122"/>
                <a:cs typeface="Cambria" pitchFamily="34" charset="-120"/>
              </a:rPr>
              <a:t>Estimated buyers by risk band</a:t>
            </a:r>
            <a:endParaRPr lang="en-US" sz="1300" dirty="0"/>
          </a:p>
        </p:txBody>
      </p:sp>
      <p:sp>
        <p:nvSpPr>
          <p:cNvPr id="40" name="Text 38"/>
          <p:cNvSpPr/>
          <p:nvPr/>
        </p:nvSpPr>
        <p:spPr>
          <a:xfrm>
            <a:off x="5212080" y="3163824"/>
            <a:ext cx="2852928" cy="219456"/>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Using band-specific acquisition rates</a:t>
            </a:r>
            <a:endParaRPr lang="en-US" sz="950" dirty="0"/>
          </a:p>
        </p:txBody>
      </p:sp>
      <p:sp>
        <p:nvSpPr>
          <p:cNvPr id="41" name="Text 39"/>
          <p:cNvSpPr/>
          <p:nvPr/>
        </p:nvSpPr>
        <p:spPr>
          <a:xfrm>
            <a:off x="5212080" y="3511296"/>
            <a:ext cx="86868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Low</a:t>
            </a:r>
            <a:endParaRPr lang="en-US" sz="1100" dirty="0"/>
          </a:p>
        </p:txBody>
      </p:sp>
      <p:sp>
        <p:nvSpPr>
          <p:cNvPr id="42" name="Shape 40"/>
          <p:cNvSpPr/>
          <p:nvPr/>
        </p:nvSpPr>
        <p:spPr>
          <a:xfrm>
            <a:off x="6190488" y="3566160"/>
            <a:ext cx="896112" cy="173736"/>
          </a:xfrm>
          <a:prstGeom prst="roundRect">
            <a:avLst>
              <a:gd name="adj" fmla="val 21053"/>
            </a:avLst>
          </a:prstGeom>
          <a:solidFill>
            <a:srgbClr val="3FB89F"/>
          </a:solidFill>
          <a:ln/>
        </p:spPr>
      </p:sp>
      <p:sp>
        <p:nvSpPr>
          <p:cNvPr id="43" name="Text 41"/>
          <p:cNvSpPr/>
          <p:nvPr/>
        </p:nvSpPr>
        <p:spPr>
          <a:xfrm>
            <a:off x="7196328" y="3511296"/>
            <a:ext cx="86868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635.8K</a:t>
            </a:r>
            <a:endParaRPr lang="en-US" sz="1100" dirty="0"/>
          </a:p>
        </p:txBody>
      </p:sp>
      <p:sp>
        <p:nvSpPr>
          <p:cNvPr id="44" name="Text 42"/>
          <p:cNvSpPr/>
          <p:nvPr/>
        </p:nvSpPr>
        <p:spPr>
          <a:xfrm>
            <a:off x="5212080" y="3913632"/>
            <a:ext cx="86868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High</a:t>
            </a:r>
            <a:endParaRPr lang="en-US" sz="1100" dirty="0"/>
          </a:p>
        </p:txBody>
      </p:sp>
      <p:sp>
        <p:nvSpPr>
          <p:cNvPr id="45" name="Shape 43"/>
          <p:cNvSpPr/>
          <p:nvPr/>
        </p:nvSpPr>
        <p:spPr>
          <a:xfrm>
            <a:off x="6190488" y="3968496"/>
            <a:ext cx="375062" cy="173736"/>
          </a:xfrm>
          <a:prstGeom prst="roundRect">
            <a:avLst>
              <a:gd name="adj" fmla="val 21053"/>
            </a:avLst>
          </a:prstGeom>
          <a:solidFill>
            <a:srgbClr val="165A73"/>
          </a:solidFill>
          <a:ln/>
        </p:spPr>
      </p:sp>
      <p:sp>
        <p:nvSpPr>
          <p:cNvPr id="46" name="Text 44"/>
          <p:cNvSpPr/>
          <p:nvPr/>
        </p:nvSpPr>
        <p:spPr>
          <a:xfrm>
            <a:off x="7196328" y="3913632"/>
            <a:ext cx="86868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266.1K</a:t>
            </a:r>
            <a:endParaRPr lang="en-US" sz="1100" dirty="0"/>
          </a:p>
        </p:txBody>
      </p:sp>
      <p:sp>
        <p:nvSpPr>
          <p:cNvPr id="47" name="Text 45"/>
          <p:cNvSpPr/>
          <p:nvPr/>
        </p:nvSpPr>
        <p:spPr>
          <a:xfrm>
            <a:off x="5212080" y="4315968"/>
            <a:ext cx="86868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Mid</a:t>
            </a:r>
            <a:endParaRPr lang="en-US" sz="1100" dirty="0"/>
          </a:p>
        </p:txBody>
      </p:sp>
      <p:sp>
        <p:nvSpPr>
          <p:cNvPr id="48" name="Shape 46"/>
          <p:cNvSpPr/>
          <p:nvPr/>
        </p:nvSpPr>
        <p:spPr>
          <a:xfrm>
            <a:off x="6190488" y="4370832"/>
            <a:ext cx="360310" cy="173736"/>
          </a:xfrm>
          <a:prstGeom prst="roundRect">
            <a:avLst>
              <a:gd name="adj" fmla="val 21053"/>
            </a:avLst>
          </a:prstGeom>
          <a:solidFill>
            <a:srgbClr val="1E8E86"/>
          </a:solidFill>
          <a:ln/>
        </p:spPr>
      </p:sp>
      <p:sp>
        <p:nvSpPr>
          <p:cNvPr id="49" name="Text 47"/>
          <p:cNvSpPr/>
          <p:nvPr/>
        </p:nvSpPr>
        <p:spPr>
          <a:xfrm>
            <a:off x="7196328" y="4315968"/>
            <a:ext cx="86868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255.6K</a:t>
            </a:r>
            <a:endParaRPr lang="en-US" sz="1100" dirty="0"/>
          </a:p>
        </p:txBody>
      </p:sp>
      <p:sp>
        <p:nvSpPr>
          <p:cNvPr id="50" name="Text 48"/>
          <p:cNvSpPr/>
          <p:nvPr/>
        </p:nvSpPr>
        <p:spPr>
          <a:xfrm>
            <a:off x="5212080" y="4718304"/>
            <a:ext cx="86868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Null</a:t>
            </a:r>
            <a:endParaRPr lang="en-US" sz="1100" dirty="0"/>
          </a:p>
        </p:txBody>
      </p:sp>
      <p:sp>
        <p:nvSpPr>
          <p:cNvPr id="51" name="Shape 49"/>
          <p:cNvSpPr/>
          <p:nvPr/>
        </p:nvSpPr>
        <p:spPr>
          <a:xfrm>
            <a:off x="6190488" y="4773168"/>
            <a:ext cx="45720" cy="173736"/>
          </a:xfrm>
          <a:prstGeom prst="roundRect">
            <a:avLst>
              <a:gd name="adj" fmla="val 80000"/>
            </a:avLst>
          </a:prstGeom>
          <a:solidFill>
            <a:srgbClr val="8DA0B8"/>
          </a:solidFill>
          <a:ln/>
        </p:spPr>
      </p:sp>
      <p:sp>
        <p:nvSpPr>
          <p:cNvPr id="52" name="Text 50"/>
          <p:cNvSpPr/>
          <p:nvPr/>
        </p:nvSpPr>
        <p:spPr>
          <a:xfrm>
            <a:off x="7196328" y="4718304"/>
            <a:ext cx="86868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6.6K</a:t>
            </a:r>
            <a:endParaRPr lang="en-US" sz="1100" dirty="0"/>
          </a:p>
        </p:txBody>
      </p:sp>
      <p:sp>
        <p:nvSpPr>
          <p:cNvPr id="53" name="Text 51"/>
          <p:cNvSpPr/>
          <p:nvPr/>
        </p:nvSpPr>
        <p:spPr>
          <a:xfrm>
            <a:off x="5212080" y="5120640"/>
            <a:ext cx="2852928" cy="310896"/>
          </a:xfrm>
          <a:prstGeom prst="rect">
            <a:avLst/>
          </a:prstGeom>
          <a:noFill/>
          <a:ln/>
        </p:spPr>
        <p:txBody>
          <a:bodyPr wrap="square" lIns="0" tIns="0" rIns="0" bIns="0" rtlCol="0" anchor="ctr"/>
          <a:lstStyle/>
          <a:p>
            <a:pPr indent="0" marL="0">
              <a:buNone/>
            </a:pPr>
            <a:r>
              <a:rPr lang="en-US" sz="900" i="1" dirty="0">
                <a:solidFill>
                  <a:srgbClr val="6B7A90"/>
                </a:solidFill>
                <a:latin typeface="Graphik TH" pitchFamily="34" charset="0"/>
                <a:ea typeface="Graphik TH" pitchFamily="34" charset="-122"/>
                <a:cs typeface="Graphik TH" pitchFamily="34" charset="-120"/>
              </a:rPr>
              <a:t>Low and Mid risk together are 891.5K — 76.6% of expected buyers.</a:t>
            </a:r>
            <a:endParaRPr lang="en-US" sz="900" dirty="0"/>
          </a:p>
        </p:txBody>
      </p:sp>
      <p:sp>
        <p:nvSpPr>
          <p:cNvPr id="54" name="Shape 52"/>
          <p:cNvSpPr/>
          <p:nvPr/>
        </p:nvSpPr>
        <p:spPr>
          <a:xfrm>
            <a:off x="8513064" y="2761488"/>
            <a:ext cx="3291840" cy="2743200"/>
          </a:xfrm>
          <a:prstGeom prst="roundRect">
            <a:avLst>
              <a:gd name="adj" fmla="val 3000"/>
            </a:avLst>
          </a:prstGeom>
          <a:solidFill>
            <a:srgbClr val="F1F4F9"/>
          </a:solidFill>
          <a:ln/>
        </p:spPr>
      </p:sp>
      <p:sp>
        <p:nvSpPr>
          <p:cNvPr id="55" name="Text 53"/>
          <p:cNvSpPr/>
          <p:nvPr/>
        </p:nvSpPr>
        <p:spPr>
          <a:xfrm>
            <a:off x="8732520" y="2907792"/>
            <a:ext cx="2852928" cy="256032"/>
          </a:xfrm>
          <a:prstGeom prst="rect">
            <a:avLst/>
          </a:prstGeom>
          <a:noFill/>
          <a:ln/>
        </p:spPr>
        <p:txBody>
          <a:bodyPr wrap="square" lIns="0" tIns="0" rIns="0" bIns="0" rtlCol="0" anchor="ctr"/>
          <a:lstStyle/>
          <a:p>
            <a:pPr indent="0" marL="0">
              <a:buNone/>
            </a:pPr>
            <a:r>
              <a:rPr lang="en-US" sz="1300" b="1" dirty="0">
                <a:solidFill>
                  <a:srgbClr val="16233D"/>
                </a:solidFill>
                <a:latin typeface="Cambria" pitchFamily="34" charset="0"/>
                <a:ea typeface="Cambria" pitchFamily="34" charset="-122"/>
                <a:cs typeface="Cambria" pitchFamily="34" charset="-120"/>
              </a:rPr>
              <a:t>Sensitivity</a:t>
            </a:r>
            <a:endParaRPr lang="en-US" sz="1300" dirty="0"/>
          </a:p>
        </p:txBody>
      </p:sp>
      <p:sp>
        <p:nvSpPr>
          <p:cNvPr id="56" name="Text 54"/>
          <p:cNvSpPr/>
          <p:nvPr/>
        </p:nvSpPr>
        <p:spPr>
          <a:xfrm>
            <a:off x="8732520" y="3163824"/>
            <a:ext cx="2852928" cy="219456"/>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Total buyers under three rate assumptions</a:t>
            </a:r>
            <a:endParaRPr lang="en-US" sz="950" dirty="0"/>
          </a:p>
        </p:txBody>
      </p:sp>
      <p:sp>
        <p:nvSpPr>
          <p:cNvPr id="57" name="Text 55"/>
          <p:cNvSpPr/>
          <p:nvPr/>
        </p:nvSpPr>
        <p:spPr>
          <a:xfrm>
            <a:off x="8732520" y="3511296"/>
            <a:ext cx="114300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Optimistic</a:t>
            </a:r>
            <a:endParaRPr lang="en-US" sz="1100" dirty="0"/>
          </a:p>
        </p:txBody>
      </p:sp>
      <p:sp>
        <p:nvSpPr>
          <p:cNvPr id="58" name="Shape 56"/>
          <p:cNvSpPr/>
          <p:nvPr/>
        </p:nvSpPr>
        <p:spPr>
          <a:xfrm>
            <a:off x="9985248" y="3566160"/>
            <a:ext cx="621792" cy="173736"/>
          </a:xfrm>
          <a:prstGeom prst="roundRect">
            <a:avLst>
              <a:gd name="adj" fmla="val 21053"/>
            </a:avLst>
          </a:prstGeom>
          <a:solidFill>
            <a:srgbClr val="165A73"/>
          </a:solidFill>
          <a:ln/>
        </p:spPr>
      </p:sp>
      <p:sp>
        <p:nvSpPr>
          <p:cNvPr id="59" name="Text 57"/>
          <p:cNvSpPr/>
          <p:nvPr/>
        </p:nvSpPr>
        <p:spPr>
          <a:xfrm>
            <a:off x="10716768" y="3511296"/>
            <a:ext cx="86868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1.30M</a:t>
            </a:r>
            <a:endParaRPr lang="en-US" sz="1100" dirty="0"/>
          </a:p>
        </p:txBody>
      </p:sp>
      <p:sp>
        <p:nvSpPr>
          <p:cNvPr id="60" name="Text 58"/>
          <p:cNvSpPr/>
          <p:nvPr/>
        </p:nvSpPr>
        <p:spPr>
          <a:xfrm>
            <a:off x="8732520" y="3913632"/>
            <a:ext cx="114300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Base</a:t>
            </a:r>
            <a:endParaRPr lang="en-US" sz="1100" dirty="0"/>
          </a:p>
        </p:txBody>
      </p:sp>
      <p:sp>
        <p:nvSpPr>
          <p:cNvPr id="61" name="Shape 59"/>
          <p:cNvSpPr/>
          <p:nvPr/>
        </p:nvSpPr>
        <p:spPr>
          <a:xfrm>
            <a:off x="9985248" y="3968496"/>
            <a:ext cx="558683" cy="173736"/>
          </a:xfrm>
          <a:prstGeom prst="roundRect">
            <a:avLst>
              <a:gd name="adj" fmla="val 21053"/>
            </a:avLst>
          </a:prstGeom>
          <a:solidFill>
            <a:srgbClr val="1E8E86"/>
          </a:solidFill>
          <a:ln/>
        </p:spPr>
      </p:sp>
      <p:sp>
        <p:nvSpPr>
          <p:cNvPr id="62" name="Text 60"/>
          <p:cNvSpPr/>
          <p:nvPr/>
        </p:nvSpPr>
        <p:spPr>
          <a:xfrm>
            <a:off x="10716768" y="3913632"/>
            <a:ext cx="86868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1.16M</a:t>
            </a:r>
            <a:endParaRPr lang="en-US" sz="1100" dirty="0"/>
          </a:p>
        </p:txBody>
      </p:sp>
      <p:sp>
        <p:nvSpPr>
          <p:cNvPr id="63" name="Text 61"/>
          <p:cNvSpPr/>
          <p:nvPr/>
        </p:nvSpPr>
        <p:spPr>
          <a:xfrm>
            <a:off x="8732520" y="4315968"/>
            <a:ext cx="1143000" cy="274320"/>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Conservative</a:t>
            </a:r>
            <a:endParaRPr lang="en-US" sz="1100" dirty="0"/>
          </a:p>
        </p:txBody>
      </p:sp>
      <p:sp>
        <p:nvSpPr>
          <p:cNvPr id="64" name="Shape 62"/>
          <p:cNvSpPr/>
          <p:nvPr/>
        </p:nvSpPr>
        <p:spPr>
          <a:xfrm>
            <a:off x="9985248" y="4370832"/>
            <a:ext cx="496798" cy="173736"/>
          </a:xfrm>
          <a:prstGeom prst="roundRect">
            <a:avLst>
              <a:gd name="adj" fmla="val 21053"/>
            </a:avLst>
          </a:prstGeom>
          <a:solidFill>
            <a:srgbClr val="3FB89F"/>
          </a:solidFill>
          <a:ln/>
        </p:spPr>
      </p:sp>
      <p:sp>
        <p:nvSpPr>
          <p:cNvPr id="65" name="Text 63"/>
          <p:cNvSpPr/>
          <p:nvPr/>
        </p:nvSpPr>
        <p:spPr>
          <a:xfrm>
            <a:off x="10716768" y="4315968"/>
            <a:ext cx="868680" cy="274320"/>
          </a:xfrm>
          <a:prstGeom prst="rect">
            <a:avLst/>
          </a:prstGeom>
          <a:noFill/>
          <a:ln/>
        </p:spPr>
        <p:txBody>
          <a:bodyPr wrap="square" lIns="0" tIns="0" rIns="0" bIns="0" rtlCol="0" anchor="ctr"/>
          <a:lstStyle/>
          <a:p>
            <a:pPr algn="r" indent="0" marL="0">
              <a:buNone/>
            </a:pPr>
            <a:r>
              <a:rPr lang="en-US" sz="1100" b="1" dirty="0">
                <a:solidFill>
                  <a:srgbClr val="16233D"/>
                </a:solidFill>
                <a:latin typeface="Graphik TH" pitchFamily="34" charset="0"/>
                <a:ea typeface="Graphik TH" pitchFamily="34" charset="-122"/>
                <a:cs typeface="Graphik TH" pitchFamily="34" charset="-120"/>
              </a:rPr>
              <a:t>1.04M</a:t>
            </a:r>
            <a:endParaRPr lang="en-US" sz="1100" dirty="0"/>
          </a:p>
        </p:txBody>
      </p:sp>
      <p:sp>
        <p:nvSpPr>
          <p:cNvPr id="66" name="Text 64"/>
          <p:cNvSpPr/>
          <p:nvPr/>
        </p:nvSpPr>
        <p:spPr>
          <a:xfrm>
            <a:off x="8732520" y="5120640"/>
            <a:ext cx="2852928" cy="310896"/>
          </a:xfrm>
          <a:prstGeom prst="rect">
            <a:avLst/>
          </a:prstGeom>
          <a:noFill/>
          <a:ln/>
        </p:spPr>
        <p:txBody>
          <a:bodyPr wrap="square" lIns="0" tIns="0" rIns="0" bIns="0" rtlCol="0" anchor="ctr"/>
          <a:lstStyle/>
          <a:p>
            <a:pPr indent="0" marL="0">
              <a:buNone/>
            </a:pPr>
            <a:r>
              <a:rPr lang="en-US" sz="900" i="1" dirty="0">
                <a:solidFill>
                  <a:srgbClr val="6B7A90"/>
                </a:solidFill>
                <a:latin typeface="Graphik TH" pitchFamily="34" charset="0"/>
                <a:ea typeface="Graphik TH" pitchFamily="34" charset="-122"/>
                <a:cs typeface="Graphik TH" pitchFamily="34" charset="-120"/>
              </a:rPr>
              <a:t>Conservative: 13% upgrade of the flagship base, 4.2% inflow. Optimistic: 17% and 5.2%.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AIS Mobile - flagship base and upgrades</dc:title>
  <dc:subject>PptxGenJS Presentation</dc:subject>
  <dc:creator>AIS Mobile</dc:creator>
  <cp:lastModifiedBy>AIS Mobile</cp:lastModifiedBy>
  <cp:revision>1</cp:revision>
  <dcterms:created xsi:type="dcterms:W3CDTF">2026-08-21T03:37:52Z</dcterms:created>
  <dcterms:modified xsi:type="dcterms:W3CDTF">2026-08-21T03:37:52Z</dcterms:modified>
</cp:coreProperties>
</file>
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464459-ac19-f042-cd71-3b769549949d}">
          <p14:sldIdLst>
            <p14:sldId id="256"/>
            <p14:sldId id="257"/>
          </p14:sldIdLst>
        </p14:section>
        <p14:section name="Q1 Source of customers" id="{69aeae12-3585-b17e-accc-f9fae2bc4ee3}">
          <p14:sldIdLst>
            <p14:sldId id="258"/>
          </p14:sldIdLst>
        </p14:section>
        <p14:section name="Q2 Who our customers are" id="{b16d88c3-ba00-7b1e-09a1-2a442ab1ee3e}">
          <p14:sldIdLst>
            <p14:sldId id="259"/>
            <p14:sldId id="260"/>
            <p14:sldId id="261"/>
          </p14:sldIdLst>
        </p14:section>
        <p14:section name="Q3 What they come for" id="{700b0cf2-23ef-ae55-578c-3063c280966c}">
          <p14:sldIdLst>
            <p14:sldId id="262"/>
          </p14:sldIdLst>
        </p14:section>
        <p14:section name="Q4 Active vs inactive" id="{ef702b70-7be6-b83c-df09-8a82e465a4a8}">
          <p14:sldIdLst>
            <p14:sldId id="263"/>
            <p14:sldId id="264"/>
          </p14:sldIdLst>
        </p14:section>
        <p14:section name="Q5 Impact on KTB" id="{638ade67-dfaf-9a31-82f5-10a50e8c485e}">
          <p14:sldIdLst>
            <p14:sldId id="265"/>
            <p14:sldId id="266"/>
          </p14:sldIdLst>
        </p14:section>
        <p14:section name="What to do next" id="{a0649def-3d37-e3f2-3305-fbaa963d1b41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CLICX customers who are also with each partner (many are with more than one)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Also a KTB customer</c:v>
                  </c:pt>
                  <c:pt idx="1">
                    <c:v>Also an AIS customer</c:v>
                  </c:pt>
                  <c:pt idx="2">
                    <c:v>Also an OR customer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0.88</c:v>
                </c:pt>
                <c:pt idx="1">
                  <c:v>0.67</c:v>
                </c:pt>
                <c:pt idx="2">
                  <c:v>0.4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 type: all partner customers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all partner customers (49.5M)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joined)</c:v>
                  </c:pt>
                  <c:pt idx="1">
                    <c:v>One-bank users (4.1%)</c:v>
                  </c:pt>
                  <c:pt idx="2">
                    <c:v>Multi-bank users (2.4%)</c:v>
                  </c:pt>
                  <c:pt idx="3">
                    <c:v>Unknown (2.0%)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0.127</c:v>
                </c:pt>
                <c:pt idx="1">
                  <c:v>0.415</c:v>
                </c:pt>
                <c:pt idx="2">
                  <c:v>0.165</c:v>
                </c:pt>
                <c:pt idx="3">
                  <c:v>0.292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 (1.87M)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joined)</c:v>
                  </c:pt>
                  <c:pt idx="1">
                    <c:v>One-bank users (4.1%)</c:v>
                  </c:pt>
                  <c:pt idx="2">
                    <c:v>Multi-bank users (2.4%)</c:v>
                  </c:pt>
                  <c:pt idx="3">
                    <c:v>Unknown (2.0%)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0.285</c:v>
                </c:pt>
                <c:pt idx="1">
                  <c:v>0.455</c:v>
                </c:pt>
                <c:pt idx="2">
                  <c:v>0.104</c:v>
                </c:pt>
                <c:pt idx="3">
                  <c:v>0.156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Age: all partner customers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partner customers (age known)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0.051</c:v>
                </c:pt>
                <c:pt idx="1">
                  <c:v>0.08</c:v>
                </c:pt>
                <c:pt idx="2">
                  <c:v>0.093</c:v>
                </c:pt>
                <c:pt idx="3">
                  <c:v>0.1</c:v>
                </c:pt>
                <c:pt idx="4">
                  <c:v>0.094</c:v>
                </c:pt>
                <c:pt idx="5">
                  <c:v>0.095</c:v>
                </c:pt>
                <c:pt idx="6">
                  <c:v>0.097</c:v>
                </c:pt>
                <c:pt idx="7">
                  <c:v>0.093</c:v>
                </c:pt>
                <c:pt idx="8">
                  <c:v>0.088</c:v>
                </c:pt>
                <c:pt idx="9">
                  <c:v>0.209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0.007</c:v>
                </c:pt>
                <c:pt idx="1">
                  <c:v>0.087</c:v>
                </c:pt>
                <c:pt idx="2">
                  <c:v>0.179</c:v>
                </c:pt>
                <c:pt idx="3">
                  <c:v>0.206</c:v>
                </c:pt>
                <c:pt idx="4">
                  <c:v>0.176</c:v>
                </c:pt>
                <c:pt idx="5">
                  <c:v>0.144</c:v>
                </c:pt>
                <c:pt idx="6">
                  <c:v>0.101</c:v>
                </c:pt>
                <c:pt idx="7">
                  <c:v>0.056</c:v>
                </c:pt>
                <c:pt idx="8">
                  <c:v>0.027</c:v>
                </c:pt>
                <c:pt idx="9">
                  <c:v>0.017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partner customers in each job who joined CLICX (number of CLICX customers)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Joined CLICX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Freelancer (232K)</c:v>
                  </c:pt>
                  <c:pt idx="1">
                    <c:v>Rider / driver (66K)</c:v>
                  </c:pt>
                  <c:pt idx="2">
                    <c:v>Manual worker (401K)</c:v>
                  </c:pt>
                  <c:pt idx="3">
                    <c:v>Office worker (700K)</c:v>
                  </c:pt>
                  <c:pt idx="4">
                    <c:v>Shop owner (293K)</c:v>
                  </c:pt>
                  <c:pt idx="5">
                    <c:v>Unknown (129K)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0.22</c:v>
                </c:pt>
                <c:pt idx="2">
                  <c:v>0.16</c:v>
                </c:pt>
                <c:pt idx="3">
                  <c:v>0.09</c:v>
                </c:pt>
                <c:pt idx="4">
                  <c:v>0.09</c:v>
                </c:pt>
                <c:pt idx="5">
                  <c:v>0.004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Loans: applied vs got one, % of each job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Applied for a loan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Manual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0.84</c:v>
                </c:pt>
                <c:pt idx="2">
                  <c:v>0.92</c:v>
                </c:pt>
                <c:pt idx="3">
                  <c:v>0.88</c:v>
                </c:pt>
                <c:pt idx="4">
                  <c:v>0.91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Got a loan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Manual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0.11</c:v>
                </c:pt>
                <c:pt idx="1">
                  <c:v>0.07</c:v>
                </c:pt>
                <c:pt idx="2">
                  <c:v>0.07</c:v>
                </c:pt>
                <c:pt idx="3">
                  <c:v>0.06</c:v>
                </c:pt>
                <c:pt idx="4">
                  <c:v>0.05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Saving and paying, % of each job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Keeps money in CLICX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Manual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0.18</c:v>
                </c:pt>
                <c:pt idx="1">
                  <c:v>0.2</c:v>
                </c:pt>
                <c:pt idx="2">
                  <c:v>0.12</c:v>
                </c:pt>
                <c:pt idx="3">
                  <c:v>0.16</c:v>
                </c:pt>
                <c:pt idx="4">
                  <c:v>0.13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with CLICX in Sep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Manual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0.14</c:v>
                </c:pt>
                <c:pt idx="1">
                  <c:v>0.14</c:v>
                </c:pt>
                <c:pt idx="2">
                  <c:v>0.1</c:v>
                </c:pt>
                <c:pt idx="3">
                  <c:v>0.12</c:v>
                </c:pt>
                <c:pt idx="4">
                  <c:v>0.11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Job type of active vs inactive customers,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customers (358K)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Office worker (23% active)</c:v>
                  </c:pt>
                  <c:pt idx="1">
                    <c:v>Shop owner (23%)</c:v>
                  </c:pt>
                  <c:pt idx="2">
                    <c:v>Manual worker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Unknown job (8%)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0.458</c:v>
                </c:pt>
                <c:pt idx="1">
                  <c:v>0.19</c:v>
                </c:pt>
                <c:pt idx="2">
                  <c:v>0.179</c:v>
                </c:pt>
                <c:pt idx="3">
                  <c:v>0.117</c:v>
                </c:pt>
                <c:pt idx="4">
                  <c:v>0.028</c:v>
                </c:pt>
                <c:pt idx="5">
                  <c:v>0.028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Inactive customers (1.46M)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Office worker (23% active)</c:v>
                  </c:pt>
                  <c:pt idx="1">
                    <c:v>Shop owner (23%)</c:v>
                  </c:pt>
                  <c:pt idx="2">
                    <c:v>Manual worker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Unknown job (8%)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0.367</c:v>
                </c:pt>
                <c:pt idx="1">
                  <c:v>0.154</c:v>
                </c:pt>
                <c:pt idx="2">
                  <c:v>0.231</c:v>
                </c:pt>
                <c:pt idx="3">
                  <c:v>0.13</c:v>
                </c:pt>
                <c:pt idx="4">
                  <c:v>0.038</c:v>
                </c:pt>
                <c:pt idx="5">
                  <c:v>0.081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active in CLICX, by type of AIS customer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in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Home internet only</c:v>
                  </c:pt>
                  <c:pt idx="1">
                    <c:v>Monthly phone bill</c:v>
                  </c:pt>
                  <c:pt idx="2">
                    <c:v>Prepaid, pay-per-use</c:v>
                  </c:pt>
                  <c:pt idx="3">
                    <c:v>Prepaid, little spend</c:v>
                  </c:pt>
                  <c:pt idx="4">
                    <c:v>Prepaid, regular top-up</c:v>
                  </c:pt>
                  <c:pt idx="5">
                    <c:v>Prepaid, occasional top-up</c:v>
                  </c:pt>
                  <c:pt idx="6">
                    <c:v>Stopped using AIS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0.41</c:v>
                </c:pt>
                <c:pt idx="1">
                  <c:v>0.28</c:v>
                </c:pt>
                <c:pt idx="2">
                  <c:v>0.22</c:v>
                </c:pt>
                <c:pt idx="3">
                  <c:v>0.21</c:v>
                </c:pt>
                <c:pt idx="4">
                  <c:v>0.19</c:v>
                </c:pt>
                <c:pt idx="5">
                  <c:v>0.15</c:v>
                </c:pt>
                <c:pt idx="6">
                  <c:v>0.09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who pay with CLICX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Pays with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Got a loan</c:v>
                  </c:pt>
                  <c:pt idx="1">
                    <c:v>Never turned down</c:v>
                  </c:pt>
                  <c:pt idx="2">
                    <c:v>Turned down for a loan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0.16</c:v>
                </c:pt>
                <c:pt idx="2">
                  <c:v>0.08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Customers we share with KTB, by how they use KTB,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shared customers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Loyal to KTB (at risk)</c:v>
                  </c:pt>
                  <c:pt idx="1">
                    <c:v>Uses KTB and other banks</c:v>
                  </c:pt>
                  <c:pt idx="2">
                    <c:v>Loyal to other banks (won back)</c:v>
                  </c:pt>
                  <c:pt idx="3">
                    <c:v>Stopped using KTB (brought back)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0.13</c:v>
                </c:pt>
                <c:pt idx="1">
                  <c:v>0.26</c:v>
                </c:pt>
                <c:pt idx="2">
                  <c:v>0.31</c:v>
                </c:pt>
                <c:pt idx="3">
                  <c:v>0.3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each KTB group who joined CLICX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Joined CLICX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Loyal to KTB</c:v>
                  </c:pt>
                  <c:pt idx="1">
                    <c:v>KTB and others</c:v>
                  </c:pt>
                  <c:pt idx="2">
                    <c:v>Other banks</c:v>
                  </c:pt>
                  <c:pt idx="3">
                    <c:v>Stopped KTB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0.033</c:v>
                </c:pt>
                <c:pt idx="1">
                  <c:v>0.074</c:v>
                </c:pt>
                <c:pt idx="2">
                  <c:v>0.079</c:v>
                </c:pt>
                <c:pt idx="3">
                  <c:v>0.03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lending that KTB's Jai-pump loan does not cover, thousand customers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Our borrowers with no KTB loan</c:v>
                  </c:pt>
                  <c:pt idx="1">
                    <c:v>Turned down by KTB, applied to us</c:v>
                  </c:pt>
                  <c:pt idx="2">
                    <c:v>Turned down by KTB, got our loan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156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7272" y="457200"/>
            <a:ext cx="1554480" cy="38953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E7C87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4472" y="182880"/>
            <a:ext cx="109728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CUSTOMER INSIGHTS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Who is CLICX really winning, and at whose expense?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Five simple questions about our first 1.8 million customers: where they come from, who they are, what they use, who keeps using us, and whether we take customers away from KTB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October 2026  |  CLICX data as of Sep 2026; AIS, KTB, OR data as of Apr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EXECUTIVE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have our first 1.8 million customers told us?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Our partners bring in almost everyone. Customers are mostly 25–39 and come to borrow. We mostly win people KTB had already lost, not KTB's loyal customers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 and OR customer data</a:t>
            </a:r>
            <a:endParaRPr lang="en-US" sz="1000" dirty="0"/>
          </a:p>
        </p:txBody>
      </p:sp>
      <p:graphicFrame>
        <p:nvGraphicFramePr>
          <p:cNvPr id="3" name="Summ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7455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291840"/>
                <a:gridCol w="1920240"/>
                <a:gridCol w="56509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answer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we say 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all CLICX customers come from our partners' customers?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all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 were already KTB, AIS or OR customers. Only 51K came from outside. But just 3.7% of partner customers have joined so far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our customers the people we planned for?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Tech-savvy people and freelancers sign up far more than others, as planned. People who use several banks and over-40s are hard to win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different customers come for different products?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reason, different use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everyone (84–92%) applies for a loan. Office workers get loans, shop owners keep savings, gig workers are mostly turned down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active customers different from inactive ones?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customers are mostly office workers and shop owners with monthly phone bills. Inactive ones are often manual workers or people turned down for a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we take customers or products away from KTB?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47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little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13% of shared customers are loyal to KTB. Most used other banks or had stopped using KTB. 116K of our borrowers have no KTB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Q1  |  WHERE CUSTOMERS COME FROM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all current CLICX customers come from our partners'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Almost all. 96% were already customers of KTB, AIS or OR, and only 51K came from outside. Yet only 3.7% of partner customers have joined, so there is plenty of room to grow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sp>
        <p:nvSpPr>
          <p:cNvPr id="6" name="Stat 96%"/>
          <p:cNvSpPr txBox="1"/>
          <p:nvPr/>
        </p:nvSpPr>
        <p:spPr>
          <a:xfrm>
            <a:off x="45720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96%</a:t>
            </a:r>
            <a:endParaRPr lang="en-US" sz="4000" dirty="0"/>
          </a:p>
        </p:txBody>
      </p:sp>
      <p:sp>
        <p:nvSpPr>
          <p:cNvPr id="7" name="Stat label 96%"/>
          <p:cNvSpPr txBox="1"/>
          <p:nvPr/>
        </p:nvSpPr>
        <p:spPr>
          <a:xfrm>
            <a:off x="45720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our 1.8M customers were already partner customers</a:t>
            </a:r>
            <a:endParaRPr lang="en-US" sz="1200" dirty="0"/>
          </a:p>
        </p:txBody>
      </p:sp>
      <p:sp>
        <p:nvSpPr>
          <p:cNvPr id="8" name="Stat 51K"/>
          <p:cNvSpPr txBox="1"/>
          <p:nvPr/>
        </p:nvSpPr>
        <p:spPr>
          <a:xfrm>
            <a:off x="457200" y="3520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51K</a:t>
            </a:r>
            <a:endParaRPr lang="en-US" sz="4000" dirty="0"/>
          </a:p>
        </p:txBody>
      </p:sp>
      <p:sp>
        <p:nvSpPr>
          <p:cNvPr id="9" name="Stat label 51K"/>
          <p:cNvSpPr txBox="1"/>
          <p:nvPr/>
        </p:nvSpPr>
        <p:spPr>
          <a:xfrm>
            <a:off x="457200" y="4178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customers came from outside our partners</a:t>
            </a:r>
            <a:endParaRPr lang="en-US" sz="1200" dirty="0"/>
          </a:p>
        </p:txBody>
      </p:sp>
      <p:sp>
        <p:nvSpPr>
          <p:cNvPr id="10" name="Stat 3.7%"/>
          <p:cNvSpPr txBox="1"/>
          <p:nvPr/>
        </p:nvSpPr>
        <p:spPr>
          <a:xfrm>
            <a:off x="45720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3.7%</a:t>
            </a:r>
            <a:endParaRPr lang="en-US" sz="4000" dirty="0"/>
          </a:p>
        </p:txBody>
      </p:sp>
      <p:sp>
        <p:nvSpPr>
          <p:cNvPr id="11" name="Stat label 3.7%"/>
          <p:cNvSpPr txBox="1"/>
          <p:nvPr/>
        </p:nvSpPr>
        <p:spPr>
          <a:xfrm>
            <a:off x="457200" y="55046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49M partner customers have joined CLICX</a:t>
            </a:r>
            <a:endParaRPr lang="en-US" sz="1200" dirty="0"/>
          </a:p>
        </p:txBody>
      </p:sp>
      <p:graphicFrame>
        <p:nvGraphicFramePr>
          <p:cNvPr id="12" name="Partner reach" descr=""/>
          <p:cNvGraphicFramePr/>
          <p:nvPr/>
        </p:nvGraphicFramePr>
        <p:xfrm>
          <a:off x="3017520" y="2148840"/>
          <a:ext cx="51206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5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7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is the front door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9 in 10 of our customers bank with KTB, mostly joining through the Paotang app</a:t>
            </a:r>
            <a:endParaRPr lang="en-US" sz="1400" dirty="0"/>
          </a:p>
        </p:txBody>
      </p:sp>
      <p:sp>
        <p:nvSpPr>
          <p:cNvPr id="18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0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Most know us through 2+ partners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That gives us more data to judge who to lend to and what else to offer</a:t>
            </a:r>
            <a:endParaRPr lang="en-US" sz="1400" dirty="0"/>
          </a:p>
        </p:txBody>
      </p:sp>
      <p:sp>
        <p:nvSpPr>
          <p:cNvPr id="21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AIS is the biggest opportunity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3.7% of AIS's ~32M customers have joined, against 7.4% for OR and 4.7% for KTB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the people who come to CLICX the ones we planned for?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Mostly yes. Tech-savvy people, our main target, join at twice the average rate, and one-bank users bring the most customers. People who use several banks are not yet won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graphicFrame>
        <p:nvGraphicFramePr>
          <p:cNvPr id="6" name="Persona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Tech-savvy: target hit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28% of our customers vs 13% of partner customers. Best of all at ages 30–34, where 13% have joined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One-bank users: the biggest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850K customers, almost half of CLICX. 577K are KTB customers who do not use AIS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Multi-bank users: not won yet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8.2M people, but only 2.4% have joined. People who already shop around need a stronger reason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our customers' ages match the people we can reach?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No. Most partner customers are over 40, but most of ours are 25–39 (56% of CLICX vs 29% of partner customers). Few people over 45 join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graphicFrame>
        <p:nvGraphicFramePr>
          <p:cNvPr id="6" name="Ag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25–39 is our sweet spot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1.05M customers. About 8–9% of people this age have joined, more than twice the average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Older customers are untouched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Over-40s are 58% of partner customers but 34% of ours. Only 0.3% of 9.4M over-60s have joined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Plenty left in our core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2.1M tech-savvy 25–39s and 5.4M one-bank 25–39s have not joined yet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we reaching people with real income but no payslip, as our strategy says?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Freelancers (40%) and riders/drivers (22%) join far more than anyone else, and 35% of our loans go to people banks usually turn away, above our 30% goal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2026); CLICX 5-Year Business Plan</a:t>
            </a:r>
            <a:endParaRPr lang="en-US" sz="1000" dirty="0"/>
          </a:p>
        </p:txBody>
      </p:sp>
      <p:graphicFrame>
        <p:nvGraphicFramePr>
          <p:cNvPr id="6" name="Occupation penetration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 love CLICX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 in 10 freelancers and 2 in 10 riders we can reach have joined. Proof that lending on phone and spending data works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Workers are the bulk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Office and manual workers are 1.1M customers, over 60% of CLICX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Shop owners: room to grow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293K have joined out of 3.3M. A route into small-business loans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Q3  |  WHAT THEY COME FOR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different types of customer come for the same product or different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same: almost everyone comes to borrow. But what they end up using differs. Office workers get loans, shop owners keep savings, and gig workers are mostly turned down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</a:t>
            </a:r>
            <a:endParaRPr lang="en-US" sz="1000" dirty="0"/>
          </a:p>
        </p:txBody>
      </p:sp>
      <p:graphicFrame>
        <p:nvGraphicFramePr>
          <p:cNvPr id="6" name="Loans applied vs got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aving and paying" descr=""/>
          <p:cNvGraphicFramePr/>
          <p:nvPr/>
        </p:nvGraphicFramePr>
        <p:xfrm>
          <a:off x="4389120" y="2148840"/>
          <a:ext cx="3749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Loans bring everyone in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1.52M customers (84%) have applied for a loan, whatever their job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5615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51586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Office workers use the most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Most likely to get a loan (11%) and to pay with CLICX (14%)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40740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36168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Shop owners save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Most likely to keep money with us (20%), a natural fit for business accounts and loans</a:t>
            </a:r>
            <a:endParaRPr lang="en-US" sz="1400" dirty="0"/>
          </a:p>
        </p:txBody>
      </p:sp>
      <p:sp>
        <p:nvSpPr>
          <p:cNvPr id="19" name="Badge 4"/>
          <p:cNvSpPr/>
          <p:nvPr/>
        </p:nvSpPr>
        <p:spPr>
          <a:xfrm>
            <a:off x="8503920" y="52532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4"/>
          <p:cNvSpPr txBox="1"/>
          <p:nvPr/>
        </p:nvSpPr>
        <p:spPr>
          <a:xfrm>
            <a:off x="8503920" y="5253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Insight 4"/>
          <p:cNvSpPr txBox="1"/>
          <p:nvPr/>
        </p:nvSpPr>
        <p:spPr>
          <a:xfrm>
            <a:off x="8915400" y="520750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 get turned down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 90% apply but only 5–7% get a loan. The problem is our approval rules, not demand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active CLICX customers a different type of person from inactive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Only 1 in 5 customers is active (has money in CLICX or a CLICX loan). Active customers are mostly office workers and shop owners; inactive ones are more often manual workers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</a:t>
            </a:r>
            <a:endParaRPr lang="en-US" sz="1000" dirty="0"/>
          </a:p>
        </p:txBody>
      </p:sp>
      <p:graphicFrame>
        <p:nvGraphicFramePr>
          <p:cNvPr id="6" name="Active vs inactiv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Office workers and shop owners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65% of active customers vs 52% of inactive ones. About 1 in 4 of them is active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Manual workers drift away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They apply for a loan, get turned down and stop using CLICX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Unknown job, unknown customer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8% are active. Most inactive customers never got a loan or put money 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else separates active customers from inactive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Two things: how they pay for their phone and whether they got a loan. Monthly-bill AIS customers are 3x more active than lapsed ones, and borrowers pay with CLICX 6x more often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AIS and CLICX matched customer data (Sep 2026)</a:t>
            </a:r>
            <a:endParaRPr lang="en-US" sz="1000" dirty="0"/>
          </a:p>
        </p:txBody>
      </p:sp>
      <p:graphicFrame>
        <p:nvGraphicFramePr>
          <p:cNvPr id="6" name="AIS segment active rate" descr=""/>
          <p:cNvGraphicFramePr/>
          <p:nvPr/>
        </p:nvGraphicFramePr>
        <p:xfrm>
          <a:off x="457200" y="2148840"/>
          <a:ext cx="4206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aying by product status" descr=""/>
          <p:cNvGraphicFramePr/>
          <p:nvPr/>
        </p:nvGraphicFramePr>
        <p:xfrm>
          <a:off x="4754880" y="2148840"/>
          <a:ext cx="3383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Steady phone payers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Home internet (41%) and monthly-bill (28%) customers are the most active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builds the habit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Half of borrowers pay with CLICX, against 8% of people we turned down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Saying 'no' loses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 in 3 customers have been turned down for a loan at some point, and most of them never use CLICX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IMPACT ON KTB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take customers away from KTB?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Very little. Of 1.6M customers we share with KTB, only 13% are loyal to KTB. 61% mainly used other banks or had stopped using KTB, so we are winning them back for the group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and CLICX matched customer data (Oct 2026)</a:t>
            </a:r>
            <a:endParaRPr lang="en-US" sz="1000" dirty="0"/>
          </a:p>
        </p:txBody>
      </p:sp>
      <p:graphicFrame>
        <p:nvGraphicFramePr>
          <p:cNvPr id="6" name="Overlap by KTB relationship" descr=""/>
          <p:cNvGraphicFramePr/>
          <p:nvPr/>
        </p:nvGraphicFramePr>
        <p:xfrm>
          <a:off x="457200" y="2148840"/>
          <a:ext cx="4572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enetration by KTB group" descr=""/>
          <p:cNvGraphicFramePr/>
          <p:nvPr/>
        </p:nvGraphicFramePr>
        <p:xfrm>
          <a:off x="5120640" y="2148840"/>
          <a:ext cx="30175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loyalists rarely switch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3.3% of them joined, less than half the rate of people who bank elsewhere (7.9%)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We win back other banks'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515K customers mainly banked elsewhere. Now they are back in the KTB group through CLICX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We wake up lapsed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488K had not used KTB for a year or more, then joined CLICX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IMPACT ON KTB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take products away from KTB?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 for loans: we mostly lend to people KTB's own app loan (Jai-pump) does not serve or turns down. We cannot check savings yet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and CLICX matched customer data (Oct 2026)</a:t>
            </a:r>
            <a:endParaRPr lang="en-US" sz="1000" dirty="0"/>
          </a:p>
        </p:txBody>
      </p:sp>
      <p:graphicFrame>
        <p:nvGraphicFramePr>
          <p:cNvPr id="6" name="Lending outside KTB" descr=""/>
          <p:cNvGraphicFramePr/>
          <p:nvPr/>
        </p:nvGraphicFramePr>
        <p:xfrm>
          <a:off x="457200" y="214884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eposit gap box"/>
          <p:cNvSpPr/>
          <p:nvPr/>
        </p:nvSpPr>
        <p:spPr>
          <a:xfrm>
            <a:off x="5577840" y="2240280"/>
            <a:ext cx="2560320" cy="3794760"/>
          </a:xfrm>
          <a:prstGeom prst="rect">
            <a:avLst/>
          </a:prstGeom>
          <a:solidFill>
            <a:schemeClr val="bg2"/>
          </a:solidFill>
          <a:ln w="12700">
            <a:solidFill>
              <a:srgbClr val="A2AAAD"/>
            </a:solidFill>
            <a:prstDash val="dash"/>
          </a:ln>
        </p:spPr>
      </p:sp>
      <p:sp>
        <p:nvSpPr>
          <p:cNvPr id="8" name="Deposit gap text"/>
          <p:cNvSpPr txBox="1"/>
          <p:nvPr/>
        </p:nvSpPr>
        <p:spPr>
          <a:xfrm>
            <a:off x="5760720" y="24231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SAVINGS: NOT KNOWN YET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 cannot yet see CLICX balances, so we cannot tell if money is moving out of KTB accounts.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Next step: once the data is in, compare shared customers' KTB balances before and after they joined CLICX</a:t>
            </a:r>
            <a:endParaRPr lang="en-US" sz="1100" dirty="0"/>
          </a:p>
        </p:txBody>
      </p:sp>
      <p:sp>
        <p:nvSpPr>
          <p:cNvPr id="9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1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3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New loans for the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116K of our borrowers have no KTB Jai-pump loan</a:t>
            </a:r>
            <a:endParaRPr lang="en-US" sz="1400" dirty="0"/>
          </a:p>
        </p:txBody>
      </p:sp>
      <p:sp>
        <p:nvSpPr>
          <p:cNvPr id="14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safety net for KTB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156K people KTB turned down in the last 3 months applied to us instead of going to another bank</a:t>
            </a:r>
            <a:endParaRPr lang="en-US" sz="1400" dirty="0"/>
          </a:p>
        </p:txBody>
      </p:sp>
      <p:sp>
        <p:nvSpPr>
          <p:cNvPr id="17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Few loyal KTB users among our best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15% of our most engaged shared customers are loyal to KTB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TO DO NEXT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should we do with these answers?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Keep using partners to bring people in, and focus on turning sign-ups into regular users, starting with the customer types that already work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team analysis</a:t>
            </a:r>
            <a:endParaRPr lang="en-US" sz="1000" dirty="0"/>
          </a:p>
        </p:txBody>
      </p:sp>
      <p:sp>
        <p:nvSpPr>
          <p:cNvPr id="6" name="Card Q1"/>
          <p:cNvSpPr/>
          <p:nvPr/>
        </p:nvSpPr>
        <p:spPr>
          <a:xfrm>
            <a:off x="457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 badge Q1"/>
          <p:cNvSpPr/>
          <p:nvPr/>
        </p:nvSpPr>
        <p:spPr>
          <a:xfrm>
            <a:off x="640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Card badge text Q1"/>
          <p:cNvSpPr txBox="1"/>
          <p:nvPr/>
        </p:nvSpPr>
        <p:spPr>
          <a:xfrm>
            <a:off x="640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Card title Q1"/>
          <p:cNvSpPr txBox="1"/>
          <p:nvPr/>
        </p:nvSpPr>
        <p:spPr>
          <a:xfrm>
            <a:off x="640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Reach more partner customers</a:t>
            </a:r>
            <a:endParaRPr lang="en-US" sz="1500" dirty="0"/>
          </a:p>
        </p:txBody>
      </p:sp>
      <p:sp>
        <p:nvSpPr>
          <p:cNvPr id="10" name="Card body Q1"/>
          <p:cNvSpPr txBox="1"/>
          <p:nvPr/>
        </p:nvSpPr>
        <p:spPr>
          <a:xfrm>
            <a:off x="640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Start with AIS: only 3.7% of its ~32M customers have joined. Sign them up through the myAIS app and AIS shops</a:t>
            </a:r>
            <a:endParaRPr lang="en-US" sz="1200" dirty="0"/>
          </a:p>
        </p:txBody>
      </p:sp>
      <p:sp>
        <p:nvSpPr>
          <p:cNvPr id="11" name="Card Q2"/>
          <p:cNvSpPr/>
          <p:nvPr/>
        </p:nvSpPr>
        <p:spPr>
          <a:xfrm>
            <a:off x="2743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 badge Q2"/>
          <p:cNvSpPr/>
          <p:nvPr/>
        </p:nvSpPr>
        <p:spPr>
          <a:xfrm>
            <a:off x="2926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Card badge text Q2"/>
          <p:cNvSpPr txBox="1"/>
          <p:nvPr/>
        </p:nvSpPr>
        <p:spPr>
          <a:xfrm>
            <a:off x="2926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4" name="Card title Q2"/>
          <p:cNvSpPr txBox="1"/>
          <p:nvPr/>
        </p:nvSpPr>
        <p:spPr>
          <a:xfrm>
            <a:off x="2926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Find more people like our best customers</a:t>
            </a:r>
            <a:endParaRPr lang="en-US" sz="1500" dirty="0"/>
          </a:p>
        </p:txBody>
      </p:sp>
      <p:sp>
        <p:nvSpPr>
          <p:cNvPr id="15" name="Card body Q2"/>
          <p:cNvSpPr txBox="1"/>
          <p:nvPr/>
        </p:nvSpPr>
        <p:spPr>
          <a:xfrm>
            <a:off x="2926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Target tech-savvy 30–34s. Create a clear reason for multi-bank users to switch. Make it easy for gig workers to prove income</a:t>
            </a:r>
            <a:endParaRPr lang="en-US" sz="1200" dirty="0"/>
          </a:p>
        </p:txBody>
      </p:sp>
      <p:sp>
        <p:nvSpPr>
          <p:cNvPr id="16" name="Card Q3"/>
          <p:cNvSpPr/>
          <p:nvPr/>
        </p:nvSpPr>
        <p:spPr>
          <a:xfrm>
            <a:off x="5029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Card badge Q3"/>
          <p:cNvSpPr/>
          <p:nvPr/>
        </p:nvSpPr>
        <p:spPr>
          <a:xfrm>
            <a:off x="5212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Card badge text Q3"/>
          <p:cNvSpPr txBox="1"/>
          <p:nvPr/>
        </p:nvSpPr>
        <p:spPr>
          <a:xfrm>
            <a:off x="5212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9" name="Card title Q3"/>
          <p:cNvSpPr txBox="1"/>
          <p:nvPr/>
        </p:nvSpPr>
        <p:spPr>
          <a:xfrm>
            <a:off x="5212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Say 'yes' more safely</a:t>
            </a:r>
            <a:endParaRPr lang="en-US" sz="1500" dirty="0"/>
          </a:p>
        </p:txBody>
      </p:sp>
      <p:sp>
        <p:nvSpPr>
          <p:cNvPr id="20" name="Card body Q3"/>
          <p:cNvSpPr txBox="1"/>
          <p:nvPr/>
        </p:nvSpPr>
        <p:spPr>
          <a:xfrm>
            <a:off x="5212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Over 90% of manual and gig workers apply but only 5–7% get a loan. Improve approval rules and offer small starter loans</a:t>
            </a:r>
            <a:endParaRPr lang="en-US" sz="1200" dirty="0"/>
          </a:p>
        </p:txBody>
      </p:sp>
      <p:sp>
        <p:nvSpPr>
          <p:cNvPr id="21" name="Card Q4"/>
          <p:cNvSpPr/>
          <p:nvPr/>
        </p:nvSpPr>
        <p:spPr>
          <a:xfrm>
            <a:off x="7315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2" name="Card badge Q4"/>
          <p:cNvSpPr/>
          <p:nvPr/>
        </p:nvSpPr>
        <p:spPr>
          <a:xfrm>
            <a:off x="7498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Card badge text Q4"/>
          <p:cNvSpPr txBox="1"/>
          <p:nvPr/>
        </p:nvSpPr>
        <p:spPr>
          <a:xfrm>
            <a:off x="7498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24" name="Card title Q4"/>
          <p:cNvSpPr txBox="1"/>
          <p:nvPr/>
        </p:nvSpPr>
        <p:spPr>
          <a:xfrm>
            <a:off x="7498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Keep new customers using us</a:t>
            </a:r>
            <a:endParaRPr lang="en-US" sz="1500" dirty="0"/>
          </a:p>
        </p:txBody>
      </p:sp>
      <p:sp>
        <p:nvSpPr>
          <p:cNvPr id="25" name="Card body Q4"/>
          <p:cNvSpPr txBox="1"/>
          <p:nvPr/>
        </p:nvSpPr>
        <p:spPr>
          <a:xfrm>
            <a:off x="7498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Get them using 3+ features in the first month. Give people we turn down another reason to stay</a:t>
            </a:r>
            <a:endParaRPr lang="en-US" sz="1200" dirty="0"/>
          </a:p>
        </p:txBody>
      </p:sp>
      <p:sp>
        <p:nvSpPr>
          <p:cNvPr id="26" name="Card Q5"/>
          <p:cNvSpPr/>
          <p:nvPr/>
        </p:nvSpPr>
        <p:spPr>
          <a:xfrm>
            <a:off x="9601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7" name="Card badge Q5"/>
          <p:cNvSpPr/>
          <p:nvPr/>
        </p:nvSpPr>
        <p:spPr>
          <a:xfrm>
            <a:off x="9784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Card badge text Q5"/>
          <p:cNvSpPr txBox="1"/>
          <p:nvPr/>
        </p:nvSpPr>
        <p:spPr>
          <a:xfrm>
            <a:off x="9784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29" name="Card title Q5"/>
          <p:cNvSpPr txBox="1"/>
          <p:nvPr/>
        </p:nvSpPr>
        <p:spPr>
          <a:xfrm>
            <a:off x="9784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Show KTB we grow the group</a:t>
            </a:r>
            <a:endParaRPr lang="en-US" sz="1500" dirty="0"/>
          </a:p>
        </p:txBody>
      </p:sp>
      <p:sp>
        <p:nvSpPr>
          <p:cNvPr id="30" name="Card body Q5"/>
          <p:cNvSpPr txBox="1"/>
          <p:nvPr/>
        </p:nvSpPr>
        <p:spPr>
          <a:xfrm>
            <a:off x="9784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Share the 515K won back and 488K brought back. Set up referrals for people KTB turns down. Check savings once data is 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CX Insights">
  <a:themeElements>
    <a:clrScheme name="CLICX Insights">
      <a:dk1>
        <a:srgbClr val="1A1A1A"/>
      </a:dk1>
      <a:lt1>
        <a:srgbClr val="FFFFFF"/>
      </a:lt1>
      <a:dk2>
        <a:srgbClr val="051C2C"/>
      </a:dk2>
      <a:lt2>
        <a:srgbClr val="F2F4F7"/>
      </a:lt2>
      <a:accent1>
        <a:srgbClr val="2251FF"/>
      </a:accent1>
      <a:accent2>
        <a:srgbClr val="00A9F4"/>
      </a:accent2>
      <a:accent3>
        <a:srgbClr val="051C2C"/>
      </a:accent3>
      <a:accent4>
        <a:srgbClr val="A2AAAD"/>
      </a:accent4>
      <a:accent5>
        <a:srgbClr val="D9475C"/>
      </a:accent5>
      <a:accent6>
        <a:srgbClr val="7FD1F7"/>
      </a:accent6>
      <a:hlink>
        <a:srgbClr val="2251FF"/>
      </a:hlink>
      <a:folHlink>
        <a:srgbClr val="6E7C87"/>
      </a:folHlink>
    </a:clrScheme>
    <a:fontScheme name="CLICX Ins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CLICX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customer insights</dc:title>
  <dc:subject>PptxGenJS Presentation</dc:subject>
  <dc:creator>PptxGenJS</dc:creator>
  <cp:lastModifiedBy>PptxGenJS</cp:lastModifiedBy>
  <cp:revision>1</cp:revision>
  <dcterms:created xsi:type="dcterms:W3CDTF">2026-10-28T07:51:58Z</dcterms:created>
  <dcterms:modified xsi:type="dcterms:W3CDTF">2026-10-28T07:51:58Z</dcterms:modified>
</cp:coreProperties>
</file>
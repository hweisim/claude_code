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cf9b345-b360-b76f-8308-5ebe9713e526}">
          <p14:sldIdLst>
            <p14:sldId id="256"/>
            <p14:sldId id="257"/>
          </p14:sldIdLst>
        </p14:section>
        <p14:section name="Q1 Source of customers" id="{1ddc115e-936f-fdf5-1582-32279bf8adc9}">
          <p14:sldIdLst>
            <p14:sldId id="258"/>
          </p14:sldIdLst>
        </p14:section>
        <p14:section name="Q2 Personas vs plan" id="{9a18a8cf-bbbb-dad9-9fab-47635097e142}">
          <p14:sldIdLst>
            <p14:sldId id="259"/>
            <p14:sldId id="260"/>
            <p14:sldId id="261"/>
          </p14:sldIdLst>
        </p14:section>
        <p14:section name="Q3 Persona x product" id="{34f6598d-bec5-3869-c195-7b68d54952dc}">
          <p14:sldIdLst>
            <p14:sldId id="262"/>
          </p14:sldIdLst>
        </p14:section>
        <p14:section name="Q4 Active vs inactive" id="{4cd19472-a3c7-4eff-c2a4-e187a8f1ba70}">
          <p14:sldIdLst>
            <p14:sldId id="263"/>
            <p14:sldId id="264"/>
          </p14:sldIdLst>
        </p14:section>
        <p14:section name="Q5 KTB cannibalization" id="{1414f63f-68cf-b842-89e8-f51d4d957216}">
          <p14:sldIdLst>
            <p14:sldId id="265"/>
            <p14:sldId id="266"/>
          </p14:sldIdLst>
        </p14:section>
        <p14:section name="Implications" id="{a2104faf-23e5-d1e6-23b4-02f4b251c3f4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Share of CLICX customers who are also a partner's customer,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KTB customers</c:v>
                  </c:pt>
                  <c:pt idx="1">
                    <c:v>AIS customers</c:v>
                  </c:pt>
                  <c:pt idx="2">
                    <c:v>OR customers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0.88</c:v>
                </c:pt>
                <c:pt idx="1">
                  <c:v>0.67</c:v>
                </c:pt>
                <c:pt idx="2">
                  <c:v>0.4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Persona mix: consortium base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consortium base (49.5M)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pen.)</c:v>
                  </c:pt>
                  <c:pt idx="1">
                    <c:v>Single-Bank (4.1% pen.)</c:v>
                  </c:pt>
                  <c:pt idx="2">
                    <c:v>Multiple-Bank (2.4% pen.)</c:v>
                  </c:pt>
                  <c:pt idx="3">
                    <c:v>Unknown (2.0% pen.)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0.127</c:v>
                </c:pt>
                <c:pt idx="1">
                  <c:v>0.415</c:v>
                </c:pt>
                <c:pt idx="2">
                  <c:v>0.165</c:v>
                </c:pt>
                <c:pt idx="3">
                  <c:v>0.292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 (1.87M)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pen.)</c:v>
                  </c:pt>
                  <c:pt idx="1">
                    <c:v>Single-Bank (4.1% pen.)</c:v>
                  </c:pt>
                  <c:pt idx="2">
                    <c:v>Multiple-Bank (2.4% pen.)</c:v>
                  </c:pt>
                  <c:pt idx="3">
                    <c:v>Unknown (2.0% pen.)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0.455</c:v>
                </c:pt>
                <c:pt idx="2">
                  <c:v>0.104</c:v>
                </c:pt>
                <c:pt idx="3">
                  <c:v>0.156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Age mix: consortium base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consortium base (known age, 44.8M)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0.051</c:v>
                </c:pt>
                <c:pt idx="1">
                  <c:v>0.08</c:v>
                </c:pt>
                <c:pt idx="2">
                  <c:v>0.093</c:v>
                </c:pt>
                <c:pt idx="3">
                  <c:v>0.1</c:v>
                </c:pt>
                <c:pt idx="4">
                  <c:v>0.094</c:v>
                </c:pt>
                <c:pt idx="5">
                  <c:v>0.095</c:v>
                </c:pt>
                <c:pt idx="6">
                  <c:v>0.097</c:v>
                </c:pt>
                <c:pt idx="7">
                  <c:v>0.093</c:v>
                </c:pt>
                <c:pt idx="8">
                  <c:v>0.088</c:v>
                </c:pt>
                <c:pt idx="9">
                  <c:v>0.209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 (1.87M)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0.007</c:v>
                </c:pt>
                <c:pt idx="1">
                  <c:v>0.087</c:v>
                </c:pt>
                <c:pt idx="2">
                  <c:v>0.179</c:v>
                </c:pt>
                <c:pt idx="3">
                  <c:v>0.206</c:v>
                </c:pt>
                <c:pt idx="4">
                  <c:v>0.176</c:v>
                </c:pt>
                <c:pt idx="5">
                  <c:v>0.144</c:v>
                </c:pt>
                <c:pt idx="6">
                  <c:v>0.101</c:v>
                </c:pt>
                <c:pt idx="7">
                  <c:v>0.056</c:v>
                </c:pt>
                <c:pt idx="8">
                  <c:v>0.027</c:v>
                </c:pt>
                <c:pt idx="9">
                  <c:v>0.017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penetration of captive base by occupation, % (CLICX customers)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 (232K)</c:v>
                  </c:pt>
                  <c:pt idx="1">
                    <c:v>Rider / Driver (66K)</c:v>
                  </c:pt>
                  <c:pt idx="2">
                    <c:v>Blue collar (401K)</c:v>
                  </c:pt>
                  <c:pt idx="3">
                    <c:v>White collar (700K)</c:v>
                  </c:pt>
                  <c:pt idx="4">
                    <c:v>Merchant (293K)</c:v>
                  </c:pt>
                  <c:pt idx="5">
                    <c:v>Others (129K)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0.22</c:v>
                </c:pt>
                <c:pt idx="2">
                  <c:v>0.16</c:v>
                </c:pt>
                <c:pt idx="3">
                  <c:v>0.09</c:v>
                </c:pt>
                <c:pt idx="4">
                  <c:v>0.09</c:v>
                </c:pt>
                <c:pt idx="5">
                  <c:v>0.004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What each occupation actually uses, % of its CLICX customers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Loan booked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</c:v>
                </c:pt>
                <c:pt idx="1">
                  <c:v>0.07</c:v>
                </c:pt>
                <c:pt idx="2">
                  <c:v>0.07</c:v>
                </c:pt>
                <c:pt idx="3">
                  <c:v>0.06</c:v>
                </c:pt>
                <c:pt idx="4">
                  <c:v>0.05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Deposit &gt; 0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0.18</c:v>
                </c:pt>
                <c:pt idx="1">
                  <c:v>0.2</c:v>
                </c:pt>
                <c:pt idx="2">
                  <c:v>0.12</c:v>
                </c:pt>
                <c:pt idx="3">
                  <c:v>0.16</c:v>
                </c:pt>
                <c:pt idx="4">
                  <c:v>0.13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Payment (Sep)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0.14</c:v>
                </c:pt>
                <c:pt idx="1">
                  <c:v>0.14</c:v>
                </c:pt>
                <c:pt idx="2">
                  <c:v>0.1</c:v>
                </c:pt>
                <c:pt idx="3">
                  <c:v>0.12</c:v>
                </c:pt>
                <c:pt idx="4">
                  <c:v>0.11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Occupation mix: active vs inactive CLICX customers,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active customers (358K)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White collar (23% active)</c:v>
                  </c:pt>
                  <c:pt idx="1">
                    <c:v>Merchant (23%)</c:v>
                  </c:pt>
                  <c:pt idx="2">
                    <c:v>Blue collar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Others (8%)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0.458</c:v>
                </c:pt>
                <c:pt idx="1">
                  <c:v>0.19</c:v>
                </c:pt>
                <c:pt idx="2">
                  <c:v>0.179</c:v>
                </c:pt>
                <c:pt idx="3">
                  <c:v>0.117</c:v>
                </c:pt>
                <c:pt idx="4">
                  <c:v>0.028</c:v>
                </c:pt>
                <c:pt idx="5">
                  <c:v>0.028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inactive customers (1,462K)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White collar (23% active)</c:v>
                  </c:pt>
                  <c:pt idx="1">
                    <c:v>Merchant (23%)</c:v>
                  </c:pt>
                  <c:pt idx="2">
                    <c:v>Blue collar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Others (8%)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0.367</c:v>
                </c:pt>
                <c:pt idx="1">
                  <c:v>0.154</c:v>
                </c:pt>
                <c:pt idx="2">
                  <c:v>0.231</c:v>
                </c:pt>
                <c:pt idx="3">
                  <c:v>0.13</c:v>
                </c:pt>
                <c:pt idx="4">
                  <c:v>0.038</c:v>
                </c:pt>
                <c:pt idx="5">
                  <c:v>0.081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active rate by AIS segment,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active rate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FBB only</c:v>
                  </c:pt>
                  <c:pt idx="1">
                    <c:v>Post-paid</c:v>
                  </c:pt>
                  <c:pt idx="2">
                    <c:v>Prepaid PPU</c:v>
                  </c:pt>
                  <c:pt idx="3">
                    <c:v>Prepaid zero-ARPU</c:v>
                  </c:pt>
                  <c:pt idx="4">
                    <c:v>Prepaid recurring</c:v>
                  </c:pt>
                  <c:pt idx="5">
                    <c:v>Prepaid non-recurring</c:v>
                  </c:pt>
                  <c:pt idx="6">
                    <c:v>AIS inactive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0.41</c:v>
                </c:pt>
                <c:pt idx="1">
                  <c:v>0.28</c:v>
                </c:pt>
                <c:pt idx="2">
                  <c:v>0.22</c:v>
                </c:pt>
                <c:pt idx="3">
                  <c:v>0.21</c:v>
                </c:pt>
                <c:pt idx="4">
                  <c:v>0.19</c:v>
                </c:pt>
                <c:pt idx="5">
                  <c:v>0.15</c:v>
                </c:pt>
                <c:pt idx="6">
                  <c:v>0.09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Customers paying through CLICX, by product status,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Paying in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Loan booked (11%)</c:v>
                  </c:pt>
                  <c:pt idx="1">
                    <c:v>Deposit, never rejected (22%)</c:v>
                  </c:pt>
                  <c:pt idx="2">
                    <c:v>Deposit, ever rejected (67%)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0.16</c:v>
                </c:pt>
                <c:pt idx="2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Share of 1.65M KTB x CLICX customers,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overlap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KTB-loyal (at risk)</c:v>
                  </c:pt>
                  <c:pt idx="1">
                    <c:v>Shared wallet</c:v>
                  </c:pt>
                  <c:pt idx="2">
                    <c:v>Competitor-loyal (win-back)</c:v>
                  </c:pt>
                  <c:pt idx="3">
                    <c:v>KTB-inactive (reactivated)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0.13</c:v>
                </c:pt>
                <c:pt idx="1">
                  <c:v>0.26</c:v>
                </c:pt>
                <c:pt idx="2">
                  <c:v>0.31</c:v>
                </c:pt>
                <c:pt idx="3">
                  <c:v>0.3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penetration of each KTB group,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KTB-loyal</c:v>
                  </c:pt>
                  <c:pt idx="1">
                    <c:v>Shared wallet</c:v>
                  </c:pt>
                  <c:pt idx="2">
                    <c:v>Competitor-loyal</c:v>
                  </c:pt>
                  <c:pt idx="3">
                    <c:v>KTB-inactive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0.033</c:v>
                </c:pt>
                <c:pt idx="1">
                  <c:v>0.074</c:v>
                </c:pt>
                <c:pt idx="2">
                  <c:v>0.079</c:v>
                </c:pt>
                <c:pt idx="3">
                  <c:v>0.03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lending outside KTB's Jai-pump loan, K customers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Borrowers with no Jai-pump loan</c:v>
                  </c:pt>
                  <c:pt idx="1">
                    <c:v>Applicants rejected by Jai-pump</c:v>
                  </c:pt>
                  <c:pt idx="2">
                    <c:v>Borrowers rejected by Jai-pump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156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CUSTOMER INSIGHTS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Who is CLICX really winning, and at whose expense?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Five questions on where 1.8M CLICX customers come from, who they are, what they use, who stays active, and whether CLICX cannibalizes KTB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October 2026  |  CLICX data as of Sep 2026; AIS, KTB, OR data as of Apr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have CLICX's first 1.8M customers told us?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CLICX is an ecosystem bank: it wins consortium customers aged 25–39 who come for credit, and mostly grows the pie for KTB rather than taking from it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room (Sep 2026); AIS, KTB, OR captive data (Apr 2026); Data for Business Strategy (14 Oct 2026)</a:t>
            </a:r>
            <a:endParaRPr lang="en-US" sz="1000" dirty="0"/>
          </a:p>
        </p:txBody>
      </p:sp>
      <p:graphicFrame>
        <p:nvGraphicFramePr>
          <p:cNvPr id="3" name="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91840"/>
                <a:gridCol w="1920240"/>
                <a:gridCol w="5650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all CLICX customers come from captive consortium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 come from the AIS x KTB x OR base; only 51K are outside it. Yet CLICX reaches just 3.7% of the 49M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the personas who come the ones we planned for?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Mostly, with gaps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Tech-Savvy over-index 2.2x and gig workers convert best (Freelancer 40%); Multiple-Bank and 40+ customers under-index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different personas come for the same or different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entry, different 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84–92% of every occupation apply for a loan; White-collar books loans (11%), Merchants hold deposits (20%), gig workers rarely get booked (5–6%)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the persona different for active vs inactive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base skews to White-collar and Merchant (65% vs 52%), post-paid and FBB users; inactive skews to Blue-collar, prepaid and unknown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CLICX cannibalize KTB customers or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13% of overlap (212K) are KTB-loyal; 61% are competitor-loyal or KTB-inactive. 116K CLICX borrowers have no KTB Jai-pump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Q1  |  SOURCE OF CUSTOMERS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all current CLICX customers come from captive consortium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Almost all: 96% of CLICX customers already bank, phone or fill up with KTB, AIS or OR; only 51K come from outside. But the consortium is far from tapped, with only 3.7% penetration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one customer can belong to several partners, so partner shares add up to 195%. Penetration = CLICX customers ÷ partner customer base. 85% of CLICX customers gave consent for data matching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(Sep 2026); AIS, KTB, OR data (Apr 2026)</a:t>
            </a:r>
            <a:endParaRPr lang="en-US" sz="1000" dirty="0"/>
          </a:p>
        </p:txBody>
      </p:sp>
      <p:sp>
        <p:nvSpPr>
          <p:cNvPr id="6" name="Stat 96%"/>
          <p:cNvSpPr txBox="1"/>
          <p:nvPr/>
        </p:nvSpPr>
        <p:spPr>
          <a:xfrm>
            <a:off x="45720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96%</a:t>
            </a:r>
            <a:endParaRPr lang="en-US" sz="4000" dirty="0"/>
          </a:p>
        </p:txBody>
      </p:sp>
      <p:sp>
        <p:nvSpPr>
          <p:cNvPr id="7" name="Stat label 96%"/>
          <p:cNvSpPr txBox="1"/>
          <p:nvPr/>
        </p:nvSpPr>
        <p:spPr>
          <a:xfrm>
            <a:off x="4572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1.8M CLICX customers come from the consortium base</a:t>
            </a:r>
            <a:endParaRPr lang="en-US" sz="1200" dirty="0"/>
          </a:p>
        </p:txBody>
      </p:sp>
      <p:sp>
        <p:nvSpPr>
          <p:cNvPr id="8" name="Stat 51K"/>
          <p:cNvSpPr txBox="1"/>
          <p:nvPr/>
        </p:nvSpPr>
        <p:spPr>
          <a:xfrm>
            <a:off x="457200" y="3520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51K</a:t>
            </a:r>
            <a:endParaRPr lang="en-US" sz="4000" dirty="0"/>
          </a:p>
        </p:txBody>
      </p:sp>
      <p:sp>
        <p:nvSpPr>
          <p:cNvPr id="9" name="Stat label 51K"/>
          <p:cNvSpPr txBox="1"/>
          <p:nvPr/>
        </p:nvSpPr>
        <p:spPr>
          <a:xfrm>
            <a:off x="457200" y="4178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CLICX customers who are not AIS, KTB or OR customers</a:t>
            </a:r>
            <a:endParaRPr lang="en-US" sz="1200" dirty="0"/>
          </a:p>
        </p:txBody>
      </p:sp>
      <p:sp>
        <p:nvSpPr>
          <p:cNvPr id="10" name="Stat 3.7%"/>
          <p:cNvSpPr txBox="1"/>
          <p:nvPr/>
        </p:nvSpPr>
        <p:spPr>
          <a:xfrm>
            <a:off x="45720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3.7%</a:t>
            </a:r>
            <a:endParaRPr lang="en-US" sz="4000" dirty="0"/>
          </a:p>
        </p:txBody>
      </p:sp>
      <p:sp>
        <p:nvSpPr>
          <p:cNvPr id="11" name="Stat label 3.7%"/>
          <p:cNvSpPr txBox="1"/>
          <p:nvPr/>
        </p:nvSpPr>
        <p:spPr>
          <a:xfrm>
            <a:off x="457200" y="55046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the 49M consortium base is on CLICX so far</a:t>
            </a:r>
            <a:endParaRPr lang="en-US" sz="1200" dirty="0"/>
          </a:p>
        </p:txBody>
      </p:sp>
      <p:graphicFrame>
        <p:nvGraphicFramePr>
          <p:cNvPr id="12" name="Partner reach" descr=""/>
          <p:cNvGraphicFramePr/>
          <p:nvPr/>
        </p:nvGraphicFramePr>
        <p:xfrm>
          <a:off x="3017520" y="214884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5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7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is the main gateway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88% of CLICX customers are KTB customers (1.6M), helped by Paotang onboarding</a:t>
            </a:r>
            <a:endParaRPr lang="en-US" sz="1400" dirty="0"/>
          </a:p>
        </p:txBody>
      </p:sp>
      <p:sp>
        <p:nvSpPr>
          <p:cNvPr id="18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0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Customers sit in several partners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Shares add up to 195%: most customers are known to 2+ partners, giving rich data for credit</a:t>
            </a:r>
            <a:endParaRPr lang="en-US" sz="1400" dirty="0"/>
          </a:p>
        </p:txBody>
      </p:sp>
      <p:sp>
        <p:nvSpPr>
          <p:cNvPr id="21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AIS is the biggest headroom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Lowest penetration (3.7%) on the largest base (~32M). OR converts best at 7.4%, KTB 4.7%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PERSONAS VS PLAN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the personas of customers who come to CLICX the same as we planned?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Mostly yes. The planned Tech-Savvy target over-indexes 2.2x and Single-Bank users bring the volume, but Multiple-Bank users, also a target, are under-won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personas assigned by AIS and KTB. Single-Bank = uses one bank, or KTB customer holding Next but inactive. Penetration = CLICX customers ÷ consortium customers in that persona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(Sep 2026); AIS, KTB, OR data (Apr 2026); initial target persona benchmark</a:t>
            </a:r>
            <a:endParaRPr lang="en-US" sz="1000" dirty="0"/>
          </a:p>
        </p:txBody>
      </p:sp>
      <p:graphicFrame>
        <p:nvGraphicFramePr>
          <p:cNvPr id="6" name="Persona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Tech-Savvy: target hit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533K customers, 28% of CLICX from 13% of the base; penetration 8.5% (2.2x average), peaking at 13% for ages 30–34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Single-Bank: volume engine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850K (45% of CLICX). 577K are KTB customers without AIS, a pool to cross-sell AIS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Multiple-Bank: the miss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8.2M base but only 2.4% penetration. CLICX is not yet winning customers who already shop around banks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PERSONAS VS PLAN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the age profile of CLICX customers match the target pool?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No. The target pool skews older, but CLICX concentrates in ages 25–39: 56% of customers vs 29% of the base. Penetration falls off sharply after 45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base share excludes 4.7M consortium customers of unknown age; penetration = CLICX customers ÷ captive customers in that age band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(Sep 2026); AIS, KTB, OR data (Apr 2026)</a:t>
            </a:r>
            <a:endParaRPr lang="en-US" sz="1000" dirty="0"/>
          </a:p>
        </p:txBody>
      </p:sp>
      <p:graphicFrame>
        <p:nvGraphicFramePr>
          <p:cNvPr id="6" name="Ag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Sweet spot is 25–39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1.05M customers (56% of CLICX); penetration of 8–9% vs 3.8% overall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Older base is untouched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Customers aged 40+ make up 58% of the known-age base but only 34% of CLICX; 60+ penetration is 0.3% on 9.4M people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Room left in the core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2.1M unconverted Tech-Savvy aged 25–39, 1.3M young tech users under 25 and 5.4M Single-Bank millennials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PERSONAS VS PLAN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we reaching the thin-file, real-income customers our strategy targets?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Gig workers convert 5–10x better than average (Freelancer 40%, Rider/Driver 22%), and unserved/underserved borrowers are 35% of loans vs a 30% target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occupation from AIS x KTB x OR x CLICX matched data; penetration = CLICX customers ÷ captive customers in that occupation; Others = unknown occupation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Data team occupation analysis (Oct 2026); CLICX 5-Year Business Plan scorecard (Dec 2026 target)</a:t>
            </a:r>
            <a:endParaRPr lang="en-US" sz="1000" dirty="0"/>
          </a:p>
        </p:txBody>
      </p:sp>
      <p:graphicFrame>
        <p:nvGraphicFramePr>
          <p:cNvPr id="6" name="Occupation penetration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workers: best fit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Freelancers and riders convert at 40% and 22% of their small captive pools, which validates the alternative-data lending thesis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Collars: the volume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White- and Blue-collar make up 1.1M customers, over 60% of the portfolio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Merchants: proven, not scaled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293K customers at 9% penetration from a 3.3M base, an entry point for SME supply-chain financing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Q3  |  PERSONA x PRODUCT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For different customer personas, do they come for the same or different products?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come for the same thing, credit: 84–92% of every occupation applies for a loan. What they end up using differs: White-collar books loans, Merchants keep deposits, gig workers are mostly declined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% of CLICX customers in each occupation. Deposit = balance &gt; 0; Payment = transacted in Sep 2026; Loan booked = loan disbursed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Data team occupation analysis, AIS x KTB x OR x CLICX (Oct 2026)</a:t>
            </a:r>
            <a:endParaRPr lang="en-US" sz="1000" dirty="0"/>
          </a:p>
        </p:txBody>
      </p:sp>
      <p:sp>
        <p:nvSpPr>
          <p:cNvPr id="6" name="Stat 84–92%"/>
          <p:cNvSpPr txBox="1"/>
          <p:nvPr/>
        </p:nvSpPr>
        <p:spPr>
          <a:xfrm>
            <a:off x="457200" y="2194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84–92%</a:t>
            </a:r>
            <a:endParaRPr lang="en-US" sz="4000" dirty="0"/>
          </a:p>
        </p:txBody>
      </p:sp>
      <p:sp>
        <p:nvSpPr>
          <p:cNvPr id="7" name="Stat label 84–92%"/>
          <p:cNvSpPr txBox="1"/>
          <p:nvPr/>
        </p:nvSpPr>
        <p:spPr>
          <a:xfrm>
            <a:off x="457200" y="28529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every occupation applied for a CLICX loan: the same entry product</a:t>
            </a:r>
            <a:endParaRPr lang="en-US" sz="1200" dirty="0"/>
          </a:p>
        </p:txBody>
      </p:sp>
      <p:sp>
        <p:nvSpPr>
          <p:cNvPr id="8" name="Stat 5–11%"/>
          <p:cNvSpPr txBox="1"/>
          <p:nvPr/>
        </p:nvSpPr>
        <p:spPr>
          <a:xfrm>
            <a:off x="457200" y="3611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5–11%</a:t>
            </a:r>
            <a:endParaRPr lang="en-US" sz="4000" dirty="0"/>
          </a:p>
        </p:txBody>
      </p:sp>
      <p:sp>
        <p:nvSpPr>
          <p:cNvPr id="9" name="Stat label 5–11%"/>
          <p:cNvSpPr txBox="1"/>
          <p:nvPr/>
        </p:nvSpPr>
        <p:spPr>
          <a:xfrm>
            <a:off x="457200" y="4270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actually had a loan booked, so usage splits by persona</a:t>
            </a:r>
            <a:endParaRPr lang="en-US" sz="1200" dirty="0"/>
          </a:p>
        </p:txBody>
      </p:sp>
      <p:graphicFrame>
        <p:nvGraphicFramePr>
          <p:cNvPr id="10" name="Product use by occupation" descr=""/>
          <p:cNvGraphicFramePr/>
          <p:nvPr/>
        </p:nvGraphicFramePr>
        <p:xfrm>
          <a:off x="2834640" y="2148840"/>
          <a:ext cx="53035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3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5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Credit is the hook for all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1.52M customers (84%) have applied for a loan, whatever their occupation</a:t>
            </a:r>
            <a:endParaRPr lang="en-US" sz="1400" dirty="0"/>
          </a:p>
        </p:txBody>
      </p:sp>
      <p:sp>
        <p:nvSpPr>
          <p:cNvPr id="16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White-collar: borrow and pay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Highest booking rate (11%, 79K loans) and 14% pay monthly. The most complete product user</a:t>
            </a:r>
            <a:endParaRPr lang="en-US" sz="1400" dirty="0"/>
          </a:p>
        </p:txBody>
      </p:sp>
      <p:sp>
        <p:nvSpPr>
          <p:cNvPr id="19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1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Merchant: deposits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Highest deposit rate (20%) and payment use (14%), a natural fit for business accounts and SME credit</a:t>
            </a:r>
            <a:endParaRPr lang="en-US" sz="1400" dirty="0"/>
          </a:p>
        </p:txBody>
      </p:sp>
      <p:sp>
        <p:nvSpPr>
          <p:cNvPr id="22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and Blue-collar: leakage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 90% apply, but only 5–7% are booked. Underwriting, not demand, is the bottleneck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ACTIVE VS INACTIVE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For active vs inactive CLICX customers, is the persona different?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Only 1 in 5 customers is active, and the active base skews to salaried White-collar and Merchants, while inactive customers skew to Blue-collar and unknown occupations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Active = CLICX deposit &gt; 0 or a booked CLICX loan. Inactive = all other CLICX customers. Totals: active 358K, inactive 1,462K. Labels show each occupation's active 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Data team occupation analysis, AIS x KTB x OR x CLICX (Oct 2026)</a:t>
            </a:r>
            <a:endParaRPr lang="en-US" sz="1000" dirty="0"/>
          </a:p>
        </p:txBody>
      </p:sp>
      <p:graphicFrame>
        <p:nvGraphicFramePr>
          <p:cNvPr id="6" name="Active vs inactiv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Salaried and Merchants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White-collar and Merchant make up 65% of active customers but 52% of inactive ones, with an active rate of 23% each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Blue-collar drops out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23% of inactive customers vs 18% of active ones. They apply for credit, get declined and leave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Unknown means inactive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Customers with no occupation data are only 8% active, and 3 in 4 inactive customers never got a loan or funded an account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ACTIVE VS INACTIVE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else separates active from inactive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Value-tier telco users and borrowers stay active. FBB and post-paid AIS customers are 2–4x more active than AIS-inactive ones, and borrowers pay 6x more often than declined depositors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Active = CLICX deposit &gt; 0 or a booked CLICX loan; AIS segment base = 1.2M CLICX customers with AIS. Paying = any payment transaction in CLICX; shares of customers in brackets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AIS x CLICX matched data; Data for Business Strategy (14 Oct 2026)</a:t>
            </a:r>
            <a:endParaRPr lang="en-US" sz="1000" dirty="0"/>
          </a:p>
        </p:txBody>
      </p:sp>
      <p:graphicFrame>
        <p:nvGraphicFramePr>
          <p:cNvPr id="6" name="AIS segment active rate" descr=""/>
          <p:cNvGraphicFramePr/>
          <p:nvPr/>
        </p:nvGraphicFramePr>
        <p:xfrm>
          <a:off x="457200" y="2148840"/>
          <a:ext cx="40233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ying by product status" descr=""/>
          <p:cNvGraphicFramePr/>
          <p:nvPr/>
        </p:nvGraphicFramePr>
        <p:xfrm>
          <a:off x="4572000" y="2148840"/>
          <a:ext cx="3566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Telco tier predicts activity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FBB (41%) and post-paid (28%) users are most active; post-paid is 44% of the active AIS base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creates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51% of borrowers pay through CLICX vs 8% of customers whose loan was rejected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Rejection drives inactivity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67% of customers were rejected for credit at some point, and 83% of them never transact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KTB CANNIBALIZATION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cannibalize KTB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Limited. Only 13% of the 1.6M KTB x CLICX overlap are KTB-loyal customers; 61% are competitor-loyal or inactive with KTB, so CLICX mostly wins back or reactivates them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KTB active = holds at least 1 of 4 core KTB products. KTB-inactive = no KTB transaction in 1 year (incl. Paotang-only without PaotangPay). Shared wallet = KTB swing, low engagement and PaotangPay users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x CLICX engagement segmentation (Oct 2026)</a:t>
            </a:r>
            <a:endParaRPr lang="en-US" sz="1000" dirty="0"/>
          </a:p>
        </p:txBody>
      </p:sp>
      <p:graphicFrame>
        <p:nvGraphicFramePr>
          <p:cNvPr id="6" name="Overlap by KTB relationship" descr=""/>
          <p:cNvGraphicFramePr/>
          <p:nvPr/>
        </p:nvGraphicFramePr>
        <p:xfrm>
          <a:off x="457200" y="2148840"/>
          <a:ext cx="44805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netration by KTB group" descr=""/>
          <p:cNvGraphicFramePr/>
          <p:nvPr/>
        </p:nvGraphicFramePr>
        <p:xfrm>
          <a:off x="5029200" y="2148840"/>
          <a:ext cx="3108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Loyalists are hard to pull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KTB-loyal penetration is 3.3%, less than half that of competitor-loyal (7.9%) and shared-wallet (7.4%) customers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Defensive growth for KTB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515K competitor-loyal customers, 79K of them quality users, now bank with the KTB ecosystem through CLICX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Reactivation, not substitution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488K were inactive with KTB for a year or more but signed up for CLICX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KTB CANNIBALIZATION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cannibalize KTB products?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 on lending, where CLICX is additive. Its borrowers largely sit outside KTB's Jai-pump digital loan, and it catches customers Jai-pump rejects. Deposit cannibalization cannot yet be measured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Jai-pump = KTB's digital personal loan. Rejected = rejected by Jai-pump in the last 3 months. Quality = payment in last month, deposit &gt; THB 100 or a performing loan. CLICX balances are not yet in the data room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x CLICX matched data (Oct 2026)</a:t>
            </a:r>
            <a:endParaRPr lang="en-US" sz="1000" dirty="0"/>
          </a:p>
        </p:txBody>
      </p:sp>
      <p:graphicFrame>
        <p:nvGraphicFramePr>
          <p:cNvPr id="6" name="Lending outside KTB" descr=""/>
          <p:cNvGraphicFramePr/>
          <p:nvPr/>
        </p:nvGraphicFramePr>
        <p:xfrm>
          <a:off x="457200" y="214884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eposit gap box"/>
          <p:cNvSpPr/>
          <p:nvPr/>
        </p:nvSpPr>
        <p:spPr>
          <a:xfrm>
            <a:off x="5577840" y="2240280"/>
            <a:ext cx="2560320" cy="3794760"/>
          </a:xfrm>
          <a:prstGeom prst="rect">
            <a:avLst/>
          </a:prstGeom>
          <a:solidFill>
            <a:schemeClr val="bg2"/>
          </a:solidFill>
          <a:ln w="12700">
            <a:solidFill>
              <a:srgbClr val="A2AAAD"/>
            </a:solidFill>
            <a:prstDash val="dash"/>
          </a:ln>
        </p:spPr>
      </p:sp>
      <p:sp>
        <p:nvSpPr>
          <p:cNvPr id="8" name="Deposit gap text"/>
          <p:cNvSpPr txBox="1"/>
          <p:nvPr/>
        </p:nvSpPr>
        <p:spPr>
          <a:xfrm>
            <a:off x="5760720" y="24231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DEPOSITS: NOT YET MEASURABLE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CLICX balances are not yet in the data room, so we cannot test whether KTB deposits move to CLICX.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Next step: compare KTB balances of the 1.6M overlap before vs after CLICX sign-up once data lands</a:t>
            </a:r>
            <a:endParaRPr lang="en-US" sz="1100" dirty="0"/>
          </a:p>
        </p:txBody>
      </p:sp>
      <p:sp>
        <p:nvSpPr>
          <p:cNvPr id="9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1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Additive loan book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116K CLICX borrowers hold no KTB Jai-pump loan, new credit for the ecosystem</a:t>
            </a:r>
            <a:endParaRPr lang="en-US" sz="1400" dirty="0"/>
          </a:p>
        </p:txBody>
      </p:sp>
      <p:sp>
        <p:nvSpPr>
          <p:cNvPr id="14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safety net for KTB rejects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156K applicants and 23K borrowers were rejected by Jai-pump in the last 3 months, demand that would otherwise go to competitors</a:t>
            </a:r>
            <a:endParaRPr lang="en-US" sz="1400" dirty="0"/>
          </a:p>
        </p:txBody>
      </p:sp>
      <p:sp>
        <p:nvSpPr>
          <p:cNvPr id="17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Value overlap is modest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15% of the 251K quality CLICX customers in the overlap (38K) are KTB-loyal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IMPLICATIONS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should we do with these answers?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the consortium as the acquisition engine, but move from sign-ups to active, credit-led customers in the personas that already work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synthesis of Q1–Q5; actions build on Data for Business Strategy (14 Oct 2026) and CLICX 5-Year Business Plan</a:t>
            </a:r>
            <a:endParaRPr lang="en-US" sz="1000" dirty="0"/>
          </a:p>
        </p:txBody>
      </p:sp>
      <p:sp>
        <p:nvSpPr>
          <p:cNvPr id="6" name="Card Q1"/>
          <p:cNvSpPr/>
          <p:nvPr/>
        </p:nvSpPr>
        <p:spPr>
          <a:xfrm>
            <a:off x="457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 badge Q1"/>
          <p:cNvSpPr/>
          <p:nvPr/>
        </p:nvSpPr>
        <p:spPr>
          <a:xfrm>
            <a:off x="640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Card badge text Q1"/>
          <p:cNvSpPr txBox="1"/>
          <p:nvPr/>
        </p:nvSpPr>
        <p:spPr>
          <a:xfrm>
            <a:off x="640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Card title Q1"/>
          <p:cNvSpPr txBox="1"/>
          <p:nvPr/>
        </p:nvSpPr>
        <p:spPr>
          <a:xfrm>
            <a:off x="640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Mine the 47M base</a:t>
            </a:r>
            <a:endParaRPr lang="en-US" sz="1500" dirty="0"/>
          </a:p>
        </p:txBody>
      </p:sp>
      <p:sp>
        <p:nvSpPr>
          <p:cNvPr id="10" name="Card body Q1"/>
          <p:cNvSpPr txBox="1"/>
          <p:nvPr/>
        </p:nvSpPr>
        <p:spPr>
          <a:xfrm>
            <a:off x="640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Go after AIS first (3.7% penetration on ~32M), through myAIS and Dipchip, starting with 1.1M active AIS customers</a:t>
            </a:r>
            <a:endParaRPr lang="en-US" sz="1200" dirty="0"/>
          </a:p>
        </p:txBody>
      </p:sp>
      <p:sp>
        <p:nvSpPr>
          <p:cNvPr id="11" name="Card Q2"/>
          <p:cNvSpPr/>
          <p:nvPr/>
        </p:nvSpPr>
        <p:spPr>
          <a:xfrm>
            <a:off x="2743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 badge Q2"/>
          <p:cNvSpPr/>
          <p:nvPr/>
        </p:nvSpPr>
        <p:spPr>
          <a:xfrm>
            <a:off x="2926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Card badge text Q2"/>
          <p:cNvSpPr txBox="1"/>
          <p:nvPr/>
        </p:nvSpPr>
        <p:spPr>
          <a:xfrm>
            <a:off x="2926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4" name="Card title Q2"/>
          <p:cNvSpPr txBox="1"/>
          <p:nvPr/>
        </p:nvSpPr>
        <p:spPr>
          <a:xfrm>
            <a:off x="2926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Double down on what fits</a:t>
            </a:r>
            <a:endParaRPr lang="en-US" sz="1500" dirty="0"/>
          </a:p>
        </p:txBody>
      </p:sp>
      <p:sp>
        <p:nvSpPr>
          <p:cNvPr id="15" name="Card body Q2"/>
          <p:cNvSpPr txBox="1"/>
          <p:nvPr/>
        </p:nvSpPr>
        <p:spPr>
          <a:xfrm>
            <a:off x="2926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 Tech-Savvy aged 30–34 as the look-alike seed. Build a Multiple-Bank offer and a proxy-income journey for gig workers</a:t>
            </a:r>
            <a:endParaRPr lang="en-US" sz="1200" dirty="0"/>
          </a:p>
        </p:txBody>
      </p:sp>
      <p:sp>
        <p:nvSpPr>
          <p:cNvPr id="16" name="Card Q3"/>
          <p:cNvSpPr/>
          <p:nvPr/>
        </p:nvSpPr>
        <p:spPr>
          <a:xfrm>
            <a:off x="5029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rd badge Q3"/>
          <p:cNvSpPr/>
          <p:nvPr/>
        </p:nvSpPr>
        <p:spPr>
          <a:xfrm>
            <a:off x="5212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Card badge text Q3"/>
          <p:cNvSpPr txBox="1"/>
          <p:nvPr/>
        </p:nvSpPr>
        <p:spPr>
          <a:xfrm>
            <a:off x="5212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9" name="Card title Q3"/>
          <p:cNvSpPr txBox="1"/>
          <p:nvPr/>
        </p:nvSpPr>
        <p:spPr>
          <a:xfrm>
            <a:off x="5212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Fix the credit funnel</a:t>
            </a:r>
            <a:endParaRPr lang="en-US" sz="1500" dirty="0"/>
          </a:p>
        </p:txBody>
      </p:sp>
      <p:sp>
        <p:nvSpPr>
          <p:cNvPr id="20" name="Card body Q3"/>
          <p:cNvSpPr txBox="1"/>
          <p:nvPr/>
        </p:nvSpPr>
        <p:spPr>
          <a:xfrm>
            <a:off x="5212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 90% of Blue-collar and gig workers apply but 5–7% are booked. Recalibrate underwriting and offer deposit-backed credit-builder loans</a:t>
            </a:r>
            <a:endParaRPr lang="en-US" sz="1200" dirty="0"/>
          </a:p>
        </p:txBody>
      </p:sp>
      <p:sp>
        <p:nvSpPr>
          <p:cNvPr id="21" name="Card Q4"/>
          <p:cNvSpPr/>
          <p:nvPr/>
        </p:nvSpPr>
        <p:spPr>
          <a:xfrm>
            <a:off x="7315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Card badge Q4"/>
          <p:cNvSpPr/>
          <p:nvPr/>
        </p:nvSpPr>
        <p:spPr>
          <a:xfrm>
            <a:off x="7498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Card badge text Q4"/>
          <p:cNvSpPr txBox="1"/>
          <p:nvPr/>
        </p:nvSpPr>
        <p:spPr>
          <a:xfrm>
            <a:off x="7498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24" name="Card title Q4"/>
          <p:cNvSpPr txBox="1"/>
          <p:nvPr/>
        </p:nvSpPr>
        <p:spPr>
          <a:xfrm>
            <a:off x="7498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Activate after onboarding</a:t>
            </a:r>
            <a:endParaRPr lang="en-US" sz="1500" dirty="0"/>
          </a:p>
        </p:txBody>
      </p:sp>
      <p:sp>
        <p:nvSpPr>
          <p:cNvPr id="25" name="Card body Q4"/>
          <p:cNvSpPr txBox="1"/>
          <p:nvPr/>
        </p:nvSpPr>
        <p:spPr>
          <a:xfrm>
            <a:off x="7498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new customers onto 3+ use cases in 30 days. Give declined applicants a non-loan reason to stay; target prepaid and AIS-inactive customers</a:t>
            </a:r>
            <a:endParaRPr lang="en-US" sz="1200" dirty="0"/>
          </a:p>
        </p:txBody>
      </p:sp>
      <p:sp>
        <p:nvSpPr>
          <p:cNvPr id="26" name="Card Q5"/>
          <p:cNvSpPr/>
          <p:nvPr/>
        </p:nvSpPr>
        <p:spPr>
          <a:xfrm>
            <a:off x="9601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7" name="Card badge Q5"/>
          <p:cNvSpPr/>
          <p:nvPr/>
        </p:nvSpPr>
        <p:spPr>
          <a:xfrm>
            <a:off x="9784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Card badge text Q5"/>
          <p:cNvSpPr txBox="1"/>
          <p:nvPr/>
        </p:nvSpPr>
        <p:spPr>
          <a:xfrm>
            <a:off x="9784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29" name="Card title Q5"/>
          <p:cNvSpPr txBox="1"/>
          <p:nvPr/>
        </p:nvSpPr>
        <p:spPr>
          <a:xfrm>
            <a:off x="9784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Position CLICX as KTB's growth arm</a:t>
            </a:r>
            <a:endParaRPr lang="en-US" sz="1500" dirty="0"/>
          </a:p>
        </p:txBody>
      </p:sp>
      <p:sp>
        <p:nvSpPr>
          <p:cNvPr id="30" name="Card body Q5"/>
          <p:cNvSpPr txBox="1"/>
          <p:nvPr/>
        </p:nvSpPr>
        <p:spPr>
          <a:xfrm>
            <a:off x="9784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 win-back (515K) and reactivation (488K) to KTB. Formalise Jai-pump reject referral; measure deposit overlap once data lands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customer insights</dc:title>
  <dc:subject>PptxGenJS Presentation</dc:subject>
  <dc:creator>PptxGenJS</dc:creator>
  <cp:lastModifiedBy>PptxGenJS</cp:lastModifiedBy>
  <cp:revision>1</cp:revision>
  <dcterms:created xsi:type="dcterms:W3CDTF">2026-10-28T07:23:46Z</dcterms:created>
  <dcterms:modified xsi:type="dcterms:W3CDTF">2026-10-28T07:23:46Z</dcterms:modified>
</cp:coreProperties>
</file>
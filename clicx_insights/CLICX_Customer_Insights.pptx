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c5e80fb1-e75b-ec72-77c0-186d6ad0dd4c}">
          <p14:sldIdLst>
            <p14:sldId id="256"/>
            <p14:sldId id="257"/>
          </p14:sldIdLst>
        </p14:section>
        <p14:section name="Q1 Source of customers" id="{ec3e2830-c1a6-3cc9-bcc4-03b625baa6fa}">
          <p14:sldIdLst>
            <p14:sldId id="258"/>
          </p14:sldIdLst>
        </p14:section>
        <p14:section name="Q2 Who our customers are" id="{7416bd3a-0ba0-5b83-65b5-b7d9dc67e7cc}">
          <p14:sldIdLst>
            <p14:sldId id="259"/>
            <p14:sldId id="260"/>
            <p14:sldId id="261"/>
          </p14:sldIdLst>
        </p14:section>
        <p14:section name="Q3 What they come for" id="{3a31202b-5f9b-f73a-d1b3-0f3b5404401c}">
          <p14:sldIdLst>
            <p14:sldId id="262"/>
          </p14:sldIdLst>
        </p14:section>
        <p14:section name="Q4 Active vs inactive" id="{8d40ba38-22c2-480d-f6c9-f54d72c0352a}">
          <p14:sldIdLst>
            <p14:sldId id="263"/>
            <p14:sldId id="264"/>
          </p14:sldIdLst>
        </p14:section>
        <p14:section name="Q5 Impact on KTB" id="{9caae850-46f5-33ff-d5e3-4ede0601b78e}">
          <p14:sldIdLst>
            <p14:sldId id="265"/>
            <p14:sldId id="266"/>
          </p14:sldIdLst>
        </p14:section>
        <p14:section name="What to do next" id="{002ce402-de67-71f0-5cee-93599700181e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300" b="1" i="0" u="none" strike="noStrike">
                <a:solidFill>
                  <a:srgbClr val="051C2C"/>
                </a:solidFill>
                <a:latin typeface="+mn-lt"/>
              </a:defRPr>
            </a:pPr>
            <a:r>
              <a:rPr sz="1300" b="1" i="0" u="none" strike="noStrike">
                <a:solidFill>
                  <a:srgbClr val="051C2C"/>
                </a:solidFill>
                <a:latin typeface="+mn-lt"/>
              </a:rPr>
              <a:t>% of CLICX customers who are also with each partner (many are with more than one)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CLICX customers</c:v>
                </c:pt>
              </c:strCache>
            </c:strRef>
          </c:tx>
          <c:spPr>
            <a:solidFill>
              <a:srgbClr val="051C2C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51C2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1C2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51C2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Also a KTB customer</c:v>
                  </c:pt>
                  <c:pt idx="1">
                    <c:v>Also an AIS customer</c:v>
                  </c:pt>
                  <c:pt idx="2">
                    <c:v>Also an OR customer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0.88</c:v>
                </c:pt>
                <c:pt idx="1">
                  <c:v>0.67</c:v>
                </c:pt>
                <c:pt idx="2">
                  <c:v>0.4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5DAD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B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300" b="1" i="0" u="none" strike="noStrike">
                <a:solidFill>
                  <a:srgbClr val="051C2C"/>
                </a:solidFill>
                <a:latin typeface="+mn-lt"/>
              </a:defRPr>
            </a:pPr>
            <a:r>
              <a:rPr sz="1300" b="1" i="0" u="none" strike="noStrike">
                <a:solidFill>
                  <a:srgbClr val="051C2C"/>
                </a:solidFill>
                <a:latin typeface="+mn-lt"/>
              </a:rPr>
              <a:t>Customer type: all partner customers vs CLICX customers,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all partner customers (49.5M)</c:v>
                </c:pt>
              </c:strCache>
            </c:strRef>
          </c:tx>
          <c:spPr>
            <a:solidFill>
              <a:srgbClr val="D5DADF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Tech-savvy (8.5% joined)</c:v>
                  </c:pt>
                  <c:pt idx="1">
                    <c:v>One-bank users (4.1%)</c:v>
                  </c:pt>
                  <c:pt idx="2">
                    <c:v>Multi-bank users (2.4%)</c:v>
                  </c:pt>
                  <c:pt idx="3">
                    <c:v>Unknown (2.0%)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0.127</c:v>
                </c:pt>
                <c:pt idx="1">
                  <c:v>0.415</c:v>
                </c:pt>
                <c:pt idx="2">
                  <c:v>0.165</c:v>
                </c:pt>
                <c:pt idx="3">
                  <c:v>0.292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Share of CLICX customers (1.87M)</c:v>
                </c:pt>
              </c:strCache>
            </c:strRef>
          </c:tx>
          <c:spPr>
            <a:solidFill>
              <a:srgbClr val="2251FF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Tech-savvy (8.5% joined)</c:v>
                  </c:pt>
                  <c:pt idx="1">
                    <c:v>One-bank users (4.1%)</c:v>
                  </c:pt>
                  <c:pt idx="2">
                    <c:v>Multi-bank users (2.4%)</c:v>
                  </c:pt>
                  <c:pt idx="3">
                    <c:v>Unknown (2.0%)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0.285</c:v>
                </c:pt>
                <c:pt idx="1">
                  <c:v>0.455</c:v>
                </c:pt>
                <c:pt idx="2">
                  <c:v>0.104</c:v>
                </c:pt>
                <c:pt idx="3">
                  <c:v>0.156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DAD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F6B7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300" b="1" i="0" u="none" strike="noStrike">
                <a:solidFill>
                  <a:srgbClr val="051C2C"/>
                </a:solidFill>
                <a:latin typeface="+mn-lt"/>
              </a:defRPr>
            </a:pPr>
            <a:r>
              <a:rPr sz="1300" b="1" i="0" u="none" strike="noStrike">
                <a:solidFill>
                  <a:srgbClr val="051C2C"/>
                </a:solidFill>
                <a:latin typeface="+mn-lt"/>
              </a:rPr>
              <a:t>Age: all partner customers vs CLICX customers,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partner customers (age known)</c:v>
                </c:pt>
              </c:strCache>
            </c:strRef>
          </c:tx>
          <c:spPr>
            <a:solidFill>
              <a:srgbClr val="D5DADF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&lt;20</c:v>
                  </c:pt>
                  <c:pt idx="1">
                    <c:v>20–24</c:v>
                  </c:pt>
                  <c:pt idx="2">
                    <c:v>25–29</c:v>
                  </c:pt>
                  <c:pt idx="3">
                    <c:v>30–34</c:v>
                  </c:pt>
                  <c:pt idx="4">
                    <c:v>35–39</c:v>
                  </c:pt>
                  <c:pt idx="5">
                    <c:v>40–44</c:v>
                  </c:pt>
                  <c:pt idx="6">
                    <c:v>45–49</c:v>
                  </c:pt>
                  <c:pt idx="7">
                    <c:v>50–54</c:v>
                  </c:pt>
                  <c:pt idx="8">
                    <c:v>55–59</c:v>
                  </c:pt>
                  <c:pt idx="9">
                    <c:v>60+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0.051</c:v>
                </c:pt>
                <c:pt idx="1">
                  <c:v>0.08</c:v>
                </c:pt>
                <c:pt idx="2">
                  <c:v>0.093</c:v>
                </c:pt>
                <c:pt idx="3">
                  <c:v>0.1</c:v>
                </c:pt>
                <c:pt idx="4">
                  <c:v>0.094</c:v>
                </c:pt>
                <c:pt idx="5">
                  <c:v>0.095</c:v>
                </c:pt>
                <c:pt idx="6">
                  <c:v>0.097</c:v>
                </c:pt>
                <c:pt idx="7">
                  <c:v>0.093</c:v>
                </c:pt>
                <c:pt idx="8">
                  <c:v>0.088</c:v>
                </c:pt>
                <c:pt idx="9">
                  <c:v>0.209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Share of CLICX customers</c:v>
                </c:pt>
              </c:strCache>
            </c:strRef>
          </c:tx>
          <c:spPr>
            <a:solidFill>
              <a:srgbClr val="2251FF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&lt;20</c:v>
                  </c:pt>
                  <c:pt idx="1">
                    <c:v>20–24</c:v>
                  </c:pt>
                  <c:pt idx="2">
                    <c:v>25–29</c:v>
                  </c:pt>
                  <c:pt idx="3">
                    <c:v>30–34</c:v>
                  </c:pt>
                  <c:pt idx="4">
                    <c:v>35–39</c:v>
                  </c:pt>
                  <c:pt idx="5">
                    <c:v>40–44</c:v>
                  </c:pt>
                  <c:pt idx="6">
                    <c:v>45–49</c:v>
                  </c:pt>
                  <c:pt idx="7">
                    <c:v>50–54</c:v>
                  </c:pt>
                  <c:pt idx="8">
                    <c:v>55–59</c:v>
                  </c:pt>
                  <c:pt idx="9">
                    <c:v>60+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0.007</c:v>
                </c:pt>
                <c:pt idx="1">
                  <c:v>0.087</c:v>
                </c:pt>
                <c:pt idx="2">
                  <c:v>0.179</c:v>
                </c:pt>
                <c:pt idx="3">
                  <c:v>0.206</c:v>
                </c:pt>
                <c:pt idx="4">
                  <c:v>0.176</c:v>
                </c:pt>
                <c:pt idx="5">
                  <c:v>0.144</c:v>
                </c:pt>
                <c:pt idx="6">
                  <c:v>0.101</c:v>
                </c:pt>
                <c:pt idx="7">
                  <c:v>0.056</c:v>
                </c:pt>
                <c:pt idx="8">
                  <c:v>0.027</c:v>
                </c:pt>
                <c:pt idx="9">
                  <c:v>0.017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9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DAD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F6B7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300" b="1" i="0" u="none" strike="noStrike">
                <a:solidFill>
                  <a:srgbClr val="051C2C"/>
                </a:solidFill>
                <a:latin typeface="+mn-lt"/>
              </a:defRPr>
            </a:pPr>
            <a:r>
              <a:rPr sz="1300" b="1" i="0" u="none" strike="noStrike">
                <a:solidFill>
                  <a:srgbClr val="051C2C"/>
                </a:solidFill>
                <a:latin typeface="+mn-lt"/>
              </a:rPr>
              <a:t>% of partner customers in each job who joined CLICX (number of CLICX customers)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Joined CLICX</c:v>
                </c:pt>
              </c:strCache>
            </c:strRef>
          </c:tx>
          <c:spPr>
            <a:solidFill>
              <a:srgbClr val="2251FF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51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251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51C2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51C2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51C2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2AAAD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Freelancer (232K)</c:v>
                  </c:pt>
                  <c:pt idx="1">
                    <c:v>Rider / driver (66K)</c:v>
                  </c:pt>
                  <c:pt idx="2">
                    <c:v>Manual worker (401K)</c:v>
                  </c:pt>
                  <c:pt idx="3">
                    <c:v>Office worker (700K)</c:v>
                  </c:pt>
                  <c:pt idx="4">
                    <c:v>Shop owner (293K)</c:v>
                  </c:pt>
                  <c:pt idx="5">
                    <c:v>Unknown (129K)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</c:v>
                </c:pt>
                <c:pt idx="1">
                  <c:v>0.22</c:v>
                </c:pt>
                <c:pt idx="2">
                  <c:v>0.16</c:v>
                </c:pt>
                <c:pt idx="3">
                  <c:v>0.09</c:v>
                </c:pt>
                <c:pt idx="4">
                  <c:v>0.09</c:v>
                </c:pt>
                <c:pt idx="5">
                  <c:v>0.004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5DAD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B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6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300" b="1" i="0" u="none" strike="noStrike">
                <a:solidFill>
                  <a:srgbClr val="051C2C"/>
                </a:solidFill>
                <a:latin typeface="+mn-lt"/>
              </a:defRPr>
            </a:pPr>
            <a:r>
              <a:rPr sz="1300" b="1" i="0" u="none" strike="noStrike">
                <a:solidFill>
                  <a:srgbClr val="051C2C"/>
                </a:solidFill>
                <a:latin typeface="+mn-lt"/>
              </a:rPr>
              <a:t>What each job type actually uses, % of its CLICX customers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Got a loan</c:v>
                </c:pt>
              </c:strCache>
            </c:strRef>
          </c:tx>
          <c:spPr>
            <a:solidFill>
              <a:srgbClr val="051C2C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Office worker</c:v>
                  </c:pt>
                  <c:pt idx="1">
                    <c:v>Shop owner</c:v>
                  </c:pt>
                  <c:pt idx="2">
                    <c:v>Manual worker</c:v>
                  </c:pt>
                  <c:pt idx="3">
                    <c:v>Freelancer</c:v>
                  </c:pt>
                  <c:pt idx="4">
                    <c:v>Rider / driver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0.11</c:v>
                </c:pt>
                <c:pt idx="1">
                  <c:v>0.07</c:v>
                </c:pt>
                <c:pt idx="2">
                  <c:v>0.07</c:v>
                </c:pt>
                <c:pt idx="3">
                  <c:v>0.06</c:v>
                </c:pt>
                <c:pt idx="4">
                  <c:v>0.05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Keeps money in CLICX</c:v>
                </c:pt>
              </c:strCache>
            </c:strRef>
          </c:tx>
          <c:spPr>
            <a:solidFill>
              <a:srgbClr val="2251FF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Office worker</c:v>
                  </c:pt>
                  <c:pt idx="1">
                    <c:v>Shop owner</c:v>
                  </c:pt>
                  <c:pt idx="2">
                    <c:v>Manual worker</c:v>
                  </c:pt>
                  <c:pt idx="3">
                    <c:v>Freelancer</c:v>
                  </c:pt>
                  <c:pt idx="4">
                    <c:v>Rider / driver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0.18</c:v>
                </c:pt>
                <c:pt idx="1">
                  <c:v>0.2</c:v>
                </c:pt>
                <c:pt idx="2">
                  <c:v>0.12</c:v>
                </c:pt>
                <c:pt idx="3">
                  <c:v>0.16</c:v>
                </c:pt>
                <c:pt idx="4">
                  <c:v>0.13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Paid with CLICX in Sep</c:v>
                </c:pt>
              </c:strCache>
            </c:strRef>
          </c:tx>
          <c:spPr>
            <a:solidFill>
              <a:srgbClr val="00A9F4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Office worker</c:v>
                  </c:pt>
                  <c:pt idx="1">
                    <c:v>Shop owner</c:v>
                  </c:pt>
                  <c:pt idx="2">
                    <c:v>Manual worker</c:v>
                  </c:pt>
                  <c:pt idx="3">
                    <c:v>Freelancer</c:v>
                  </c:pt>
                  <c:pt idx="4">
                    <c:v>Rider / driver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0.14</c:v>
                </c:pt>
                <c:pt idx="1">
                  <c:v>0.14</c:v>
                </c:pt>
                <c:pt idx="2">
                  <c:v>0.1</c:v>
                </c:pt>
                <c:pt idx="3">
                  <c:v>0.12</c:v>
                </c:pt>
                <c:pt idx="4">
                  <c:v>0.11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5DAD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F6B7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300" b="1" i="0" u="none" strike="noStrike">
                <a:solidFill>
                  <a:srgbClr val="051C2C"/>
                </a:solidFill>
                <a:latin typeface="+mn-lt"/>
              </a:defRPr>
            </a:pPr>
            <a:r>
              <a:rPr sz="1300" b="1" i="0" u="none" strike="noStrike">
                <a:solidFill>
                  <a:srgbClr val="051C2C"/>
                </a:solidFill>
                <a:latin typeface="+mn-lt"/>
              </a:rPr>
              <a:t>Job type of active vs inactive customers, %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customers (358K)</c:v>
                </c:pt>
              </c:strCache>
            </c:strRef>
          </c:tx>
          <c:spPr>
            <a:solidFill>
              <a:srgbClr val="051C2C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Office worker (23% active)</c:v>
                  </c:pt>
                  <c:pt idx="1">
                    <c:v>Shop owner (23%)</c:v>
                  </c:pt>
                  <c:pt idx="2">
                    <c:v>Manual worker (16%)</c:v>
                  </c:pt>
                  <c:pt idx="3">
                    <c:v>Freelancer (18%)</c:v>
                  </c:pt>
                  <c:pt idx="4">
                    <c:v>Rider / driver (15%)</c:v>
                  </c:pt>
                  <c:pt idx="5">
                    <c:v>Unknown job (8%)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0.458</c:v>
                </c:pt>
                <c:pt idx="1">
                  <c:v>0.19</c:v>
                </c:pt>
                <c:pt idx="2">
                  <c:v>0.179</c:v>
                </c:pt>
                <c:pt idx="3">
                  <c:v>0.117</c:v>
                </c:pt>
                <c:pt idx="4">
                  <c:v>0.028</c:v>
                </c:pt>
                <c:pt idx="5">
                  <c:v>0.028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Inactive customers (1.46M)</c:v>
                </c:pt>
              </c:strCache>
            </c:strRef>
          </c:tx>
          <c:spPr>
            <a:solidFill>
              <a:srgbClr val="D5DADF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Office worker (23% active)</c:v>
                  </c:pt>
                  <c:pt idx="1">
                    <c:v>Shop owner (23%)</c:v>
                  </c:pt>
                  <c:pt idx="2">
                    <c:v>Manual worker (16%)</c:v>
                  </c:pt>
                  <c:pt idx="3">
                    <c:v>Freelancer (18%)</c:v>
                  </c:pt>
                  <c:pt idx="4">
                    <c:v>Rider / driver (15%)</c:v>
                  </c:pt>
                  <c:pt idx="5">
                    <c:v>Unknown job (8%)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0.367</c:v>
                </c:pt>
                <c:pt idx="1">
                  <c:v>0.154</c:v>
                </c:pt>
                <c:pt idx="2">
                  <c:v>0.231</c:v>
                </c:pt>
                <c:pt idx="3">
                  <c:v>0.13</c:v>
                </c:pt>
                <c:pt idx="4">
                  <c:v>0.038</c:v>
                </c:pt>
                <c:pt idx="5">
                  <c:v>0.081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5DAD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F6B7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300" b="1" i="0" u="none" strike="noStrike">
                <a:solidFill>
                  <a:srgbClr val="051C2C"/>
                </a:solidFill>
                <a:latin typeface="+mn-lt"/>
              </a:defRPr>
            </a:pPr>
            <a:r>
              <a:rPr sz="1300" b="1" i="0" u="none" strike="noStrike">
                <a:solidFill>
                  <a:srgbClr val="051C2C"/>
                </a:solidFill>
                <a:latin typeface="+mn-lt"/>
              </a:rPr>
              <a:t>% active in CLICX, by type of AIS customer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in CLICX</c:v>
                </c:pt>
              </c:strCache>
            </c:strRef>
          </c:tx>
          <c:spPr>
            <a:solidFill>
              <a:srgbClr val="051C2C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51C2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1C2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2AAA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2AAA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2AAA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2AAA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9475C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Home internet only</c:v>
                  </c:pt>
                  <c:pt idx="1">
                    <c:v>Monthly phone bill</c:v>
                  </c:pt>
                  <c:pt idx="2">
                    <c:v>Prepaid, pay-per-use</c:v>
                  </c:pt>
                  <c:pt idx="3">
                    <c:v>Prepaid, little spend</c:v>
                  </c:pt>
                  <c:pt idx="4">
                    <c:v>Prepaid, regular top-up</c:v>
                  </c:pt>
                  <c:pt idx="5">
                    <c:v>Prepaid, occasional top-up</c:v>
                  </c:pt>
                  <c:pt idx="6">
                    <c:v>Stopped using AIS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0.41</c:v>
                </c:pt>
                <c:pt idx="1">
                  <c:v>0.28</c:v>
                </c:pt>
                <c:pt idx="2">
                  <c:v>0.22</c:v>
                </c:pt>
                <c:pt idx="3">
                  <c:v>0.21</c:v>
                </c:pt>
                <c:pt idx="4">
                  <c:v>0.19</c:v>
                </c:pt>
                <c:pt idx="5">
                  <c:v>0.15</c:v>
                </c:pt>
                <c:pt idx="6">
                  <c:v>0.09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5DAD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300" b="1" i="0" u="none" strike="noStrike">
                <a:solidFill>
                  <a:srgbClr val="051C2C"/>
                </a:solidFill>
                <a:latin typeface="+mn-lt"/>
              </a:defRPr>
            </a:pPr>
            <a:r>
              <a:rPr sz="1300" b="1" i="0" u="none" strike="noStrike">
                <a:solidFill>
                  <a:srgbClr val="051C2C"/>
                </a:solidFill>
                <a:latin typeface="+mn-lt"/>
              </a:rPr>
              <a:t>% who pay with CLICX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Pays with CLICX</c:v>
                </c:pt>
              </c:strCache>
            </c:strRef>
          </c:tx>
          <c:spPr>
            <a:solidFill>
              <a:srgbClr val="051C2C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51C2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2AAA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475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Got a loan</c:v>
                  </c:pt>
                  <c:pt idx="1">
                    <c:v>Never turned down</c:v>
                  </c:pt>
                  <c:pt idx="2">
                    <c:v>Turned down for a loan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0.51</c:v>
                </c:pt>
                <c:pt idx="1">
                  <c:v>0.16</c:v>
                </c:pt>
                <c:pt idx="2">
                  <c:v>0.08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DAD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300" b="1" i="0" u="none" strike="noStrike">
                <a:solidFill>
                  <a:srgbClr val="051C2C"/>
                </a:solidFill>
                <a:latin typeface="+mn-lt"/>
              </a:defRPr>
            </a:pPr>
            <a:r>
              <a:rPr sz="1300" b="1" i="0" u="none" strike="noStrike">
                <a:solidFill>
                  <a:srgbClr val="051C2C"/>
                </a:solidFill>
                <a:latin typeface="+mn-lt"/>
              </a:rPr>
              <a:t>Customers we share with KTB, by how they use KTB, %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shared customers</c:v>
                </c:pt>
              </c:strCache>
            </c:strRef>
          </c:tx>
          <c:spPr>
            <a:solidFill>
              <a:srgbClr val="D9475C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47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2AAA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251F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251F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Loyal to KTB (at risk)</c:v>
                  </c:pt>
                  <c:pt idx="1">
                    <c:v>Uses KTB and other banks</c:v>
                  </c:pt>
                  <c:pt idx="2">
                    <c:v>Loyal to other banks (won back)</c:v>
                  </c:pt>
                  <c:pt idx="3">
                    <c:v>Stopped using KTB (brought back)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0.13</c:v>
                </c:pt>
                <c:pt idx="1">
                  <c:v>0.26</c:v>
                </c:pt>
                <c:pt idx="2">
                  <c:v>0.31</c:v>
                </c:pt>
                <c:pt idx="3">
                  <c:v>0.3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5DAD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300" b="1" i="0" u="none" strike="noStrike">
                <a:solidFill>
                  <a:srgbClr val="051C2C"/>
                </a:solidFill>
                <a:latin typeface="+mn-lt"/>
              </a:defRPr>
            </a:pPr>
            <a:r>
              <a:rPr sz="1300" b="1" i="0" u="none" strike="noStrike">
                <a:solidFill>
                  <a:srgbClr val="051C2C"/>
                </a:solidFill>
                <a:latin typeface="+mn-lt"/>
              </a:rPr>
              <a:t>% of each KTB group who joined CLICX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Joined CLICX</c:v>
                </c:pt>
              </c:strCache>
            </c:strRef>
          </c:tx>
          <c:spPr>
            <a:solidFill>
              <a:srgbClr val="D9475C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47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2AAA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251F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251F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Loyal to KTB</c:v>
                  </c:pt>
                  <c:pt idx="1">
                    <c:v>KTB and others</c:v>
                  </c:pt>
                  <c:pt idx="2">
                    <c:v>Other banks</c:v>
                  </c:pt>
                  <c:pt idx="3">
                    <c:v>Stopped KTB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0.033</c:v>
                </c:pt>
                <c:pt idx="1">
                  <c:v>0.074</c:v>
                </c:pt>
                <c:pt idx="2">
                  <c:v>0.079</c:v>
                </c:pt>
                <c:pt idx="3">
                  <c:v>0.03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5DAD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300" b="1" i="0" u="none" strike="noStrike">
                <a:solidFill>
                  <a:srgbClr val="051C2C"/>
                </a:solidFill>
                <a:latin typeface="+mn-lt"/>
              </a:defRPr>
            </a:pPr>
            <a:r>
              <a:rPr sz="1300" b="1" i="0" u="none" strike="noStrike">
                <a:solidFill>
                  <a:srgbClr val="051C2C"/>
                </a:solidFill>
                <a:latin typeface="+mn-lt"/>
              </a:rPr>
              <a:t>CLICX lending that KTB's Jai-pump loan does not cover, thousand customers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CLICX customers, K</c:v>
                </c:pt>
              </c:strCache>
            </c:strRef>
          </c:tx>
          <c:spPr>
            <a:solidFill>
              <a:srgbClr val="2251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51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1C2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51C2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Our borrowers with no KTB loan</c:v>
                  </c:pt>
                  <c:pt idx="1">
                    <c:v>Turned down by KTB, applied to us</c:v>
                  </c:pt>
                  <c:pt idx="2">
                    <c:v>Turned down by KTB, got our loan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116</c:v>
                </c:pt>
                <c:pt idx="1">
                  <c:v>156</c:v>
                </c:pt>
                <c:pt idx="2">
                  <c:v>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5DAD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9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828800"/>
            <a:ext cx="10515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240280"/>
            <a:ext cx="10515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611880"/>
            <a:ext cx="9601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31520" y="576072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pic>
        <p:nvPicPr>
          <p:cNvPr id="6" name="Image 0" descr="CLICX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7272" y="457200"/>
            <a:ext cx="1554480" cy="3895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481328"/>
            <a:ext cx="11274552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6327648"/>
            <a:ext cx="102412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6E7C87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pic>
        <p:nvPicPr>
          <p:cNvPr id="6" name="Image 0" descr="CLICX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182880"/>
            <a:ext cx="109728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C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C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828800"/>
            <a:ext cx="1051560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CUSTOMER INSIGHTS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2402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Who is CLICX really winning, and at whose expense?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6118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Five simple questions about our first 1.8 million customers: where they come from, who they are, what they use, who keeps using us, and whether we take customers away from KTB</a:t>
            </a: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31520" y="576072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October 2026  |  CLICX data as of Sep 2026; AIS, KTB, OR data as of Apr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EXECUTIVE SUMMARY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What have our first 1.8 million customers told us?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481328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Our partners bring in almost everyone. Customers are mostly 25–39 and come to borrow. We mostly win people KTB had already lost, not KTB's loyal customers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632764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C87"/>
                </a:solidFill>
              </a:rPr>
              <a:t>Source: CLICX, AIS, KTB and OR customer data</a:t>
            </a:r>
            <a:endParaRPr lang="en-US" sz="1000" dirty="0"/>
          </a:p>
        </p:txBody>
      </p:sp>
      <p:graphicFrame>
        <p:nvGraphicFramePr>
          <p:cNvPr id="3" name="Summar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4552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291840"/>
                <a:gridCol w="1920240"/>
                <a:gridCol w="565099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Question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 answer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we say so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C2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 all CLICX customers come from our partners' customers?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5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Almost all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96% were already KTB, AIS or OR customers. Only 51K came from outside. But just 3.7% of partner customers have joined so far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 our customers the people we planned for?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5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Mostly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Tech-savvy people and freelancers sign up far more than others, as planned. People who use several banks and over-40s are hard to win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 different customers come for different products?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5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reason, different use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Almost everyone (84–92%) applies for a loan. Office workers get loans, shop owners keep savings, gig workers are mostly turned down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 active customers different from inactive ones?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5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customers are mostly office workers and shop owners with monthly phone bills. Inactive ones are often manual workers or people turned down for a loan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 we take customers or products away from KTB?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47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little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13% of shared customers are loyal to KTB. Most used other banks or had stopped using KTB. 116K of our borrowers have no KTB loan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C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Q1  |  WHERE CUSTOMERS COME FROM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Do all current CLICX customers come from our partners' customers?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481328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Almost all. 96% were already customers of KTB, AIS or OR, and only 51K came from outside. Yet only 3.7% of partner customers have joined, so there is plenty of room to grow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632764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C87"/>
                </a:solidFill>
              </a:rPr>
              <a:t>Source: CLICX customer data (Sep 2026); AIS, KTB, OR customer data (Apr 2026)</a:t>
            </a:r>
            <a:endParaRPr lang="en-US" sz="1000" dirty="0"/>
          </a:p>
        </p:txBody>
      </p:sp>
      <p:sp>
        <p:nvSpPr>
          <p:cNvPr id="6" name="Stat 96%"/>
          <p:cNvSpPr txBox="1"/>
          <p:nvPr/>
        </p:nvSpPr>
        <p:spPr>
          <a:xfrm>
            <a:off x="457200" y="2194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96%</a:t>
            </a:r>
            <a:endParaRPr lang="en-US" sz="4000" dirty="0"/>
          </a:p>
        </p:txBody>
      </p:sp>
      <p:sp>
        <p:nvSpPr>
          <p:cNvPr id="7" name="Stat label 96%"/>
          <p:cNvSpPr txBox="1"/>
          <p:nvPr/>
        </p:nvSpPr>
        <p:spPr>
          <a:xfrm>
            <a:off x="457200" y="28529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of our 1.8M customers were already partner customers</a:t>
            </a:r>
            <a:endParaRPr lang="en-US" sz="1200" dirty="0"/>
          </a:p>
        </p:txBody>
      </p:sp>
      <p:sp>
        <p:nvSpPr>
          <p:cNvPr id="8" name="Stat 51K"/>
          <p:cNvSpPr txBox="1"/>
          <p:nvPr/>
        </p:nvSpPr>
        <p:spPr>
          <a:xfrm>
            <a:off x="457200" y="35204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51K</a:t>
            </a:r>
            <a:endParaRPr lang="en-US" sz="4000" dirty="0"/>
          </a:p>
        </p:txBody>
      </p:sp>
      <p:sp>
        <p:nvSpPr>
          <p:cNvPr id="9" name="Stat label 51K"/>
          <p:cNvSpPr txBox="1"/>
          <p:nvPr/>
        </p:nvSpPr>
        <p:spPr>
          <a:xfrm>
            <a:off x="457200" y="41788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customers came from outside our partners</a:t>
            </a:r>
            <a:endParaRPr lang="en-US" sz="1200" dirty="0"/>
          </a:p>
        </p:txBody>
      </p:sp>
      <p:sp>
        <p:nvSpPr>
          <p:cNvPr id="10" name="Stat 3.7%"/>
          <p:cNvSpPr txBox="1"/>
          <p:nvPr/>
        </p:nvSpPr>
        <p:spPr>
          <a:xfrm>
            <a:off x="457200" y="4846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3.7%</a:t>
            </a:r>
            <a:endParaRPr lang="en-US" sz="4000" dirty="0"/>
          </a:p>
        </p:txBody>
      </p:sp>
      <p:sp>
        <p:nvSpPr>
          <p:cNvPr id="11" name="Stat label 3.7%"/>
          <p:cNvSpPr txBox="1"/>
          <p:nvPr/>
        </p:nvSpPr>
        <p:spPr>
          <a:xfrm>
            <a:off x="457200" y="55046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of 49M partner customers have joined CLICX</a:t>
            </a:r>
            <a:endParaRPr lang="en-US" sz="1200" dirty="0"/>
          </a:p>
        </p:txBody>
      </p:sp>
      <p:graphicFrame>
        <p:nvGraphicFramePr>
          <p:cNvPr id="12" name="Partner reach" descr=""/>
          <p:cNvGraphicFramePr/>
          <p:nvPr/>
        </p:nvGraphicFramePr>
        <p:xfrm>
          <a:off x="3017520" y="2148840"/>
          <a:ext cx="51206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Insight panel"/>
          <p:cNvSpPr/>
          <p:nvPr/>
        </p:nvSpPr>
        <p:spPr>
          <a:xfrm>
            <a:off x="8275320" y="2148840"/>
            <a:ext cx="3456432" cy="39776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Insight header"/>
          <p:cNvSpPr txBox="1"/>
          <p:nvPr/>
        </p:nvSpPr>
        <p:spPr>
          <a:xfrm>
            <a:off x="8503920" y="231343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SO WHAT</a:t>
            </a:r>
            <a:endParaRPr lang="en-US" sz="1100" dirty="0"/>
          </a:p>
        </p:txBody>
      </p:sp>
      <p:sp>
        <p:nvSpPr>
          <p:cNvPr id="15" name="Badge 1"/>
          <p:cNvSpPr/>
          <p:nvPr/>
        </p:nvSpPr>
        <p:spPr>
          <a:xfrm>
            <a:off x="8503920" y="2715768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6" name="Badge num 1"/>
          <p:cNvSpPr txBox="1"/>
          <p:nvPr/>
        </p:nvSpPr>
        <p:spPr>
          <a:xfrm>
            <a:off x="8503920" y="2715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7" name="Insight 1"/>
          <p:cNvSpPr txBox="1"/>
          <p:nvPr/>
        </p:nvSpPr>
        <p:spPr>
          <a:xfrm>
            <a:off x="8915400" y="2670048"/>
            <a:ext cx="2633472" cy="105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KTB is the front door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9 in 10 of our customers bank with KTB, mostly joining through the Paotang app</a:t>
            </a:r>
            <a:endParaRPr lang="en-US" sz="1400" dirty="0"/>
          </a:p>
        </p:txBody>
      </p:sp>
      <p:sp>
        <p:nvSpPr>
          <p:cNvPr id="18" name="Badge 2"/>
          <p:cNvSpPr/>
          <p:nvPr/>
        </p:nvSpPr>
        <p:spPr>
          <a:xfrm>
            <a:off x="8503920" y="3843528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9" name="Badge num 2"/>
          <p:cNvSpPr txBox="1"/>
          <p:nvPr/>
        </p:nvSpPr>
        <p:spPr>
          <a:xfrm>
            <a:off x="8503920" y="3843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20" name="Insight 2"/>
          <p:cNvSpPr txBox="1"/>
          <p:nvPr/>
        </p:nvSpPr>
        <p:spPr>
          <a:xfrm>
            <a:off x="8915400" y="3797808"/>
            <a:ext cx="2633472" cy="105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Most know us through 2+ partners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That gives us more data to judge who to lend to and what else to offer</a:t>
            </a:r>
            <a:endParaRPr lang="en-US" sz="1400" dirty="0"/>
          </a:p>
        </p:txBody>
      </p:sp>
      <p:sp>
        <p:nvSpPr>
          <p:cNvPr id="21" name="Badge 3"/>
          <p:cNvSpPr/>
          <p:nvPr/>
        </p:nvSpPr>
        <p:spPr>
          <a:xfrm>
            <a:off x="8503920" y="4971288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2" name="Badge num 3"/>
          <p:cNvSpPr txBox="1"/>
          <p:nvPr/>
        </p:nvSpPr>
        <p:spPr>
          <a:xfrm>
            <a:off x="8503920" y="4971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Insight 3"/>
          <p:cNvSpPr txBox="1"/>
          <p:nvPr/>
        </p:nvSpPr>
        <p:spPr>
          <a:xfrm>
            <a:off x="8915400" y="4925568"/>
            <a:ext cx="2633472" cy="105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AIS is the biggest opportunity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Only 3.7% of AIS's ~32M customers have joined, against 7.4% for OR and 4.7% for KTB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C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Q2  |  WHO OUR CUSTOMERS ARE  (1/3)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Are the people who come to CLICX the ones we planned for?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481328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Mostly yes. Tech-savvy people, our main target, join at twice the average rate, and one-bank users bring the most customers. People who use several banks are not yet won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632764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C87"/>
                </a:solidFill>
              </a:rPr>
              <a:t>Source: CLICX customer data (Sep 2026); AIS, KTB, OR customer data (Apr 2026)</a:t>
            </a:r>
            <a:endParaRPr lang="en-US" sz="1000" dirty="0"/>
          </a:p>
        </p:txBody>
      </p:sp>
      <p:graphicFrame>
        <p:nvGraphicFramePr>
          <p:cNvPr id="6" name="Persona mix" descr=""/>
          <p:cNvGraphicFramePr/>
          <p:nvPr/>
        </p:nvGraphicFramePr>
        <p:xfrm>
          <a:off x="457200" y="2148840"/>
          <a:ext cx="76809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Insight panel"/>
          <p:cNvSpPr/>
          <p:nvPr/>
        </p:nvSpPr>
        <p:spPr>
          <a:xfrm>
            <a:off x="8275320" y="2148840"/>
            <a:ext cx="3456432" cy="39776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Insight header"/>
          <p:cNvSpPr txBox="1"/>
          <p:nvPr/>
        </p:nvSpPr>
        <p:spPr>
          <a:xfrm>
            <a:off x="8503920" y="231343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SO WHAT</a:t>
            </a:r>
            <a:endParaRPr lang="en-US" sz="1100" dirty="0"/>
          </a:p>
        </p:txBody>
      </p:sp>
      <p:sp>
        <p:nvSpPr>
          <p:cNvPr id="9" name="Badge 1"/>
          <p:cNvSpPr/>
          <p:nvPr/>
        </p:nvSpPr>
        <p:spPr>
          <a:xfrm>
            <a:off x="8503920" y="2715768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Badge num 1"/>
          <p:cNvSpPr txBox="1"/>
          <p:nvPr/>
        </p:nvSpPr>
        <p:spPr>
          <a:xfrm>
            <a:off x="8503920" y="2715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Insight 1"/>
          <p:cNvSpPr txBox="1"/>
          <p:nvPr/>
        </p:nvSpPr>
        <p:spPr>
          <a:xfrm>
            <a:off x="8915400" y="2670048"/>
            <a:ext cx="2633472" cy="105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Tech-savvy: target hit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28% of our customers vs 13% of partner customers. Best of all at ages 30–34, where 13% have joined</a:t>
            </a:r>
            <a:endParaRPr lang="en-US" sz="1400" dirty="0"/>
          </a:p>
        </p:txBody>
      </p:sp>
      <p:sp>
        <p:nvSpPr>
          <p:cNvPr id="12" name="Badge 2"/>
          <p:cNvSpPr/>
          <p:nvPr/>
        </p:nvSpPr>
        <p:spPr>
          <a:xfrm>
            <a:off x="8503920" y="3843528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Badge num 2"/>
          <p:cNvSpPr txBox="1"/>
          <p:nvPr/>
        </p:nvSpPr>
        <p:spPr>
          <a:xfrm>
            <a:off x="8503920" y="3843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Insight 2"/>
          <p:cNvSpPr txBox="1"/>
          <p:nvPr/>
        </p:nvSpPr>
        <p:spPr>
          <a:xfrm>
            <a:off x="8915400" y="3797808"/>
            <a:ext cx="2633472" cy="105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One-bank users: the biggest group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850K customers, almost half of CLICX. 577K are KTB customers who do not use AIS</a:t>
            </a:r>
            <a:endParaRPr lang="en-US" sz="1400" dirty="0"/>
          </a:p>
        </p:txBody>
      </p:sp>
      <p:sp>
        <p:nvSpPr>
          <p:cNvPr id="15" name="Badge 3"/>
          <p:cNvSpPr/>
          <p:nvPr/>
        </p:nvSpPr>
        <p:spPr>
          <a:xfrm>
            <a:off x="8503920" y="4971288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6" name="Badge num 3"/>
          <p:cNvSpPr txBox="1"/>
          <p:nvPr/>
        </p:nvSpPr>
        <p:spPr>
          <a:xfrm>
            <a:off x="8503920" y="4971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Insight 3"/>
          <p:cNvSpPr txBox="1"/>
          <p:nvPr/>
        </p:nvSpPr>
        <p:spPr>
          <a:xfrm>
            <a:off x="8915400" y="4925568"/>
            <a:ext cx="2633472" cy="105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Multi-bank users: not won yet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8.2M people, but only 2.4% have joined. People who already shop around need a stronger reason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C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Q2  |  WHO OUR CUSTOMERS ARE  (2/3)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Do our customers' ages match the people we can reach?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481328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No. Most partner customers are over 40, but most of ours are 25–39 (56% of CLICX vs 29% of partner customers). Few people over 45 join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632764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C87"/>
                </a:solidFill>
              </a:rPr>
              <a:t>Source: CLICX customer data (Sep 2026); AIS, KTB, OR customer data (Apr 2026)</a:t>
            </a:r>
            <a:endParaRPr lang="en-US" sz="1000" dirty="0"/>
          </a:p>
        </p:txBody>
      </p:sp>
      <p:graphicFrame>
        <p:nvGraphicFramePr>
          <p:cNvPr id="6" name="Age mix" descr=""/>
          <p:cNvGraphicFramePr/>
          <p:nvPr/>
        </p:nvGraphicFramePr>
        <p:xfrm>
          <a:off x="457200" y="2148840"/>
          <a:ext cx="76809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Insight panel"/>
          <p:cNvSpPr/>
          <p:nvPr/>
        </p:nvSpPr>
        <p:spPr>
          <a:xfrm>
            <a:off x="8275320" y="2148840"/>
            <a:ext cx="3456432" cy="39776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Insight header"/>
          <p:cNvSpPr txBox="1"/>
          <p:nvPr/>
        </p:nvSpPr>
        <p:spPr>
          <a:xfrm>
            <a:off x="8503920" y="231343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SO WHAT</a:t>
            </a:r>
            <a:endParaRPr lang="en-US" sz="1100" dirty="0"/>
          </a:p>
        </p:txBody>
      </p:sp>
      <p:sp>
        <p:nvSpPr>
          <p:cNvPr id="9" name="Badge 1"/>
          <p:cNvSpPr/>
          <p:nvPr/>
        </p:nvSpPr>
        <p:spPr>
          <a:xfrm>
            <a:off x="8503920" y="2715768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Badge num 1"/>
          <p:cNvSpPr txBox="1"/>
          <p:nvPr/>
        </p:nvSpPr>
        <p:spPr>
          <a:xfrm>
            <a:off x="8503920" y="2715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Insight 1"/>
          <p:cNvSpPr txBox="1"/>
          <p:nvPr/>
        </p:nvSpPr>
        <p:spPr>
          <a:xfrm>
            <a:off x="8915400" y="2670048"/>
            <a:ext cx="2633472" cy="105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25–39 is our sweet spot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1.05M customers. About 8–9% of people this age have joined, more than twice the average</a:t>
            </a:r>
            <a:endParaRPr lang="en-US" sz="1400" dirty="0"/>
          </a:p>
        </p:txBody>
      </p:sp>
      <p:sp>
        <p:nvSpPr>
          <p:cNvPr id="12" name="Badge 2"/>
          <p:cNvSpPr/>
          <p:nvPr/>
        </p:nvSpPr>
        <p:spPr>
          <a:xfrm>
            <a:off x="8503920" y="3843528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Badge num 2"/>
          <p:cNvSpPr txBox="1"/>
          <p:nvPr/>
        </p:nvSpPr>
        <p:spPr>
          <a:xfrm>
            <a:off x="8503920" y="3843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Insight 2"/>
          <p:cNvSpPr txBox="1"/>
          <p:nvPr/>
        </p:nvSpPr>
        <p:spPr>
          <a:xfrm>
            <a:off x="8915400" y="3797808"/>
            <a:ext cx="2633472" cy="105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Older customers are untouched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Over-40s are 58% of partner customers but 34% of ours. Only 0.3% of 9.4M over-60s have joined</a:t>
            </a:r>
            <a:endParaRPr lang="en-US" sz="1400" dirty="0"/>
          </a:p>
        </p:txBody>
      </p:sp>
      <p:sp>
        <p:nvSpPr>
          <p:cNvPr id="15" name="Badge 3"/>
          <p:cNvSpPr/>
          <p:nvPr/>
        </p:nvSpPr>
        <p:spPr>
          <a:xfrm>
            <a:off x="8503920" y="4971288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6" name="Badge num 3"/>
          <p:cNvSpPr txBox="1"/>
          <p:nvPr/>
        </p:nvSpPr>
        <p:spPr>
          <a:xfrm>
            <a:off x="8503920" y="4971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Insight 3"/>
          <p:cNvSpPr txBox="1"/>
          <p:nvPr/>
        </p:nvSpPr>
        <p:spPr>
          <a:xfrm>
            <a:off x="8915400" y="4925568"/>
            <a:ext cx="2633472" cy="105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Plenty left in our core group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2.1M tech-savvy 25–39s and 5.4M one-bank 25–39s have not joined yet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C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Q2  |  WHO OUR CUSTOMERS ARE  (3/3)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Are we reaching people with real income but no payslip, as our strategy says?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481328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Yes. Freelancers (40%) and riders/drivers (22%) join far more than anyone else, and 35% of our loans go to people banks usually turn away, above our 30% goal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632764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C87"/>
                </a:solidFill>
              </a:rPr>
              <a:t>Source: CLICX, AIS, KTB, OR matched occupation data (Oct 2026); CLICX 5-Year Business Plan</a:t>
            </a:r>
            <a:endParaRPr lang="en-US" sz="1000" dirty="0"/>
          </a:p>
        </p:txBody>
      </p:sp>
      <p:graphicFrame>
        <p:nvGraphicFramePr>
          <p:cNvPr id="6" name="Occupation penetration" descr=""/>
          <p:cNvGraphicFramePr/>
          <p:nvPr/>
        </p:nvGraphicFramePr>
        <p:xfrm>
          <a:off x="457200" y="2148840"/>
          <a:ext cx="76809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Insight panel"/>
          <p:cNvSpPr/>
          <p:nvPr/>
        </p:nvSpPr>
        <p:spPr>
          <a:xfrm>
            <a:off x="8275320" y="2148840"/>
            <a:ext cx="3456432" cy="39776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Insight header"/>
          <p:cNvSpPr txBox="1"/>
          <p:nvPr/>
        </p:nvSpPr>
        <p:spPr>
          <a:xfrm>
            <a:off x="8503920" y="231343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SO WHAT</a:t>
            </a:r>
            <a:endParaRPr lang="en-US" sz="1100" dirty="0"/>
          </a:p>
        </p:txBody>
      </p:sp>
      <p:sp>
        <p:nvSpPr>
          <p:cNvPr id="9" name="Badge 1"/>
          <p:cNvSpPr/>
          <p:nvPr/>
        </p:nvSpPr>
        <p:spPr>
          <a:xfrm>
            <a:off x="8503920" y="2715768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Badge num 1"/>
          <p:cNvSpPr txBox="1"/>
          <p:nvPr/>
        </p:nvSpPr>
        <p:spPr>
          <a:xfrm>
            <a:off x="8503920" y="2715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Insight 1"/>
          <p:cNvSpPr txBox="1"/>
          <p:nvPr/>
        </p:nvSpPr>
        <p:spPr>
          <a:xfrm>
            <a:off x="8915400" y="2670048"/>
            <a:ext cx="2633472" cy="105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Gig workers love CLICX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4 in 10 freelancers and 2 in 10 riders we can reach have joined. Proof that lending on phone and spending data works</a:t>
            </a:r>
            <a:endParaRPr lang="en-US" sz="1400" dirty="0"/>
          </a:p>
        </p:txBody>
      </p:sp>
      <p:sp>
        <p:nvSpPr>
          <p:cNvPr id="12" name="Badge 2"/>
          <p:cNvSpPr/>
          <p:nvPr/>
        </p:nvSpPr>
        <p:spPr>
          <a:xfrm>
            <a:off x="8503920" y="3843528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Badge num 2"/>
          <p:cNvSpPr txBox="1"/>
          <p:nvPr/>
        </p:nvSpPr>
        <p:spPr>
          <a:xfrm>
            <a:off x="8503920" y="3843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Insight 2"/>
          <p:cNvSpPr txBox="1"/>
          <p:nvPr/>
        </p:nvSpPr>
        <p:spPr>
          <a:xfrm>
            <a:off x="8915400" y="3797808"/>
            <a:ext cx="2633472" cy="105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Workers are the bulk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Office and manual workers are 1.1M customers, over 60% of CLICX</a:t>
            </a:r>
            <a:endParaRPr lang="en-US" sz="1400" dirty="0"/>
          </a:p>
        </p:txBody>
      </p:sp>
      <p:sp>
        <p:nvSpPr>
          <p:cNvPr id="15" name="Badge 3"/>
          <p:cNvSpPr/>
          <p:nvPr/>
        </p:nvSpPr>
        <p:spPr>
          <a:xfrm>
            <a:off x="8503920" y="4971288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6" name="Badge num 3"/>
          <p:cNvSpPr txBox="1"/>
          <p:nvPr/>
        </p:nvSpPr>
        <p:spPr>
          <a:xfrm>
            <a:off x="8503920" y="4971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Insight 3"/>
          <p:cNvSpPr txBox="1"/>
          <p:nvPr/>
        </p:nvSpPr>
        <p:spPr>
          <a:xfrm>
            <a:off x="8915400" y="4925568"/>
            <a:ext cx="2633472" cy="105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Shop owners: room to grow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293K have joined out of 3.3M. A route into small-business loans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C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Q3  |  WHAT THEY COME FOR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Do different types of customer come for the same product or different ones?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481328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same: almost everyone comes to borrow. But what they end up using differs. Office workers get loans, shop owners keep savings, and gig workers are mostly turned down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632764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C87"/>
                </a:solidFill>
              </a:rPr>
              <a:t>Source: CLICX, AIS, KTB, OR matched occupation data (Oct 2026)</a:t>
            </a:r>
            <a:endParaRPr lang="en-US" sz="1000" dirty="0"/>
          </a:p>
        </p:txBody>
      </p:sp>
      <p:sp>
        <p:nvSpPr>
          <p:cNvPr id="6" name="Stat 84–92%"/>
          <p:cNvSpPr txBox="1"/>
          <p:nvPr/>
        </p:nvSpPr>
        <p:spPr>
          <a:xfrm>
            <a:off x="457200" y="2194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84–92%</a:t>
            </a:r>
            <a:endParaRPr lang="en-US" sz="4000" dirty="0"/>
          </a:p>
        </p:txBody>
      </p:sp>
      <p:sp>
        <p:nvSpPr>
          <p:cNvPr id="7" name="Stat label 84–92%"/>
          <p:cNvSpPr txBox="1"/>
          <p:nvPr/>
        </p:nvSpPr>
        <p:spPr>
          <a:xfrm>
            <a:off x="457200" y="28529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of every job type applied for a CLICX loan</a:t>
            </a:r>
            <a:endParaRPr lang="en-US" sz="1200" dirty="0"/>
          </a:p>
        </p:txBody>
      </p:sp>
      <p:sp>
        <p:nvSpPr>
          <p:cNvPr id="8" name="Stat 5–11%"/>
          <p:cNvSpPr txBox="1"/>
          <p:nvPr/>
        </p:nvSpPr>
        <p:spPr>
          <a:xfrm>
            <a:off x="457200" y="3611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5–11%</a:t>
            </a:r>
            <a:endParaRPr lang="en-US" sz="4000" dirty="0"/>
          </a:p>
        </p:txBody>
      </p:sp>
      <p:sp>
        <p:nvSpPr>
          <p:cNvPr id="9" name="Stat label 5–11%"/>
          <p:cNvSpPr txBox="1"/>
          <p:nvPr/>
        </p:nvSpPr>
        <p:spPr>
          <a:xfrm>
            <a:off x="457200" y="42702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actually got a loan</a:t>
            </a:r>
            <a:endParaRPr lang="en-US" sz="1200" dirty="0"/>
          </a:p>
        </p:txBody>
      </p:sp>
      <p:graphicFrame>
        <p:nvGraphicFramePr>
          <p:cNvPr id="10" name="Product use by occupation" descr=""/>
          <p:cNvGraphicFramePr/>
          <p:nvPr/>
        </p:nvGraphicFramePr>
        <p:xfrm>
          <a:off x="2834640" y="2148840"/>
          <a:ext cx="53035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Insight panel"/>
          <p:cNvSpPr/>
          <p:nvPr/>
        </p:nvSpPr>
        <p:spPr>
          <a:xfrm>
            <a:off x="8275320" y="2148840"/>
            <a:ext cx="3456432" cy="39776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Insight header"/>
          <p:cNvSpPr txBox="1"/>
          <p:nvPr/>
        </p:nvSpPr>
        <p:spPr>
          <a:xfrm>
            <a:off x="8503920" y="231343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SO WHAT</a:t>
            </a:r>
            <a:endParaRPr lang="en-US" sz="1100" dirty="0"/>
          </a:p>
        </p:txBody>
      </p:sp>
      <p:sp>
        <p:nvSpPr>
          <p:cNvPr id="13" name="Badge 1"/>
          <p:cNvSpPr/>
          <p:nvPr/>
        </p:nvSpPr>
        <p:spPr>
          <a:xfrm>
            <a:off x="8503920" y="2715768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4" name="Badge num 1"/>
          <p:cNvSpPr txBox="1"/>
          <p:nvPr/>
        </p:nvSpPr>
        <p:spPr>
          <a:xfrm>
            <a:off x="8503920" y="2715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5" name="Insight 1"/>
          <p:cNvSpPr txBox="1"/>
          <p:nvPr/>
        </p:nvSpPr>
        <p:spPr>
          <a:xfrm>
            <a:off x="8915400" y="2670048"/>
            <a:ext cx="2633472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Loans bring everyone in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1.52M customers (84%) have applied for a loan, whatever their job</a:t>
            </a:r>
            <a:endParaRPr lang="en-US" sz="1400" dirty="0"/>
          </a:p>
        </p:txBody>
      </p:sp>
      <p:sp>
        <p:nvSpPr>
          <p:cNvPr id="16" name="Badge 2"/>
          <p:cNvSpPr/>
          <p:nvPr/>
        </p:nvSpPr>
        <p:spPr>
          <a:xfrm>
            <a:off x="8503920" y="3561588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7" name="Badge num 2"/>
          <p:cNvSpPr txBox="1"/>
          <p:nvPr/>
        </p:nvSpPr>
        <p:spPr>
          <a:xfrm>
            <a:off x="8503920" y="35615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8" name="Insight 2"/>
          <p:cNvSpPr txBox="1"/>
          <p:nvPr/>
        </p:nvSpPr>
        <p:spPr>
          <a:xfrm>
            <a:off x="8915400" y="3515868"/>
            <a:ext cx="2633472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Office workers use the most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Most likely to get a loan (11%) and to pay with CLICX (14%)</a:t>
            </a:r>
            <a:endParaRPr lang="en-US" sz="1400" dirty="0"/>
          </a:p>
        </p:txBody>
      </p:sp>
      <p:sp>
        <p:nvSpPr>
          <p:cNvPr id="19" name="Badge 3"/>
          <p:cNvSpPr/>
          <p:nvPr/>
        </p:nvSpPr>
        <p:spPr>
          <a:xfrm>
            <a:off x="8503920" y="4407408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0" name="Badge num 3"/>
          <p:cNvSpPr txBox="1"/>
          <p:nvPr/>
        </p:nvSpPr>
        <p:spPr>
          <a:xfrm>
            <a:off x="8503920" y="4407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Insight 3"/>
          <p:cNvSpPr txBox="1"/>
          <p:nvPr/>
        </p:nvSpPr>
        <p:spPr>
          <a:xfrm>
            <a:off x="8915400" y="4361688"/>
            <a:ext cx="2633472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Shop owners save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Most likely to keep money with us (20%), a natural fit for business accounts and loans</a:t>
            </a:r>
            <a:endParaRPr lang="en-US" sz="1400" dirty="0"/>
          </a:p>
        </p:txBody>
      </p:sp>
      <p:sp>
        <p:nvSpPr>
          <p:cNvPr id="22" name="Badge 4"/>
          <p:cNvSpPr/>
          <p:nvPr/>
        </p:nvSpPr>
        <p:spPr>
          <a:xfrm>
            <a:off x="8503920" y="5253228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3" name="Badge num 4"/>
          <p:cNvSpPr txBox="1"/>
          <p:nvPr/>
        </p:nvSpPr>
        <p:spPr>
          <a:xfrm>
            <a:off x="8503920" y="52532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24" name="Insight 4"/>
          <p:cNvSpPr txBox="1"/>
          <p:nvPr/>
        </p:nvSpPr>
        <p:spPr>
          <a:xfrm>
            <a:off x="8915400" y="5207508"/>
            <a:ext cx="2633472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Gig workers get turned down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Over 90% apply but only 5–7% get a loan. The problem is our approval rules, not demand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C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Q4  |  WHO KEEPS USING US  (1/2)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Are active CLICX customers a different type of person from inactive ones?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481328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Yes. Only 1 in 5 customers is active (has money in CLICX or a CLICX loan). Active customers are mostly office workers and shop owners; inactive ones are more often manual workers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632764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C87"/>
                </a:solidFill>
              </a:rPr>
              <a:t>Source: CLICX, AIS, KTB, OR matched occupation data (Oct 2026)</a:t>
            </a:r>
            <a:endParaRPr lang="en-US" sz="1000" dirty="0"/>
          </a:p>
        </p:txBody>
      </p:sp>
      <p:graphicFrame>
        <p:nvGraphicFramePr>
          <p:cNvPr id="6" name="Active vs inactive mix" descr=""/>
          <p:cNvGraphicFramePr/>
          <p:nvPr/>
        </p:nvGraphicFramePr>
        <p:xfrm>
          <a:off x="457200" y="2148840"/>
          <a:ext cx="76809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Insight panel"/>
          <p:cNvSpPr/>
          <p:nvPr/>
        </p:nvSpPr>
        <p:spPr>
          <a:xfrm>
            <a:off x="8275320" y="2148840"/>
            <a:ext cx="3456432" cy="39776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Insight header"/>
          <p:cNvSpPr txBox="1"/>
          <p:nvPr/>
        </p:nvSpPr>
        <p:spPr>
          <a:xfrm>
            <a:off x="8503920" y="231343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SO WHAT</a:t>
            </a:r>
            <a:endParaRPr lang="en-US" sz="1100" dirty="0"/>
          </a:p>
        </p:txBody>
      </p:sp>
      <p:sp>
        <p:nvSpPr>
          <p:cNvPr id="9" name="Badge 1"/>
          <p:cNvSpPr/>
          <p:nvPr/>
        </p:nvSpPr>
        <p:spPr>
          <a:xfrm>
            <a:off x="8503920" y="2715768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Badge num 1"/>
          <p:cNvSpPr txBox="1"/>
          <p:nvPr/>
        </p:nvSpPr>
        <p:spPr>
          <a:xfrm>
            <a:off x="8503920" y="2715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Insight 1"/>
          <p:cNvSpPr txBox="1"/>
          <p:nvPr/>
        </p:nvSpPr>
        <p:spPr>
          <a:xfrm>
            <a:off x="8915400" y="2670048"/>
            <a:ext cx="2633472" cy="105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Office workers and shop owners stay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65% of active customers vs 52% of inactive ones. About 1 in 4 of them is active</a:t>
            </a:r>
            <a:endParaRPr lang="en-US" sz="1400" dirty="0"/>
          </a:p>
        </p:txBody>
      </p:sp>
      <p:sp>
        <p:nvSpPr>
          <p:cNvPr id="12" name="Badge 2"/>
          <p:cNvSpPr/>
          <p:nvPr/>
        </p:nvSpPr>
        <p:spPr>
          <a:xfrm>
            <a:off x="8503920" y="3843528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Badge num 2"/>
          <p:cNvSpPr txBox="1"/>
          <p:nvPr/>
        </p:nvSpPr>
        <p:spPr>
          <a:xfrm>
            <a:off x="8503920" y="3843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Insight 2"/>
          <p:cNvSpPr txBox="1"/>
          <p:nvPr/>
        </p:nvSpPr>
        <p:spPr>
          <a:xfrm>
            <a:off x="8915400" y="3797808"/>
            <a:ext cx="2633472" cy="105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Manual workers drift away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They apply for a loan, get turned down and stop using CLICX</a:t>
            </a:r>
            <a:endParaRPr lang="en-US" sz="1400" dirty="0"/>
          </a:p>
        </p:txBody>
      </p:sp>
      <p:sp>
        <p:nvSpPr>
          <p:cNvPr id="15" name="Badge 3"/>
          <p:cNvSpPr/>
          <p:nvPr/>
        </p:nvSpPr>
        <p:spPr>
          <a:xfrm>
            <a:off x="8503920" y="4971288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6" name="Badge num 3"/>
          <p:cNvSpPr txBox="1"/>
          <p:nvPr/>
        </p:nvSpPr>
        <p:spPr>
          <a:xfrm>
            <a:off x="8503920" y="4971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Insight 3"/>
          <p:cNvSpPr txBox="1"/>
          <p:nvPr/>
        </p:nvSpPr>
        <p:spPr>
          <a:xfrm>
            <a:off x="8915400" y="4925568"/>
            <a:ext cx="2633472" cy="105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Unknown job, unknown customer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Only 8% are active. Most inactive customers never got a loan or put money in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C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Q4  |  WHO KEEPS USING US  (2/2)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What else separates active customers from inactive ones?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481328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Two things: how they pay for their phone and whether they got a loan. Monthly-bill AIS customers are 3x more active than lapsed ones, and borrowers pay with CLICX 6x more often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632764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C87"/>
                </a:solidFill>
              </a:rPr>
              <a:t>Source: AIS and CLICX matched customer data (Sep 2026)</a:t>
            </a:r>
            <a:endParaRPr lang="en-US" sz="1000" dirty="0"/>
          </a:p>
        </p:txBody>
      </p:sp>
      <p:graphicFrame>
        <p:nvGraphicFramePr>
          <p:cNvPr id="6" name="AIS segment active rate" descr=""/>
          <p:cNvGraphicFramePr/>
          <p:nvPr/>
        </p:nvGraphicFramePr>
        <p:xfrm>
          <a:off x="457200" y="2148840"/>
          <a:ext cx="42062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Paying by product status" descr=""/>
          <p:cNvGraphicFramePr/>
          <p:nvPr/>
        </p:nvGraphicFramePr>
        <p:xfrm>
          <a:off x="4754880" y="2148840"/>
          <a:ext cx="33832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Insight panel"/>
          <p:cNvSpPr/>
          <p:nvPr/>
        </p:nvSpPr>
        <p:spPr>
          <a:xfrm>
            <a:off x="8275320" y="2148840"/>
            <a:ext cx="3456432" cy="39776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Insight header"/>
          <p:cNvSpPr txBox="1"/>
          <p:nvPr/>
        </p:nvSpPr>
        <p:spPr>
          <a:xfrm>
            <a:off x="8503920" y="231343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SO WHAT</a:t>
            </a:r>
            <a:endParaRPr lang="en-US" sz="1100" dirty="0"/>
          </a:p>
        </p:txBody>
      </p:sp>
      <p:sp>
        <p:nvSpPr>
          <p:cNvPr id="10" name="Badge 1"/>
          <p:cNvSpPr/>
          <p:nvPr/>
        </p:nvSpPr>
        <p:spPr>
          <a:xfrm>
            <a:off x="8503920" y="2715768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1" name="Badge num 1"/>
          <p:cNvSpPr txBox="1"/>
          <p:nvPr/>
        </p:nvSpPr>
        <p:spPr>
          <a:xfrm>
            <a:off x="8503920" y="2715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Insight 1"/>
          <p:cNvSpPr txBox="1"/>
          <p:nvPr/>
        </p:nvSpPr>
        <p:spPr>
          <a:xfrm>
            <a:off x="8915400" y="2670048"/>
            <a:ext cx="2633472" cy="105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Steady phone payers stay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Home internet (41%) and monthly-bill (28%) customers are the most active</a:t>
            </a:r>
            <a:endParaRPr lang="en-US" sz="1400" dirty="0"/>
          </a:p>
        </p:txBody>
      </p:sp>
      <p:sp>
        <p:nvSpPr>
          <p:cNvPr id="13" name="Badge 2"/>
          <p:cNvSpPr/>
          <p:nvPr/>
        </p:nvSpPr>
        <p:spPr>
          <a:xfrm>
            <a:off x="8503920" y="3843528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4" name="Badge num 2"/>
          <p:cNvSpPr txBox="1"/>
          <p:nvPr/>
        </p:nvSpPr>
        <p:spPr>
          <a:xfrm>
            <a:off x="8503920" y="3843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Insight 2"/>
          <p:cNvSpPr txBox="1"/>
          <p:nvPr/>
        </p:nvSpPr>
        <p:spPr>
          <a:xfrm>
            <a:off x="8915400" y="3797808"/>
            <a:ext cx="2633472" cy="105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A loan builds the habit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Half of borrowers pay with CLICX, against 8% of people we turned down</a:t>
            </a:r>
            <a:endParaRPr lang="en-US" sz="1400" dirty="0"/>
          </a:p>
        </p:txBody>
      </p:sp>
      <p:sp>
        <p:nvSpPr>
          <p:cNvPr id="16" name="Badge 3"/>
          <p:cNvSpPr/>
          <p:nvPr/>
        </p:nvSpPr>
        <p:spPr>
          <a:xfrm>
            <a:off x="8503920" y="4971288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7" name="Badge num 3"/>
          <p:cNvSpPr txBox="1"/>
          <p:nvPr/>
        </p:nvSpPr>
        <p:spPr>
          <a:xfrm>
            <a:off x="8503920" y="4971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Insight 3"/>
          <p:cNvSpPr txBox="1"/>
          <p:nvPr/>
        </p:nvSpPr>
        <p:spPr>
          <a:xfrm>
            <a:off x="8915400" y="4925568"/>
            <a:ext cx="2633472" cy="105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Saying 'no' loses customers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2 in 3 customers have been turned down for a loan at some point, and most of them never use CLICX again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C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Q5  |  IMPACT ON KTB  (1/2)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Does CLICX take customers away from KTB?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481328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Very little. Of 1.6M customers we share with KTB, only 13% are loyal to KTB. 61% mainly used other banks or had stopped using KTB, so we are winning them back for the group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632764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C87"/>
                </a:solidFill>
              </a:rPr>
              <a:t>Source: KTB and CLICX matched customer data (Oct 2026)</a:t>
            </a:r>
            <a:endParaRPr lang="en-US" sz="1000" dirty="0"/>
          </a:p>
        </p:txBody>
      </p:sp>
      <p:graphicFrame>
        <p:nvGraphicFramePr>
          <p:cNvPr id="6" name="Overlap by KTB relationship" descr=""/>
          <p:cNvGraphicFramePr/>
          <p:nvPr/>
        </p:nvGraphicFramePr>
        <p:xfrm>
          <a:off x="457200" y="2148840"/>
          <a:ext cx="45720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Penetration by KTB group" descr=""/>
          <p:cNvGraphicFramePr/>
          <p:nvPr/>
        </p:nvGraphicFramePr>
        <p:xfrm>
          <a:off x="5120640" y="2148840"/>
          <a:ext cx="30175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Insight panel"/>
          <p:cNvSpPr/>
          <p:nvPr/>
        </p:nvSpPr>
        <p:spPr>
          <a:xfrm>
            <a:off x="8275320" y="2148840"/>
            <a:ext cx="3456432" cy="39776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Insight header"/>
          <p:cNvSpPr txBox="1"/>
          <p:nvPr/>
        </p:nvSpPr>
        <p:spPr>
          <a:xfrm>
            <a:off x="8503920" y="231343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SO WHAT</a:t>
            </a:r>
            <a:endParaRPr lang="en-US" sz="1100" dirty="0"/>
          </a:p>
        </p:txBody>
      </p:sp>
      <p:sp>
        <p:nvSpPr>
          <p:cNvPr id="10" name="Badge 1"/>
          <p:cNvSpPr/>
          <p:nvPr/>
        </p:nvSpPr>
        <p:spPr>
          <a:xfrm>
            <a:off x="8503920" y="2715768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1" name="Badge num 1"/>
          <p:cNvSpPr txBox="1"/>
          <p:nvPr/>
        </p:nvSpPr>
        <p:spPr>
          <a:xfrm>
            <a:off x="8503920" y="2715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Insight 1"/>
          <p:cNvSpPr txBox="1"/>
          <p:nvPr/>
        </p:nvSpPr>
        <p:spPr>
          <a:xfrm>
            <a:off x="8915400" y="2670048"/>
            <a:ext cx="2633472" cy="105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KTB loyalists rarely switch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Only 3.3% of them joined, less than half the rate of people who bank elsewhere (7.9%)</a:t>
            </a:r>
            <a:endParaRPr lang="en-US" sz="1400" dirty="0"/>
          </a:p>
        </p:txBody>
      </p:sp>
      <p:sp>
        <p:nvSpPr>
          <p:cNvPr id="13" name="Badge 2"/>
          <p:cNvSpPr/>
          <p:nvPr/>
        </p:nvSpPr>
        <p:spPr>
          <a:xfrm>
            <a:off x="8503920" y="3843528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4" name="Badge num 2"/>
          <p:cNvSpPr txBox="1"/>
          <p:nvPr/>
        </p:nvSpPr>
        <p:spPr>
          <a:xfrm>
            <a:off x="8503920" y="3843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Insight 2"/>
          <p:cNvSpPr txBox="1"/>
          <p:nvPr/>
        </p:nvSpPr>
        <p:spPr>
          <a:xfrm>
            <a:off x="8915400" y="3797808"/>
            <a:ext cx="2633472" cy="105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We win back other banks' customers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515K customers mainly banked elsewhere. Now they are back in the KTB group through CLICX</a:t>
            </a:r>
            <a:endParaRPr lang="en-US" sz="1400" dirty="0"/>
          </a:p>
        </p:txBody>
      </p:sp>
      <p:sp>
        <p:nvSpPr>
          <p:cNvPr id="16" name="Badge 3"/>
          <p:cNvSpPr/>
          <p:nvPr/>
        </p:nvSpPr>
        <p:spPr>
          <a:xfrm>
            <a:off x="8503920" y="4971288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7" name="Badge num 3"/>
          <p:cNvSpPr txBox="1"/>
          <p:nvPr/>
        </p:nvSpPr>
        <p:spPr>
          <a:xfrm>
            <a:off x="8503920" y="4971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Insight 3"/>
          <p:cNvSpPr txBox="1"/>
          <p:nvPr/>
        </p:nvSpPr>
        <p:spPr>
          <a:xfrm>
            <a:off x="8915400" y="4925568"/>
            <a:ext cx="2633472" cy="105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We wake up lapsed customers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488K had not used KTB for a year or more, then joined CLICX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C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Q5  |  IMPACT ON KTB  (2/2)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Does CLICX take products away from KTB?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481328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Not for loans: we mostly lend to people KTB's own app loan (Jai-pump) does not serve or turns down. We cannot check savings yet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632764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C87"/>
                </a:solidFill>
              </a:rPr>
              <a:t>Source: KTB and CLICX matched customer data (Oct 2026)</a:t>
            </a:r>
            <a:endParaRPr lang="en-US" sz="1000" dirty="0"/>
          </a:p>
        </p:txBody>
      </p:sp>
      <p:graphicFrame>
        <p:nvGraphicFramePr>
          <p:cNvPr id="6" name="Lending outside KTB" descr=""/>
          <p:cNvGraphicFramePr/>
          <p:nvPr/>
        </p:nvGraphicFramePr>
        <p:xfrm>
          <a:off x="457200" y="2148840"/>
          <a:ext cx="49377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Deposit gap box"/>
          <p:cNvSpPr/>
          <p:nvPr/>
        </p:nvSpPr>
        <p:spPr>
          <a:xfrm>
            <a:off x="5577840" y="2240280"/>
            <a:ext cx="2560320" cy="3794760"/>
          </a:xfrm>
          <a:prstGeom prst="rect">
            <a:avLst/>
          </a:prstGeom>
          <a:solidFill>
            <a:schemeClr val="bg2"/>
          </a:solidFill>
          <a:ln w="12700">
            <a:solidFill>
              <a:srgbClr val="A2AAAD"/>
            </a:solidFill>
            <a:prstDash val="dash"/>
          </a:ln>
        </p:spPr>
      </p:sp>
      <p:sp>
        <p:nvSpPr>
          <p:cNvPr id="8" name="Deposit gap text"/>
          <p:cNvSpPr txBox="1"/>
          <p:nvPr/>
        </p:nvSpPr>
        <p:spPr>
          <a:xfrm>
            <a:off x="5760720" y="2423160"/>
            <a:ext cx="2194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5"/>
                </a:solidFill>
              </a:rPr>
              <a:t>SAVINGS: NOT KNOWN YET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 cannot yet see CLICX balances, so we cannot tell if money is moving out of KTB accounts.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Next step: once the data is in, compare shared customers' KTB balances before and after they joined CLICX</a:t>
            </a:r>
            <a:endParaRPr lang="en-US" sz="1100" dirty="0"/>
          </a:p>
        </p:txBody>
      </p:sp>
      <p:sp>
        <p:nvSpPr>
          <p:cNvPr id="9" name="Insight panel"/>
          <p:cNvSpPr/>
          <p:nvPr/>
        </p:nvSpPr>
        <p:spPr>
          <a:xfrm>
            <a:off x="8275320" y="2148840"/>
            <a:ext cx="3456432" cy="39776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Insight header"/>
          <p:cNvSpPr txBox="1"/>
          <p:nvPr/>
        </p:nvSpPr>
        <p:spPr>
          <a:xfrm>
            <a:off x="8503920" y="231343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SO WHAT</a:t>
            </a:r>
            <a:endParaRPr lang="en-US" sz="1100" dirty="0"/>
          </a:p>
        </p:txBody>
      </p:sp>
      <p:sp>
        <p:nvSpPr>
          <p:cNvPr id="11" name="Badge 1"/>
          <p:cNvSpPr/>
          <p:nvPr/>
        </p:nvSpPr>
        <p:spPr>
          <a:xfrm>
            <a:off x="8503920" y="2715768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2" name="Badge num 1"/>
          <p:cNvSpPr txBox="1"/>
          <p:nvPr/>
        </p:nvSpPr>
        <p:spPr>
          <a:xfrm>
            <a:off x="8503920" y="2715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3" name="Insight 1"/>
          <p:cNvSpPr txBox="1"/>
          <p:nvPr/>
        </p:nvSpPr>
        <p:spPr>
          <a:xfrm>
            <a:off x="8915400" y="2670048"/>
            <a:ext cx="2633472" cy="105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New loans for the group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116K of our borrowers have no KTB Jai-pump loan</a:t>
            </a:r>
            <a:endParaRPr lang="en-US" sz="1400" dirty="0"/>
          </a:p>
        </p:txBody>
      </p:sp>
      <p:sp>
        <p:nvSpPr>
          <p:cNvPr id="14" name="Badge 2"/>
          <p:cNvSpPr/>
          <p:nvPr/>
        </p:nvSpPr>
        <p:spPr>
          <a:xfrm>
            <a:off x="8503920" y="3843528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Badge num 2"/>
          <p:cNvSpPr txBox="1"/>
          <p:nvPr/>
        </p:nvSpPr>
        <p:spPr>
          <a:xfrm>
            <a:off x="8503920" y="3843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Insight 2"/>
          <p:cNvSpPr txBox="1"/>
          <p:nvPr/>
        </p:nvSpPr>
        <p:spPr>
          <a:xfrm>
            <a:off x="8915400" y="3797808"/>
            <a:ext cx="2633472" cy="105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A safety net for KTB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156K people KTB turned down in the last 3 months applied to us instead of going to another bank</a:t>
            </a:r>
            <a:endParaRPr lang="en-US" sz="1400" dirty="0"/>
          </a:p>
        </p:txBody>
      </p:sp>
      <p:sp>
        <p:nvSpPr>
          <p:cNvPr id="17" name="Badge 3"/>
          <p:cNvSpPr/>
          <p:nvPr/>
        </p:nvSpPr>
        <p:spPr>
          <a:xfrm>
            <a:off x="8503920" y="4971288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Badge num 3"/>
          <p:cNvSpPr txBox="1"/>
          <p:nvPr/>
        </p:nvSpPr>
        <p:spPr>
          <a:xfrm>
            <a:off x="8503920" y="4971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Insight 3"/>
          <p:cNvSpPr txBox="1"/>
          <p:nvPr/>
        </p:nvSpPr>
        <p:spPr>
          <a:xfrm>
            <a:off x="8915400" y="4925568"/>
            <a:ext cx="2633472" cy="105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Few loyal KTB users among our best customers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Only 15% of our most engaged shared customers are loyal to KTB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C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WHAT TO DO NEXT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What should we do with these answers?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481328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Keep using partners to bring people in, and focus on turning sign-ups into regular users, starting with the customer types that already work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632764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C87"/>
                </a:solidFill>
              </a:rPr>
              <a:t>Source: CLICX team analysis</a:t>
            </a:r>
            <a:endParaRPr lang="en-US" sz="1000" dirty="0"/>
          </a:p>
        </p:txBody>
      </p:sp>
      <p:sp>
        <p:nvSpPr>
          <p:cNvPr id="6" name="Card Q1"/>
          <p:cNvSpPr/>
          <p:nvPr/>
        </p:nvSpPr>
        <p:spPr>
          <a:xfrm>
            <a:off x="457200" y="2194560"/>
            <a:ext cx="2130552" cy="3886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Card badge Q1"/>
          <p:cNvSpPr/>
          <p:nvPr/>
        </p:nvSpPr>
        <p:spPr>
          <a:xfrm>
            <a:off x="640080" y="239572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Card badge text Q1"/>
          <p:cNvSpPr txBox="1"/>
          <p:nvPr/>
        </p:nvSpPr>
        <p:spPr>
          <a:xfrm>
            <a:off x="640080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Q1</a:t>
            </a:r>
            <a:endParaRPr lang="en-US" sz="1300" dirty="0"/>
          </a:p>
        </p:txBody>
      </p:sp>
      <p:sp>
        <p:nvSpPr>
          <p:cNvPr id="9" name="Card title Q1"/>
          <p:cNvSpPr txBox="1"/>
          <p:nvPr/>
        </p:nvSpPr>
        <p:spPr>
          <a:xfrm>
            <a:off x="640080" y="3063240"/>
            <a:ext cx="1764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Reach more partner customers</a:t>
            </a:r>
            <a:endParaRPr lang="en-US" sz="1500" dirty="0"/>
          </a:p>
        </p:txBody>
      </p:sp>
      <p:sp>
        <p:nvSpPr>
          <p:cNvPr id="10" name="Card body Q1"/>
          <p:cNvSpPr txBox="1"/>
          <p:nvPr/>
        </p:nvSpPr>
        <p:spPr>
          <a:xfrm>
            <a:off x="640080" y="3886200"/>
            <a:ext cx="176479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Start with AIS: only 3.7% of its ~32M customers have joined. Sign them up through the myAIS app and AIS shops</a:t>
            </a:r>
            <a:endParaRPr lang="en-US" sz="1200" dirty="0"/>
          </a:p>
        </p:txBody>
      </p:sp>
      <p:sp>
        <p:nvSpPr>
          <p:cNvPr id="11" name="Card Q2"/>
          <p:cNvSpPr/>
          <p:nvPr/>
        </p:nvSpPr>
        <p:spPr>
          <a:xfrm>
            <a:off x="2743200" y="2194560"/>
            <a:ext cx="2130552" cy="3886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Card badge Q2"/>
          <p:cNvSpPr/>
          <p:nvPr/>
        </p:nvSpPr>
        <p:spPr>
          <a:xfrm>
            <a:off x="2926080" y="239572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Card badge text Q2"/>
          <p:cNvSpPr txBox="1"/>
          <p:nvPr/>
        </p:nvSpPr>
        <p:spPr>
          <a:xfrm>
            <a:off x="2926080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Q2</a:t>
            </a:r>
            <a:endParaRPr lang="en-US" sz="1300" dirty="0"/>
          </a:p>
        </p:txBody>
      </p:sp>
      <p:sp>
        <p:nvSpPr>
          <p:cNvPr id="14" name="Card title Q2"/>
          <p:cNvSpPr txBox="1"/>
          <p:nvPr/>
        </p:nvSpPr>
        <p:spPr>
          <a:xfrm>
            <a:off x="2926080" y="3063240"/>
            <a:ext cx="1764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Find more people like our best customers</a:t>
            </a:r>
            <a:endParaRPr lang="en-US" sz="1500" dirty="0"/>
          </a:p>
        </p:txBody>
      </p:sp>
      <p:sp>
        <p:nvSpPr>
          <p:cNvPr id="15" name="Card body Q2"/>
          <p:cNvSpPr txBox="1"/>
          <p:nvPr/>
        </p:nvSpPr>
        <p:spPr>
          <a:xfrm>
            <a:off x="2926080" y="3886200"/>
            <a:ext cx="176479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Target tech-savvy 30–34s. Create a clear reason for multi-bank users to switch. Make it easy for gig workers to prove income</a:t>
            </a:r>
            <a:endParaRPr lang="en-US" sz="1200" dirty="0"/>
          </a:p>
        </p:txBody>
      </p:sp>
      <p:sp>
        <p:nvSpPr>
          <p:cNvPr id="16" name="Card Q3"/>
          <p:cNvSpPr/>
          <p:nvPr/>
        </p:nvSpPr>
        <p:spPr>
          <a:xfrm>
            <a:off x="5029200" y="2194560"/>
            <a:ext cx="2130552" cy="3886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Card badge Q3"/>
          <p:cNvSpPr/>
          <p:nvPr/>
        </p:nvSpPr>
        <p:spPr>
          <a:xfrm>
            <a:off x="5212080" y="239572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Card badge text Q3"/>
          <p:cNvSpPr txBox="1"/>
          <p:nvPr/>
        </p:nvSpPr>
        <p:spPr>
          <a:xfrm>
            <a:off x="5212080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Q3</a:t>
            </a:r>
            <a:endParaRPr lang="en-US" sz="1300" dirty="0"/>
          </a:p>
        </p:txBody>
      </p:sp>
      <p:sp>
        <p:nvSpPr>
          <p:cNvPr id="19" name="Card title Q3"/>
          <p:cNvSpPr txBox="1"/>
          <p:nvPr/>
        </p:nvSpPr>
        <p:spPr>
          <a:xfrm>
            <a:off x="5212080" y="3063240"/>
            <a:ext cx="1764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Say 'yes' more safely</a:t>
            </a:r>
            <a:endParaRPr lang="en-US" sz="1500" dirty="0"/>
          </a:p>
        </p:txBody>
      </p:sp>
      <p:sp>
        <p:nvSpPr>
          <p:cNvPr id="20" name="Card body Q3"/>
          <p:cNvSpPr txBox="1"/>
          <p:nvPr/>
        </p:nvSpPr>
        <p:spPr>
          <a:xfrm>
            <a:off x="5212080" y="3886200"/>
            <a:ext cx="176479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Over 90% of manual and gig workers apply but only 5–7% get a loan. Improve approval rules and offer small starter loans</a:t>
            </a:r>
            <a:endParaRPr lang="en-US" sz="1200" dirty="0"/>
          </a:p>
        </p:txBody>
      </p:sp>
      <p:sp>
        <p:nvSpPr>
          <p:cNvPr id="21" name="Card Q4"/>
          <p:cNvSpPr/>
          <p:nvPr/>
        </p:nvSpPr>
        <p:spPr>
          <a:xfrm>
            <a:off x="7315200" y="2194560"/>
            <a:ext cx="2130552" cy="3886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Card badge Q4"/>
          <p:cNvSpPr/>
          <p:nvPr/>
        </p:nvSpPr>
        <p:spPr>
          <a:xfrm>
            <a:off x="7498080" y="239572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3" name="Card badge text Q4"/>
          <p:cNvSpPr txBox="1"/>
          <p:nvPr/>
        </p:nvSpPr>
        <p:spPr>
          <a:xfrm>
            <a:off x="7498080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Q4</a:t>
            </a:r>
            <a:endParaRPr lang="en-US" sz="1300" dirty="0"/>
          </a:p>
        </p:txBody>
      </p:sp>
      <p:sp>
        <p:nvSpPr>
          <p:cNvPr id="24" name="Card title Q4"/>
          <p:cNvSpPr txBox="1"/>
          <p:nvPr/>
        </p:nvSpPr>
        <p:spPr>
          <a:xfrm>
            <a:off x="7498080" y="3063240"/>
            <a:ext cx="1764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Keep new customers using us</a:t>
            </a:r>
            <a:endParaRPr lang="en-US" sz="1500" dirty="0"/>
          </a:p>
        </p:txBody>
      </p:sp>
      <p:sp>
        <p:nvSpPr>
          <p:cNvPr id="25" name="Card body Q4"/>
          <p:cNvSpPr txBox="1"/>
          <p:nvPr/>
        </p:nvSpPr>
        <p:spPr>
          <a:xfrm>
            <a:off x="7498080" y="3886200"/>
            <a:ext cx="176479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Get them using 3+ features in the first month. Give people we turn down another reason to stay</a:t>
            </a:r>
            <a:endParaRPr lang="en-US" sz="1200" dirty="0"/>
          </a:p>
        </p:txBody>
      </p:sp>
      <p:sp>
        <p:nvSpPr>
          <p:cNvPr id="26" name="Card Q5"/>
          <p:cNvSpPr/>
          <p:nvPr/>
        </p:nvSpPr>
        <p:spPr>
          <a:xfrm>
            <a:off x="9601200" y="2194560"/>
            <a:ext cx="2130552" cy="3886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7" name="Card badge Q5"/>
          <p:cNvSpPr/>
          <p:nvPr/>
        </p:nvSpPr>
        <p:spPr>
          <a:xfrm>
            <a:off x="9784080" y="239572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Card badge text Q5"/>
          <p:cNvSpPr txBox="1"/>
          <p:nvPr/>
        </p:nvSpPr>
        <p:spPr>
          <a:xfrm>
            <a:off x="9784080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Q5</a:t>
            </a:r>
            <a:endParaRPr lang="en-US" sz="1300" dirty="0"/>
          </a:p>
        </p:txBody>
      </p:sp>
      <p:sp>
        <p:nvSpPr>
          <p:cNvPr id="29" name="Card title Q5"/>
          <p:cNvSpPr txBox="1"/>
          <p:nvPr/>
        </p:nvSpPr>
        <p:spPr>
          <a:xfrm>
            <a:off x="9784080" y="3063240"/>
            <a:ext cx="1764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Show KTB we grow the group</a:t>
            </a:r>
            <a:endParaRPr lang="en-US" sz="1500" dirty="0"/>
          </a:p>
        </p:txBody>
      </p:sp>
      <p:sp>
        <p:nvSpPr>
          <p:cNvPr id="30" name="Card body Q5"/>
          <p:cNvSpPr txBox="1"/>
          <p:nvPr/>
        </p:nvSpPr>
        <p:spPr>
          <a:xfrm>
            <a:off x="9784080" y="3886200"/>
            <a:ext cx="176479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Share the 515K won back and 488K brought back. Set up referrals for people KTB turns down. Check savings once data is 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C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ICX Insights">
  <a:themeElements>
    <a:clrScheme name="CLICX Insights">
      <a:dk1>
        <a:srgbClr val="1A1A1A"/>
      </a:dk1>
      <a:lt1>
        <a:srgbClr val="FFFFFF"/>
      </a:lt1>
      <a:dk2>
        <a:srgbClr val="051C2C"/>
      </a:dk2>
      <a:lt2>
        <a:srgbClr val="F2F4F7"/>
      </a:lt2>
      <a:accent1>
        <a:srgbClr val="2251FF"/>
      </a:accent1>
      <a:accent2>
        <a:srgbClr val="00A9F4"/>
      </a:accent2>
      <a:accent3>
        <a:srgbClr val="051C2C"/>
      </a:accent3>
      <a:accent4>
        <a:srgbClr val="A2AAAD"/>
      </a:accent4>
      <a:accent5>
        <a:srgbClr val="D9475C"/>
      </a:accent5>
      <a:accent6>
        <a:srgbClr val="7FD1F7"/>
      </a:accent6>
      <a:hlink>
        <a:srgbClr val="2251FF"/>
      </a:hlink>
      <a:folHlink>
        <a:srgbClr val="6E7C87"/>
      </a:folHlink>
    </a:clrScheme>
    <a:fontScheme name="CLICX Insight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CLICX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CLICX customer insights</dc:title>
  <dc:subject>PptxGenJS Presentation</dc:subject>
  <dc:creator>PptxGenJS</dc:creator>
  <cp:lastModifiedBy>PptxGenJS</cp:lastModifiedBy>
  <cp:revision>1</cp:revision>
  <dcterms:created xsi:type="dcterms:W3CDTF">2026-10-28T07:35:45Z</dcterms:created>
  <dcterms:modified xsi:type="dcterms:W3CDTF">2026-10-28T07:35:45Z</dcterms:modified>
</cp:coreProperties>
</file>
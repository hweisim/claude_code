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cba2449-68dd-7d54-d4ef-943e38f3fd1e}">
          <p14:sldIdLst>
            <p14:sldId id="256"/>
            <p14:sldId id="257"/>
          </p14:sldIdLst>
        </p14:section>
        <p14:section name="Q1 Source of customers" id="{02daa7b8-8aa4-afa5-6308-9e9b823bcc7d}">
          <p14:sldIdLst>
            <p14:sldId id="258"/>
          </p14:sldIdLst>
        </p14:section>
        <p14:section name="Q2 Personas vs plan" id="{a7d53e06-32e7-0ab3-3137-041910750813}">
          <p14:sldIdLst>
            <p14:sldId id="259"/>
            <p14:sldId id="260"/>
            <p14:sldId id="261"/>
          </p14:sldIdLst>
        </p14:section>
        <p14:section name="Q3 Persona x product" id="{c8becdb7-ef7d-aaa9-ebcc-e22ffd12572d}">
          <p14:sldIdLst>
            <p14:sldId id="262"/>
          </p14:sldIdLst>
        </p14:section>
        <p14:section name="Q4 Active vs inactive" id="{ec32e897-7734-817a-11c2-71f753b57496}">
          <p14:sldIdLst>
            <p14:sldId id="263"/>
            <p14:sldId id="264"/>
          </p14:sldIdLst>
        </p14:section>
        <p14:section name="Q5 KTB cannibalization" id="{fbd3f12f-169d-facd-ba4e-7d43d43ddff2}">
          <p14:sldIdLst>
            <p14:sldId id="265"/>
            <p14:sldId id="266"/>
          </p14:sldIdLst>
        </p14:section>
        <p14:section name="Implications" id="{0e192905-2cd0-fc4d-0dbc-4bfea37936f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customers by partner,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KTB</c:v>
                  </c:pt>
                  <c:pt idx="1">
                    <c:v>AIS</c:v>
                  </c:pt>
                  <c:pt idx="2">
                    <c:v>OR</c:v>
                  </c:pt>
                  <c:pt idx="3">
                    <c:v>Outside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1600</c:v>
                </c:pt>
                <c:pt idx="1">
                  <c:v>1200</c:v>
                </c:pt>
                <c:pt idx="2">
                  <c:v>725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of partner base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 of partner base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KTB</c:v>
                  </c:pt>
                  <c:pt idx="1">
                    <c:v>AIS</c:v>
                  </c:pt>
                  <c:pt idx="2">
                    <c:v>OR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0.047</c:v>
                </c:pt>
                <c:pt idx="1">
                  <c:v>0.037</c:v>
                </c:pt>
                <c:pt idx="2">
                  <c:v>0.074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Persona mix: consortium base vs CLICX,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consortium base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</c:v>
                  </c:pt>
                  <c:pt idx="1">
                    <c:v>Single-Bank</c:v>
                  </c:pt>
                  <c:pt idx="2">
                    <c:v>Multiple-Bank</c:v>
                  </c:pt>
                  <c:pt idx="3">
                    <c:v>Unknown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</c:v>
                  </c:pt>
                  <c:pt idx="1">
                    <c:v>Single-Bank</c:v>
                  </c:pt>
                  <c:pt idx="2">
                    <c:v>Multiple-Bank</c:v>
                  </c:pt>
                  <c:pt idx="3">
                    <c:v>Unknown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by persona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Tech-Savvy</c:v>
                  </c:pt>
                  <c:pt idx="1">
                    <c:v>Single-Bank</c:v>
                  </c:pt>
                  <c:pt idx="2">
                    <c:v>Multiple-Bank</c:v>
                  </c:pt>
                  <c:pt idx="3">
                    <c:v>Unknown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0.085</c:v>
                </c:pt>
                <c:pt idx="1">
                  <c:v>0.041</c:v>
                </c:pt>
                <c:pt idx="2">
                  <c:v>0.024</c:v>
                </c:pt>
                <c:pt idx="3">
                  <c:v>0.02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customers by age,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12.4</c:v>
                </c:pt>
                <c:pt idx="1">
                  <c:v>163</c:v>
                </c:pt>
                <c:pt idx="2">
                  <c:v>334</c:v>
                </c:pt>
                <c:pt idx="3">
                  <c:v>385</c:v>
                </c:pt>
                <c:pt idx="4">
                  <c:v>328</c:v>
                </c:pt>
                <c:pt idx="5">
                  <c:v>268</c:v>
                </c:pt>
                <c:pt idx="6">
                  <c:v>189</c:v>
                </c:pt>
                <c:pt idx="7">
                  <c:v>104</c:v>
                </c:pt>
                <c:pt idx="8">
                  <c:v>51</c:v>
                </c:pt>
                <c:pt idx="9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of captive base by age,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0.0054</c:v>
                </c:pt>
                <c:pt idx="1">
                  <c:v>0.0457</c:v>
                </c:pt>
                <c:pt idx="2">
                  <c:v>0.0802</c:v>
                </c:pt>
                <c:pt idx="3">
                  <c:v>0.0856</c:v>
                </c:pt>
                <c:pt idx="4">
                  <c:v>0.0779</c:v>
                </c:pt>
                <c:pt idx="5">
                  <c:v>0.0627</c:v>
                </c:pt>
                <c:pt idx="6">
                  <c:v>0.0433</c:v>
                </c:pt>
                <c:pt idx="7">
                  <c:v>0.025</c:v>
                </c:pt>
                <c:pt idx="8">
                  <c:v>0.0129</c:v>
                </c:pt>
                <c:pt idx="9">
                  <c:v>0.0033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of captive base,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</c:v>
                  </c:pt>
                  <c:pt idx="1">
                    <c:v>Rider / Driver</c:v>
                  </c:pt>
                  <c:pt idx="2">
                    <c:v>Blue collar</c:v>
                  </c:pt>
                  <c:pt idx="3">
                    <c:v>White collar</c:v>
                  </c:pt>
                  <c:pt idx="4">
                    <c:v>Merchant</c:v>
                  </c:pt>
                  <c:pt idx="5">
                    <c:v>Others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customers, 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</c:v>
                  </c:pt>
                  <c:pt idx="1">
                    <c:v>Rider / Driver</c:v>
                  </c:pt>
                  <c:pt idx="2">
                    <c:v>Blue collar</c:v>
                  </c:pt>
                  <c:pt idx="3">
                    <c:v>White collar</c:v>
                  </c:pt>
                  <c:pt idx="4">
                    <c:v>Merchant</c:v>
                  </c:pt>
                  <c:pt idx="5">
                    <c:v>Others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232</c:v>
                </c:pt>
                <c:pt idx="1">
                  <c:v>66</c:v>
                </c:pt>
                <c:pt idx="2">
                  <c:v>401</c:v>
                </c:pt>
                <c:pt idx="3">
                  <c:v>700</c:v>
                </c:pt>
                <c:pt idx="4">
                  <c:v>293</c:v>
                </c:pt>
                <c:pt idx="5">
                  <c:v>129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Credit: applied vs booked,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Loan booked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Save &amp; pay usage,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Deposit &gt; 0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Payment (Sep)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Occupation mix, % of segment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 collar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0.458</c:v>
                </c:pt>
                <c:pt idx="1">
                  <c:v>0.367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Merchant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0.19</c:v>
                </c:pt>
                <c:pt idx="1">
                  <c:v>0.154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Blue collar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0.179</c:v>
                </c:pt>
                <c:pt idx="1">
                  <c:v>0.231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Freelancer</c:v>
                </c:pt>
              </c:strCache>
            </c:strRef>
          </c:tx>
          <c:spPr>
            <a:solidFill>
              <a:srgbClr val="7FD1F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0.117</c:v>
                </c:pt>
                <c:pt idx="1">
                  <c:v>0.13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Rider / Driver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0.028</c:v>
                </c:pt>
                <c:pt idx="1">
                  <c:v>0.038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0.028</c:v>
                </c:pt>
                <c:pt idx="1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Active rate by occupation,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rate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Freelancer</c:v>
                  </c:pt>
                  <c:pt idx="3">
                    <c:v>Blue collar</c:v>
                  </c:pt>
                  <c:pt idx="4">
                    <c:v>Rider / Driver</c:v>
                  </c:pt>
                  <c:pt idx="5">
                    <c:v>Others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</c:v>
                </c:pt>
                <c:pt idx="1">
                  <c:v>0.23</c:v>
                </c:pt>
                <c:pt idx="2">
                  <c:v>0.18</c:v>
                </c:pt>
                <c:pt idx="3">
                  <c:v>0.16</c:v>
                </c:pt>
                <c:pt idx="4">
                  <c:v>0.15</c:v>
                </c:pt>
                <c:pt idx="5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active rate by AIS segment,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active rate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FBB only</c:v>
                  </c:pt>
                  <c:pt idx="1">
                    <c:v>Post-paid</c:v>
                  </c:pt>
                  <c:pt idx="2">
                    <c:v>Prepaid PPU</c:v>
                  </c:pt>
                  <c:pt idx="3">
                    <c:v>Prepaid zero-ARPU</c:v>
                  </c:pt>
                  <c:pt idx="4">
                    <c:v>Prepaid recurring</c:v>
                  </c:pt>
                  <c:pt idx="5">
                    <c:v>Prepaid non-recurring</c:v>
                  </c:pt>
                  <c:pt idx="6">
                    <c:v>AIS inactive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Payment behaviour by product 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txn, no balance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0.26</c:v>
                </c:pt>
                <c:pt idx="1">
                  <c:v>0.61</c:v>
                </c:pt>
                <c:pt idx="2">
                  <c:v>0.83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txn, has balance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0.23</c:v>
                </c:pt>
                <c:pt idx="1">
                  <c:v>0.23</c:v>
                </c:pt>
                <c:pt idx="2">
                  <c:v>0.08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Txn in 1 month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0.08</c:v>
                </c:pt>
                <c:pt idx="2">
                  <c:v>0.05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Txn in 2+ months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0.26</c:v>
                </c:pt>
                <c:pt idx="1">
                  <c:v>0.08</c:v>
                </c:pt>
                <c:pt idx="2">
                  <c:v>0.03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Overlap by KTB relationship, 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KTB-loyal (at risk)</c:v>
                  </c:pt>
                  <c:pt idx="1">
                    <c:v>Shared wallet</c:v>
                  </c:pt>
                  <c:pt idx="2">
                    <c:v>Competitor-loyal (win-back)</c:v>
                  </c:pt>
                  <c:pt idx="3">
                    <c:v>KTB-inactive (reactivated)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212</c:v>
                </c:pt>
                <c:pt idx="1">
                  <c:v>434</c:v>
                </c:pt>
                <c:pt idx="2">
                  <c:v>515</c:v>
                </c:pt>
                <c:pt idx="3">
                  <c:v>488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by KTB group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PaotangPay active</c:v>
                  </c:pt>
                  <c:pt idx="1">
                    <c:v>KTB swing</c:v>
                  </c:pt>
                  <c:pt idx="2">
                    <c:v>Competitor-loyal</c:v>
                  </c:pt>
                  <c:pt idx="3">
                    <c:v>Paotang, no Pay</c:v>
                  </c:pt>
                  <c:pt idx="4">
                    <c:v>KTB-loyal</c:v>
                  </c:pt>
                  <c:pt idx="5">
                    <c:v>Inactive both</c:v>
                  </c:pt>
                  <c:pt idx="6">
                    <c:v>KTB low engaged</c:v>
                  </c:pt>
                  <c:pt idx="7">
                    <c:v>KTB inactive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0.12</c:v>
                </c:pt>
                <c:pt idx="1">
                  <c:v>0.085</c:v>
                </c:pt>
                <c:pt idx="2">
                  <c:v>0.079</c:v>
                </c:pt>
                <c:pt idx="3">
                  <c:v>0.054</c:v>
                </c:pt>
                <c:pt idx="4">
                  <c:v>0.033</c:v>
                </c:pt>
                <c:pt idx="5">
                  <c:v>0.026</c:v>
                </c:pt>
                <c:pt idx="6">
                  <c:v>0.01</c:v>
                </c:pt>
                <c:pt idx="7">
                  <c:v>0.009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Lending gained outside KTB,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CLICX borrowers with no Jai-pump loan</c:v>
                  </c:pt>
                  <c:pt idx="1">
                    <c:v>CLICX applicants rejected by Jai-pump</c:v>
                  </c:pt>
                  <c:pt idx="2">
                    <c:v>CLICX borrowers rejected by Jai-pump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Quality customers (251K) by KTB group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Quality CLICX customers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bubble3D val="0"/>
            <c:spPr>
              <a:solidFill>
                <a:srgbClr val="D9475C"/>
              </a:solidFill>
              <a:effectLst/>
            </c:spPr>
          </c:dPt>
          <c:dPt>
            <c:idx val="3"/>
            <c:bubble3D val="0"/>
            <c:spPr>
              <a:solidFill>
                <a:srgbClr val="00A9F4"/>
              </a:solidFill>
              <a:effectLst/>
            </c:spPr>
          </c:dPt>
          <c:dPt>
            <c:idx val="4"/>
            <c:bubble3D val="0"/>
            <c:spPr>
              <a:solidFill>
                <a:srgbClr val="D5DAD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Competitor-loyal</c:v>
                </c:pt>
                <c:pt idx="1">
                  <c:v>KTB swing</c:v>
                </c:pt>
                <c:pt idx="2">
                  <c:v>KTB-loyal</c:v>
                </c:pt>
                <c:pt idx="3">
                  <c:v>KTB-inactive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79</c:v>
                </c:pt>
                <c:pt idx="1">
                  <c:v>76</c:v>
                </c:pt>
                <c:pt idx="2">
                  <c:v>38</c:v>
                </c:pt>
                <c:pt idx="3">
                  <c:v>48</c:v>
                </c:pt>
                <c:pt idx="4">
                  <c:v>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8503920" y="2743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CLICX customer insights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questions on where 1.8M CLICX customers come from, who they are, what they use, who stays active, and whether CLICX cannibalizes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CLICX's first 1.8M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CLICX is an ecosystem bank: it wins consortium customers aged 25–39 who come for credit, and mostly grows the pie for KTB rather than taking from it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room (Sep 2026); AIS, KTB, OR captive data (Apr 2026); Data for Business Strategy (14 Oct 2026)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captive consortium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come from the AIS x KTB x OR base; only 51K are outside it. Yet CLICX reaches just 3.7% of the 49M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the personas who come the ones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Mostly, with gaps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over-index 2.2x and gig workers convert best (Freelancer 40%); Multiple-Bank and 40+ customers under-index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personas come for the same 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entry,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84–92% of every occupation apply for a loan; White-collar books loans (11%), Merchants hold deposits (20%), gig workers rarely get booked (5–6%)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the persona different for active vs inactive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base skews to White-collar and Merchant (65% vs 52%), post-paid and FBB users; inactive skews to Blue-collar, prepaid and unknown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CLICX cannibalize KTB customers or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overlap (212K) are KTB-loyal; 61% are competitor-loyal or KTB-inactive. 116K CLICX borrowers have no KTB Jai-pump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SOURCE OF CUSTOMERS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captive consortium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all: 96% of CLICX customers already bank, phone or fill up with KTB, AIS or OR; only 51K come from outside. But the consortium is far from tapped, with only 3.7% penetration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one customer can belong to several partners, so partner shares add up to 195%. Penetration = CLICX customers ÷ partner customer base. 85% of CLICX customers gave consent for data matching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1.8M CLICX customers come from the consortium base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CLICX customers who are not AIS, KTB or OR customers</a:t>
            </a:r>
            <a:endParaRPr lang="en-US" sz="1200" dirty="0"/>
          </a:p>
        </p:txBody>
      </p:sp>
      <p:sp>
        <p:nvSpPr>
          <p:cNvPr id="10" name="Stat 47M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47M</a:t>
            </a:r>
            <a:endParaRPr lang="en-US" sz="4000" dirty="0"/>
          </a:p>
        </p:txBody>
      </p:sp>
      <p:sp>
        <p:nvSpPr>
          <p:cNvPr id="11" name="Stat label 47M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consortium customers not yet on CLICX</a:t>
            </a:r>
            <a:endParaRPr lang="en-US" sz="1200" dirty="0"/>
          </a:p>
        </p:txBody>
      </p:sp>
      <p:graphicFrame>
        <p:nvGraphicFramePr>
          <p:cNvPr id="12" name="Customers by partner" descr=""/>
          <p:cNvGraphicFramePr/>
          <p:nvPr/>
        </p:nvGraphicFramePr>
        <p:xfrm>
          <a:off x="2926080" y="2148840"/>
          <a:ext cx="2743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Penetration by partner" descr=""/>
          <p:cNvGraphicFramePr/>
          <p:nvPr/>
        </p:nvGraphicFramePr>
        <p:xfrm>
          <a:off x="5760720" y="2148840"/>
          <a:ext cx="2377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6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main gateway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88% of CLICX customers are KTB customers (1.6M), helped by Paotang onboarding</a:t>
            </a:r>
            <a:endParaRPr lang="en-US" sz="1400" dirty="0"/>
          </a:p>
        </p:txBody>
      </p:sp>
      <p:sp>
        <p:nvSpPr>
          <p:cNvPr id="19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Customers sit in several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Shares add up to 195%: most customers are known to 2+ partners, giving rich data for credit</a:t>
            </a:r>
            <a:endParaRPr lang="en-US" sz="1400" dirty="0"/>
          </a:p>
        </p:txBody>
      </p:sp>
      <p:sp>
        <p:nvSpPr>
          <p:cNvPr id="22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headroom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Lowest penetration (3.7%) on the largest base (~32M). OR converts best at 7.4%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personas of customers who come to CLICX the same as we planned?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The planned Tech-Savvy target over-indexes 2.2x and Single-Bank users bring the volume, but Multiple-Bank users, also a target, are under-won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personas assigned by AIS and KTB. Single-Bank = uses one bank, or KTB customer holding Next but inactive. Index = share of CLICX ÷ share of consortium base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2026); initial target persona benchmark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rsona penetration" descr=""/>
          <p:cNvGraphicFramePr/>
          <p:nvPr/>
        </p:nvGraphicFramePr>
        <p:xfrm>
          <a:off x="5486400" y="2148840"/>
          <a:ext cx="2651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533K customers, 28% of CLICX from 13% of the base; penetration 8.5% (2.2x average), peaking at 13% for ages 30–34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Single-Bank: volume engine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(45% of CLICX). 577K are KTB customers without AIS, a pool to cross-sell AIS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Multiple-Bank: the miss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base but only 2.4% penetration. CLICX is not yet winning customers who already shop around banks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the age profile of CLICX customers match the target pool?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The target pool skews older, but CLICX concentrates in ages 25–39: 56% of customers vs 29% of the base. Penetration falls off sharply after 45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penetration = CLICX customers ÷ consortium captive customers in that age band; base share excludes 4.7M customers of unknown 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</a:t>
            </a:r>
            <a:endParaRPr lang="en-US" sz="1000" dirty="0"/>
          </a:p>
        </p:txBody>
      </p:sp>
      <p:graphicFrame>
        <p:nvGraphicFramePr>
          <p:cNvPr id="6" name="Customers by age" descr=""/>
          <p:cNvGraphicFramePr/>
          <p:nvPr/>
        </p:nvGraphicFramePr>
        <p:xfrm>
          <a:off x="457200" y="2148840"/>
          <a:ext cx="7680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age" descr=""/>
          <p:cNvGraphicFramePr/>
          <p:nvPr/>
        </p:nvGraphicFramePr>
        <p:xfrm>
          <a:off x="457200" y="4160520"/>
          <a:ext cx="7680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Sweet spot is 25–39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 (56% of CLICX); penetration of 8–9% vs 3.8% overall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base is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Customers aged 40+ make up 58% of the known-age base but only 34% of CLICX; 60+ penetration is 0.3% on 9.4M people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Room left in the core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unconverted Tech-Savvy aged 25–39, 1.3M young tech users under 25 and 5.4M Single-Bank millennials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the thin-file, real-income customers our strategy targets?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Gig workers convert 5–10x better than average (Freelancer 40%, Rider/Driver 22%), and unserved/underserved borrowers are 35% of loans vs a 30% target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occupation from AIS x KTB x OR x CLICX matched data; penetration = CLICX customers ÷ captive customers in that occupation; Others = unknown occupation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 (Oct 2026); CLICX 5-Year Business Plan scorecard (Dec 2026 target)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Occupation volume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workers: best fit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Freelancers and riders convert at 40% and 22% of their small captive pools, which validates the alternative-data lending thesis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Collars: the volume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White- and Blue-collar make up 1.1M customers, over 60% of the portfolio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Merchants: proven, not scaled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customers at 9% penetration from a 3.3M base, an entry point for SME supply-chain financing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PERSONA x PRODUCT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For different customer personas, do they come for the same or different products?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come for the same thing, credit: 84–92% of every occupation applies for a loan. What they end up using differs: White-collar books loans, Merchants keep deposits, gig workers are mostly declined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% of CLICX customers in each occupation. Deposit = balance &gt; 0; Payment = transacted in Sep 2026; Booked = loan booked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analysis, AIS x KTB x OR x CLICX (Oct 2026)</a:t>
            </a:r>
            <a:endParaRPr lang="en-US" sz="1000" dirty="0"/>
          </a:p>
        </p:txBody>
      </p:sp>
      <p:graphicFrame>
        <p:nvGraphicFramePr>
          <p:cNvPr id="6" name="Credit funnel by occupation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e and pay by occupation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Credit is the hook for all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occupation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White-collar: borrow and pay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Highest booking rate (11%, 79K loans) and 14% pay monthly. The most complete product user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Merchant: deposits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Highest deposit rate (20%) and payment use (14%), a natural fit for business accounts and SME credit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and Blue-collar: leakage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apply, but only 5–7% are booked. Underwriting, not demand, is the bottleneck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ACTIVE VS INACTIVE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For active vs inactive CLICX customers, is the persona different?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active, and the active base skews to salaried White-collar and Merchants, while inactive customers skew to Blue-collar and unknown occupations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Active = CLICX deposit &gt; 0 or a booked CLICX loan. Inactive = all other CLICX customers. Totals: active 358K, inactive 1,462K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analysis, AIS x KTB x OR x CLICX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Active rate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Salaried and Merchants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White-collar and Merchant make up 65% of active customers but 52% of inactive ones, with an active rate of 23% each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drops out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23% of inactive customers vs 18% of active ones. They apply for credit, get declined and leave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means inactive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Customers with no occupation data are only 8% active, and 3 in 4 inactive customers never got a loan or funded an account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ACTIVE VS INACTIVE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from inactive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Value-tier telco users and borrowers stay active. FBB and post-paid AIS customers are 2–4x more active than AIS-inactive ones, and borrowers pay 6x more often than declined depositors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Active = CLICX deposit &gt; 0 or a booked CLICX loan; AIS segment base = 1.2M CLICX customers with AIS. Right chart: share of users by payment behaviour in CLICX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x CLICX matched data; Data for Business Strategy (14 Oct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ment by product status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Telco tier predicts activity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FBB (41%) and post-paid (28%) users are most active; post-paid is 44% of the active AIS base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creates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51% of borrowers pay through CLICX vs 8% of customers whose loan was rejected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Rejection drives inactivity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67% of customers were rejected for credit at some point, and 83% of them never transact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KTB CANNIBALIZATION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cannibalize KTB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Limited. Only 13% of the 1.6M KTB x CLICX overlap are KTB-loyal customers; 61% are competitor-loyal or inactive with KTB, so CLICX mostly wins back or reactivates them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KTB active = holds at least 1 of 4 core KTB products. Inactive = no KTB transaction in 1 year (incl. Paotang-only without PaotangPay). Shared wallet = KTB swing, low engagement and PaotangPay users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x CLICX engagement segmentation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KTB group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Loyalists are hard to pull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KTB-loyal penetration is 3.3%, less than half that of competitor-loyal (7.9%) and swing (8.5%) customers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Defensive growth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competitor-loyal customers, 79K of them quality users, now bank with the KTB ecosystem through CLICX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Reactivation, not substitution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were inactive with KTB for a year or more but signed up for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KTB CANNIBALIZATION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cannibalize KTB products?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on lending, where CLICX is additive. Its borrowers largely sit outside KTB's Jai-pump digital loan, and it catches customers Jai-pump rejects. Deposit cannibalization cannot yet be measured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Jai-pump = KTB's digital personal loan. Rejected = rejected by Jai-pump in the last 3 months. Quality = payment in last month, deposit &gt; THB 100 or a performing loan. CLICX balances are not yet in the data room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x CLICX matched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3931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Quality customers by KTB group" descr=""/>
          <p:cNvGraphicFramePr/>
          <p:nvPr/>
        </p:nvGraphicFramePr>
        <p:xfrm>
          <a:off x="4480560" y="2148840"/>
          <a:ext cx="3657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Additive loan book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CLICX borrowers hold no KTB Jai-pump loan, new credit for the ecosystem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 rejects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applicants and 23K borrowers were rejected by Jai-pump in the last 3 months, demand that would otherwise go to competitors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Value overlap is modest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quality CLICX customers (38K) are KTB-loyal. Deposit overlap still needs testing once CLICX balances reach the data 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IMPLICATIONS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the consortium as the acquisition engine, but move from sign-ups to active, credit-led customers in the personas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synthesis of Q1–Q5; actions build on Data for Business Strategy (14 Oct 2026) and CLICX 5-Year Business Plan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Mine the 47M base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 after AIS first (3.7% penetration on ~32M), through myAIS and Dipchip, starting with 1.1M active AIS customers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Double down on what fits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 Tech-Savvy aged 30–34 as the look-alike seed. Build a Multiple-Bank offer and a proxy-income journey for gig workers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Fix the credit funnel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5–7% are booked. Recalibrate underwriting and offer deposit-backed credit-builder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Activate after onboarding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new customers onto 3+ use cases in 30 days. Give declined applicants a non-loan reason to stay; target prepaid and AIS-inactive customers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Position CLICX as KTB's growth arm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 win-back (515K) and reactivation (488K) to KTB. Formalise Jai-pump reject referral; measure deposit overlap once data lands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2026-10-28T06:30:11Z</dcterms:created>
  <dcterms:modified xsi:type="dcterms:W3CDTF">2026-10-28T06:30:11Z</dcterms:modified>
</cp:coreProperties>
</file>
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177c535-ab6d-8083-8554-3868f96dfd32}">
          <p14:sldIdLst>
            <p14:sldId id="256"/>
            <p14:sldId id="257"/>
          </p14:sldIdLst>
        </p14:section>
        <p14:section name="Q1 Source of customers" id="{b162ea8b-2c2b-3caf-9448-8cad1fcff7b7}">
          <p14:sldIdLst>
            <p14:sldId id="258"/>
          </p14:sldIdLst>
        </p14:section>
        <p14:section name="Q2 Who our customers are" id="{fd15ed15-bd8d-e3c3-f75a-ff4097882d82}">
          <p14:sldIdLst>
            <p14:sldId id="259"/>
            <p14:sldId id="260"/>
            <p14:sldId id="261"/>
          </p14:sldIdLst>
        </p14:section>
        <p14:section name="Q3 What they come for" id="{78c775bc-0e07-062d-a208-182dcefb8fd4}">
          <p14:sldIdLst>
            <p14:sldId id="262"/>
          </p14:sldIdLst>
        </p14:section>
        <p14:section name="Q4 Active vs inactive" id="{57770db7-718a-3f16-bf06-e6b10bd0dd8d}">
          <p14:sldIdLst>
            <p14:sldId id="263"/>
            <p14:sldId id="264"/>
            <p14:sldId id="265"/>
          </p14:sldIdLst>
        </p14:section>
        <p14:section name="Q5 Impact on KTB" id="{1b348ca3-ba02-d364-8023-bd117801684c}">
          <p14:sldIdLst>
            <p14:sldId id="266"/>
            <p14:sldId id="267"/>
          </p14:sldIdLst>
        </p14:section>
        <p14:section name="What to do next" id="{43b82ccf-aff4-7124-cfd3-28e65dbcf34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CLICX customers who are also with each partner (many are with more than one)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Also a KTB customer</c:v>
                  </c:pt>
                  <c:pt idx="1">
                    <c:v>Also an AIS customer</c:v>
                  </c:pt>
                  <c:pt idx="2">
                    <c:v>Also an OR customer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0.88</c:v>
                </c:pt>
                <c:pt idx="1">
                  <c:v>0.67</c:v>
                </c:pt>
                <c:pt idx="2">
                  <c:v>0.4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 type: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all partner customers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Age: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partner customers (age known)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0.051</c:v>
                </c:pt>
                <c:pt idx="1">
                  <c:v>0.08</c:v>
                </c:pt>
                <c:pt idx="2">
                  <c:v>0.093</c:v>
                </c:pt>
                <c:pt idx="3">
                  <c:v>0.1</c:v>
                </c:pt>
                <c:pt idx="4">
                  <c:v>0.094</c:v>
                </c:pt>
                <c:pt idx="5">
                  <c:v>0.095</c:v>
                </c:pt>
                <c:pt idx="6">
                  <c:v>0.097</c:v>
                </c:pt>
                <c:pt idx="7">
                  <c:v>0.093</c:v>
                </c:pt>
                <c:pt idx="8">
                  <c:v>0.088</c:v>
                </c:pt>
                <c:pt idx="9">
                  <c:v>0.209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0.007</c:v>
                </c:pt>
                <c:pt idx="1">
                  <c:v>0.087</c:v>
                </c:pt>
                <c:pt idx="2">
                  <c:v>0.179</c:v>
                </c:pt>
                <c:pt idx="3">
                  <c:v>0.206</c:v>
                </c:pt>
                <c:pt idx="4">
                  <c:v>0.176</c:v>
                </c:pt>
                <c:pt idx="5">
                  <c:v>0.144</c:v>
                </c:pt>
                <c:pt idx="6">
                  <c:v>0.101</c:v>
                </c:pt>
                <c:pt idx="7">
                  <c:v>0.056</c:v>
                </c:pt>
                <c:pt idx="8">
                  <c:v>0.027</c:v>
                </c:pt>
                <c:pt idx="9">
                  <c:v>0.017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partner customers in each job who joined CLICX (number of CLICX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 (232K)</c:v>
                  </c:pt>
                  <c:pt idx="1">
                    <c:v>Rider / driver (66K)</c:v>
                  </c:pt>
                  <c:pt idx="2">
                    <c:v>Blue-collar worker (401K)</c:v>
                  </c:pt>
                  <c:pt idx="3">
                    <c:v>Office worker (700K)</c:v>
                  </c:pt>
                  <c:pt idx="4">
                    <c:v>Shop owner (293K)</c:v>
                  </c:pt>
                  <c:pt idx="5">
                    <c:v>Unknown (129K)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Loans: applied vs got one,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a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Saving and paying,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Keeps money in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with CLICX in Sep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Job type of active vs inactive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 (358K)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0.458</c:v>
                </c:pt>
                <c:pt idx="1">
                  <c:v>0.19</c:v>
                </c:pt>
                <c:pt idx="2">
                  <c:v>0.179</c:v>
                </c:pt>
                <c:pt idx="3">
                  <c:v>0.117</c:v>
                </c:pt>
                <c:pt idx="4">
                  <c:v>0.028</c:v>
                </c:pt>
                <c:pt idx="5">
                  <c:v>0.028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Inactive customers (1.46M)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0.367</c:v>
                </c:pt>
                <c:pt idx="1">
                  <c:v>0.154</c:v>
                </c:pt>
                <c:pt idx="2">
                  <c:v>0.231</c:v>
                </c:pt>
                <c:pt idx="3">
                  <c:v>0.13</c:v>
                </c:pt>
                <c:pt idx="4">
                  <c:v>0.038</c:v>
                </c:pt>
                <c:pt idx="5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active in CLICX, by type of AIS customer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in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Home internet only</c:v>
                  </c:pt>
                  <c:pt idx="1">
                    <c:v>Monthly phone bill</c:v>
                  </c:pt>
                  <c:pt idx="2">
                    <c:v>Prepaid, pay-per-use</c:v>
                  </c:pt>
                  <c:pt idx="3">
                    <c:v>Prepaid, little spend</c:v>
                  </c:pt>
                  <c:pt idx="4">
                    <c:v>Prepaid, regular top-up</c:v>
                  </c:pt>
                  <c:pt idx="5">
                    <c:v>Prepaid, occasional top-up</c:v>
                  </c:pt>
                  <c:pt idx="6">
                    <c:v>Stopped using AIS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who pay with CLICX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Pays with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Got a loan</c:v>
                  </c:pt>
                  <c:pt idx="1">
                    <c:v>Never turned down</c:v>
                  </c:pt>
                  <c:pt idx="2">
                    <c:v>Turned down for a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0.16</c:v>
                </c:pt>
                <c:pt idx="2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Who they are: regular payers vs never paid, % of each group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Regular payers (paid Aug, Sep and Oct, 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In their 30s</c:v>
                  </c:pt>
                  <c:pt idx="1">
                    <c:v>In their 20s</c:v>
                  </c:pt>
                  <c:pt idx="2">
                    <c:v>Salaried (company or government)</c:v>
                  </c:pt>
                  <c:pt idx="3">
                    <c:v>Blue-collar or farm worker</c:v>
                  </c:pt>
                  <c:pt idx="4">
                    <c:v>AIS monthly phone bill</c:v>
                  </c:pt>
                  <c:pt idx="5">
                    <c:v>Not an AIS customer</c:v>
                  </c:pt>
                  <c:pt idx="6">
                    <c:v>Has a CLICX loan</c:v>
                  </c:pt>
                  <c:pt idx="7">
                    <c:v>Has put money into CLICX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0.407</c:v>
                </c:pt>
                <c:pt idx="1">
                  <c:v>0.212</c:v>
                </c:pt>
                <c:pt idx="2">
                  <c:v>0.44</c:v>
                </c:pt>
                <c:pt idx="3">
                  <c:v>0.14</c:v>
                </c:pt>
                <c:pt idx="4">
                  <c:v>0.342</c:v>
                </c:pt>
                <c:pt idx="5">
                  <c:v>0.306</c:v>
                </c:pt>
                <c:pt idx="6">
                  <c:v>0.464</c:v>
                </c:pt>
                <c:pt idx="7">
                  <c:v>0.999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Never paid (1.27M)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In their 30s</c:v>
                  </c:pt>
                  <c:pt idx="1">
                    <c:v>In their 20s</c:v>
                  </c:pt>
                  <c:pt idx="2">
                    <c:v>Salaried (company or government)</c:v>
                  </c:pt>
                  <c:pt idx="3">
                    <c:v>Blue-collar or farm worker</c:v>
                  </c:pt>
                  <c:pt idx="4">
                    <c:v>AIS monthly phone bill</c:v>
                  </c:pt>
                  <c:pt idx="5">
                    <c:v>Not an AIS customer</c:v>
                  </c:pt>
                  <c:pt idx="6">
                    <c:v>Has a CLICX loan</c:v>
                  </c:pt>
                  <c:pt idx="7">
                    <c:v>Has put money into CLICX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0.382</c:v>
                </c:pt>
                <c:pt idx="1">
                  <c:v>0.266</c:v>
                </c:pt>
                <c:pt idx="2">
                  <c:v>0.37</c:v>
                </c:pt>
                <c:pt idx="3">
                  <c:v>0.19</c:v>
                </c:pt>
                <c:pt idx="4">
                  <c:v>0.188</c:v>
                </c:pt>
                <c:pt idx="5">
                  <c:v>0.46</c:v>
                </c:pt>
                <c:pt idx="6">
                  <c:v>0.059</c:v>
                </c:pt>
                <c:pt idx="7">
                  <c:v>0.237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we share with KTB, by how they use KTB,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shared customers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 (at risk)</c:v>
                  </c:pt>
                  <c:pt idx="1">
                    <c:v>Uses KTB and other banks</c:v>
                  </c:pt>
                  <c:pt idx="2">
                    <c:v>Loyal to other banks (won back)</c:v>
                  </c:pt>
                  <c:pt idx="3">
                    <c:v>Stopped using KTB (brought 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0.26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each KTB group who joined CLICX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0.033</c:v>
                </c:pt>
                <c:pt idx="1">
                  <c:v>0.074</c:v>
                </c:pt>
                <c:pt idx="2">
                  <c:v>0.079</c:v>
                </c:pt>
                <c:pt idx="3">
                  <c:v>0.03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lending that KTB's Jai-pump loan does not cover,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Our borrowers with no KTB loan</c:v>
                  </c:pt>
                  <c:pt idx="1">
                    <c:v>Turned down by KTB, applied to us</c:v>
                  </c:pt>
                  <c:pt idx="2">
                    <c:v>Turned down by KTB, got our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simple questions about our first 1.8 million customers: where they come from, who they are, what they use, who keeps using us, and whether we take customers away from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our first 1.8 million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Our partners bring in almost everyone. Customers are mostly 25–39 and come to borrow. We mostly win people KTB had already lost, not KTB's loyal customers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 and OR customer data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we say 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our partners'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were already KTB, AIS or OR customers. Only 51K came from outside. But just 3.7% of partner customers have joined so far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our customers the people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people and freelancers sign up far more than others, as planned. People who use several banks and over-40s are hard to win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customers come for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reason,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everyone (84–92%) applies for a loan. Office workers get loans, shop owners keep savings, gig workers are mostly turned 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active customers different from inactive ones?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customers are mostly office workers and shop owners with monthly phone bills. Inactive ones are often blue-collar workers or people turned down for a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we take customers or products away from KTB?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little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shared customers are loyal to KTB. Most used other banks or had stopped using KTB. 116K of our borrowers have no KTB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WHERE CUSTOMERS COME FROM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our partners'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all. 96% were already customers of KTB, AIS or OR, and only 51K came from outside. Yet only 3.7% of partner customers have joined, so there is plenty of room to grow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our 1.8M customers were already partner customers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customers came from outside our partners</a:t>
            </a:r>
            <a:endParaRPr lang="en-US" sz="1200" dirty="0"/>
          </a:p>
        </p:txBody>
      </p:sp>
      <p:sp>
        <p:nvSpPr>
          <p:cNvPr id="10" name="Stat 3.7%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3.7%</a:t>
            </a:r>
            <a:endParaRPr lang="en-US" sz="4000" dirty="0"/>
          </a:p>
        </p:txBody>
      </p:sp>
      <p:sp>
        <p:nvSpPr>
          <p:cNvPr id="11" name="Stat label 3.7%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49M partner customers have joined CLICX</a:t>
            </a:r>
            <a:endParaRPr lang="en-US" sz="1200" dirty="0"/>
          </a:p>
        </p:txBody>
      </p:sp>
      <p:graphicFrame>
        <p:nvGraphicFramePr>
          <p:cNvPr id="12" name="Partner reach" descr=""/>
          <p:cNvGraphicFramePr/>
          <p:nvPr/>
        </p:nvGraphicFramePr>
        <p:xfrm>
          <a:off x="3017520" y="214884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front door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9 in 10 of our customers bank with KTB, mostly joining through the Paotang app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Most know us through 2+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That gives us more data to judge who to lend to and what else to offer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opportunity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3.7% of AIS's ~32M customers have joined, against 7.4% for OR and 4.7% for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people who come to CLICX the ones we planned for?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Tech-savvy people, our main target, join at twice the average rate, and one-bank users bring the most customers. People who use several banks are not yet 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28% of our customers vs 13% of partner customers. Best of all at ages 30–34, where 13% have joined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One-bank users: the biggest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customers, almost half of CLICX. 577K are KTB customers who do not use AIS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Multi-bank users: not won yet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people, but only 2.4% have joined. People who already shop around need a stronger reason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customers' ages match the people we can reach?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Most partner customers are over 40, but most of ours are 25–39 (56% of CLICX vs 29% of partner customers). Few people over 45 join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Ag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25–39 is our sweet spot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customers. About 8–9% of people this age have joined, more than twice the average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customers are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Over-40s are 58% of partner customers but 34% of ours. Only 0.3% of 9.4M over-60s have joined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Plenty left in our core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tech-savvy 25–39s and 5.4M one-bank 25–39s have not joined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people with real income but no payslip, as our strategy says?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Freelancers (40%) and riders/drivers (22%) join far more than anyone else, and 35% of our loans go to people banks usually turn away, above our 30% goal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2026); CLICX 5-Year Business Plan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love CLICX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 in 10 freelancers and 2 in 10 riders we can reach have joined. Proof that lending on phone and spending data works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Workers are the bulk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Office and blue-collar workers are 1.1M customers, over 60% of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owners: room to grow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have joined out of 3.3M. A route into small-business loans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WHAT THEY COME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different types of customer come for the same product or different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same: almost everyone comes to borrow. But what they end up using differs. Office workers get loans, shop owners keep savings, and gig workers are mostly turned down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Loans applied vs got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ing and paying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Loans bring everyone in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job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use the most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get a loan (11%) and to pay with CLICX (14%)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 save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keep money with us (20%), a natural fit for business accounts and loans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get turned down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 but only 5–7% get a loan. The problem is our approval rules, not demand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active CLICX customers a different type of person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 (has money in CLICX or a CLICX loan). Active customers are mostly office workers and shop owners; inactive ones are more often blue-collar workers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and shop owners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65% of active customers vs 52% of inactive ones. About 1 in 4 of them is active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workers drift away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They apply for a loan, get turned down and stop using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job, unknown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8% are active. Most inactive customers never got a loan or put money 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customers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things: how they pay for their phone and whether they got a loan. Monthly-bill AIS customers are 3x more active than lapsed ones, and borrowers pay with CLICX 6x more often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and CLICX matched customer data (Sep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ing by product status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phone payers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Home internet (41%) and monthly-bill (28%) customers are the most active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Half of borrowers pay with CLICX, against 8% of people we turned down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Saying 'no' loses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 in 3 customers have been turned down for a loan at some point, and most of them never use CLICX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Who pays bills, tops up or scans to pay with CLICX, and are they different from those who don't?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Payers are not a different type of person: their age and job look almost the same as non-payers. What sets them apart is that they have put money in and got a loan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payment segments, Aug–Oct 2026 (1.50M customers with an account)</a:t>
            </a:r>
            <a:endParaRPr lang="en-US" sz="1000" dirty="0"/>
          </a:p>
        </p:txBody>
      </p:sp>
      <p:sp>
        <p:nvSpPr>
          <p:cNvPr id="6" name="Stat 8%"/>
          <p:cNvSpPr txBox="1"/>
          <p:nvPr/>
        </p:nvSpPr>
        <p:spPr>
          <a:xfrm>
            <a:off x="45720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8%</a:t>
            </a:r>
            <a:endParaRPr lang="en-US" sz="4000" dirty="0"/>
          </a:p>
        </p:txBody>
      </p:sp>
      <p:sp>
        <p:nvSpPr>
          <p:cNvPr id="7" name="Stat label 8%"/>
          <p:cNvSpPr txBox="1"/>
          <p:nvPr/>
        </p:nvSpPr>
        <p:spPr>
          <a:xfrm>
            <a:off x="457200" y="28529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paid with CLICX in October (117K of 1.5M)</a:t>
            </a:r>
            <a:endParaRPr lang="en-US" sz="1200" dirty="0"/>
          </a:p>
        </p:txBody>
      </p:sp>
      <p:sp>
        <p:nvSpPr>
          <p:cNvPr id="8" name="Stat 85%"/>
          <p:cNvSpPr txBox="1"/>
          <p:nvPr/>
        </p:nvSpPr>
        <p:spPr>
          <a:xfrm>
            <a:off x="457200" y="3611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85%</a:t>
            </a:r>
            <a:endParaRPr lang="en-US" sz="4000" dirty="0"/>
          </a:p>
        </p:txBody>
      </p:sp>
      <p:sp>
        <p:nvSpPr>
          <p:cNvPr id="9" name="Stat label 85%"/>
          <p:cNvSpPr txBox="1"/>
          <p:nvPr/>
        </p:nvSpPr>
        <p:spPr>
          <a:xfrm>
            <a:off x="457200" y="4270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have never paid with CLICX in the last 3 months (1.27M)</a:t>
            </a:r>
            <a:endParaRPr lang="en-US" sz="1200" dirty="0"/>
          </a:p>
        </p:txBody>
      </p:sp>
      <p:sp>
        <p:nvSpPr>
          <p:cNvPr id="10" name="Stat −29%"/>
          <p:cNvSpPr txBox="1"/>
          <p:nvPr/>
        </p:nvSpPr>
        <p:spPr>
          <a:xfrm>
            <a:off x="457200" y="5029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−29%</a:t>
            </a:r>
            <a:endParaRPr lang="en-US" sz="4000" dirty="0"/>
          </a:p>
        </p:txBody>
      </p:sp>
      <p:sp>
        <p:nvSpPr>
          <p:cNvPr id="11" name="Stat label −29%"/>
          <p:cNvSpPr txBox="1"/>
          <p:nvPr/>
        </p:nvSpPr>
        <p:spPr>
          <a:xfrm>
            <a:off x="457200" y="568756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fewer payers in Oct than in Aug</a:t>
            </a:r>
            <a:endParaRPr lang="en-US" sz="1200" dirty="0"/>
          </a:p>
        </p:txBody>
      </p:sp>
      <p:graphicFrame>
        <p:nvGraphicFramePr>
          <p:cNvPr id="12" name="Payers vs non-payers profile" descr=""/>
          <p:cNvGraphicFramePr/>
          <p:nvPr/>
        </p:nvGraphicFramePr>
        <p:xfrm>
          <a:off x="2834640" y="2148840"/>
          <a:ext cx="53035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Age and job barely matter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Gaps are small: 41% vs 38% in their 30s, 44% vs 37% salaried, 14% vs 19% blue-collar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Money in is the dividing line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Nearly all regular payers have put money in, vs 24% of non-payers. Without money in, almost no one pays (0.1%)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Loans and phone bills help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46% of regular payers have a loan vs 6% of non-payers. AIS monthly-bill customers are 34% of regular payers vs 19% of non-payers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customers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Very little. Of 1.6M customers we share with KTB, only 13% are loyal to KTB. 61% mainly used other banks or had stopped using KTB, so we are winning them back for the group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4572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KTB group" descr=""/>
          <p:cNvGraphicFramePr/>
          <p:nvPr/>
        </p:nvGraphicFramePr>
        <p:xfrm>
          <a:off x="5120640" y="2148840"/>
          <a:ext cx="30175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loyalists rarely switch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3.3% of them joined, less than half the rate of people who bank elsewhere (7.9%)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win back other banks'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customers mainly banked elsewhere. Now they are back in the KTB group through CLICX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wake up lapsed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had not used KTB for a year or more, then joined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products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for loans: we mostly lend to people KTB's own app loan (Jai-pump) does not serve or turns down. We cannot check savings yet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eposit gap box"/>
          <p:cNvSpPr/>
          <p:nvPr/>
        </p:nvSpPr>
        <p:spPr>
          <a:xfrm>
            <a:off x="5577840" y="2240280"/>
            <a:ext cx="2560320" cy="3794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8" name="Deposit gap text"/>
          <p:cNvSpPr txBox="1"/>
          <p:nvPr/>
        </p:nvSpPr>
        <p:spPr>
          <a:xfrm>
            <a:off x="5760720" y="24231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SAVINGS: NOT KNOWN YET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cannot yet see CLICX balances, so we cannot tell if money is moving out of KTB accounts.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Next step: once the data is in, compare shared customers' KTB balances before and after they joined CLICX</a:t>
            </a:r>
            <a:endParaRPr lang="en-US" sz="1100" dirty="0"/>
          </a:p>
        </p:txBody>
      </p:sp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New loans for the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of our borrowers have no KTB Jai-pump loan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people KTB turned down in the last 3 months applied to us instead of going to another bank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Few loyal KTB users among our best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our most engaged shared customers are loyal to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TO DO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using partners to bring people in, and focus on turning sign-ups into regular users, starting with the customer types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team analysis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Reach more partner customers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with AIS: only 3.7% of its ~32M customers have joined. Sign them up through the myAIS app and AIS shops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Find more people like our best customers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 tech-savvy 30–34s. Create a clear reason for multi-bank users to switch. Make it easy for gig workers to prove income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Say 'yes' more safely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only 5–7% get a loan. Improve approval rules and offer small starter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Keep new customers using us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them using 3+ features in the first month. Give people we turn down another reason to stay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Show KTB we grow the group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 the 515K won back and 488K brought back. Set up referrals for people KTB turns down. Check savings once data is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2026-10-28T08:12:32Z</dcterms:created>
  <dcterms:modified xsi:type="dcterms:W3CDTF">2026-10-28T08:12:32Z</dcterms:modified>
</cp:coreProperties>
</file>
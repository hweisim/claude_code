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Board summary" id="{b98f647c-9aaf-f16b-255c-27f0cff642b9}">
          <p14:sldIdLst>
            <p14:sldId id="256"/>
            <p14:sldId id="257"/>
            <p14:sldId id="258"/>
            <p14:sldId id="25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 algn="l">
              <a:defRPr sz="1300" b="1" i="0" u="none" strike="noStrike">
                <a:solidFill>
                  <a:srgbClr val="051C2C"/>
                </a:solidFill>
                <a:latin typeface="+mn-lt"/>
              </a:defRPr>
            </a:pPr>
            <a:r>
              <a:rPr sz="1300" b="1" i="0" u="none" strike="noStrike">
                <a:solidFill>
                  <a:srgbClr val="051C2C"/>
                </a:solidFill>
                <a:latin typeface="+mn-lt"/>
              </a:rPr>
              <a:t>What they hold, thousand customers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Customers, K</c:v>
                </c:pt>
              </c:strCache>
            </c:strRef>
          </c:tx>
          <c:spPr>
            <a:solidFill>
              <a:srgbClr val="D9475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D9475C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0A9F4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00A9F4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051C2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051C2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2251FF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051C2C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051C2C"/>
              </a:solidFill>
              <a:effectLst/>
            </c:spPr>
          </c:dPt>
          <c:cat>
            <c:multiLvlStrRef>
              <c:f>Sheet1!$A$2:$A$9</c:f>
              <c:multiLvlStrCache>
                <c:ptCount val="8"/>
                <c:lvl>
                  <c:pt idx="0">
                    <c:v>Zero balance, no use</c:v>
                  </c:pt>
                  <c:pt idx="1">
                    <c:v>Money only, under 1K</c:v>
                  </c:pt>
                  <c:pt idx="2">
                    <c:v>Money only, 1K–20K</c:v>
                  </c:pt>
                  <c:pt idx="3">
                    <c:v>Borrows only</c:v>
                  </c:pt>
                  <c:pt idx="4">
                    <c:v>Pays only</c:v>
                  </c:pt>
                  <c:pt idx="5">
                    <c:v>Borrows and pays</c:v>
                  </c:pt>
                  <c:pt idx="6">
                    <c:v>Saves only (20K+)</c:v>
                  </c:pt>
                  <c:pt idx="7">
                    <c:v>Saves and more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1058</c:v>
                </c:pt>
                <c:pt idx="1">
                  <c:v>166</c:v>
                </c:pt>
                <c:pt idx="2">
                  <c:v>20</c:v>
                </c:pt>
                <c:pt idx="3">
                  <c:v>117</c:v>
                </c:pt>
                <c:pt idx="4">
                  <c:v>66</c:v>
                </c:pt>
                <c:pt idx="5">
                  <c:v>47</c:v>
                </c:pt>
                <c:pt idx="6">
                  <c:v>22</c:v>
                </c:pt>
                <c:pt idx="7">
                  <c:v>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D5DADF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F6B76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40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F6B7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 algn="l">
              <a:defRPr sz="1300" b="1" i="0" u="none" strike="noStrike">
                <a:solidFill>
                  <a:srgbClr val="051C2C"/>
                </a:solidFill>
                <a:latin typeface="+mn-lt"/>
              </a:defRPr>
            </a:pPr>
            <a:r>
              <a:rPr sz="1300" b="1" i="0" u="none" strike="noStrike">
                <a:solidFill>
                  <a:srgbClr val="051C2C"/>
                </a:solidFill>
                <a:latin typeface="+mn-lt"/>
              </a:rPr>
              <a:t>Have they put money in?</a:t>
            </a:r>
          </a:p>
        </c:rich>
      </c:tx>
      <c:layout/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Customers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D9475C"/>
              </a:solidFill>
              <a:effectLst/>
            </c:spPr>
          </c:dPt>
          <c:dPt>
            <c:idx val="1"/>
            <c:bubble3D val="0"/>
            <c:spPr>
              <a:solidFill>
                <a:srgbClr val="2251FF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Never put money in (976K)</c:v>
                </c:pt>
                <c:pt idx="1">
                  <c:v>Put money in (525K)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976</c:v>
                </c:pt>
                <c:pt idx="1">
                  <c:v>525</c:v>
                </c:pt>
              </c:numCache>
            </c:numRef>
          </c:val>
        </c:ser>
        <c:firstSliceAng val="0"/>
        <c:holeSize val="60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F6B76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 algn="l">
              <a:defRPr sz="1300" b="1" i="0" u="none" strike="noStrike">
                <a:solidFill>
                  <a:srgbClr val="051C2C"/>
                </a:solidFill>
                <a:latin typeface="+mn-lt"/>
              </a:defRPr>
            </a:pPr>
            <a:r>
              <a:rPr sz="1300" b="1" i="0" u="none" strike="noStrike">
                <a:solidFill>
                  <a:srgbClr val="051C2C"/>
                </a:solidFill>
                <a:latin typeface="+mn-lt"/>
              </a:rPr>
              <a:t>Customers paying with CLICX, thousand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Paying users, K</c:v>
                </c:pt>
              </c:strCache>
            </c:strRef>
          </c:tx>
          <c:spPr>
            <a:solidFill>
              <a:srgbClr val="051C2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51C2C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1C2C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D9475C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Aug</c:v>
                  </c:pt>
                  <c:pt idx="1">
                    <c:v>Sep</c:v>
                  </c:pt>
                  <c:pt idx="2">
                    <c:v>Oct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164</c:v>
                </c:pt>
                <c:pt idx="1">
                  <c:v>130</c:v>
                </c:pt>
                <c:pt idx="2">
                  <c:v>117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D5DADF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6B76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0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F6B7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 algn="l">
              <a:defRPr sz="1300" b="1" i="0" u="none" strike="noStrike">
                <a:solidFill>
                  <a:srgbClr val="051C2C"/>
                </a:solidFill>
                <a:latin typeface="+mn-lt"/>
              </a:defRPr>
            </a:pPr>
            <a:r>
              <a:rPr sz="1300" b="1" i="0" u="none" strike="noStrike">
                <a:solidFill>
                  <a:srgbClr val="051C2C"/>
                </a:solidFill>
                <a:latin typeface="+mn-lt"/>
              </a:rPr>
              <a:t>What customers do, by how much they keep with us, %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Has a CLICX loan</c:v>
                </c:pt>
              </c:strCache>
            </c:strRef>
          </c:tx>
          <c:spPr>
            <a:solidFill>
              <a:srgbClr val="051C2C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Zero</c:v>
                  </c:pt>
                  <c:pt idx="1">
                    <c:v>Under 1K</c:v>
                  </c:pt>
                  <c:pt idx="2">
                    <c:v>1K–20K</c:v>
                  </c:pt>
                  <c:pt idx="3">
                    <c:v>20K+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0.066</c:v>
                </c:pt>
                <c:pt idx="1">
                  <c:v>0.28</c:v>
                </c:pt>
                <c:pt idx="2">
                  <c:v>0.18</c:v>
                </c:pt>
                <c:pt idx="3">
                  <c:v>0.04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Paid with CLICX in Oct</c:v>
                </c:pt>
              </c:strCache>
            </c:strRef>
          </c:tx>
          <c:spPr>
            <a:solidFill>
              <a:srgbClr val="00A9F4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Zero</c:v>
                  </c:pt>
                  <c:pt idx="1">
                    <c:v>Under 1K</c:v>
                  </c:pt>
                  <c:pt idx="2">
                    <c:v>1K–20K</c:v>
                  </c:pt>
                  <c:pt idx="3">
                    <c:v>20K+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0.018</c:v>
                </c:pt>
                <c:pt idx="1">
                  <c:v>0.25</c:v>
                </c:pt>
                <c:pt idx="2">
                  <c:v>0.44</c:v>
                </c:pt>
                <c:pt idx="3">
                  <c:v>0.22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0" i="0" strike="noStrike" sz="11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D5DADF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6B76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52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F6B7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F6B76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 algn="l">
              <a:defRPr sz="1300" b="1" i="0" u="none" strike="noStrike">
                <a:solidFill>
                  <a:srgbClr val="051C2C"/>
                </a:solidFill>
                <a:latin typeface="+mn-lt"/>
              </a:defRPr>
            </a:pPr>
            <a:r>
              <a:rPr sz="1300" b="1" i="0" u="none" strike="noStrike">
                <a:solidFill>
                  <a:srgbClr val="051C2C"/>
                </a:solidFill>
                <a:latin typeface="+mn-lt"/>
              </a:rPr>
              <a:t>Where customers sit, thousand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Customers, K</c:v>
                </c:pt>
              </c:strCache>
            </c:strRef>
          </c:tx>
          <c:spPr>
            <a:solidFill>
              <a:srgbClr val="D9475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D9475C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A2AAAD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2251FF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051C2C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Zero</c:v>
                  </c:pt>
                  <c:pt idx="1">
                    <c:v>Under 1K</c:v>
                  </c:pt>
                  <c:pt idx="2">
                    <c:v>1K–20K</c:v>
                  </c:pt>
                  <c:pt idx="3">
                    <c:v>20K+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1142</c:v>
                </c:pt>
                <c:pt idx="1">
                  <c:v>288</c:v>
                </c:pt>
                <c:pt idx="2">
                  <c:v>42</c:v>
                </c:pt>
                <c:pt idx="3">
                  <c:v>29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D5DADF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6B76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45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F6B7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828800"/>
            <a:ext cx="105156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400" b="1" spc="200" kern="0" dirty="0">
                <a:solidFill>
                  <a:schemeClr val="accent2"/>
                </a:solidFill>
              </a:defRPr>
            </a:lvl1pPr>
          </a:lstStyle>
          <a:p>
            <a:pPr indent="0" marL="0">
              <a:buNone/>
            </a:pP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2240280"/>
            <a:ext cx="1051560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611880"/>
            <a:ext cx="96012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chemeClr val="accent6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731520" y="5760720"/>
            <a:ext cx="73152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pic>
        <p:nvPicPr>
          <p:cNvPr id="6" name="Image 0" descr="CLICX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77272" y="457200"/>
            <a:ext cx="1554480" cy="389534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ESTION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b="1" spc="100" kern="0" dirty="0">
                <a:solidFill>
                  <a:schemeClr val="accent1"/>
                </a:solidFill>
              </a:defRPr>
            </a:lvl1pPr>
          </a:lstStyle>
          <a:p>
            <a:pPr indent="0" marL="0">
              <a:buNone/>
            </a:pP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566928"/>
            <a:ext cx="11274552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2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481328"/>
            <a:ext cx="11274552" cy="5943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endParaRPr lang="en-US" sz="16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457200" y="6327648"/>
            <a:ext cx="1024128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000" dirty="0">
                <a:solidFill>
                  <a:srgbClr val="6E7C87"/>
                </a:solidFill>
              </a:defRPr>
            </a:lvl1pPr>
          </a:lstStyle>
          <a:p>
            <a:pPr indent="0" marL="0">
              <a:buNone/>
            </a:pPr>
            <a:endParaRPr lang="en-US" sz="1000" dirty="0"/>
          </a:p>
        </p:txBody>
      </p:sp>
      <p:pic>
        <p:nvPicPr>
          <p:cNvPr id="6" name="Image 0" descr="CLICX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34472" y="182880"/>
            <a:ext cx="1097280" cy="2743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E7C8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E7C8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chart" Target="/ppt/charts/chart3.xml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chart" Target="/ppt/charts/chart5.xml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1"/>
                </a:solidFill>
              </a:rPr>
              <a:t>BOARD SUMMARY  (1/4)  |  WHAT EXISTING CUSTOMERS DO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566928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Do our 1.5 million existing customers actually use CLICX?</a:t>
            </a:r>
            <a:endParaRPr lang="en-US" sz="2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481328"/>
            <a:ext cx="112745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Only 1 in 6 do. Most never put money in, and paying users fell 29% since August. Putting money in and getting a loan are what turn sign-ups into users</a:t>
            </a:r>
            <a:endParaRPr lang="en-US" sz="16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457200" y="6327648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E7C87"/>
                </a:solidFill>
              </a:rPr>
              <a:t>Source: CLICX product and payment segments, 1 Oct 2026 (1.50M customers with an account)</a:t>
            </a:r>
            <a:endParaRPr lang="en-US" sz="1000" dirty="0"/>
          </a:p>
        </p:txBody>
      </p:sp>
      <p:graphicFrame>
        <p:nvGraphicFramePr>
          <p:cNvPr id="6" name="Product holding" descr=""/>
          <p:cNvGraphicFramePr/>
          <p:nvPr/>
        </p:nvGraphicFramePr>
        <p:xfrm>
          <a:off x="457200" y="2148840"/>
          <a:ext cx="265176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7" name="First deposit" descr=""/>
          <p:cNvGraphicFramePr/>
          <p:nvPr/>
        </p:nvGraphicFramePr>
        <p:xfrm>
          <a:off x="3154680" y="2148840"/>
          <a:ext cx="237744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Accounts total"/>
          <p:cNvSpPr txBox="1"/>
          <p:nvPr/>
        </p:nvSpPr>
        <p:spPr>
          <a:xfrm>
            <a:off x="3840480" y="370332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1.50M</a:t>
            </a:r>
            <a:endParaRPr lang="en-US" sz="18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5F6B76"/>
                </a:solidFill>
              </a:rPr>
              <a:t>accounts</a:t>
            </a:r>
            <a:endParaRPr lang="en-US" sz="1800" dirty="0"/>
          </a:p>
        </p:txBody>
      </p:sp>
      <p:graphicFrame>
        <p:nvGraphicFramePr>
          <p:cNvPr id="9" name="Paying users trend" descr=""/>
          <p:cNvGraphicFramePr/>
          <p:nvPr/>
        </p:nvGraphicFramePr>
        <p:xfrm>
          <a:off x="5669280" y="2148840"/>
          <a:ext cx="246888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Insight panel"/>
          <p:cNvSpPr/>
          <p:nvPr/>
        </p:nvSpPr>
        <p:spPr>
          <a:xfrm>
            <a:off x="8275320" y="2148840"/>
            <a:ext cx="3456432" cy="397764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11" name="Insight header"/>
          <p:cNvSpPr txBox="1"/>
          <p:nvPr/>
        </p:nvSpPr>
        <p:spPr>
          <a:xfrm>
            <a:off x="8503920" y="2313432"/>
            <a:ext cx="2999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1"/>
                </a:solidFill>
              </a:rPr>
              <a:t>WHAT DRIVES USAGE</a:t>
            </a:r>
            <a:endParaRPr lang="en-US" sz="1100" dirty="0"/>
          </a:p>
        </p:txBody>
      </p:sp>
      <p:sp>
        <p:nvSpPr>
          <p:cNvPr id="12" name="Badge 1"/>
          <p:cNvSpPr/>
          <p:nvPr/>
        </p:nvSpPr>
        <p:spPr>
          <a:xfrm>
            <a:off x="8503920" y="2715768"/>
            <a:ext cx="292608" cy="29260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3" name="Badge num 1"/>
          <p:cNvSpPr txBox="1"/>
          <p:nvPr/>
        </p:nvSpPr>
        <p:spPr>
          <a:xfrm>
            <a:off x="8503920" y="271576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1</a:t>
            </a:r>
            <a:endParaRPr lang="en-US" sz="1100" dirty="0"/>
          </a:p>
        </p:txBody>
      </p:sp>
      <p:sp>
        <p:nvSpPr>
          <p:cNvPr id="14" name="Insight 1"/>
          <p:cNvSpPr txBox="1"/>
          <p:nvPr/>
        </p:nvSpPr>
        <p:spPr>
          <a:xfrm>
            <a:off x="8915400" y="2670048"/>
            <a:ext cx="2633472" cy="7726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Money in is the dividing line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22% of people who put money in pay with CLICX, vs 0.1% who never did</a:t>
            </a:r>
            <a:endParaRPr lang="en-US" sz="1400" dirty="0"/>
          </a:p>
        </p:txBody>
      </p:sp>
      <p:sp>
        <p:nvSpPr>
          <p:cNvPr id="15" name="Badge 2"/>
          <p:cNvSpPr/>
          <p:nvPr/>
        </p:nvSpPr>
        <p:spPr>
          <a:xfrm>
            <a:off x="8503920" y="3561588"/>
            <a:ext cx="292608" cy="29260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6" name="Badge num 2"/>
          <p:cNvSpPr txBox="1"/>
          <p:nvPr/>
        </p:nvSpPr>
        <p:spPr>
          <a:xfrm>
            <a:off x="8503920" y="35615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</a:t>
            </a:r>
            <a:endParaRPr lang="en-US" sz="1100" dirty="0"/>
          </a:p>
        </p:txBody>
      </p:sp>
      <p:sp>
        <p:nvSpPr>
          <p:cNvPr id="17" name="Insight 2"/>
          <p:cNvSpPr txBox="1"/>
          <p:nvPr/>
        </p:nvSpPr>
        <p:spPr>
          <a:xfrm>
            <a:off x="8915400" y="3515868"/>
            <a:ext cx="2633472" cy="7726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A loan builds the habit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28.5% of borrowers pay in the app, vs 5.2% of everyone else</a:t>
            </a:r>
            <a:endParaRPr lang="en-US" sz="1400" dirty="0"/>
          </a:p>
        </p:txBody>
      </p:sp>
      <p:sp>
        <p:nvSpPr>
          <p:cNvPr id="18" name="Badge 3"/>
          <p:cNvSpPr/>
          <p:nvPr/>
        </p:nvSpPr>
        <p:spPr>
          <a:xfrm>
            <a:off x="8503920" y="4407408"/>
            <a:ext cx="292608" cy="29260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9" name="Badge num 3"/>
          <p:cNvSpPr txBox="1"/>
          <p:nvPr/>
        </p:nvSpPr>
        <p:spPr>
          <a:xfrm>
            <a:off x="8503920" y="44074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3</a:t>
            </a:r>
            <a:endParaRPr lang="en-US" sz="1100" dirty="0"/>
          </a:p>
        </p:txBody>
      </p:sp>
      <p:sp>
        <p:nvSpPr>
          <p:cNvPr id="20" name="Insight 3"/>
          <p:cNvSpPr txBox="1"/>
          <p:nvPr/>
        </p:nvSpPr>
        <p:spPr>
          <a:xfrm>
            <a:off x="8915400" y="4361688"/>
            <a:ext cx="2633472" cy="7726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A 'no' loses the customer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1.13M applied for a loan and never got one. Only 4.3% of them pay</a:t>
            </a:r>
            <a:endParaRPr lang="en-US" sz="1400" dirty="0"/>
          </a:p>
        </p:txBody>
      </p:sp>
      <p:sp>
        <p:nvSpPr>
          <p:cNvPr id="21" name="Badge 4"/>
          <p:cNvSpPr/>
          <p:nvPr/>
        </p:nvSpPr>
        <p:spPr>
          <a:xfrm>
            <a:off x="8503920" y="5253228"/>
            <a:ext cx="292608" cy="29260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22" name="Badge num 4"/>
          <p:cNvSpPr txBox="1"/>
          <p:nvPr/>
        </p:nvSpPr>
        <p:spPr>
          <a:xfrm>
            <a:off x="8503920" y="525322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4</a:t>
            </a:r>
            <a:endParaRPr lang="en-US" sz="1100" dirty="0"/>
          </a:p>
        </p:txBody>
      </p:sp>
      <p:sp>
        <p:nvSpPr>
          <p:cNvPr id="23" name="Insight 4"/>
          <p:cNvSpPr txBox="1"/>
          <p:nvPr/>
        </p:nvSpPr>
        <p:spPr>
          <a:xfrm>
            <a:off x="8915400" y="5207508"/>
            <a:ext cx="2633472" cy="7726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Two ways to pay stick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People who scan and pay bills stop half as often (24% vs 41–48%)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E7C8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1"/>
                </a:solidFill>
              </a:rPr>
              <a:t>BOARD SUMMARY  (2/4)  |  HOW PRODUCTS CONNECT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566928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How are money in, loans and payments connected?</a:t>
            </a:r>
            <a:endParaRPr lang="en-US" sz="2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481328"/>
            <a:ext cx="112745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Tightly: a customer who has any one of them is 2.5–3.7x more likely to have the other two. But only 35% of accounts ever get money in, so most customers never start the chain</a:t>
            </a:r>
            <a:endParaRPr lang="en-US" sz="16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457200" y="6327648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E7C87"/>
                </a:solidFill>
              </a:rPr>
              <a:t>x = times as likely as the average customer. Balance rows use current balance; a 100-baht cut is not in the data yet. Ladder % = share of the step before; main bank = regular income in and payments out. Source: CLICX product and payment segments, 1 Oct 2026 (1.50M accounts); registration funnel from CLICX 5-Year Business Plan</a:t>
            </a:r>
            <a:endParaRPr lang="en-US" sz="1000" dirty="0"/>
          </a:p>
        </p:txBody>
      </p:sp>
      <p:sp>
        <p:nvSpPr>
          <p:cNvPr id="6" name="Matrix title"/>
          <p:cNvSpPr txBox="1"/>
          <p:nvPr/>
        </p:nvSpPr>
        <p:spPr>
          <a:xfrm>
            <a:off x="457200" y="219456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Has one product: how likely are the others?</a:t>
            </a:r>
            <a:endParaRPr lang="en-US" sz="1300" dirty="0"/>
          </a:p>
        </p:txBody>
      </p:sp>
      <p:graphicFrame>
        <p:nvGraphicFramePr>
          <p:cNvPr id="3" name="Connection matrix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560320"/>
          <a:ext cx="4114800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960120"/>
                <a:gridCol w="960120"/>
                <a:gridCol w="960120"/>
              </a:tblGrid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If the customer…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36576" marB="3657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51C2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…% who put money in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36576" marB="3657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51C2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…% with a loan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36576" marB="3657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51C2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…% who paid in Oct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36576" marB="3657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51C2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51C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All customers (average)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36576" marB="3657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36576" marB="3657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36576" marB="3657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36576" marB="3657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51C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Has put money in (525K)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36576" marB="3657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5F6B7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–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36576" marB="3657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2.5x more likely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36576" marB="3657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51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2.8x more likely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36576" marB="3657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51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lvl="1" indent="0" marL="0">
                        <a:buNone/>
                      </a:pPr>
                      <a:r>
                        <a:rPr lang="en-US" sz="1000" dirty="0">
                          <a:solidFill>
                            <a:srgbClr val="051C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↳ Balance 1K+ today (71K)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36576" marB="3657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F6B7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36576" marB="3657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about average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36576" marB="3657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4.5x more likely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36576" marB="3657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51C2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lvl="1" indent="0" marL="0">
                        <a:buNone/>
                      </a:pPr>
                      <a:r>
                        <a:rPr lang="en-US" sz="1000" dirty="0">
                          <a:solidFill>
                            <a:srgbClr val="051C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↳ Balance 20K+ today (29K)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36576" marB="3657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F6B7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36576" marB="3657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D947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D947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0.4x as likely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36576" marB="3657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2.8x more likely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36576" marB="3657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51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51C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Has a loan (164K)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36576" marB="3657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2.5x more likely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36576" marB="3657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51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5F6B7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–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36576" marB="3657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28.5%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3.7x more likely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36576" marB="3657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51C2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51C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Paid in Oct (117K)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36576" marB="3657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2.8x more likely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36576" marB="3657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51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3.6x more likely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36576" marB="3657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51C2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5F6B7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–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36576" marB="3657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Ladder title"/>
          <p:cNvSpPr txBox="1"/>
          <p:nvPr/>
        </p:nvSpPr>
        <p:spPr>
          <a:xfrm>
            <a:off x="4800600" y="2194560"/>
            <a:ext cx="3337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How far customers climb, thousand</a:t>
            </a:r>
            <a:endParaRPr lang="en-US" sz="1300" dirty="0"/>
          </a:p>
        </p:txBody>
      </p:sp>
      <p:sp>
        <p:nvSpPr>
          <p:cNvPr id="9" name="Ladder label 0"/>
          <p:cNvSpPr txBox="1"/>
          <p:nvPr/>
        </p:nvSpPr>
        <p:spPr>
          <a:xfrm>
            <a:off x="4800600" y="2606040"/>
            <a:ext cx="1051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Registered</a:t>
            </a:r>
            <a:endParaRPr lang="en-US" sz="1100" dirty="0"/>
          </a:p>
        </p:txBody>
      </p:sp>
      <p:sp>
        <p:nvSpPr>
          <p:cNvPr id="10" name="Ladder bar 0"/>
          <p:cNvSpPr/>
          <p:nvPr/>
        </p:nvSpPr>
        <p:spPr>
          <a:xfrm>
            <a:off x="5943600" y="2651760"/>
            <a:ext cx="1371600" cy="320040"/>
          </a:xfrm>
          <a:prstGeom prst="rect">
            <a:avLst/>
          </a:prstGeom>
          <a:solidFill>
            <a:schemeClr val="tx2"/>
          </a:solidFill>
          <a:ln/>
        </p:spPr>
      </p:sp>
      <p:sp>
        <p:nvSpPr>
          <p:cNvPr id="11" name="Ladder value 0"/>
          <p:cNvSpPr txBox="1"/>
          <p:nvPr/>
        </p:nvSpPr>
        <p:spPr>
          <a:xfrm>
            <a:off x="7360920" y="2606040"/>
            <a:ext cx="777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2,100</a:t>
            </a:r>
            <a:endParaRPr lang="en-US" sz="1200" dirty="0"/>
          </a:p>
        </p:txBody>
      </p:sp>
      <p:sp>
        <p:nvSpPr>
          <p:cNvPr id="12" name="Ladder label 1"/>
          <p:cNvSpPr txBox="1"/>
          <p:nvPr/>
        </p:nvSpPr>
        <p:spPr>
          <a:xfrm>
            <a:off x="4800600" y="3172968"/>
            <a:ext cx="1051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Account opened</a:t>
            </a:r>
            <a:endParaRPr lang="en-US" sz="1100" dirty="0"/>
          </a:p>
        </p:txBody>
      </p:sp>
      <p:sp>
        <p:nvSpPr>
          <p:cNvPr id="13" name="Ladder bar 1"/>
          <p:cNvSpPr/>
          <p:nvPr/>
        </p:nvSpPr>
        <p:spPr>
          <a:xfrm>
            <a:off x="5943600" y="3218688"/>
            <a:ext cx="979714" cy="320040"/>
          </a:xfrm>
          <a:prstGeom prst="rect">
            <a:avLst/>
          </a:prstGeom>
          <a:solidFill>
            <a:schemeClr val="tx2"/>
          </a:solidFill>
          <a:ln/>
        </p:spPr>
      </p:sp>
      <p:sp>
        <p:nvSpPr>
          <p:cNvPr id="14" name="Ladder value 1"/>
          <p:cNvSpPr txBox="1"/>
          <p:nvPr/>
        </p:nvSpPr>
        <p:spPr>
          <a:xfrm>
            <a:off x="6969034" y="3172968"/>
            <a:ext cx="116912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1,500</a:t>
            </a:r>
            <a:pPr indent="0" marL="0">
              <a:buNone/>
            </a:pPr>
            <a:r>
              <a:rPr lang="en-US" sz="1000" dirty="0">
                <a:solidFill>
                  <a:srgbClr val="5F6B76"/>
                </a:solidFill>
              </a:rPr>
              <a:t>  71%</a:t>
            </a:r>
            <a:endParaRPr lang="en-US" sz="1200" dirty="0"/>
          </a:p>
        </p:txBody>
      </p:sp>
      <p:sp>
        <p:nvSpPr>
          <p:cNvPr id="15" name="Ladder label 2"/>
          <p:cNvSpPr txBox="1"/>
          <p:nvPr/>
        </p:nvSpPr>
        <p:spPr>
          <a:xfrm>
            <a:off x="4800600" y="3739896"/>
            <a:ext cx="1051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Money in</a:t>
            </a:r>
            <a:endParaRPr lang="en-US" sz="1100" dirty="0"/>
          </a:p>
        </p:txBody>
      </p:sp>
      <p:sp>
        <p:nvSpPr>
          <p:cNvPr id="16" name="Ladder bar 2"/>
          <p:cNvSpPr/>
          <p:nvPr/>
        </p:nvSpPr>
        <p:spPr>
          <a:xfrm>
            <a:off x="5943600" y="3785616"/>
            <a:ext cx="342900" cy="320040"/>
          </a:xfrm>
          <a:prstGeom prst="rect">
            <a:avLst/>
          </a:prstGeom>
          <a:solidFill>
            <a:schemeClr val="tx2"/>
          </a:solidFill>
          <a:ln/>
        </p:spPr>
      </p:sp>
      <p:sp>
        <p:nvSpPr>
          <p:cNvPr id="17" name="Ladder value 2"/>
          <p:cNvSpPr txBox="1"/>
          <p:nvPr/>
        </p:nvSpPr>
        <p:spPr>
          <a:xfrm>
            <a:off x="6332220" y="3739896"/>
            <a:ext cx="18059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525</a:t>
            </a:r>
            <a:pPr indent="0" marL="0">
              <a:buNone/>
            </a:pPr>
            <a:r>
              <a:rPr lang="en-US" sz="1000" dirty="0">
                <a:solidFill>
                  <a:srgbClr val="5F6B76"/>
                </a:solidFill>
              </a:rPr>
              <a:t>  35%</a:t>
            </a:r>
            <a:endParaRPr lang="en-US" sz="1200" dirty="0"/>
          </a:p>
        </p:txBody>
      </p:sp>
      <p:sp>
        <p:nvSpPr>
          <p:cNvPr id="18" name="Ladder label 3"/>
          <p:cNvSpPr txBox="1"/>
          <p:nvPr/>
        </p:nvSpPr>
        <p:spPr>
          <a:xfrm>
            <a:off x="4800600" y="4306824"/>
            <a:ext cx="1051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Paying (Oct)</a:t>
            </a:r>
            <a:endParaRPr lang="en-US" sz="1100" dirty="0"/>
          </a:p>
        </p:txBody>
      </p:sp>
      <p:sp>
        <p:nvSpPr>
          <p:cNvPr id="19" name="Ladder bar 3"/>
          <p:cNvSpPr/>
          <p:nvPr/>
        </p:nvSpPr>
        <p:spPr>
          <a:xfrm>
            <a:off x="5943600" y="4352544"/>
            <a:ext cx="76418" cy="32004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20" name="Ladder value 3"/>
          <p:cNvSpPr txBox="1"/>
          <p:nvPr/>
        </p:nvSpPr>
        <p:spPr>
          <a:xfrm>
            <a:off x="6065738" y="4306824"/>
            <a:ext cx="207242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117</a:t>
            </a:r>
            <a:pPr indent="0" marL="0">
              <a:buNone/>
            </a:pPr>
            <a:r>
              <a:rPr lang="en-US" sz="1000" dirty="0">
                <a:solidFill>
                  <a:srgbClr val="5F6B76"/>
                </a:solidFill>
              </a:rPr>
              <a:t>  22%</a:t>
            </a:r>
            <a:endParaRPr lang="en-US" sz="1200" dirty="0"/>
          </a:p>
        </p:txBody>
      </p:sp>
      <p:sp>
        <p:nvSpPr>
          <p:cNvPr id="21" name="Ladder label 4"/>
          <p:cNvSpPr txBox="1"/>
          <p:nvPr/>
        </p:nvSpPr>
        <p:spPr>
          <a:xfrm>
            <a:off x="4800600" y="4873752"/>
            <a:ext cx="1051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2+ products</a:t>
            </a:r>
            <a:endParaRPr lang="en-US" sz="1100" dirty="0"/>
          </a:p>
        </p:txBody>
      </p:sp>
      <p:sp>
        <p:nvSpPr>
          <p:cNvPr id="22" name="Ladder bar 4"/>
          <p:cNvSpPr/>
          <p:nvPr/>
        </p:nvSpPr>
        <p:spPr>
          <a:xfrm>
            <a:off x="5943600" y="4919472"/>
            <a:ext cx="54864" cy="32004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23" name="Ladder value 4"/>
          <p:cNvSpPr txBox="1"/>
          <p:nvPr/>
        </p:nvSpPr>
        <p:spPr>
          <a:xfrm>
            <a:off x="6044184" y="4873752"/>
            <a:ext cx="209397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51</a:t>
            </a:r>
            <a:pPr indent="0" marL="0">
              <a:buNone/>
            </a:pPr>
            <a:r>
              <a:rPr lang="en-US" sz="1000" dirty="0">
                <a:solidFill>
                  <a:srgbClr val="5F6B76"/>
                </a:solidFill>
              </a:rPr>
              <a:t>  44%</a:t>
            </a:r>
            <a:endParaRPr lang="en-US" sz="1200" dirty="0"/>
          </a:p>
        </p:txBody>
      </p:sp>
      <p:sp>
        <p:nvSpPr>
          <p:cNvPr id="24" name="Ladder label main"/>
          <p:cNvSpPr txBox="1"/>
          <p:nvPr/>
        </p:nvSpPr>
        <p:spPr>
          <a:xfrm>
            <a:off x="4800600" y="5440680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Main bank</a:t>
            </a:r>
            <a:endParaRPr lang="en-US" sz="1100" dirty="0"/>
          </a:p>
        </p:txBody>
      </p:sp>
      <p:sp>
        <p:nvSpPr>
          <p:cNvPr id="25" name="Ladder main placeholder"/>
          <p:cNvSpPr/>
          <p:nvPr/>
        </p:nvSpPr>
        <p:spPr>
          <a:xfrm>
            <a:off x="5943600" y="5486400"/>
            <a:ext cx="2194560" cy="365760"/>
          </a:xfrm>
          <a:prstGeom prst="rect">
            <a:avLst/>
          </a:prstGeom>
          <a:solidFill>
            <a:schemeClr val="bg2"/>
          </a:solidFill>
          <a:ln w="12700">
            <a:solidFill>
              <a:srgbClr val="A2AAAD"/>
            </a:solidFill>
            <a:prstDash val="dash"/>
          </a:ln>
        </p:spPr>
      </p:sp>
      <p:sp>
        <p:nvSpPr>
          <p:cNvPr id="26" name="Ladder main text"/>
          <p:cNvSpPr txBox="1"/>
          <p:nvPr/>
        </p:nvSpPr>
        <p:spPr>
          <a:xfrm>
            <a:off x="5943600" y="54864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Not measured yet</a:t>
            </a:r>
            <a:endParaRPr lang="en-US" sz="1000" dirty="0"/>
          </a:p>
        </p:txBody>
      </p:sp>
      <p:sp>
        <p:nvSpPr>
          <p:cNvPr id="27" name="Insight panel"/>
          <p:cNvSpPr/>
          <p:nvPr/>
        </p:nvSpPr>
        <p:spPr>
          <a:xfrm>
            <a:off x="8275320" y="2148840"/>
            <a:ext cx="3456432" cy="397764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28" name="Insight header"/>
          <p:cNvSpPr txBox="1"/>
          <p:nvPr/>
        </p:nvSpPr>
        <p:spPr>
          <a:xfrm>
            <a:off x="8503920" y="2313432"/>
            <a:ext cx="2999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1"/>
                </a:solidFill>
              </a:rPr>
              <a:t>WHAT IT MEANS</a:t>
            </a:r>
            <a:endParaRPr lang="en-US" sz="1100" dirty="0"/>
          </a:p>
        </p:txBody>
      </p:sp>
      <p:sp>
        <p:nvSpPr>
          <p:cNvPr id="29" name="Badge 1"/>
          <p:cNvSpPr/>
          <p:nvPr/>
        </p:nvSpPr>
        <p:spPr>
          <a:xfrm>
            <a:off x="8503920" y="2715768"/>
            <a:ext cx="292608" cy="29260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30" name="Badge num 1"/>
          <p:cNvSpPr txBox="1"/>
          <p:nvPr/>
        </p:nvSpPr>
        <p:spPr>
          <a:xfrm>
            <a:off x="8503920" y="271576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1</a:t>
            </a:r>
            <a:endParaRPr lang="en-US" sz="1100" dirty="0"/>
          </a:p>
        </p:txBody>
      </p:sp>
      <p:sp>
        <p:nvSpPr>
          <p:cNvPr id="31" name="Insight 1"/>
          <p:cNvSpPr txBox="1"/>
          <p:nvPr/>
        </p:nvSpPr>
        <p:spPr>
          <a:xfrm>
            <a:off x="8915400" y="2670048"/>
            <a:ext cx="2633472" cy="1054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Each product pulls in the others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Holding one makes the other two 2.5–3.7x more likely. Borrowers and payers are the most connected</a:t>
            </a:r>
            <a:endParaRPr lang="en-US" sz="1400" dirty="0"/>
          </a:p>
        </p:txBody>
      </p:sp>
      <p:sp>
        <p:nvSpPr>
          <p:cNvPr id="32" name="Badge 2"/>
          <p:cNvSpPr/>
          <p:nvPr/>
        </p:nvSpPr>
        <p:spPr>
          <a:xfrm>
            <a:off x="8503920" y="3843528"/>
            <a:ext cx="292608" cy="29260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33" name="Badge num 2"/>
          <p:cNvSpPr txBox="1"/>
          <p:nvPr/>
        </p:nvSpPr>
        <p:spPr>
          <a:xfrm>
            <a:off x="8503920" y="384352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</a:t>
            </a:r>
            <a:endParaRPr lang="en-US" sz="1100" dirty="0"/>
          </a:p>
        </p:txBody>
      </p:sp>
      <p:sp>
        <p:nvSpPr>
          <p:cNvPr id="34" name="Insight 2"/>
          <p:cNvSpPr txBox="1"/>
          <p:nvPr/>
        </p:nvSpPr>
        <p:spPr>
          <a:xfrm>
            <a:off x="8915400" y="3797808"/>
            <a:ext cx="2633472" cy="1054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Savers pay, but rarely borrow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35% of customers with 1K+ pay with CLICX (4.5x), but only 4% with 20K+ have a loan. They need a different offer</a:t>
            </a:r>
            <a:endParaRPr lang="en-US" sz="1400" dirty="0"/>
          </a:p>
        </p:txBody>
      </p:sp>
      <p:sp>
        <p:nvSpPr>
          <p:cNvPr id="35" name="Badge 3"/>
          <p:cNvSpPr/>
          <p:nvPr/>
        </p:nvSpPr>
        <p:spPr>
          <a:xfrm>
            <a:off x="8503920" y="4971288"/>
            <a:ext cx="292608" cy="29260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36" name="Badge num 3"/>
          <p:cNvSpPr txBox="1"/>
          <p:nvPr/>
        </p:nvSpPr>
        <p:spPr>
          <a:xfrm>
            <a:off x="8503920" y="49712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3</a:t>
            </a:r>
            <a:endParaRPr lang="en-US" sz="1100" dirty="0"/>
          </a:p>
        </p:txBody>
      </p:sp>
      <p:sp>
        <p:nvSpPr>
          <p:cNvPr id="37" name="Insight 3"/>
          <p:cNvSpPr txBox="1"/>
          <p:nvPr/>
        </p:nvSpPr>
        <p:spPr>
          <a:xfrm>
            <a:off x="8915400" y="4925568"/>
            <a:ext cx="2633472" cy="1054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The chain breaks at step one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Only 35% of accounts ever get money in, yet 99% of payers have. Money in comes first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E7C8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1"/>
                </a:solidFill>
              </a:rPr>
              <a:t>BOARD SUMMARY  (3/4)  |  BALANCE AND USE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566928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Does how much money customers keep with us change what else they do?</a:t>
            </a:r>
            <a:endParaRPr lang="en-US" sz="2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481328"/>
            <a:ext cx="112745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Yes. Payments peak among customers keeping 1K–20K (44% pay), while big savers (20K+) pay less and rarely borrow. The 1.14M with a zero balance barely use anything</a:t>
            </a:r>
            <a:endParaRPr lang="en-US" sz="16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457200" y="6327648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E7C87"/>
                </a:solidFill>
              </a:rPr>
              <a:t>Balance = current total balance, 1 Oct 2026. Zero and under-1K figures are estimates from rounded shares in the source; 1K+ figures are exact. A 100-baht cut is not in the data yet. Source: CLICX product and payment segments</a:t>
            </a:r>
            <a:endParaRPr lang="en-US" sz="1000" dirty="0"/>
          </a:p>
        </p:txBody>
      </p:sp>
      <p:graphicFrame>
        <p:nvGraphicFramePr>
          <p:cNvPr id="6" name="Use by balance band" descr=""/>
          <p:cNvGraphicFramePr/>
          <p:nvPr/>
        </p:nvGraphicFramePr>
        <p:xfrm>
          <a:off x="457200" y="2148840"/>
          <a:ext cx="484632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7" name="Customers by balance band" descr=""/>
          <p:cNvGraphicFramePr/>
          <p:nvPr/>
        </p:nvGraphicFramePr>
        <p:xfrm>
          <a:off x="5394960" y="2148840"/>
          <a:ext cx="274320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Insight panel"/>
          <p:cNvSpPr/>
          <p:nvPr/>
        </p:nvSpPr>
        <p:spPr>
          <a:xfrm>
            <a:off x="8275320" y="2148840"/>
            <a:ext cx="3456432" cy="397764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9" name="Insight header"/>
          <p:cNvSpPr txBox="1"/>
          <p:nvPr/>
        </p:nvSpPr>
        <p:spPr>
          <a:xfrm>
            <a:off x="8503920" y="2313432"/>
            <a:ext cx="2999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1"/>
                </a:solidFill>
              </a:rPr>
              <a:t>WHAT IT MEANS</a:t>
            </a:r>
            <a:endParaRPr lang="en-US" sz="1100" dirty="0"/>
          </a:p>
        </p:txBody>
      </p:sp>
      <p:sp>
        <p:nvSpPr>
          <p:cNvPr id="10" name="Badge 1"/>
          <p:cNvSpPr/>
          <p:nvPr/>
        </p:nvSpPr>
        <p:spPr>
          <a:xfrm>
            <a:off x="8503920" y="2715768"/>
            <a:ext cx="292608" cy="29260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1" name="Badge num 1"/>
          <p:cNvSpPr txBox="1"/>
          <p:nvPr/>
        </p:nvSpPr>
        <p:spPr>
          <a:xfrm>
            <a:off x="8503920" y="271576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1</a:t>
            </a:r>
            <a:endParaRPr lang="en-US" sz="1100" dirty="0"/>
          </a:p>
        </p:txBody>
      </p:sp>
      <p:sp>
        <p:nvSpPr>
          <p:cNvPr id="12" name="Insight 1"/>
          <p:cNvSpPr txBox="1"/>
          <p:nvPr/>
        </p:nvSpPr>
        <p:spPr>
          <a:xfrm>
            <a:off x="8915400" y="2670048"/>
            <a:ext cx="2633472" cy="1054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Small balances follow loans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28% of customers holding under 1K have a loan, the highest of any group</a:t>
            </a:r>
            <a:endParaRPr lang="en-US" sz="1400" dirty="0"/>
          </a:p>
        </p:txBody>
      </p:sp>
      <p:sp>
        <p:nvSpPr>
          <p:cNvPr id="13" name="Badge 2"/>
          <p:cNvSpPr/>
          <p:nvPr/>
        </p:nvSpPr>
        <p:spPr>
          <a:xfrm>
            <a:off x="8503920" y="3843528"/>
            <a:ext cx="292608" cy="29260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4" name="Badge num 2"/>
          <p:cNvSpPr txBox="1"/>
          <p:nvPr/>
        </p:nvSpPr>
        <p:spPr>
          <a:xfrm>
            <a:off x="8503920" y="384352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</a:t>
            </a:r>
            <a:endParaRPr lang="en-US" sz="1100" dirty="0"/>
          </a:p>
        </p:txBody>
      </p:sp>
      <p:sp>
        <p:nvSpPr>
          <p:cNvPr id="15" name="Insight 2"/>
          <p:cNvSpPr txBox="1"/>
          <p:nvPr/>
        </p:nvSpPr>
        <p:spPr>
          <a:xfrm>
            <a:off x="8915400" y="3797808"/>
            <a:ext cx="2633472" cy="1054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1K–20K is the everyday sweet spot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44% pay with CLICX, 6x the average. Grow this group from the 288K holding under 1K</a:t>
            </a:r>
            <a:endParaRPr lang="en-US" sz="1400" dirty="0"/>
          </a:p>
        </p:txBody>
      </p:sp>
      <p:sp>
        <p:nvSpPr>
          <p:cNvPr id="16" name="Badge 3"/>
          <p:cNvSpPr/>
          <p:nvPr/>
        </p:nvSpPr>
        <p:spPr>
          <a:xfrm>
            <a:off x="8503920" y="4971288"/>
            <a:ext cx="292608" cy="29260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7" name="Badge num 3"/>
          <p:cNvSpPr txBox="1"/>
          <p:nvPr/>
        </p:nvSpPr>
        <p:spPr>
          <a:xfrm>
            <a:off x="8503920" y="49712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3</a:t>
            </a:r>
            <a:endParaRPr lang="en-US" sz="1100" dirty="0"/>
          </a:p>
        </p:txBody>
      </p:sp>
      <p:sp>
        <p:nvSpPr>
          <p:cNvPr id="18" name="Insight 3"/>
          <p:cNvSpPr txBox="1"/>
          <p:nvPr/>
        </p:nvSpPr>
        <p:spPr>
          <a:xfrm>
            <a:off x="8915400" y="4925568"/>
            <a:ext cx="2633472" cy="1054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Big savers want a savings home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20K+ customers rarely borrow (4%). Offer savings and rewards, not loans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E7C8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1"/>
                </a:solidFill>
              </a:rPr>
              <a:t>BOARD SUMMARY  (4/4)  |  WHAT WE WILL DO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566928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What can we do in the next 90 days, and what do we need from the board?</a:t>
            </a:r>
            <a:endParaRPr lang="en-US" sz="2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481328"/>
            <a:ext cx="112745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Six actions aimed at customers we already have: get money in, bring loan payments into the app, and keep payers from dropping off</a:t>
            </a:r>
            <a:endParaRPr lang="en-US" sz="16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457200" y="6327648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E7C87"/>
                </a:solidFill>
              </a:rPr>
              <a:t>Source: CLICX product and payment segments, 1 Oct 2026 (1.50M customers with an account)</a:t>
            </a:r>
            <a:endParaRPr lang="en-US" sz="1000" dirty="0"/>
          </a:p>
        </p:txBody>
      </p:sp>
      <p:graphicFrame>
        <p:nvGraphicFramePr>
          <p:cNvPr id="5" name="Action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194560"/>
          <a:ext cx="768096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1737360"/>
                <a:gridCol w="868680"/>
                <a:gridCol w="187452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Action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51C2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51C2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How many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51C2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Why it should work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51C2C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51C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 Give turned-down applicants a reason to put money in (bonus save pocket, small starter loan)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Applied, never got a loan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2251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1.13M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Money in is the strongest sign someone will pay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51C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 Bring loan repayment into the app (autopay, due-date reminders)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Borrowers who never paid in the app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2251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75K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Payers who come back follow due dates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51C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  Win back last month's payers every month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Paid last month, not this month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2251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53K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Cheaper to keep a payer than to find one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51C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  Offer AIS bill pay and top-up to scan-to-pay users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Scan-to-pay only users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2251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65K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Two ways to pay halves drop-off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51C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  Nudge small savers to the next savings tier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Holding 1K–20K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2251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42K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Our 20K+ savers fell from 34.6K to 28.8K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51C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  Reward the 2nd and 3rd payment, not just the 1st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New payers each month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2251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25K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Bill pay fell 45% when the promotion ended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corecard strip"/>
          <p:cNvSpPr txBox="1"/>
          <p:nvPr/>
        </p:nvSpPr>
        <p:spPr>
          <a:xfrm>
            <a:off x="457200" y="571500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TRACK MONTHLY   </a:t>
            </a:r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Money in 35%  ·  Paying 117K  ·  Pay every month 57.7K  ·  2+ products 51K  ·  Savers 1K+ 71K</a:t>
            </a:r>
            <a:endParaRPr lang="en-US" sz="1000" dirty="0"/>
          </a:p>
        </p:txBody>
      </p:sp>
      <p:sp>
        <p:nvSpPr>
          <p:cNvPr id="8" name="Insight panel"/>
          <p:cNvSpPr/>
          <p:nvPr/>
        </p:nvSpPr>
        <p:spPr>
          <a:xfrm>
            <a:off x="8275320" y="2148840"/>
            <a:ext cx="3456432" cy="397764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9" name="Insight header"/>
          <p:cNvSpPr txBox="1"/>
          <p:nvPr/>
        </p:nvSpPr>
        <p:spPr>
          <a:xfrm>
            <a:off x="8503920" y="2313432"/>
            <a:ext cx="2999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1"/>
                </a:solidFill>
              </a:rPr>
              <a:t>WHAT WE ASK THE BOARD</a:t>
            </a:r>
            <a:endParaRPr lang="en-US" sz="1100" dirty="0"/>
          </a:p>
        </p:txBody>
      </p:sp>
      <p:sp>
        <p:nvSpPr>
          <p:cNvPr id="10" name="Badge 1"/>
          <p:cNvSpPr/>
          <p:nvPr/>
        </p:nvSpPr>
        <p:spPr>
          <a:xfrm>
            <a:off x="8503920" y="2715768"/>
            <a:ext cx="292608" cy="29260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1" name="Badge num 1"/>
          <p:cNvSpPr txBox="1"/>
          <p:nvPr/>
        </p:nvSpPr>
        <p:spPr>
          <a:xfrm>
            <a:off x="8503920" y="271576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1</a:t>
            </a:r>
            <a:endParaRPr lang="en-US" sz="1100" dirty="0"/>
          </a:p>
        </p:txBody>
      </p:sp>
      <p:sp>
        <p:nvSpPr>
          <p:cNvPr id="12" name="Insight 1"/>
          <p:cNvSpPr txBox="1"/>
          <p:nvPr/>
        </p:nvSpPr>
        <p:spPr>
          <a:xfrm>
            <a:off x="8915400" y="2670048"/>
            <a:ext cx="2633472" cy="1054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Agree the measure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Track 'customers with money in who pay' next to loan growth</a:t>
            </a:r>
            <a:endParaRPr lang="en-US" sz="1400" dirty="0"/>
          </a:p>
        </p:txBody>
      </p:sp>
      <p:sp>
        <p:nvSpPr>
          <p:cNvPr id="13" name="Badge 2"/>
          <p:cNvSpPr/>
          <p:nvPr/>
        </p:nvSpPr>
        <p:spPr>
          <a:xfrm>
            <a:off x="8503920" y="3843528"/>
            <a:ext cx="292608" cy="29260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4" name="Badge num 2"/>
          <p:cNvSpPr txBox="1"/>
          <p:nvPr/>
        </p:nvSpPr>
        <p:spPr>
          <a:xfrm>
            <a:off x="8503920" y="384352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</a:t>
            </a:r>
            <a:endParaRPr lang="en-US" sz="1100" dirty="0"/>
          </a:p>
        </p:txBody>
      </p:sp>
      <p:sp>
        <p:nvSpPr>
          <p:cNvPr id="15" name="Insight 2"/>
          <p:cNvSpPr txBox="1"/>
          <p:nvPr/>
        </p:nvSpPr>
        <p:spPr>
          <a:xfrm>
            <a:off x="8915400" y="3797808"/>
            <a:ext cx="2633472" cy="1054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Move budget to activation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Shift part of sign-up spend into actions 1–4</a:t>
            </a:r>
            <a:endParaRPr lang="en-US" sz="1400" dirty="0"/>
          </a:p>
        </p:txBody>
      </p:sp>
      <p:sp>
        <p:nvSpPr>
          <p:cNvPr id="16" name="Badge 3"/>
          <p:cNvSpPr/>
          <p:nvPr/>
        </p:nvSpPr>
        <p:spPr>
          <a:xfrm>
            <a:off x="8503920" y="4971288"/>
            <a:ext cx="292608" cy="29260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7" name="Badge num 3"/>
          <p:cNvSpPr txBox="1"/>
          <p:nvPr/>
        </p:nvSpPr>
        <p:spPr>
          <a:xfrm>
            <a:off x="8503920" y="49712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3</a:t>
            </a:r>
            <a:endParaRPr lang="en-US" sz="1100" dirty="0"/>
          </a:p>
        </p:txBody>
      </p:sp>
      <p:sp>
        <p:nvSpPr>
          <p:cNvPr id="18" name="Insight 3"/>
          <p:cNvSpPr txBox="1"/>
          <p:nvPr/>
        </p:nvSpPr>
        <p:spPr>
          <a:xfrm>
            <a:off x="8915400" y="4925568"/>
            <a:ext cx="2633472" cy="1054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Open the balance data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Put CLICX balances in the shared data room to track savings and the KTB deposit question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E7C8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LICX Insights">
  <a:themeElements>
    <a:clrScheme name="CLICX Insights">
      <a:dk1>
        <a:srgbClr val="1A1A1A"/>
      </a:dk1>
      <a:lt1>
        <a:srgbClr val="FFFFFF"/>
      </a:lt1>
      <a:dk2>
        <a:srgbClr val="051C2C"/>
      </a:dk2>
      <a:lt2>
        <a:srgbClr val="F2F4F7"/>
      </a:lt2>
      <a:accent1>
        <a:srgbClr val="2251FF"/>
      </a:accent1>
      <a:accent2>
        <a:srgbClr val="00A9F4"/>
      </a:accent2>
      <a:accent3>
        <a:srgbClr val="051C2C"/>
      </a:accent3>
      <a:accent4>
        <a:srgbClr val="A2AAAD"/>
      </a:accent4>
      <a:accent5>
        <a:srgbClr val="D9475C"/>
      </a:accent5>
      <a:accent6>
        <a:srgbClr val="7FD1F7"/>
      </a:accent6>
      <a:hlink>
        <a:srgbClr val="2251FF"/>
      </a:hlink>
      <a:folHlink>
        <a:srgbClr val="6E7C87"/>
      </a:folHlink>
    </a:clrScheme>
    <a:fontScheme name="CLICX Insights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CLICX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CLICX existing customers: board summary</dc:title>
  <dc:subject>PptxGenJS Presentation</dc:subject>
  <dc:creator>PptxGenJS</dc:creator>
  <cp:lastModifiedBy>PptxGenJS</cp:lastModifiedBy>
  <cp:revision>1</cp:revision>
  <dcterms:created xsi:type="dcterms:W3CDTF">2026-10-30T09:31:07Z</dcterms:created>
  <dcterms:modified xsi:type="dcterms:W3CDTF">2026-10-30T09:31:07Z</dcterms:modified>
</cp:coreProperties>
</file>
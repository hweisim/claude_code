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oard summary" id="{3784c5e3-906a-1d39-0ce8-7d7949f8a356}">
          <p14:sldIdLst>
            <p14:sldId id="256"/>
            <p14:sldId id="257"/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What they hold, thousand customers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Customers, K</c:v>
                </c:pt>
              </c:strCache>
            </c:strRef>
          </c:tx>
          <c:spPr>
            <a:solidFill>
              <a:srgbClr val="D947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A9F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A9F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Zero balance, no use</c:v>
                  </c:pt>
                  <c:pt idx="1">
                    <c:v>Money only, under 1K</c:v>
                  </c:pt>
                  <c:pt idx="2">
                    <c:v>Money only, 1K–20K</c:v>
                  </c:pt>
                  <c:pt idx="3">
                    <c:v>Borrows only</c:v>
                  </c:pt>
                  <c:pt idx="4">
                    <c:v>Pays only</c:v>
                  </c:pt>
                  <c:pt idx="5">
                    <c:v>Borrows and pays</c:v>
                  </c:pt>
                  <c:pt idx="6">
                    <c:v>Saves only (20K+)</c:v>
                  </c:pt>
                  <c:pt idx="7">
                    <c:v>Saves and more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1058</c:v>
                </c:pt>
                <c:pt idx="1">
                  <c:v>166</c:v>
                </c:pt>
                <c:pt idx="2">
                  <c:v>20</c:v>
                </c:pt>
                <c:pt idx="3">
                  <c:v>117</c:v>
                </c:pt>
                <c:pt idx="4">
                  <c:v>66</c:v>
                </c:pt>
                <c:pt idx="5">
                  <c:v>47</c:v>
                </c:pt>
                <c:pt idx="6">
                  <c:v>22</c:v>
                </c:pt>
                <c:pt idx="7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Have they put money in?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9475C"/>
              </a:solidFill>
              <a:effectLst/>
            </c:spPr>
          </c:dPt>
          <c:dPt>
            <c:idx val="1"/>
            <c:bubble3D val="0"/>
            <c:spPr>
              <a:solidFill>
                <a:srgbClr val="2251FF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Never put money in (976K)</c:v>
                </c:pt>
                <c:pt idx="1">
                  <c:v>Put money in (525K)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976</c:v>
                </c:pt>
                <c:pt idx="1">
                  <c:v>525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Customers paying with CLICX, thousand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Paying users, K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Aug</c:v>
                  </c:pt>
                  <c:pt idx="1">
                    <c:v>Sep</c:v>
                  </c:pt>
                  <c:pt idx="2">
                    <c:v>Oct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164</c:v>
                </c:pt>
                <c:pt idx="1">
                  <c:v>130</c:v>
                </c:pt>
                <c:pt idx="2">
                  <c:v>117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240280"/>
            <a:ext cx="105156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611880"/>
            <a:ext cx="9601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pic>
        <p:nvPicPr>
          <p:cNvPr id="6" name="Image 0" descr="CLICX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7272" y="457200"/>
            <a:ext cx="1554480" cy="38953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rgbClr val="6E7C87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pic>
        <p:nvPicPr>
          <p:cNvPr id="6" name="Image 0" descr="CLICX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4472" y="182880"/>
            <a:ext cx="109728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BOARD SUMMARY  (1/3)  |  WHAT EXISTING CUSTOMERS DO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 our 1.5 million existing customers actually use CLICX?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Only 1 in 6 do. Most never put money in, and paying users fell 29% since August. Putting money in and getting a loan are what turn sign-ups into users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product and payment segments, 1 Oct 2026 (1.50M customers with an account)</a:t>
            </a:r>
            <a:endParaRPr lang="en-US" sz="1000" dirty="0"/>
          </a:p>
        </p:txBody>
      </p:sp>
      <p:graphicFrame>
        <p:nvGraphicFramePr>
          <p:cNvPr id="6" name="Product holding" descr=""/>
          <p:cNvGraphicFramePr/>
          <p:nvPr/>
        </p:nvGraphicFramePr>
        <p:xfrm>
          <a:off x="457200" y="2148840"/>
          <a:ext cx="26517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First deposit" descr=""/>
          <p:cNvGraphicFramePr/>
          <p:nvPr/>
        </p:nvGraphicFramePr>
        <p:xfrm>
          <a:off x="3154680" y="2148840"/>
          <a:ext cx="23774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Accounts total"/>
          <p:cNvSpPr txBox="1"/>
          <p:nvPr/>
        </p:nvSpPr>
        <p:spPr>
          <a:xfrm>
            <a:off x="3840480" y="37033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1.50M</a:t>
            </a:r>
            <a:endParaRPr lang="en-US" sz="18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6"/>
                </a:solidFill>
              </a:rPr>
              <a:t>accounts</a:t>
            </a:r>
            <a:endParaRPr lang="en-US" sz="1800" dirty="0"/>
          </a:p>
        </p:txBody>
      </p:sp>
      <p:graphicFrame>
        <p:nvGraphicFramePr>
          <p:cNvPr id="9" name="Paying users trend" descr=""/>
          <p:cNvGraphicFramePr/>
          <p:nvPr/>
        </p:nvGraphicFramePr>
        <p:xfrm>
          <a:off x="5669280" y="2148840"/>
          <a:ext cx="2468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1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WHAT DRIVES USAGE</a:t>
            </a:r>
            <a:endParaRPr lang="en-US" sz="1100" dirty="0"/>
          </a:p>
        </p:txBody>
      </p:sp>
      <p:sp>
        <p:nvSpPr>
          <p:cNvPr id="12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4" name="Insight 1"/>
          <p:cNvSpPr txBox="1"/>
          <p:nvPr/>
        </p:nvSpPr>
        <p:spPr>
          <a:xfrm>
            <a:off x="8915400" y="267004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Money in is the dividing line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22% of people who put money in pay with CLICX, vs 0.1% who never did</a:t>
            </a:r>
            <a:endParaRPr lang="en-US" sz="1400" dirty="0"/>
          </a:p>
        </p:txBody>
      </p:sp>
      <p:sp>
        <p:nvSpPr>
          <p:cNvPr id="15" name="Badge 2"/>
          <p:cNvSpPr/>
          <p:nvPr/>
        </p:nvSpPr>
        <p:spPr>
          <a:xfrm>
            <a:off x="8503920" y="35615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2"/>
          <p:cNvSpPr txBox="1"/>
          <p:nvPr/>
        </p:nvSpPr>
        <p:spPr>
          <a:xfrm>
            <a:off x="8503920" y="35615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7" name="Insight 2"/>
          <p:cNvSpPr txBox="1"/>
          <p:nvPr/>
        </p:nvSpPr>
        <p:spPr>
          <a:xfrm>
            <a:off x="8915400" y="351586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 loan builds the habit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28.5% of borrowers pay in the app, vs 5.2% of everyone else</a:t>
            </a:r>
            <a:endParaRPr lang="en-US" sz="1400" dirty="0"/>
          </a:p>
        </p:txBody>
      </p:sp>
      <p:sp>
        <p:nvSpPr>
          <p:cNvPr id="18" name="Badge 3"/>
          <p:cNvSpPr/>
          <p:nvPr/>
        </p:nvSpPr>
        <p:spPr>
          <a:xfrm>
            <a:off x="8503920" y="440740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Badge num 3"/>
          <p:cNvSpPr txBox="1"/>
          <p:nvPr/>
        </p:nvSpPr>
        <p:spPr>
          <a:xfrm>
            <a:off x="8503920" y="4407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0" name="Insight 3"/>
          <p:cNvSpPr txBox="1"/>
          <p:nvPr/>
        </p:nvSpPr>
        <p:spPr>
          <a:xfrm>
            <a:off x="8915400" y="436168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 'no' loses the customer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1.13M applied for a loan and never got one. Only 4.3% of them pay</a:t>
            </a:r>
            <a:endParaRPr lang="en-US" sz="1400" dirty="0"/>
          </a:p>
        </p:txBody>
      </p:sp>
      <p:sp>
        <p:nvSpPr>
          <p:cNvPr id="21" name="Badge 4"/>
          <p:cNvSpPr/>
          <p:nvPr/>
        </p:nvSpPr>
        <p:spPr>
          <a:xfrm>
            <a:off x="8503920" y="52532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2" name="Badge num 4"/>
          <p:cNvSpPr txBox="1"/>
          <p:nvPr/>
        </p:nvSpPr>
        <p:spPr>
          <a:xfrm>
            <a:off x="8503920" y="52532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23" name="Insight 4"/>
          <p:cNvSpPr txBox="1"/>
          <p:nvPr/>
        </p:nvSpPr>
        <p:spPr>
          <a:xfrm>
            <a:off x="8915400" y="520750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Two ways to pay stick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People who scan and pay bills stop half as often (24% vs 41–48%)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BOARD SUMMARY  (2/3)  |  HOW PRODUCTS CONNECT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How are money in, loans and payments connected?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Tightly: a customer who has any one of them is 2.5–3.7x more likely to have the other two. But only 35% of accounts ever get money in, so most customers never start the chain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x = times more likely than the average customer. Ladder % = share of the step before. Source: CLICX product and payment segments, 1 Oct 2026 (1.50M accounts); registration funnel from CLICX 5-Year Business Plan</a:t>
            </a:r>
            <a:endParaRPr lang="en-US" sz="1000" dirty="0"/>
          </a:p>
        </p:txBody>
      </p:sp>
      <p:sp>
        <p:nvSpPr>
          <p:cNvPr id="6" name="Matrix title"/>
          <p:cNvSpPr txBox="1"/>
          <p:nvPr/>
        </p:nvSpPr>
        <p:spPr>
          <a:xfrm>
            <a:off x="457200" y="21945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Has one product: how likely are the others?</a:t>
            </a:r>
            <a:endParaRPr lang="en-US" sz="1300" dirty="0"/>
          </a:p>
        </p:txBody>
      </p:sp>
      <p:graphicFrame>
        <p:nvGraphicFramePr>
          <p:cNvPr id="3" name="Connection matrix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60320"/>
          <a:ext cx="41148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60120"/>
                <a:gridCol w="960120"/>
                <a:gridCol w="9601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the customer…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…% who put money in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…% with a loan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…% who paid in Oct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customers (average)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Has put money in (525K)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6B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2.5x more likely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51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2.8x more likely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51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Has a loan (164K)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2.5x more likely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51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6B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3.7x more likely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51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Paid in Oct (117K)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2.8x more likely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51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3.6x more likely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51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6B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Ladder title"/>
          <p:cNvSpPr txBox="1"/>
          <p:nvPr/>
        </p:nvSpPr>
        <p:spPr>
          <a:xfrm>
            <a:off x="4800600" y="219456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How far customers climb, thousand</a:t>
            </a:r>
            <a:endParaRPr lang="en-US" sz="1300" dirty="0"/>
          </a:p>
        </p:txBody>
      </p:sp>
      <p:sp>
        <p:nvSpPr>
          <p:cNvPr id="9" name="Ladder label 0"/>
          <p:cNvSpPr txBox="1"/>
          <p:nvPr/>
        </p:nvSpPr>
        <p:spPr>
          <a:xfrm>
            <a:off x="4800600" y="260604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Registered</a:t>
            </a:r>
            <a:endParaRPr lang="en-US" sz="1100" dirty="0"/>
          </a:p>
        </p:txBody>
      </p:sp>
      <p:sp>
        <p:nvSpPr>
          <p:cNvPr id="10" name="Ladder bar 0"/>
          <p:cNvSpPr/>
          <p:nvPr/>
        </p:nvSpPr>
        <p:spPr>
          <a:xfrm>
            <a:off x="5943600" y="2651760"/>
            <a:ext cx="1371600" cy="32004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1" name="Ladder value 0"/>
          <p:cNvSpPr txBox="1"/>
          <p:nvPr/>
        </p:nvSpPr>
        <p:spPr>
          <a:xfrm>
            <a:off x="7360920" y="2606040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2,100</a:t>
            </a:r>
            <a:endParaRPr lang="en-US" sz="1200" dirty="0"/>
          </a:p>
        </p:txBody>
      </p:sp>
      <p:sp>
        <p:nvSpPr>
          <p:cNvPr id="12" name="Ladder label 1"/>
          <p:cNvSpPr txBox="1"/>
          <p:nvPr/>
        </p:nvSpPr>
        <p:spPr>
          <a:xfrm>
            <a:off x="4800600" y="3172968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Account opened</a:t>
            </a:r>
            <a:endParaRPr lang="en-US" sz="1100" dirty="0"/>
          </a:p>
        </p:txBody>
      </p:sp>
      <p:sp>
        <p:nvSpPr>
          <p:cNvPr id="13" name="Ladder bar 1"/>
          <p:cNvSpPr/>
          <p:nvPr/>
        </p:nvSpPr>
        <p:spPr>
          <a:xfrm>
            <a:off x="5943600" y="3218688"/>
            <a:ext cx="979714" cy="32004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4" name="Ladder value 1"/>
          <p:cNvSpPr txBox="1"/>
          <p:nvPr/>
        </p:nvSpPr>
        <p:spPr>
          <a:xfrm>
            <a:off x="6969034" y="3172968"/>
            <a:ext cx="11691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1,500</a:t>
            </a:r>
            <a:pPr indent="0" marL="0">
              <a:buNone/>
            </a:pPr>
            <a:r>
              <a:rPr lang="en-US" sz="1000" dirty="0">
                <a:solidFill>
                  <a:srgbClr val="5F6B76"/>
                </a:solidFill>
              </a:rPr>
              <a:t>  71%</a:t>
            </a:r>
            <a:endParaRPr lang="en-US" sz="1200" dirty="0"/>
          </a:p>
        </p:txBody>
      </p:sp>
      <p:sp>
        <p:nvSpPr>
          <p:cNvPr id="15" name="Ladder label 2"/>
          <p:cNvSpPr txBox="1"/>
          <p:nvPr/>
        </p:nvSpPr>
        <p:spPr>
          <a:xfrm>
            <a:off x="4800600" y="3739896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Money in</a:t>
            </a:r>
            <a:endParaRPr lang="en-US" sz="1100" dirty="0"/>
          </a:p>
        </p:txBody>
      </p:sp>
      <p:sp>
        <p:nvSpPr>
          <p:cNvPr id="16" name="Ladder bar 2"/>
          <p:cNvSpPr/>
          <p:nvPr/>
        </p:nvSpPr>
        <p:spPr>
          <a:xfrm>
            <a:off x="5943600" y="3785616"/>
            <a:ext cx="342900" cy="32004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7" name="Ladder value 2"/>
          <p:cNvSpPr txBox="1"/>
          <p:nvPr/>
        </p:nvSpPr>
        <p:spPr>
          <a:xfrm>
            <a:off x="6332220" y="3739896"/>
            <a:ext cx="18059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525</a:t>
            </a:r>
            <a:pPr indent="0" marL="0">
              <a:buNone/>
            </a:pPr>
            <a:r>
              <a:rPr lang="en-US" sz="1000" dirty="0">
                <a:solidFill>
                  <a:srgbClr val="5F6B76"/>
                </a:solidFill>
              </a:rPr>
              <a:t>  35%</a:t>
            </a:r>
            <a:endParaRPr lang="en-US" sz="1200" dirty="0"/>
          </a:p>
        </p:txBody>
      </p:sp>
      <p:sp>
        <p:nvSpPr>
          <p:cNvPr id="18" name="Ladder label 3"/>
          <p:cNvSpPr txBox="1"/>
          <p:nvPr/>
        </p:nvSpPr>
        <p:spPr>
          <a:xfrm>
            <a:off x="4800600" y="4306824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Paying (Oct)</a:t>
            </a:r>
            <a:endParaRPr lang="en-US" sz="1100" dirty="0"/>
          </a:p>
        </p:txBody>
      </p:sp>
      <p:sp>
        <p:nvSpPr>
          <p:cNvPr id="19" name="Ladder bar 3"/>
          <p:cNvSpPr/>
          <p:nvPr/>
        </p:nvSpPr>
        <p:spPr>
          <a:xfrm>
            <a:off x="5943600" y="4352544"/>
            <a:ext cx="76418" cy="3200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0" name="Ladder value 3"/>
          <p:cNvSpPr txBox="1"/>
          <p:nvPr/>
        </p:nvSpPr>
        <p:spPr>
          <a:xfrm>
            <a:off x="6065738" y="4306824"/>
            <a:ext cx="20724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117</a:t>
            </a:r>
            <a:pPr indent="0" marL="0">
              <a:buNone/>
            </a:pPr>
            <a:r>
              <a:rPr lang="en-US" sz="1000" dirty="0">
                <a:solidFill>
                  <a:srgbClr val="5F6B76"/>
                </a:solidFill>
              </a:rPr>
              <a:t>  22%</a:t>
            </a:r>
            <a:endParaRPr lang="en-US" sz="1200" dirty="0"/>
          </a:p>
        </p:txBody>
      </p:sp>
      <p:sp>
        <p:nvSpPr>
          <p:cNvPr id="21" name="Ladder label 4"/>
          <p:cNvSpPr txBox="1"/>
          <p:nvPr/>
        </p:nvSpPr>
        <p:spPr>
          <a:xfrm>
            <a:off x="4800600" y="487375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2+ products</a:t>
            </a:r>
            <a:endParaRPr lang="en-US" sz="1100" dirty="0"/>
          </a:p>
        </p:txBody>
      </p:sp>
      <p:sp>
        <p:nvSpPr>
          <p:cNvPr id="22" name="Ladder bar 4"/>
          <p:cNvSpPr/>
          <p:nvPr/>
        </p:nvSpPr>
        <p:spPr>
          <a:xfrm>
            <a:off x="5943600" y="4919472"/>
            <a:ext cx="54864" cy="3200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3" name="Ladder value 4"/>
          <p:cNvSpPr txBox="1"/>
          <p:nvPr/>
        </p:nvSpPr>
        <p:spPr>
          <a:xfrm>
            <a:off x="6044184" y="4873752"/>
            <a:ext cx="20939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51</a:t>
            </a:r>
            <a:pPr indent="0" marL="0">
              <a:buNone/>
            </a:pPr>
            <a:r>
              <a:rPr lang="en-US" sz="1000" dirty="0">
                <a:solidFill>
                  <a:srgbClr val="5F6B76"/>
                </a:solidFill>
              </a:rPr>
              <a:t>  44%</a:t>
            </a:r>
            <a:endParaRPr lang="en-US" sz="1200" dirty="0"/>
          </a:p>
        </p:txBody>
      </p:sp>
      <p:sp>
        <p:nvSpPr>
          <p:cNvPr id="24" name="Ladder label main"/>
          <p:cNvSpPr txBox="1"/>
          <p:nvPr/>
        </p:nvSpPr>
        <p:spPr>
          <a:xfrm>
            <a:off x="4800600" y="544068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Main bank</a:t>
            </a:r>
            <a:endParaRPr lang="en-US" sz="1100" dirty="0"/>
          </a:p>
        </p:txBody>
      </p:sp>
      <p:sp>
        <p:nvSpPr>
          <p:cNvPr id="25" name="Ladder main placeholder"/>
          <p:cNvSpPr/>
          <p:nvPr/>
        </p:nvSpPr>
        <p:spPr>
          <a:xfrm>
            <a:off x="5943600" y="5486400"/>
            <a:ext cx="2194560" cy="365760"/>
          </a:xfrm>
          <a:prstGeom prst="rect">
            <a:avLst/>
          </a:prstGeom>
          <a:solidFill>
            <a:schemeClr val="bg2"/>
          </a:solidFill>
          <a:ln w="12700">
            <a:solidFill>
              <a:srgbClr val="A2AAAD"/>
            </a:solidFill>
            <a:prstDash val="dash"/>
          </a:ln>
        </p:spPr>
      </p:sp>
      <p:sp>
        <p:nvSpPr>
          <p:cNvPr id="26" name="Ladder main text"/>
          <p:cNvSpPr txBox="1"/>
          <p:nvPr/>
        </p:nvSpPr>
        <p:spPr>
          <a:xfrm>
            <a:off x="5943600" y="5486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Not measured yet</a:t>
            </a:r>
            <a:endParaRPr lang="en-US" sz="1000" dirty="0"/>
          </a:p>
        </p:txBody>
      </p:sp>
      <p:sp>
        <p:nvSpPr>
          <p:cNvPr id="27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8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WHAT IT MEANS</a:t>
            </a:r>
            <a:endParaRPr lang="en-US" sz="1100" dirty="0"/>
          </a:p>
        </p:txBody>
      </p:sp>
      <p:sp>
        <p:nvSpPr>
          <p:cNvPr id="29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0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31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Each product pulls in the others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Holding one makes the other two 2.5–3.7x more likely. Borrowers and payers are the most connected</a:t>
            </a:r>
            <a:endParaRPr lang="en-US" sz="1400" dirty="0"/>
          </a:p>
        </p:txBody>
      </p:sp>
      <p:sp>
        <p:nvSpPr>
          <p:cNvPr id="32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3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34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The chain breaks at step one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Only 35% of accounts ever get money in, yet 99% of payers have. Money in comes first</a:t>
            </a:r>
            <a:endParaRPr lang="en-US" sz="1400" dirty="0"/>
          </a:p>
        </p:txBody>
      </p:sp>
      <p:sp>
        <p:nvSpPr>
          <p:cNvPr id="35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6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37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Main-bank status isn't tracked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Main bank = regular income in and regular payments out. Add an income flag to track it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BOARD SUMMARY  (3/3)  |  WHAT WE WILL DO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can we do in the next 90 days, and what do we need from the board?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Six actions aimed at customers we already have: get money in, bring loan payments into the app, and keep payers from dropping off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product and payment segments, 1 Oct 2026 (1.50M customers with an account)</a:t>
            </a:r>
            <a:endParaRPr lang="en-US" sz="1000" dirty="0"/>
          </a:p>
        </p:txBody>
      </p:sp>
      <p:graphicFrame>
        <p:nvGraphicFramePr>
          <p:cNvPr id="4" name="Acti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76809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737360"/>
                <a:gridCol w="868680"/>
                <a:gridCol w="1874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many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it should work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 Give turned-down applicants a reason to put money in (bonus save pocket, small starter loan)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Applied, never got a loan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Money in is the strongest sign someone will pay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 Bring loan repayment into the app (autopay, due-date reminders)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Borrowers who never paid in the app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Payers who come back follow due dates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 Win back last month's payers every month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Paid last month, not this month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Cheaper to keep a payer than to find one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 Offer AIS bill pay and top-up to scan-to-pay users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Scan-to-pay only users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ways to pay halves drop-off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 Nudge small savers to the next savings tier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Holding 1K–20K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 20K+ savers fell from 34.6K to 28.8K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 Reward the 2nd and 3rd payment, not just the 1st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payers each month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Bill pay fell 45% when the promotion ended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corecard strip"/>
          <p:cNvSpPr txBox="1"/>
          <p:nvPr/>
        </p:nvSpPr>
        <p:spPr>
          <a:xfrm>
            <a:off x="457200" y="5715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TRACK MONTHLY 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Money in 35%  ·  Paying 117K  ·  Pay every month 57.7K  ·  2+ products 51K  ·  Savers 1K+ 71K</a:t>
            </a:r>
            <a:endParaRPr lang="en-US" sz="1000" dirty="0"/>
          </a:p>
        </p:txBody>
      </p:sp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WHAT WE ASK THE BOARD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Agree the measure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Track 'customers with money in who pay' next to loan growth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Move budget to activation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Shift part of sign-up spend into actions 1–4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Open the balance data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Put CLICX balances in the shared data room to track savings and the KTB deposit question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ICX Insights">
  <a:themeElements>
    <a:clrScheme name="CLICX Insights">
      <a:dk1>
        <a:srgbClr val="1A1A1A"/>
      </a:dk1>
      <a:lt1>
        <a:srgbClr val="FFFFFF"/>
      </a:lt1>
      <a:dk2>
        <a:srgbClr val="051C2C"/>
      </a:dk2>
      <a:lt2>
        <a:srgbClr val="F2F4F7"/>
      </a:lt2>
      <a:accent1>
        <a:srgbClr val="2251FF"/>
      </a:accent1>
      <a:accent2>
        <a:srgbClr val="00A9F4"/>
      </a:accent2>
      <a:accent3>
        <a:srgbClr val="051C2C"/>
      </a:accent3>
      <a:accent4>
        <a:srgbClr val="A2AAAD"/>
      </a:accent4>
      <a:accent5>
        <a:srgbClr val="D9475C"/>
      </a:accent5>
      <a:accent6>
        <a:srgbClr val="7FD1F7"/>
      </a:accent6>
      <a:hlink>
        <a:srgbClr val="2251FF"/>
      </a:hlink>
      <a:folHlink>
        <a:srgbClr val="6E7C87"/>
      </a:folHlink>
    </a:clrScheme>
    <a:fontScheme name="CLICX Insight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CLICX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CLICX existing customers: board summary</dc:title>
  <dc:subject>PptxGenJS Presentation</dc:subject>
  <dc:creator>PptxGenJS</dc:creator>
  <cp:lastModifiedBy>PptxGenJS</cp:lastModifiedBy>
  <cp:revision>1</cp:revision>
  <dcterms:created xsi:type="dcterms:W3CDTF">2026-10-30T09:24:37Z</dcterms:created>
  <dcterms:modified xsi:type="dcterms:W3CDTF">2026-10-30T09:24:37Z</dcterms:modified>
</cp:coreProperties>
</file>
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3D"/>
                </a:solidFill>
                <a:latin typeface="Calibri"/>
              </a:rPr>
              <a:t>People lost at each hand-off (thousands)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lost (K)</c:v>
                </c:pt>
              </c:strCache>
            </c:strRef>
          </c:tx>
          <c:spPr>
            <a:solidFill>
              <a:srgbClr val="D9503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0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0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15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1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315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Lead → View</c:v>
                  </c:pt>
                  <c:pt idx="1">
                    <c:v>View → Click</c:v>
                  </c:pt>
                  <c:pt idx="2">
                    <c:v>Click → App-in</c:v>
                  </c:pt>
                  <c:pt idx="3">
                    <c:v>App-in → Approve</c:v>
                  </c:pt>
                  <c:pt idx="4">
                    <c:v>Approve → Book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7572.4</c:v>
                </c:pt>
                <c:pt idx="1">
                  <c:v>1474.9</c:v>
                </c:pt>
                <c:pt idx="2">
                  <c:v>88.3</c:v>
                </c:pt>
                <c:pt idx="3">
                  <c:v>25.7</c:v>
                </c:pt>
                <c:pt idx="4">
                  <c:v>3.3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00"/>
          <c:min val="0"/>
        </c:scaling>
        <c:delete val="0"/>
        <c:axPos val="b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FFFFFF"/>
                </a:solidFill>
                <a:latin typeface="Calibri"/>
              </a:rPr>
              <a:t>The money end of the funnel (thousands of customers)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(K)</c:v>
                </c:pt>
              </c:strCache>
            </c:strRef>
          </c:tx>
          <c:spPr>
            <a:solidFill>
              <a:srgbClr val="2A829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829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A7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D6B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App-in</c:v>
                  </c:pt>
                  <c:pt idx="1">
                    <c:v>Approve</c:v>
                  </c:pt>
                  <c:pt idx="2">
                    <c:v>Book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38.7</c:v>
                </c:pt>
                <c:pt idx="1">
                  <c:v>13</c:v>
                </c:pt>
                <c:pt idx="2">
                  <c:v>9.7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3D0E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2439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4C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3D"/>
                </a:solidFill>
                <a:latin typeface="Calibri"/>
              </a:rPr>
              <a:t>Incremental bookings per lever (thousands)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bookings (K)</c:v>
                </c:pt>
              </c:strCache>
            </c:strRef>
          </c:tx>
          <c:spPr>
            <a:solidFill>
              <a:srgbClr val="2A8291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829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A7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D6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0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 · Click rate 7.9% → 10.0%</c:v>
                  </c:pt>
                  <c:pt idx="1">
                    <c:v>B · View rate 17.5% → 20.0%</c:v>
                  </c:pt>
                  <c:pt idx="2">
                    <c:v>C · Book rate 75% → 85%</c:v>
                  </c:pt>
                  <c:pt idx="3">
                    <c:v>All three together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2.57</c:v>
                </c:pt>
                <c:pt idx="1">
                  <c:v>1.38</c:v>
                </c:pt>
                <c:pt idx="2">
                  <c:v>1.3</c:v>
                </c:pt>
                <c:pt idx="3">
                  <c:v>6.28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1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2"/>
          <c:min val="0"/>
        </c:scaling>
        <c:delete val="0"/>
        <c:axPos val="b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Read-out of the CLICX Camp campaign performance dashboard at campaign level. 52 campaigns launched across a 46-day window. The headline: acquisition volume is abundant, conversion of that volume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abundance at the top, catastrophic top-funnel loss, a healthy bottom funnel, real value delivered, and a data-quality caveat that qualifies everything above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72 = 9,174.3 / 127.0 leads per click. 946 = 9,174.3 / 9.7 leads per booking. 13 = 127.0 / 9.7 clicks per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deliberately on a linear scale: the visual dominance of the first two bars is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argument of the deck: the money is already being left at the top of the funnel, not in credit decisioning.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Reconciliation: the four groups sum to 49 of 52 campaigns and 8,564.5K of 9,174.3K leads, leaving Administrative. Approvals (13.0K) and bookings (9.7K) match the all-groups totals exactly, so Loan accounts for 100% of both. Loan converts 1.36% of its leads into a booking against 0.11% blended — roughly 13x. Note also that the credit end of the funnel is identical under Loose and Strict criteria; only the top of the funnel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Amounts are shown in dashboard units, no currency stated on the source. The 0.1B rounding on both amount tiles is why the per-customer averages are the more useful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prerequisites for decisions, not as a reason to stall: the 98.7% top-funnel loss survives any plausible re-baselining.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case compounds: 9,174.3K × 20% view × 10% click × 30.5% app-in × 33.6% approve × 85% book = 15.98K bookings.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matters: items 1 and 2 are prerequisites, 3 to 5 are the value levers, 6 is housekeeping.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table — volumes and stage rates exactly as printed; % of leads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685800"/>
            <a:ext cx="2834640" cy="283464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32620" y="1028700"/>
            <a:ext cx="2148840" cy="214884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1371600"/>
            <a:ext cx="1463040" cy="1463040"/>
          </a:xfrm>
          <a:prstGeom prst="ellipse">
            <a:avLst/>
          </a:prstGeom>
          <a:solidFill>
            <a:srgbClr val="5FD6BE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CLICX CAMP  ·  CAMPAIGN-LEVEL READ-OUT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8321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million leads,</a:t>
            </a:r>
            <a:endParaRPr lang="en-US" sz="42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thousand bookings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3467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campaign funnel creates value — and where it loses 98.7% of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224528"/>
            <a:ext cx="1975104" cy="1133856"/>
          </a:xfrm>
          <a:prstGeom prst="roundRect">
            <a:avLst>
              <a:gd name="adj" fmla="val 7258"/>
            </a:avLst>
          </a:prstGeom>
          <a:solidFill>
            <a:srgbClr val="17294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35254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98648" y="4224528"/>
            <a:ext cx="1975104" cy="1133856"/>
          </a:xfrm>
          <a:prstGeom prst="roundRect">
            <a:avLst>
              <a:gd name="adj" fmla="val 7258"/>
            </a:avLst>
          </a:prstGeom>
          <a:solidFill>
            <a:srgbClr val="17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435254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898648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observed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11496" y="4224528"/>
            <a:ext cx="1975104" cy="1133856"/>
          </a:xfrm>
          <a:prstGeom prst="roundRect">
            <a:avLst>
              <a:gd name="adj" fmla="val 7258"/>
            </a:avLst>
          </a:prstGeom>
          <a:solidFill>
            <a:srgbClr val="17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5111496" y="435254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9.17M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111496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leads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24344" y="4224528"/>
            <a:ext cx="1975104" cy="1133856"/>
          </a:xfrm>
          <a:prstGeom prst="roundRect">
            <a:avLst>
              <a:gd name="adj" fmla="val 7258"/>
            </a:avLst>
          </a:prstGeom>
          <a:solidFill>
            <a:srgbClr val="17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7324344" y="435254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9.7K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324344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37192" y="4224528"/>
            <a:ext cx="1975104" cy="1133856"/>
          </a:xfrm>
          <a:prstGeom prst="roundRect">
            <a:avLst>
              <a:gd name="adj" fmla="val 7258"/>
            </a:avLst>
          </a:prstGeom>
          <a:solidFill>
            <a:srgbClr val="17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435254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537192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book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870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start window 17 Jun 2026 – 1 Aug 2026   |   Data as of 2 Aug 2026 (refreshed daily, T-1)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the dashboard is telling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1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55064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55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148132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is not the constraint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481328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9.17M assigned leads produced 9.7K bookings — an end-to-end rate of 0.11%. There is no shortage of reach.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1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624328"/>
            <a:ext cx="493776" cy="493776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17904" y="245059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 of all loss sits at the top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450592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Lead→View and View→Click alone shed 9.05M of the 9.16M people the funnel loses in total.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1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593592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41985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credit funnel is healthy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419856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click: 30.5% apply, 33.6% of those are approved, 75.0% of approvals book. 7.6% of clicks become a booking.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1F4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562856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562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17904" y="43891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~0.1B of credit set, 9.7K customers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389120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amount averages 11.3K per customer and set credit 10.8K — a ~4% step-down between approval and booking.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5838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1F4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532120"/>
            <a:ext cx="493776" cy="493776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532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17904" y="535838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rates with care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5358384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(38.7K) exceed detail-page views (31.7K) and the app-in amount is empty — Loose Criteria plus capture gaps.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as printed on the dashboard; derived rates computed from those printed values and subject to their rounding.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FUNNEL, END TO 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leads buy one click. 946 buy a booking.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Lead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0E2A4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37160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9,174.3K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7260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0" y="1947672"/>
            <a:ext cx="5119861" cy="457200"/>
          </a:xfrm>
          <a:prstGeom prst="roundRect">
            <a:avLst>
              <a:gd name="adj" fmla="val 12000"/>
            </a:avLst>
          </a:prstGeom>
          <a:solidFill>
            <a:srgbClr val="17456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947672"/>
            <a:ext cx="4955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1,601.9K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72600" y="1947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 of leads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523744"/>
            <a:ext cx="3259420" cy="457200"/>
          </a:xfrm>
          <a:prstGeom prst="roundRect">
            <a:avLst>
              <a:gd name="adj" fmla="val 12000"/>
            </a:avLst>
          </a:prstGeom>
          <a:solidFill>
            <a:srgbClr val="1E618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523744"/>
            <a:ext cx="3094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127.0K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72600" y="25237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 of 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998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App-in / Conversion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3099816"/>
            <a:ext cx="2387207" cy="457200"/>
          </a:xfrm>
          <a:prstGeom prst="roundRect">
            <a:avLst>
              <a:gd name="adj" fmla="val 12000"/>
            </a:avLst>
          </a:prstGeom>
          <a:solidFill>
            <a:srgbClr val="2A829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099816"/>
            <a:ext cx="2222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38.7K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30998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of clicks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0" y="3675888"/>
            <a:ext cx="1586524" cy="457200"/>
          </a:xfrm>
          <a:prstGeom prst="roundRect">
            <a:avLst>
              <a:gd name="adj" fmla="val 12000"/>
            </a:avLst>
          </a:prstGeom>
          <a:solidFill>
            <a:srgbClr val="3EA79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675888"/>
            <a:ext cx="142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of app-ins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2519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5FD6B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251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72600" y="4251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 of approvals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901184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is log-scaled — a linear scale would render every stage below View invisible.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30368"/>
            <a:ext cx="3529584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72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77240" y="5815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ever clicks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0248" y="5230368"/>
            <a:ext cx="3529584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33" name="Text 31"/>
          <p:cNvSpPr/>
          <p:nvPr/>
        </p:nvSpPr>
        <p:spPr>
          <a:xfrm>
            <a:off x="4498848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946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498848" y="5815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ever books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91856" y="5230368"/>
            <a:ext cx="3529584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0456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220456" y="5815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ends in a booking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 View 31.7K (25.0% of clicks) and Thru-The-Door 1/2 at 0.3K / 0.0K are omitted here — see the appendix.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VOLUME LEAKS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stages destroy 9.05M of the 9.16M lost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89888"/>
          <a:ext cx="7086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81328"/>
            <a:ext cx="3794760" cy="1298448"/>
          </a:xfrm>
          <a:prstGeom prst="roundRect">
            <a:avLst>
              <a:gd name="adj" fmla="val 6338"/>
            </a:avLst>
          </a:prstGeom>
          <a:solidFill>
            <a:srgbClr val="FBF0E6"/>
          </a:solidFill>
          <a:ln/>
        </p:spPr>
      </p:sp>
      <p:sp>
        <p:nvSpPr>
          <p:cNvPr id="6" name="Text 3"/>
          <p:cNvSpPr/>
          <p:nvPr/>
        </p:nvSpPr>
        <p:spPr>
          <a:xfrm>
            <a:off x="8065008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41832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assigned leads never view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65008" y="202996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7,572.4K people are targeted and never register a view. Deliverability, channel mix and contact policy are the first place to look.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18120" y="2962656"/>
            <a:ext cx="3794760" cy="1298448"/>
          </a:xfrm>
          <a:prstGeom prst="roundRect">
            <a:avLst>
              <a:gd name="adj" fmla="val 6338"/>
            </a:avLst>
          </a:prstGeom>
          <a:solidFill>
            <a:srgbClr val="FBF0E6"/>
          </a:solidFill>
          <a:ln/>
        </p:spPr>
      </p:sp>
      <p:sp>
        <p:nvSpPr>
          <p:cNvPr id="10" name="Text 7"/>
          <p:cNvSpPr/>
          <p:nvPr/>
        </p:nvSpPr>
        <p:spPr>
          <a:xfrm>
            <a:off x="8065008" y="30540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18320" y="3081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viewers never click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65008" y="351129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1,474.9K see the message and do nothing. Creative, offer relevance and placement own this step.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18120" y="4443984"/>
            <a:ext cx="3794760" cy="1298448"/>
          </a:xfrm>
          <a:prstGeom prst="roundRect">
            <a:avLst>
              <a:gd name="adj" fmla="val 6338"/>
            </a:avLst>
          </a:prstGeom>
          <a:solidFill>
            <a:srgbClr val="E8F6F3"/>
          </a:solidFill>
          <a:ln/>
        </p:spPr>
      </p:sp>
      <p:sp>
        <p:nvSpPr>
          <p:cNvPr id="14" name="Text 11"/>
          <p:cNvSpPr/>
          <p:nvPr/>
        </p:nvSpPr>
        <p:spPr>
          <a:xfrm>
            <a:off x="8065008" y="45354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418320" y="45628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loss is everything else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65008" y="4992624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Click→App-in, Approve and Book together lose 117.3K — a rounding error next to the top two.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figures are the arithmetic difference between consecutive stage volumes as printed on the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broken funnel bolted onto a working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BF0E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 ·  LEAD → CLICK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assigned leads reach a click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95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9,174.3K 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3529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1,601.9K viewed  ·  127.0K clicked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05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9,047.3K lost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40050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ever reaches a product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4480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targeting, deliverability, creative, placement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81328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E8F6F3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755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 ·  CLICK → BOOK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08483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7.64%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6629400" y="3017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clicks end in a booked account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35295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127.0K 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3529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38.7K applied  ·  13.0K approved  ·  9.7K booked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005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117.3K lost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0050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stages — the smallest leak in the chain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44805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4480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credit policy, fulfilment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0E1E3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3036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extra 1,000 clicks is worth about </a:t>
            </a:r>
            <a:pPr indent="0" marL="0">
              <a:buNone/>
            </a:pPr>
            <a:r>
              <a:rPr lang="en-US" sz="1500" b="1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bookings</a:t>
            </a:r>
            <a:pPr indent="0" marL="0">
              <a:buNone/>
            </a:pPr>
            <a:r>
              <a:rPr lang="en-US" sz="15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500" b="1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 of set credit</a:t>
            </a:r>
            <a:pPr indent="0" marL="0">
              <a:buNone/>
            </a:pPr>
            <a:r>
              <a:rPr lang="en-US" sz="15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no change to credit policy.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clicks × 7.64% book rate = 76 bookings × 10.8K average set credit ≈ 0.8M.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GROUP BREAKDOWN · STRICT CRITERIA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is the entire credit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6F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813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approvals and bookings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13.0K approvals and all 9.7K bookings reconcile to Loan alone — no other group contributes any.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0248" y="13716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6F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4813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is all Loan gets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714.6K of the 8,564.5K leads across the four groups, spread over just 11 campaigns.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1856" y="13716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B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47888" y="14813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4788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sit in Marketing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7888" y="2194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4,357.3K leads, the lowest click rate of any group at 4.6%, and zero conversions out the other end.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5808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51560"/>
                <a:gridCol w="1234440"/>
                <a:gridCol w="868680"/>
                <a:gridCol w="868680"/>
                <a:gridCol w="868680"/>
                <a:gridCol w="868680"/>
                <a:gridCol w="777240"/>
                <a:gridCol w="2971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· 19d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714.6K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12.9%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44.7%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72.4%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group that reaches credit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· 46d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1,926.9K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46.3%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well; no credit approval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2d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1,565.7K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23.9%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10.6%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 engagement; ends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· 45d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4,357.3K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12.7%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the leads, nothing out the other 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5138928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0E1E3C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138928"/>
            <a:ext cx="10332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carries all 0.1B of approved amount and all 0.1B of set credit</a:t>
            </a:r>
            <a:pPr indent="0" marL="0">
              <a:buNone/>
            </a:pPr>
            <a:r>
              <a:rPr lang="en-US" sz="12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11.3K / 10.8K per customer. Deposit adds 5.5M of amount at 0.7K each but never enters approval. Service sends </a:t>
            </a:r>
            <a:pPr indent="0" marL="0">
              <a:buNone/>
            </a:pPr>
            <a:r>
              <a:rPr lang="en-US" sz="1250" b="1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 of its clickers to a detail page</a:t>
            </a:r>
            <a:pPr indent="0" marL="0">
              <a:buNone/>
            </a:pPr>
            <a:r>
              <a:rPr lang="en-US" sz="12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0.3K through a branch door — the only Thru-The-Door volume anywhere. Marketing produces none of it.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View-and-Click criteria (the rest of this deck is the Loose all-groups view). Windows differ by group — Service spans 2 days, Loan 19, Marketing 45, Deposit 46 — so rates are not like-for-like. Administrative (3 campaigns, ~609.8K leads) not shown.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46 days actually produced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729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51760" y="16824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9933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of app-ins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7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69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51760" y="27340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044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 of approvals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7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2102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1760" y="37856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approved amount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approved customer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7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725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51760" y="48371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set credit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5148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booked customer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943600" y="1463040"/>
          <a:ext cx="5715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943600" y="4645152"/>
            <a:ext cx="5715000" cy="1371600"/>
          </a:xfrm>
          <a:prstGeom prst="roundRect">
            <a:avLst>
              <a:gd name="adj" fmla="val 6000"/>
            </a:avLst>
          </a:prstGeom>
          <a:solidFill>
            <a:srgbClr val="17294B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7914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credit lands ~4% below approved value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63640" y="513892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10.8K set per booked customer against 11.3K approved. Small per account, but ~5M of headroom across the 9.7K book — worth confirming whether it is customer choice or a fulfilment default.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prints approve amount and set credit amount both as 0.1B; the per-customer averages above give ~0.147B approved and ~0.105B set.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these five before acting on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9584" cy="2121408"/>
          </a:xfrm>
          <a:prstGeom prst="roundRect">
            <a:avLst>
              <a:gd name="adj" fmla="val 3879"/>
            </a:avLst>
          </a:prstGeom>
          <a:solidFill>
            <a:srgbClr val="F1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00784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 exceed detail-page views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38.7K conversions against 31.7K detail-page views. In a strict click-path funnel that cannot happen — a Loose Criteria attribution artefact.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463040"/>
            <a:ext cx="3529584" cy="2121408"/>
          </a:xfrm>
          <a:prstGeom prst="roundRect">
            <a:avLst>
              <a:gd name="adj" fmla="val 3879"/>
            </a:avLst>
          </a:prstGeom>
          <a:solidFill>
            <a:srgbClr val="F1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1700784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28600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App-in is identical to conversion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83464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 38.7K at exactly 30.5% of clicks. The two columns look like one event under two names; confirm the definitions.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463040"/>
            <a:ext cx="3529584" cy="2121408"/>
          </a:xfrm>
          <a:prstGeom prst="roundRect">
            <a:avLst>
              <a:gd name="adj" fmla="val 3879"/>
            </a:avLst>
          </a:prstGeom>
          <a:solidFill>
            <a:srgbClr val="F1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700784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66176" y="228600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App-in amount is empty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283464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0.0B while approve amount reads 0.1B. Approved value cannot exceed applied value — amount is not being captured at application.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5468112" cy="1755648"/>
          </a:xfrm>
          <a:prstGeom prst="roundRect">
            <a:avLst>
              <a:gd name="adj" fmla="val 4688"/>
            </a:avLst>
          </a:prstGeom>
          <a:solidFill>
            <a:srgbClr val="FBF0E6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005072"/>
            <a:ext cx="457200" cy="4572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0507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Thru-The-Door is effectively unmeasured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553712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TTD1 at 0.3K (0.2% of clicks) and TTD2 at 0.0K. Either the offline/branch journey is not instrumented, or the columns should be retired.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3767328"/>
            <a:ext cx="5468112" cy="1755648"/>
          </a:xfrm>
          <a:prstGeom prst="roundRect">
            <a:avLst>
              <a:gd name="adj" fmla="val 4688"/>
            </a:avLst>
          </a:prstGeom>
          <a:solidFill>
            <a:srgbClr val="FBF0E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1384" y="4005072"/>
            <a:ext cx="457200" cy="4572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23176" y="400507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vs Strict criteria not pinned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01384" y="4553712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itself warns that Loose Criteria can push response rates above 100%. Every rate in this deck should be re-baselined on Strict View-and-Click.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invalidate the direction of the findings — the top-funnel gap is far too large to be a measurement artefact — but they do move the exact rates.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THE PRIZE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levers, 6.3K incremental bookings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89888"/>
          <a:ext cx="70866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1243584"/>
          </a:xfrm>
          <a:prstGeom prst="roundRect">
            <a:avLst>
              <a:gd name="adj" fmla="val 6618"/>
            </a:avLst>
          </a:prstGeom>
          <a:solidFill>
            <a:srgbClr val="F1F4F9"/>
          </a:solidFill>
          <a:ln/>
        </p:spPr>
      </p:sp>
      <p:sp>
        <p:nvSpPr>
          <p:cNvPr id="6" name="Shape 3"/>
          <p:cNvSpPr/>
          <p:nvPr/>
        </p:nvSpPr>
        <p:spPr>
          <a:xfrm>
            <a:off x="8065008" y="160934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13648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rate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13648" y="18745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+2.57K books  ·  ~28M set credit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65008" y="21579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leverage. 33.6K extra clicks off the existing 1.60M views — creative and offer work, no new reach.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2880360"/>
            <a:ext cx="3794760" cy="1243584"/>
          </a:xfrm>
          <a:prstGeom prst="roundRect">
            <a:avLst>
              <a:gd name="adj" fmla="val 6618"/>
            </a:avLst>
          </a:prstGeom>
          <a:solidFill>
            <a:srgbClr val="F1F4F9"/>
          </a:solidFill>
          <a:ln/>
        </p:spPr>
      </p:sp>
      <p:sp>
        <p:nvSpPr>
          <p:cNvPr id="12" name="Shape 9"/>
          <p:cNvSpPr/>
          <p:nvPr/>
        </p:nvSpPr>
        <p:spPr>
          <a:xfrm>
            <a:off x="8065008" y="302666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8065008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13648" y="30083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rate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13648" y="32918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+1.38K books  ·  ~15M set credit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65008" y="3575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229K extra views off leads already assigned. Deliverability, channel mix, frequency capping.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818120" y="4297680"/>
            <a:ext cx="3794760" cy="1243584"/>
          </a:xfrm>
          <a:prstGeom prst="roundRect">
            <a:avLst>
              <a:gd name="adj" fmla="val 6618"/>
            </a:avLst>
          </a:prstGeom>
          <a:solidFill>
            <a:srgbClr val="F1F4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065008" y="444398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8065008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13648" y="44256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rate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13648" y="4709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+1.30K books  ·  ~14M set credit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65008" y="49926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of the three: no new traffic at all, just closing 1.3K already-approved customers.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18120" y="5715000"/>
            <a:ext cx="3794760" cy="566928"/>
          </a:xfrm>
          <a:prstGeom prst="roundRect">
            <a:avLst>
              <a:gd name="adj" fmla="val 14516"/>
            </a:avLst>
          </a:prstGeom>
          <a:solidFill>
            <a:srgbClr val="0E1E3C"/>
          </a:solidFill>
          <a:ln/>
        </p:spPr>
      </p:sp>
      <p:sp>
        <p:nvSpPr>
          <p:cNvPr id="24" name="Text 21"/>
          <p:cNvSpPr/>
          <p:nvPr/>
        </p:nvSpPr>
        <p:spPr>
          <a:xfrm>
            <a:off x="7818120" y="57150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Together: 9.7K → 16.0K bookings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holds all downstream rates constant at their observed values; set-credit uplift priced at the observed 10.8K average per booked customer.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55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Re-baseline on Strict criteria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249424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the funnel under Strict View-and-Click before any budget or targeting decision is taken off these numbers.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615184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 ·   This week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08776" y="1517904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11" name="Shape 9"/>
          <p:cNvSpPr/>
          <p:nvPr/>
        </p:nvSpPr>
        <p:spPr>
          <a:xfrm>
            <a:off x="6501384" y="1755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23176" y="175564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amount capture at app-in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01384" y="2249424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0.0B applied against 0.1B approved is not a rounding issue. Reconcile the App-in and Conversion definitions at the same time.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01384" y="2615184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eng.   ·   This week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3284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3284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the click rate first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1248" y="382219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 of viewers click. This is the single highest-leverage number on the dashboard — worth ~2.6K bookings for 2.1 points.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4187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  ·   Next cycle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3090672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01384" y="33284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01384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23176" y="33284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82.5% who never view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01384" y="382219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7.57M assigned leads register no view at all. Separate 'not delivered' from 'delivered, not opened' before spending on creative.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01384" y="4187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ops   ·   Next cycle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" y="49011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49011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approved-not-booked gap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1248" y="539496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approvals never book, and set credit lands 4% under approved. No new traffic needed — ~14M of set credit.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" y="5760720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  ·   Next cycle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08776" y="4663440"/>
            <a:ext cx="5468112" cy="1389888"/>
          </a:xfrm>
          <a:prstGeom prst="roundRect">
            <a:avLst>
              <a:gd name="adj" fmla="val 5921"/>
            </a:avLst>
          </a:prstGeom>
          <a:solidFill>
            <a:srgbClr val="17294B"/>
          </a:solidFill>
          <a:ln/>
        </p:spPr>
      </p:sp>
      <p:sp>
        <p:nvSpPr>
          <p:cNvPr id="35" name="Shape 33"/>
          <p:cNvSpPr/>
          <p:nvPr/>
        </p:nvSpPr>
        <p:spPr>
          <a:xfrm>
            <a:off x="6501384" y="49011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23176" y="49011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or retire Thru-The-Door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501384" y="539496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0.3K and 0.0K across 52 campaigns means the columns currently mislead more than they inform.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01384" y="5760720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 ·   Next quarter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 indicative — to be confirmed with the campaign steering group.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funnel reference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110642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1965960"/>
                <a:gridCol w="1234440"/>
                <a:gridCol w="4069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leads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9,174.3K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of targeted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1,601.9K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 of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17.46%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7,572.4K never registered a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127.0K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 of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1,474.9K viewed and did not 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Page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 of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0.35%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detail page reached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Thru The Door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0.3K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 of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0.003%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branch — effectively nil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Thru The Door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 of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recorded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 of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0.42%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Exceeds detail-page views — see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 of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0.42%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conversion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33.6% of app-ins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0.14%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amount 0.1B (11.3K 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 of approvals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credit 0.1B (10.8K 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972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Amounts: total 6.1M (0.2K avg)  ·  app-in 0.0B (not captured)  ·  approve 0.1B  ·  set credit 0.1B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CLICX Camp Campaign Performance Dashboard (campaign-level), Loose Criteria view. 52 campaigns, start window 17 Jun – 1 Aug 2026, data as of 2 Aug 2026.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CLICX Camp - Campaign Performance Key Insights</dc:title>
  <dc:subject>PptxGenJS Presentation</dc:subject>
  <dc:creator>Campaign Analytics</dc:creator>
  <cp:lastModifiedBy>Campaign Analytics</cp:lastModifiedBy>
  <cp:revision>1</cp:revision>
  <dcterms:created xsi:type="dcterms:W3CDTF">2026-09-03T09:52:16Z</dcterms:created>
  <dcterms:modified xsi:type="dcterms:W3CDTF">2026-09-03T09:52:16Z</dcterms:modified>
</cp:coreProperties>
</file>
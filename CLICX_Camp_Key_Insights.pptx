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33D"/>
                </a:solidFill>
                <a:latin typeface="Calibri"/>
              </a:rPr>
              <a:t>People lost at each hand-off (thousands)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lost (K)</c:v>
                </c:pt>
              </c:strCache>
            </c:strRef>
          </c:tx>
          <c:spPr>
            <a:solidFill>
              <a:srgbClr val="D9503F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503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50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315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31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31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Lead → View</c:v>
                  </c:pt>
                  <c:pt idx="1">
                    <c:v>View → Click</c:v>
                  </c:pt>
                  <c:pt idx="2">
                    <c:v>Click → App-in</c:v>
                  </c:pt>
                  <c:pt idx="3">
                    <c:v>App-in → Approve</c:v>
                  </c:pt>
                  <c:pt idx="4">
                    <c:v>Approve → Book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7572.4</c:v>
                </c:pt>
                <c:pt idx="1">
                  <c:v>1474.9</c:v>
                </c:pt>
                <c:pt idx="2">
                  <c:v>88.3</c:v>
                </c:pt>
                <c:pt idx="3">
                  <c:v>25.7</c:v>
                </c:pt>
                <c:pt idx="4">
                  <c:v>3.3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0"/>
          <c:min val="0"/>
        </c:scaling>
        <c:delete val="0"/>
        <c:axPos val="b"/>
        <c:majorGridlines>
          <c:spPr>
            <a:ln w="12700" cap="flat">
              <a:solidFill>
                <a:srgbClr val="EDF1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FFFFFF"/>
                </a:solidFill>
                <a:latin typeface="Calibri"/>
              </a:rPr>
              <a:t>The money end of the funnel (thousands of customers)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 (K)</c:v>
                </c:pt>
              </c:strCache>
            </c:strRef>
          </c:tx>
          <c:spPr>
            <a:solidFill>
              <a:srgbClr val="2A8291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829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A7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D6B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App-in</c:v>
                  </c:pt>
                  <c:pt idx="1">
                    <c:v>Approve</c:v>
                  </c:pt>
                  <c:pt idx="2">
                    <c:v>Book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38.7</c:v>
                </c:pt>
                <c:pt idx="1">
                  <c:v>13</c:v>
                </c:pt>
                <c:pt idx="2">
                  <c:v>9.7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3D0E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12700" cap="flat">
              <a:solidFill>
                <a:srgbClr val="2439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B4C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33D"/>
                </a:solidFill>
                <a:latin typeface="Calibri"/>
              </a:rPr>
              <a:t>Incremental bookings per lever (thousands)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Incremental bookings (K)</c:v>
                </c:pt>
              </c:strCache>
            </c:strRef>
          </c:tx>
          <c:spPr>
            <a:solidFill>
              <a:srgbClr val="2A8291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1623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829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A7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D6B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03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 · Click rate 7.9% → 10.0%</c:v>
                  </c:pt>
                  <c:pt idx="1">
                    <c:v>B · View rate 17.5% → 20.0%</c:v>
                  </c:pt>
                  <c:pt idx="2">
                    <c:v>C · Book rate 75% → 85%</c:v>
                  </c:pt>
                  <c:pt idx="3">
                    <c:v>All three together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2.57</c:v>
                </c:pt>
                <c:pt idx="1">
                  <c:v>1.38</c:v>
                </c:pt>
                <c:pt idx="2">
                  <c:v>1.3</c:v>
                </c:pt>
                <c:pt idx="3">
                  <c:v>6.28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50" u="none">
                  <a:solidFill>
                    <a:srgbClr val="1623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2"/>
          <c:min val="0"/>
        </c:scaling>
        <c:delete val="0"/>
        <c:axPos val="b"/>
        <c:majorGridlines>
          <c:spPr>
            <a:ln w="12700" cap="flat">
              <a:solidFill>
                <a:srgbClr val="EDF1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9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Read-out of the CLICX Camp campaign performance dashboard at campaign level. 52 campaigns launched across a 46-day window. The headline: acquisition volume is abundant, conversion of that volume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matters: abundance at the top, catastrophic top-funnel loss, a healthy bottom funnel, real value delivered, and a data-quality caveat that qualifies everything above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72 = 9,174.3 / 127.0 leads per click. 946 = 9,174.3 / 9.7 leads per booking. 13 = 127.0 / 9.7 clicks per booking.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is deliberately on a linear scale: the visual dominance of the first two bars is 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argument of the deck: the money is already being left at the top of the funnel, not in credit decisioning.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Amounts are shown in dashboard units, no currency stated on the source. The 0.1B rounding on both amount tiles is why the per-customer averages are the more useful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prerequisites for decisions, not as a reason to stall: the 98.7% top-funnel loss survives any plausible re-baselining.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Combined case compounds: 9,174.3K × 20% view × 10% click × 30.5% app-in × 33.6% approve × 85% book = 15.98K bookings.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matters: items 1 and 2 are prerequisites, 3 to 5 are the value levers, 6 is housekeeping.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table — volumes and stage rates exactly as printed; % of leads computed.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89720" y="685800"/>
            <a:ext cx="2834640" cy="283464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32620" y="1028700"/>
            <a:ext cx="2148840" cy="2148840"/>
          </a:xfrm>
          <a:prstGeom prst="ellipse">
            <a:avLst/>
          </a:prstGeom>
          <a:solidFill>
            <a:srgbClr val="00A89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75520" y="1371600"/>
            <a:ext cx="1463040" cy="1463040"/>
          </a:xfrm>
          <a:prstGeom prst="ellipse">
            <a:avLst/>
          </a:prstGeom>
          <a:solidFill>
            <a:srgbClr val="5FD6BE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70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CLICX CAMP  ·  CAMPAIGN-LEVEL READ-OUT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8321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million leads,</a:t>
            </a:r>
            <a:endParaRPr lang="en-US" sz="42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thousand bookings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campaign funnel creates value — and where it loses 98.7% of it.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685800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98648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12" name="Text 10"/>
          <p:cNvSpPr/>
          <p:nvPr/>
        </p:nvSpPr>
        <p:spPr>
          <a:xfrm>
            <a:off x="2898648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2898648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observed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11496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15" name="Text 13"/>
          <p:cNvSpPr/>
          <p:nvPr/>
        </p:nvSpPr>
        <p:spPr>
          <a:xfrm>
            <a:off x="5111496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9.17M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111496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leads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24344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24344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9.7K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7324344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37192" y="4224528"/>
            <a:ext cx="1975104" cy="1133856"/>
          </a:xfrm>
          <a:prstGeom prst="roundRect">
            <a:avLst>
              <a:gd name="adj" fmla="val 7258"/>
            </a:avLst>
          </a:prstGeom>
          <a:solidFill>
            <a:srgbClr val="17294B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4352544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0.11%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537192" y="48828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→ book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start window 17 Jun 2026 – 1 Aug 2026   |   Data as of 2 Aug 2026 (refreshed daily, T-1)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the dashboard is telling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655064"/>
            <a:ext cx="493776" cy="49377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6550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17904" y="148132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is not the constraint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1481328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9.17M assigned leads produced 9.7K bookings — an end-to-end rate of 0.11%. There is no shortage of reach.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10" name="Shape 8"/>
          <p:cNvSpPr/>
          <p:nvPr/>
        </p:nvSpPr>
        <p:spPr>
          <a:xfrm>
            <a:off x="841248" y="2624328"/>
            <a:ext cx="493776" cy="493776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243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17904" y="2450592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 of all loss sits at the top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450592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Lead→View and View→Click alone shed 9.05M of the 9.16M people the funnel loses in total.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3593592"/>
            <a:ext cx="493776" cy="49377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5935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17904" y="3419856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credit funnel is healthy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419856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click: 30.5% apply, 33.6% of those are approved, 75.0% of approvals book. 7.6% of clicks become a booking.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562856"/>
            <a:ext cx="493776" cy="49377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562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17904" y="4389120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~0.1B of credit set, 9.7K customers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4389120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amount averages 11.3K per customer and set credit 10.8K — a ~4% step-down between approval and booking.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35838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F1F4F9"/>
          </a:solidFill>
          <a:ln/>
        </p:spPr>
      </p:sp>
      <p:sp>
        <p:nvSpPr>
          <p:cNvPr id="25" name="Shape 23"/>
          <p:cNvSpPr/>
          <p:nvPr/>
        </p:nvSpPr>
        <p:spPr>
          <a:xfrm>
            <a:off x="841248" y="5532120"/>
            <a:ext cx="493776" cy="493776"/>
          </a:xfrm>
          <a:prstGeom prst="ellipse">
            <a:avLst/>
          </a:prstGeom>
          <a:solidFill>
            <a:srgbClr val="E9A03B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" y="55321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517904" y="5358384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rates with care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0" y="5358384"/>
            <a:ext cx="6355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(38.7K) exceed detail-page views (31.7K) and the app-in amount is empty — Loose Criteria plus capture gaps.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as printed on the dashboard; derived rates computed from those printed values and subject to their rounding.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END TO END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leads buy one click. 946 buy a booking.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Lead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743200" y="1371600"/>
            <a:ext cx="6400800" cy="457200"/>
          </a:xfrm>
          <a:prstGeom prst="roundRect">
            <a:avLst>
              <a:gd name="adj" fmla="val 12000"/>
            </a:avLst>
          </a:prstGeom>
          <a:solidFill>
            <a:srgbClr val="0E2A4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371600"/>
            <a:ext cx="6236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9,174.3K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726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4767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43200" y="1947672"/>
            <a:ext cx="5119861" cy="457200"/>
          </a:xfrm>
          <a:prstGeom prst="roundRect">
            <a:avLst>
              <a:gd name="adj" fmla="val 12000"/>
            </a:avLst>
          </a:prstGeom>
          <a:solidFill>
            <a:srgbClr val="174569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0" y="1947672"/>
            <a:ext cx="49552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1,601.9K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372600" y="19476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17.5% of leads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52374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43200" y="2523744"/>
            <a:ext cx="3259420" cy="457200"/>
          </a:xfrm>
          <a:prstGeom prst="roundRect">
            <a:avLst>
              <a:gd name="adj" fmla="val 12000"/>
            </a:avLst>
          </a:prstGeom>
          <a:solidFill>
            <a:srgbClr val="1E6180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523744"/>
            <a:ext cx="3094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127.0K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72600" y="252374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7.9% of views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09981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App-in / Conversion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0" y="3099816"/>
            <a:ext cx="2387207" cy="457200"/>
          </a:xfrm>
          <a:prstGeom prst="roundRect">
            <a:avLst>
              <a:gd name="adj" fmla="val 12000"/>
            </a:avLst>
          </a:prstGeom>
          <a:solidFill>
            <a:srgbClr val="2A8291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0" y="3099816"/>
            <a:ext cx="2222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38.7K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72600" y="309981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30.5% of clicks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6758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743200" y="3675888"/>
            <a:ext cx="1586524" cy="457200"/>
          </a:xfrm>
          <a:prstGeom prst="roundRect">
            <a:avLst>
              <a:gd name="adj" fmla="val 12000"/>
            </a:avLst>
          </a:prstGeom>
          <a:solidFill>
            <a:srgbClr val="3EA79B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0" y="3675888"/>
            <a:ext cx="14219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72600" y="36758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33.6% of app-ins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743200" y="42519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5FD6BE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25196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7260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 of approvals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43200" y="4901184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length is log-scaled — a linear scale would render every stage below View invisible.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30368"/>
            <a:ext cx="3529584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72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77240" y="5815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ever clicks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0248" y="5230368"/>
            <a:ext cx="3529584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33" name="Text 31"/>
          <p:cNvSpPr/>
          <p:nvPr/>
        </p:nvSpPr>
        <p:spPr>
          <a:xfrm>
            <a:off x="4498848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946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4498848" y="5815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ever books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991856" y="5230368"/>
            <a:ext cx="3529584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36" name="Text 34"/>
          <p:cNvSpPr/>
          <p:nvPr/>
        </p:nvSpPr>
        <p:spPr>
          <a:xfrm>
            <a:off x="8220456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13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220456" y="581558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ends in a booking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Page View 31.7K (25.0% of clicks) and Thru-The-Door 1/2 at 0.3K / 0.0K are omitted here — see the appendix.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VOLUME LEAKS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stages destroy 9.05M of the 9.16M lost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89888"/>
          <a:ext cx="70866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481328"/>
            <a:ext cx="3794760" cy="1298448"/>
          </a:xfrm>
          <a:prstGeom prst="roundRect">
            <a:avLst>
              <a:gd name="adj" fmla="val 6338"/>
            </a:avLst>
          </a:prstGeom>
          <a:solidFill>
            <a:srgbClr val="FBF0E6"/>
          </a:solidFill>
          <a:ln/>
        </p:spPr>
      </p:sp>
      <p:sp>
        <p:nvSpPr>
          <p:cNvPr id="6" name="Text 3"/>
          <p:cNvSpPr/>
          <p:nvPr/>
        </p:nvSpPr>
        <p:spPr>
          <a:xfrm>
            <a:off x="8065008" y="15727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82.5%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418320" y="1600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assigned leads never view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065008" y="2029968"/>
            <a:ext cx="3337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7,572.4K people are targeted and never register a view. Deliverability, channel mix and contact policy are the first place to look.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818120" y="2962656"/>
            <a:ext cx="3794760" cy="1298448"/>
          </a:xfrm>
          <a:prstGeom prst="roundRect">
            <a:avLst>
              <a:gd name="adj" fmla="val 6338"/>
            </a:avLst>
          </a:prstGeom>
          <a:solidFill>
            <a:srgbClr val="FBF0E6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30540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92.1%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30815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viewers never click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065008" y="3511296"/>
            <a:ext cx="3337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1,474.9K see the message and do nothing. Creative, offer relevance and placement own this step.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18120" y="4443984"/>
            <a:ext cx="3794760" cy="1298448"/>
          </a:xfrm>
          <a:prstGeom prst="roundRect">
            <a:avLst>
              <a:gd name="adj" fmla="val 6338"/>
            </a:avLst>
          </a:prstGeom>
          <a:solidFill>
            <a:srgbClr val="E8F6F3"/>
          </a:solidFill>
          <a:ln/>
        </p:spPr>
      </p:sp>
      <p:sp>
        <p:nvSpPr>
          <p:cNvPr id="14" name="Text 11"/>
          <p:cNvSpPr/>
          <p:nvPr/>
        </p:nvSpPr>
        <p:spPr>
          <a:xfrm>
            <a:off x="8065008" y="45354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9418320" y="45628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loss is everything else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065008" y="4992624"/>
            <a:ext cx="3337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Click→App-in, Approve and Book together lose 117.3K — a rounding error next to the top two.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figures are the arithmetic difference between consecutive stage volumes as printed on the dashboard.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broken funnel bolted onto a working 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BF0E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556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D9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 ·  LEAD → CLICK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848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D9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1.38%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assigned leads reach a click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9,174.3K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352958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1,601.9K viewed  ·  127.0K clicked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005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9,047.3K lost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40050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anyone ever reaches a product page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4805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4480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targeting, deliverability, creative, placement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481328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E8F6F3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7556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 ·  CLICK → BOOK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29400" y="20848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7.64%</a:t>
            </a:r>
            <a:endParaRPr lang="en-US" sz="6200" dirty="0"/>
          </a:p>
        </p:txBody>
      </p:sp>
      <p:sp>
        <p:nvSpPr>
          <p:cNvPr id="17" name="Text 15"/>
          <p:cNvSpPr/>
          <p:nvPr/>
        </p:nvSpPr>
        <p:spPr>
          <a:xfrm>
            <a:off x="6629400" y="301752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clicks end in a booked account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9400" y="35295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127.0K 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66760" y="352958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38.7K applied  ·  13.0K approved  ·  9.7K booked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9400" y="4005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117.3K lost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66760" y="40050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stages — the smallest leak in the chain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29400" y="44805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66760" y="448056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credit policy, fulfilment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3036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0E1E3C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230368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extra 1,000 clicks is worth about </a:t>
            </a:r>
            <a:pPr indent="0" marL="0">
              <a:buNone/>
            </a:pPr>
            <a:r>
              <a:rPr lang="en-US" sz="15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bookings</a:t>
            </a:r>
            <a:pPr indent="0" marL="0">
              <a:buNone/>
            </a:pPr>
            <a:r>
              <a:rPr lang="en-US" sz="15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5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0.8M of set credit</a:t>
            </a:r>
            <a:pPr indent="0" marL="0">
              <a:buNone/>
            </a:pPr>
            <a:r>
              <a:rPr lang="en-US" sz="15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no change to credit policy.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clicks × 7.64% book rate = 76 bookings × 10.8K average set credit ≈ 0.8M.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DELIVERED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46 days actually produced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1790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13.0K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651760" y="168249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51760" y="19933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33.6% of app-ins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56946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51760" y="273405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304495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75.0% of approvals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2102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11.3K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651760" y="378561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approved amount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51760" y="409651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approved customer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67258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7294B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672584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10.8K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651760" y="483717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set credit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51760" y="51480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booked customer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943600" y="1463040"/>
          <a:ext cx="5715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943600" y="4645152"/>
            <a:ext cx="5715000" cy="1371600"/>
          </a:xfrm>
          <a:prstGeom prst="roundRect">
            <a:avLst>
              <a:gd name="adj" fmla="val 6000"/>
            </a:avLst>
          </a:prstGeom>
          <a:solidFill>
            <a:srgbClr val="17294B"/>
          </a:solidFill>
          <a:ln/>
        </p:spPr>
      </p:sp>
      <p:sp>
        <p:nvSpPr>
          <p:cNvPr id="22" name="Text 19"/>
          <p:cNvSpPr/>
          <p:nvPr/>
        </p:nvSpPr>
        <p:spPr>
          <a:xfrm>
            <a:off x="6263640" y="47914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credit lands ~4% below approved value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263640" y="51389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10.8K set per booked customer against 11.3K approved. Small per account, but ~5M of headroom across the 9.7K book — worth confirming whether it is customer choice or a fulfilment default.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prints approve amount and set credit amount both as 0.1B; the per-customer averages above give ~0.147B approved and ~0.105B set.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these five before acting on the numbers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29584" cy="2121408"/>
          </a:xfrm>
          <a:prstGeom prst="roundRect">
            <a:avLst>
              <a:gd name="adj" fmla="val 3879"/>
            </a:avLst>
          </a:prstGeom>
          <a:solidFill>
            <a:srgbClr val="F1F4F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00784"/>
            <a:ext cx="457200" cy="457200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Conversions exceed detail-page views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38.7K conversions against 31.7K detail-page views. In a strict click-path funnel that cannot happen — a Loose Criteria attribution artefact.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70248" y="1463040"/>
            <a:ext cx="3529584" cy="2121408"/>
          </a:xfrm>
          <a:prstGeom prst="roundRect">
            <a:avLst>
              <a:gd name="adj" fmla="val 3879"/>
            </a:avLst>
          </a:prstGeom>
          <a:solidFill>
            <a:srgbClr val="F1F4F9"/>
          </a:solidFill>
          <a:ln/>
        </p:spPr>
      </p:sp>
      <p:sp>
        <p:nvSpPr>
          <p:cNvPr id="10" name="Shape 8"/>
          <p:cNvSpPr/>
          <p:nvPr/>
        </p:nvSpPr>
        <p:spPr>
          <a:xfrm>
            <a:off x="4544568" y="1700784"/>
            <a:ext cx="457200" cy="457200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11" name="Text 9"/>
          <p:cNvSpPr/>
          <p:nvPr/>
        </p:nvSpPr>
        <p:spPr>
          <a:xfrm>
            <a:off x="4544568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286000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App-in is identical to conversion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4568" y="283464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read 38.7K at exactly 30.5% of clicks. The two columns look like one event under two names; confirm the definitions.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91856" y="1463040"/>
            <a:ext cx="3529584" cy="2121408"/>
          </a:xfrm>
          <a:prstGeom prst="roundRect">
            <a:avLst>
              <a:gd name="adj" fmla="val 3879"/>
            </a:avLst>
          </a:prstGeom>
          <a:solidFill>
            <a:srgbClr val="F1F4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66176" y="1700784"/>
            <a:ext cx="457200" cy="457200"/>
          </a:xfrm>
          <a:prstGeom prst="ellipse">
            <a:avLst/>
          </a:prstGeom>
          <a:solidFill>
            <a:srgbClr val="D9503F"/>
          </a:solidFill>
          <a:ln/>
        </p:spPr>
      </p:sp>
      <p:sp>
        <p:nvSpPr>
          <p:cNvPr id="16" name="Text 14"/>
          <p:cNvSpPr/>
          <p:nvPr/>
        </p:nvSpPr>
        <p:spPr>
          <a:xfrm>
            <a:off x="8266176" y="1700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66176" y="2286000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App-in amount is empty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66176" y="283464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0.0B while approve amount reads 0.1B. Approved value cannot exceed applied value — amount is not being captured at application.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67328"/>
            <a:ext cx="5468112" cy="1755648"/>
          </a:xfrm>
          <a:prstGeom prst="roundRect">
            <a:avLst>
              <a:gd name="adj" fmla="val 4688"/>
            </a:avLst>
          </a:prstGeom>
          <a:solidFill>
            <a:srgbClr val="FBF0E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005072"/>
            <a:ext cx="457200" cy="457200"/>
          </a:xfrm>
          <a:prstGeom prst="ellipse">
            <a:avLst/>
          </a:prstGeom>
          <a:solidFill>
            <a:srgbClr val="E9A03B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4005072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Thru-The-Door is effectively unmeasured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4553712"/>
            <a:ext cx="488289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TTD1 at 0.3K (0.2% of clicks) and TTD2 at 0.0K. Either the offline/branch journey is not instrumented, or the columns should be retired.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8776" y="3767328"/>
            <a:ext cx="5468112" cy="1755648"/>
          </a:xfrm>
          <a:prstGeom prst="roundRect">
            <a:avLst>
              <a:gd name="adj" fmla="val 4688"/>
            </a:avLst>
          </a:prstGeom>
          <a:solidFill>
            <a:srgbClr val="FBF0E6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4005072"/>
            <a:ext cx="457200" cy="457200"/>
          </a:xfrm>
          <a:prstGeom prst="ellipse">
            <a:avLst/>
          </a:prstGeom>
          <a:solidFill>
            <a:srgbClr val="E9A03B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23176" y="4005072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vs Strict criteria not pinned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01384" y="4553712"/>
            <a:ext cx="488289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itself warns that Loose Criteria can push response rates above 100%. Every rate in this deck should be re-baselined on Strict View-and-Click.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invalidate the direction of the findings — the top-funnel gap is far too large to be a measurement artefact — but they do move the exact rates.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THE PRIZE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levers, 6.3K incremental bookings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89888"/>
          <a:ext cx="70866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463040"/>
            <a:ext cx="3794760" cy="1243584"/>
          </a:xfrm>
          <a:prstGeom prst="roundRect">
            <a:avLst>
              <a:gd name="adj" fmla="val 6618"/>
            </a:avLst>
          </a:prstGeom>
          <a:solidFill>
            <a:srgbClr val="F1F4F9"/>
          </a:solidFill>
          <a:ln/>
        </p:spPr>
      </p:sp>
      <p:sp>
        <p:nvSpPr>
          <p:cNvPr id="6" name="Shape 3"/>
          <p:cNvSpPr/>
          <p:nvPr/>
        </p:nvSpPr>
        <p:spPr>
          <a:xfrm>
            <a:off x="8065008" y="160934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4"/>
          <p:cNvSpPr/>
          <p:nvPr/>
        </p:nvSpPr>
        <p:spPr>
          <a:xfrm>
            <a:off x="8065008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13648" y="159105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rate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13648" y="187452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+2.57K books  ·  ~28M set credit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65008" y="215798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leverage. 33.6K extra clicks off the existing 1.60M views — creative and offer work, no new reach.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8120" y="2880360"/>
            <a:ext cx="3794760" cy="1243584"/>
          </a:xfrm>
          <a:prstGeom prst="roundRect">
            <a:avLst>
              <a:gd name="adj" fmla="val 6618"/>
            </a:avLst>
          </a:prstGeom>
          <a:solidFill>
            <a:srgbClr val="F1F4F9"/>
          </a:solidFill>
          <a:ln/>
        </p:spPr>
      </p:sp>
      <p:sp>
        <p:nvSpPr>
          <p:cNvPr id="12" name="Shape 9"/>
          <p:cNvSpPr/>
          <p:nvPr/>
        </p:nvSpPr>
        <p:spPr>
          <a:xfrm>
            <a:off x="8065008" y="302666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0"/>
          <p:cNvSpPr/>
          <p:nvPr/>
        </p:nvSpPr>
        <p:spPr>
          <a:xfrm>
            <a:off x="8065008" y="3026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13648" y="300837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rate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13648" y="32918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+1.38K books  ·  ~15M set credit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65008" y="357530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229K extra views off leads already assigned. Deliverability, channel mix, frequency capping.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818120" y="4297680"/>
            <a:ext cx="3794760" cy="1243584"/>
          </a:xfrm>
          <a:prstGeom prst="roundRect">
            <a:avLst>
              <a:gd name="adj" fmla="val 6618"/>
            </a:avLst>
          </a:prstGeom>
          <a:solidFill>
            <a:srgbClr val="F1F4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444398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9" name="Text 16"/>
          <p:cNvSpPr/>
          <p:nvPr/>
        </p:nvSpPr>
        <p:spPr>
          <a:xfrm>
            <a:off x="806500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613648" y="442569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rate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613648" y="47091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+1.30K books  ·  ~14M set credit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065008" y="4992624"/>
            <a:ext cx="3337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of the three: no new traffic at all, just closing 1.3K already-approved customers.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818120" y="5715000"/>
            <a:ext cx="3794760" cy="566928"/>
          </a:xfrm>
          <a:prstGeom prst="roundRect">
            <a:avLst>
              <a:gd name="adj" fmla="val 14516"/>
            </a:avLst>
          </a:prstGeom>
          <a:solidFill>
            <a:srgbClr val="0E1E3C"/>
          </a:solidFill>
          <a:ln/>
        </p:spPr>
      </p:sp>
      <p:sp>
        <p:nvSpPr>
          <p:cNvPr id="24" name="Text 21"/>
          <p:cNvSpPr/>
          <p:nvPr/>
        </p:nvSpPr>
        <p:spPr>
          <a:xfrm>
            <a:off x="7818120" y="571500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D6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Together: 9.7K → 16.0K bookings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holds all downstream rates constant at their observed values; set-credit uplift priced at the observed 10.8K average per booked customer.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75564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755648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Re-baseline on Strict criteria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224942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funnel under Strict View-and-Click before any budget or targeting decision is taken off these numbers.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  ·   This week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8776" y="1517904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11" name="Shape 9"/>
          <p:cNvSpPr/>
          <p:nvPr/>
        </p:nvSpPr>
        <p:spPr>
          <a:xfrm>
            <a:off x="6501384" y="1755648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01384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23176" y="1755648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amount capture at app-in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01384" y="224942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0.0B applied against 0.1B approved is not a rounding issue. Reconcile the App-in and Conversion definitions at the same time.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01384" y="2615184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eng.   ·   This week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90672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" y="332841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328416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 the click rate first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" y="3822192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7.9% of viewers click. This is the single highest-leverage number on the dashboard — worth ~2.6K bookings for 2.1 points.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41248" y="4187952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  ·   Next cycle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08776" y="3090672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23" name="Shape 21"/>
          <p:cNvSpPr/>
          <p:nvPr/>
        </p:nvSpPr>
        <p:spPr>
          <a:xfrm>
            <a:off x="6501384" y="3328416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/>
          <p:nvPr/>
        </p:nvSpPr>
        <p:spPr>
          <a:xfrm>
            <a:off x="6501384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23176" y="3328416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the 82.5% who never view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501384" y="3822192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7.57M assigned leads register no view at all. Separate 'not delivered' from 'delivered, not opened' before spending on creative.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4187952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ops   ·   Next cycle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29" name="Shape 27"/>
          <p:cNvSpPr/>
          <p:nvPr/>
        </p:nvSpPr>
        <p:spPr>
          <a:xfrm>
            <a:off x="841248" y="490118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63040" y="4901184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approved-not-booked gap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41248" y="5394960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of approvals never book, and set credit lands 4% under approved. No new traffic needed — ~14M of set credit.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41248" y="5760720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Fulfilment   ·   Next cycle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08776" y="4663440"/>
            <a:ext cx="5468112" cy="1389888"/>
          </a:xfrm>
          <a:prstGeom prst="roundRect">
            <a:avLst>
              <a:gd name="adj" fmla="val 5921"/>
            </a:avLst>
          </a:prstGeom>
          <a:solidFill>
            <a:srgbClr val="17294B"/>
          </a:solidFill>
          <a:ln/>
        </p:spPr>
      </p:sp>
      <p:sp>
        <p:nvSpPr>
          <p:cNvPr id="35" name="Shape 33"/>
          <p:cNvSpPr/>
          <p:nvPr/>
        </p:nvSpPr>
        <p:spPr>
          <a:xfrm>
            <a:off x="6501384" y="4901184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6501384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123176" y="4901184"/>
            <a:ext cx="4261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 or retire Thru-The-Door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501384" y="5394960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0.3K and 0.0K across 52 campaigns means the columns currently mislead more than they inform.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5760720"/>
            <a:ext cx="4882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  ·   Next quarter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are indicative — to be confirmed with the campaign steering group.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funnel reference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44752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463040"/>
                <a:gridCol w="1965960"/>
                <a:gridCol w="1234440"/>
                <a:gridCol w="4069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leads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Assigned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9,174.3K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Universe of targeted customers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1,601.9K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17.5% of leads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17.46%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7,572.4K never registered a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127.0K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 of views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1,474.9K viewed and did not click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Page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0.35%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detail page reached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 The Door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0.3K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0.003%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branch — effectively nil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Thru The Door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recorded volume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0.42%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Exceeds detail-page views — see flags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30.5% of clicks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0.42%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to conversion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 of app-ins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0.14%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amount 0.1B (11.3K 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 of approvals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D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0.11%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credit 0.1B (10.8K 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972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Amounts: total 6.1M (0.2K avg)  ·  app-in 0.0B (not captured)  ·  approve 0.1B  ·  set credit 0.1B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3459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CLICX Camp Campaign Performance Dashboard (campaign-level), Loose Criteria view. 52 campaigns, start window 17 Jun – 1 Aug 2026, data as of 2 Aug 2026.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Camp - Campaign Performance Key Insights</dc:title>
  <dc:subject>PptxGenJS Presentation</dc:subject>
  <dc:creator>Campaign Analytics</dc:creator>
  <cp:lastModifiedBy>Campaign Analytics</cp:lastModifiedBy>
  <cp:revision>1</cp:revision>
  <dcterms:created xsi:type="dcterms:W3CDTF">2026-08-03T06:14:37Z</dcterms:created>
  <dcterms:modified xsi:type="dcterms:W3CDTF">2026-08-03T06:14:37Z</dcterms:modified>
</cp:coreProperties>
</file>
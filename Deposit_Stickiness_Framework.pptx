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Stickiness is a behavioural score built from four components and is deliberately independent of deposit size. Unavailable components are re-weighted so scores stay comparable. Rate sensitivity is kept as a separate score until post-maturity runoff validates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sensitivity is a psychographic proxy inferred from where customers park balance relative to the promotional caps. Promo dependency is an exposure overlay, not a driver of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At-risk is a heuristic definition before maturity. Validate against actual post-maturity runoff and recalibrate the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scores run 0-100 and share the same five cut-off bands, so they can be crossed directly in the decision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examples, illustrative. Example 1 parks exactly at both caps: 20k in Save Max and 1.0m in Save More, so cap precision is 2/2 and nothing sits above the caps - rate sensitivity 100, Very High. Example 2 holds 100k in Save Max and 1.5m in Save More, so neither pocket is near its cap and 580k of the 1.6m promotional balance is above cap (36%) - rate sensitivity 19, Very Low. Stickiness scores 86 and 91 respectively, both Very High, so the stickiness score alone would not separate these two customers. This is the argument for keeping rate sensitivity as a second, independent lens rather than folding it into the stickiness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totals: 47,184 customers and THB 685,023,126 of balance; 477,654,816 at risk. Amber column headers mark the High and Very High rate-sensitivity segments. Balance matrix is shown in THB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base 1,382,875; 320,109 hold a balance (23%). Low + Very Low stickiness is 1,122,866 of the full base (81%) but only 67,895 of the funded base (21%). Funded share by tier: Very High 99%, Very Low 3%. High + Very High rate sensitivity is 24,971 in both grids - every rate-sensitive customer holds a balance, which follows from the score being computed off balance placement. The balance&gt;0 grid fills the TBD left open in the source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funded balance THB 5,477,500,353 across 320,109 customers, average THB 17,111. Rate-sensitive balance THB 3,830,436,985 (70%) held by only 24,971 customers (8% of the funded base). Save Max is THB 685,023,126, just 13% of the book, so rate-sensitivity exposure extends well beyond the maturing product. Balance concentrates hard: High and Very High stickiness hold 96% of balance on 49% of funded customers. Only 4 customers land in the Medium rate-sensitivity band, so the score is effectively binary - worth revisiting when the cut-offs are recalibrated after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Funded base 320,109 customers holding THB 5,477,500,353. Low stickiness (Low + Very Low) is 67,895 customers, 21.2% of the funded base, but only THB 16,672,796 - 0.3% of the book. High rate sensitivity (High + Very High) is 24,971 customers, 7.8%, holding THB 3,830,436,985 - 70% of the book. Widening the stickiness lens to score &lt; 60 adds the Medium band: 164,321 customers (51.3%) and THB 228,061,333 (4.2%). The overlap of the two lenses - stickiness &lt; 60 and rate sensitivity &gt;= 60 - is 370 customers and THB 99,437,034, the priority watchlist. The remaining 97% of rate-sensitive balance sits with customers who currently score High or Very High stickiness, which is exactly the stickiness maturity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47,184 customers holding Save Max in the prior period. 6,671 of them (14.1%) now show zero Save Max balance. Save Max fell from THB 685,023,127 to THB 491,897,976, down 28.2%, of which THB 123,073,643 came from movers zeroing out and THB 70,051,509 from non-movers trimming. Total deposit balance nevertheless rose from THB 2,901,915,577 to THB 3,013,181,725, up 3.8%. Save Max fell from 23.6% to 16.3% of the book. Move rate is not monotonic in rate sensitivity: the High band moves at 49.5% against 12.8% for Very High, so the current cut-offs do not rank runoff risk correctly and should be recalibrated on this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Movers split sharply on the Save More flag. With Save More: 3,912 customers, THB 924,465,529 → THB 1,005,619,905, 108.8% retained. Without: 2,759 customers, THB 54,112,917 → THB 14,656,265, only 27.1% retained. Non-movers are stable either way: 106.0% with Save More and 97.6% without. Caveat on causality: Save More holders are also much larger balances, so part of the gap is cohort composition rather than the product itself. The actionable read is still that a second promotional pocket gives maturing Save Max money somewhere to go inside the bank - worth testing as a deliberate retention offer before the next maturity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rate rises with stickiness, which is the opposite of what the name suggests: Very High 19.2% against Very Low 1.9%. The reason is dormancy, not loyalty - average Save Max balance falls from THB 18,104 in the Very High tier to THB 18 in the Very Low tier, so the low tiers have nothing to move and nobody managing the account. Read the columns, not the rows: the High rate-sensitivity column is hot at every stickiness level, peaking at 56.2% for High stickiness. The fragile quadrant - stickiness &lt; 60 with rate sensitivity &gt;= 60 - is 297 customers holding THB 5,903,833, so the decision view on slide 2 points at an almost empty cell. On predictive value, stickiness adds little once rate sensitivity and the Save More flag are in hand (AUC 0.766 to 0.779), so its practical use is as an eligibility filter to suppress dormant micro-balance accounts from retention campaigns, not as a targeting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of 47,184. Total deposit balance rose from THB 2,901,915,577 to THB 3,013,181,725, +111.3m or +3.8%. Every stickiness tier gained. In absolute terms the gain concentrates in the top two tiers: High +71.4m and Very High +34.9m, together 95.5% of it, which follows from those tiers holding 98.8% of prior balance. In percentage terms the ranking reverses cleanly: Very High +3.2%, High +4.0%, Medium +8.8%, Low +174.7%, Very Low +1549.2%. Average prior balance per customer runs from THB 90,152 in the Very High tier to THB 22 in the Very Low tier, so the low tiers' percentages reflect dormant accounts receiving small deposits rather than material growth. Average change per customer runs Very High +2,871, High +2,702, Medium +571, Low +754, Very Low +341, against +2,358 across the base. That column ranks differently again - the Low tier beats Medium on change per customer despite holding far less balance - so it is the fairest way to compare tiers of very different size. All three readings are kept deliberately: rank on absolute change for materiality, on change per customer for per-head value, and read the percentage column as an early indicator that previously unfunded accounts are becoming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of 320,109. Total deposit balance rose from THB 5,477,500,352 to THB 5,688,588,400, +211.1m or +3.9%. Every stickiness tier gained. In absolute terms the gain concentrates in the top two tiers: High +99.5m and Very High +67.6m, together 79.2% of it, which follows from those tiers holding 95.8% of prior balance. In percentage terms the ranking reverses cleanly: Very High +2.5%, High +3.8%, Medium +11.8%, Low +100.6%, Very Low +143.6%. Average prior balance per customer runs from THB 49,529 in the Very High tier to THB 143 in the Very Low tier, so the low tiers' percentages reflect dormant accounts receiving small deposits rather than material growth. Average change per customer runs Very High +1,257, High +975, Medium +259, Low +372, Very Low +206, against +659 across the base. That column ranks differently again - the Low tier beats Medium on change per customer despite holding far less balance - so it is the fairest way to compare tiers of very different size. All three readings are kept deliberately: rank on absolute change for materiality, on change per customer for per-head value, and read the percentage column as an early indicator that previously unfunded accounts are becoming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Deposit stickiness ranks the two measures consistently: move rate runs 1.9% to 19.2% from Very Low to Very High, and balance change is positive in every tier. The caveat is that this consistency is partly mechanical - the High and Very High tiers hold 98.8% of prior balance and contributed 95.5% of the cohort's gain, so the ranking largely restates where the money is. In percentage terms the picture is flatter and mildly reversed: Very High +3.2%, High +4.0%, Medium +8.8%, with the Low and Very Low tiers unusable because their prior balances are near zero. Rate sensitivity diverges for real: High moves at 49.5% and gained THB 144.7m, while Very High moves at 12.9% and lost THB 36.0m. Very Low also lost, THB 11.0m on a 9.6% move rate. Medium is 4 customers in both scores and is greyed out rather than read. Conclusion for the framework: stickiness can stay as an activity and eligibility filter, but rate-sensitivity cut-offs should be re-fitted on observed outcomes, and the two outcomes - emptying the pocket and losing balance - should be scored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movement across the stickiness tiers, split by score confidence, on the funded base of 320,109 customers and THB 5,477,500,352, net +THB 211.1m. Overall the base is 16.4% Increase, 55.5% Stable and 28.1% Decrease by customer. The customer row and the balance row disagree in every confidence panel, and most sharply at Low confidence: 41.5% of those customers decreased but only 13.8% of their balance did, so within that band the large accounts are the stable ones. Low confidence holds THB 489.9m across 8,982 customers, so its panels are thin but the balances behind them are not - average prior balance there is THB 54,539 against THB 25,414 at High confidence. Reading down each column shows the same pattern the deck has found throughout: the stickiness score separates customers far more cleanly than it separates money, and splitting by confidence does not change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splits the base 41.5% High, 55.7% Medium, 2.8% Low by customer, but 61.6% / 29.4% / 8.9% by balance. Average prior balance runs THB 25,414 High, THB 9,040 Medium and THB 54,539 Low, so the least reliable scores attach to the largest accounts - the opposite of what a data-quality problem usually looks like. In this extract confidence tracks the Save Max feed exactly: all 108 Medium and Low Confidence cells have prev_bal_save_max of zero and latest_bal_save_max NULL, while all 93 High Confidence cells carry real values. So a Low Confidence score is not a noisy estimate, it is a score computed without one of its inputs, and the missing input is the promotional product the whole framework is built around. Worth confirming at source. Balance change is positive in every band: High +124.9m, Medium +62.7m, Low +23.5m. Low Confidence decreases on 41.5% of its customers but only 13.8% of its balance, so within that band the large accounts are the stable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Deposit Stickiness : customer-level framework</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*Pre-maturity view · behavioural stickiness score, independent of deposit size.</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Deposit Stickiness Score  =  40% BP  +  25% FC  +  20% RI  +  15% DE</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Each component scores 0–100 and unavailable components are re-weighted, so every customer gets a comparable score.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40%</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persistence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Avg balance: latest ÷ prior period</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25%</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Funding continuity</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 eligible days with balance ≥ THB100</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20%</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Recurring inflow</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 eligible months with inflow ≥ THB100</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15%</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Daily engagement</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Active txn days ÷ 20-day / 90-day target*</a:t>
            </a:r>
            <a:endParaRPr lang="en-US" sz="950" dirty="0"/>
          </a:p>
        </p:txBody>
      </p:sp>
      <p:sp>
        <p:nvSpPr>
          <p:cNvPr id="22" name="Shape 20"/>
          <p:cNvSpPr/>
          <p:nvPr/>
        </p:nvSpPr>
        <p:spPr>
          <a:xfrm>
            <a:off x="530352" y="2798064"/>
            <a:ext cx="6720840" cy="3017520"/>
          </a:xfrm>
          <a:prstGeom prst="roundRect">
            <a:avLst>
              <a:gd name="adj" fmla="val 2727"/>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How the score works</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Component weights, and how balance persistence adapts to tenure</a:t>
            </a:r>
            <a:endParaRPr lang="en-US" sz="950" dirty="0"/>
          </a:p>
        </p:txBody>
      </p:sp>
      <p:sp>
        <p:nvSpPr>
          <p:cNvPr id="25" name="Shape 23"/>
          <p:cNvSpPr/>
          <p:nvPr/>
        </p:nvSpPr>
        <p:spPr>
          <a:xfrm>
            <a:off x="786384" y="3474720"/>
            <a:ext cx="2587752" cy="365760"/>
          </a:xfrm>
          <a:prstGeom prst="roundRect">
            <a:avLst>
              <a:gd name="adj" fmla="val 12500"/>
            </a:avLst>
          </a:prstGeom>
          <a:solidFill>
            <a:srgbClr val="165A73"/>
          </a:solidFill>
          <a:ln/>
        </p:spPr>
      </p:sp>
      <p:sp>
        <p:nvSpPr>
          <p:cNvPr id="26" name="Text 24"/>
          <p:cNvSpPr/>
          <p:nvPr/>
        </p:nvSpPr>
        <p:spPr>
          <a:xfrm>
            <a:off x="786384" y="3474720"/>
            <a:ext cx="25877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40%</a:t>
            </a:r>
            <a:endParaRPr lang="en-US" sz="1100" dirty="0"/>
          </a:p>
        </p:txBody>
      </p:sp>
      <p:sp>
        <p:nvSpPr>
          <p:cNvPr id="27" name="Shape 25"/>
          <p:cNvSpPr/>
          <p:nvPr/>
        </p:nvSpPr>
        <p:spPr>
          <a:xfrm>
            <a:off x="3410712" y="3474720"/>
            <a:ext cx="1618488" cy="365760"/>
          </a:xfrm>
          <a:prstGeom prst="roundRect">
            <a:avLst>
              <a:gd name="adj" fmla="val 12500"/>
            </a:avLst>
          </a:prstGeom>
          <a:solidFill>
            <a:srgbClr val="1E8E86"/>
          </a:solidFill>
          <a:ln/>
        </p:spPr>
      </p:sp>
      <p:sp>
        <p:nvSpPr>
          <p:cNvPr id="28" name="Text 26"/>
          <p:cNvSpPr/>
          <p:nvPr/>
        </p:nvSpPr>
        <p:spPr>
          <a:xfrm>
            <a:off x="3410712" y="3474720"/>
            <a:ext cx="161848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25%</a:t>
            </a:r>
            <a:endParaRPr lang="en-US" sz="1100" dirty="0"/>
          </a:p>
        </p:txBody>
      </p:sp>
      <p:sp>
        <p:nvSpPr>
          <p:cNvPr id="29" name="Shape 27"/>
          <p:cNvSpPr/>
          <p:nvPr/>
        </p:nvSpPr>
        <p:spPr>
          <a:xfrm>
            <a:off x="5065776" y="3474720"/>
            <a:ext cx="1298448" cy="365760"/>
          </a:xfrm>
          <a:prstGeom prst="roundRect">
            <a:avLst>
              <a:gd name="adj" fmla="val 12500"/>
            </a:avLst>
          </a:prstGeom>
          <a:solidFill>
            <a:srgbClr val="3FB89F"/>
          </a:solidFill>
          <a:ln/>
        </p:spPr>
      </p:sp>
      <p:sp>
        <p:nvSpPr>
          <p:cNvPr id="30" name="Text 28"/>
          <p:cNvSpPr/>
          <p:nvPr/>
        </p:nvSpPr>
        <p:spPr>
          <a:xfrm>
            <a:off x="5065776" y="3474720"/>
            <a:ext cx="12984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20%</a:t>
            </a:r>
            <a:endParaRPr lang="en-US" sz="1100" dirty="0"/>
          </a:p>
        </p:txBody>
      </p:sp>
      <p:sp>
        <p:nvSpPr>
          <p:cNvPr id="31" name="Shape 29"/>
          <p:cNvSpPr/>
          <p:nvPr/>
        </p:nvSpPr>
        <p:spPr>
          <a:xfrm>
            <a:off x="6400800" y="3474720"/>
            <a:ext cx="969264" cy="365760"/>
          </a:xfrm>
          <a:prstGeom prst="roundRect">
            <a:avLst>
              <a:gd name="adj" fmla="val 12500"/>
            </a:avLst>
          </a:prstGeom>
          <a:solidFill>
            <a:srgbClr val="E9A03B"/>
          </a:solidFill>
          <a:ln/>
        </p:spPr>
      </p:sp>
      <p:sp>
        <p:nvSpPr>
          <p:cNvPr id="32" name="Text 30"/>
          <p:cNvSpPr/>
          <p:nvPr/>
        </p:nvSpPr>
        <p:spPr>
          <a:xfrm>
            <a:off x="6400800" y="3474720"/>
            <a:ext cx="96926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15%</a:t>
            </a:r>
            <a:endParaRPr lang="en-US" sz="1100" dirty="0"/>
          </a:p>
        </p:txBody>
      </p:sp>
      <p:sp>
        <p:nvSpPr>
          <p:cNvPr id="33" name="Text 31"/>
          <p:cNvSpPr/>
          <p:nvPr/>
        </p:nvSpPr>
        <p:spPr>
          <a:xfrm>
            <a:off x="786384" y="4023360"/>
            <a:ext cx="6217920" cy="256032"/>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Balance persistence adapts to tenure</a:t>
            </a:r>
            <a:endParaRPr lang="en-US" sz="1100" dirty="0"/>
          </a:p>
        </p:txBody>
      </p:sp>
      <p:sp>
        <p:nvSpPr>
          <p:cNvPr id="34" name="Shape 32"/>
          <p:cNvSpPr/>
          <p:nvPr/>
        </p:nvSpPr>
        <p:spPr>
          <a:xfrm>
            <a:off x="786384" y="4334256"/>
            <a:ext cx="2011680" cy="658368"/>
          </a:xfrm>
          <a:prstGeom prst="roundRect">
            <a:avLst>
              <a:gd name="adj" fmla="val 12500"/>
            </a:avLst>
          </a:prstGeom>
          <a:solidFill>
            <a:srgbClr val="FFFFFF"/>
          </a:solidFill>
          <a:ln/>
        </p:spPr>
      </p:sp>
      <p:sp>
        <p:nvSpPr>
          <p:cNvPr id="35" name="Text 33"/>
          <p:cNvSpPr/>
          <p:nvPr/>
        </p:nvSpPr>
        <p:spPr>
          <a:xfrm>
            <a:off x="950976" y="4407408"/>
            <a:ext cx="1737360"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 60 days</a:t>
            </a:r>
            <a:endParaRPr lang="en-US" sz="1100" dirty="0"/>
          </a:p>
        </p:txBody>
      </p:sp>
      <p:sp>
        <p:nvSpPr>
          <p:cNvPr id="36" name="Text 34"/>
          <p:cNvSpPr/>
          <p:nvPr/>
        </p:nvSpPr>
        <p:spPr>
          <a:xfrm>
            <a:off x="950976" y="4626864"/>
            <a:ext cx="1737360" cy="237744"/>
          </a:xfrm>
          <a:prstGeom prst="rect">
            <a:avLst/>
          </a:prstGeom>
          <a:noFill/>
          <a:ln/>
        </p:spPr>
        <p:txBody>
          <a:bodyPr wrap="square" lIns="0" tIns="0" rIns="0" bIns="0" rtlCol="0" anchor="ctr"/>
          <a:lstStyle/>
          <a:p>
            <a:pPr indent="0" marL="0">
              <a:buNone/>
            </a:pPr>
            <a:r>
              <a:rPr lang="en-US" sz="1000" dirty="0">
                <a:solidFill>
                  <a:srgbClr val="6B7A90"/>
                </a:solidFill>
                <a:latin typeface="Graphik TH" pitchFamily="34" charset="0"/>
                <a:ea typeface="Graphik TH" pitchFamily="34" charset="-122"/>
                <a:cs typeface="Graphik TH" pitchFamily="34" charset="-120"/>
              </a:rPr>
              <a:t>30D vs 30D</a:t>
            </a:r>
            <a:endParaRPr lang="en-US" sz="1000" dirty="0"/>
          </a:p>
        </p:txBody>
      </p:sp>
      <p:sp>
        <p:nvSpPr>
          <p:cNvPr id="37" name="Shape 35"/>
          <p:cNvSpPr/>
          <p:nvPr/>
        </p:nvSpPr>
        <p:spPr>
          <a:xfrm>
            <a:off x="2935224" y="4334256"/>
            <a:ext cx="2011680" cy="658368"/>
          </a:xfrm>
          <a:prstGeom prst="roundRect">
            <a:avLst>
              <a:gd name="adj" fmla="val 12500"/>
            </a:avLst>
          </a:prstGeom>
          <a:solidFill>
            <a:srgbClr val="FFFFFF"/>
          </a:solidFill>
          <a:ln/>
        </p:spPr>
      </p:sp>
      <p:sp>
        <p:nvSpPr>
          <p:cNvPr id="38" name="Text 36"/>
          <p:cNvSpPr/>
          <p:nvPr/>
        </p:nvSpPr>
        <p:spPr>
          <a:xfrm>
            <a:off x="3099816" y="4407408"/>
            <a:ext cx="1737360"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30–59 days</a:t>
            </a:r>
            <a:endParaRPr lang="en-US" sz="1100" dirty="0"/>
          </a:p>
        </p:txBody>
      </p:sp>
      <p:sp>
        <p:nvSpPr>
          <p:cNvPr id="39" name="Text 37"/>
          <p:cNvSpPr/>
          <p:nvPr/>
        </p:nvSpPr>
        <p:spPr>
          <a:xfrm>
            <a:off x="3099816" y="4626864"/>
            <a:ext cx="1737360" cy="237744"/>
          </a:xfrm>
          <a:prstGeom prst="rect">
            <a:avLst/>
          </a:prstGeom>
          <a:noFill/>
          <a:ln/>
        </p:spPr>
        <p:txBody>
          <a:bodyPr wrap="square" lIns="0" tIns="0" rIns="0" bIns="0" rtlCol="0" anchor="ctr"/>
          <a:lstStyle/>
          <a:p>
            <a:pPr indent="0" marL="0">
              <a:buNone/>
            </a:pPr>
            <a:r>
              <a:rPr lang="en-US" sz="1000" dirty="0">
                <a:solidFill>
                  <a:srgbClr val="6B7A90"/>
                </a:solidFill>
                <a:latin typeface="Graphik TH" pitchFamily="34" charset="0"/>
                <a:ea typeface="Graphik TH" pitchFamily="34" charset="-122"/>
                <a:cs typeface="Graphik TH" pitchFamily="34" charset="-120"/>
              </a:rPr>
              <a:t>15D vs 15D</a:t>
            </a:r>
            <a:endParaRPr lang="en-US" sz="1000" dirty="0"/>
          </a:p>
        </p:txBody>
      </p:sp>
      <p:sp>
        <p:nvSpPr>
          <p:cNvPr id="40" name="Shape 38"/>
          <p:cNvSpPr/>
          <p:nvPr/>
        </p:nvSpPr>
        <p:spPr>
          <a:xfrm>
            <a:off x="5084064" y="4334256"/>
            <a:ext cx="2011680" cy="658368"/>
          </a:xfrm>
          <a:prstGeom prst="roundRect">
            <a:avLst>
              <a:gd name="adj" fmla="val 12500"/>
            </a:avLst>
          </a:prstGeom>
          <a:solidFill>
            <a:srgbClr val="FFFFFF"/>
          </a:solidFill>
          <a:ln/>
        </p:spPr>
      </p:sp>
      <p:sp>
        <p:nvSpPr>
          <p:cNvPr id="41" name="Text 39"/>
          <p:cNvSpPr/>
          <p:nvPr/>
        </p:nvSpPr>
        <p:spPr>
          <a:xfrm>
            <a:off x="5248656" y="4407408"/>
            <a:ext cx="1737360"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14–29 days</a:t>
            </a:r>
            <a:endParaRPr lang="en-US" sz="1100" dirty="0"/>
          </a:p>
        </p:txBody>
      </p:sp>
      <p:sp>
        <p:nvSpPr>
          <p:cNvPr id="42" name="Text 40"/>
          <p:cNvSpPr/>
          <p:nvPr/>
        </p:nvSpPr>
        <p:spPr>
          <a:xfrm>
            <a:off x="5248656" y="4626864"/>
            <a:ext cx="1737360" cy="237744"/>
          </a:xfrm>
          <a:prstGeom prst="rect">
            <a:avLst/>
          </a:prstGeom>
          <a:noFill/>
          <a:ln/>
        </p:spPr>
        <p:txBody>
          <a:bodyPr wrap="square" lIns="0" tIns="0" rIns="0" bIns="0" rtlCol="0" anchor="ctr"/>
          <a:lstStyle/>
          <a:p>
            <a:pPr indent="0" marL="0">
              <a:buNone/>
            </a:pPr>
            <a:r>
              <a:rPr lang="en-US" sz="1000" dirty="0">
                <a:solidFill>
                  <a:srgbClr val="6B7A90"/>
                </a:solidFill>
                <a:latin typeface="Graphik TH" pitchFamily="34" charset="0"/>
                <a:ea typeface="Graphik TH" pitchFamily="34" charset="-122"/>
                <a:cs typeface="Graphik TH" pitchFamily="34" charset="-120"/>
              </a:rPr>
              <a:t>7D vs 7D</a:t>
            </a:r>
            <a:endParaRPr lang="en-US" sz="1000" dirty="0"/>
          </a:p>
        </p:txBody>
      </p:sp>
      <p:sp>
        <p:nvSpPr>
          <p:cNvPr id="43" name="Text 41"/>
          <p:cNvSpPr/>
          <p:nvPr/>
        </p:nvSpPr>
        <p:spPr>
          <a:xfrm>
            <a:off x="786384" y="5138928"/>
            <a:ext cx="6217920" cy="457200"/>
          </a:xfrm>
          <a:prstGeom prst="rect">
            <a:avLst/>
          </a:prstGeom>
          <a:noFill/>
          <a:ln/>
        </p:spPr>
        <p:txBody>
          <a:bodyPr wrap="square" lIns="0" tIns="0" rIns="0" bIns="0" rtlCol="0" anchor="ctr"/>
          <a:lstStyle/>
          <a:p>
            <a:pPr indent="0" marL="0">
              <a:buNone/>
            </a:pPr>
            <a:r>
              <a:rPr lang="en-US" sz="950" i="1" dirty="0">
                <a:solidFill>
                  <a:srgbClr val="6B7A90"/>
                </a:solidFill>
                <a:latin typeface="Graphik TH" pitchFamily="34" charset="0"/>
                <a:ea typeface="Graphik TH" pitchFamily="34" charset="-122"/>
                <a:cs typeface="Graphik TH" pitchFamily="34" charset="-120"/>
              </a:rPr>
              <a:t>BP = balance persistence · FC = funding continuity · RI = recurring inflow · DE = daily engagement</a:t>
            </a:r>
            <a:endParaRPr lang="en-US" sz="950" dirty="0"/>
          </a:p>
        </p:txBody>
      </p:sp>
      <p:sp>
        <p:nvSpPr>
          <p:cNvPr id="44" name="Shape 42"/>
          <p:cNvSpPr/>
          <p:nvPr/>
        </p:nvSpPr>
        <p:spPr>
          <a:xfrm>
            <a:off x="7479792" y="2798064"/>
            <a:ext cx="4325112" cy="3017520"/>
          </a:xfrm>
          <a:prstGeom prst="roundRect">
            <a:avLst>
              <a:gd name="adj" fmla="val 2727"/>
            </a:avLst>
          </a:prstGeom>
          <a:solidFill>
            <a:srgbClr val="F1F4F9"/>
          </a:solidFill>
          <a:ln/>
        </p:spPr>
      </p:sp>
      <p:sp>
        <p:nvSpPr>
          <p:cNvPr id="45" name="Text 43"/>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Score cut-offs</a:t>
            </a:r>
            <a:endParaRPr lang="en-US" sz="1400" dirty="0"/>
          </a:p>
        </p:txBody>
      </p:sp>
      <p:sp>
        <p:nvSpPr>
          <p:cNvPr id="46" name="Text 44"/>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Initial score bands (0–100)</a:t>
            </a:r>
            <a:endParaRPr lang="en-US" sz="950" dirty="0"/>
          </a:p>
        </p:txBody>
      </p:sp>
      <p:sp>
        <p:nvSpPr>
          <p:cNvPr id="47" name="Shape 45"/>
          <p:cNvSpPr/>
          <p:nvPr/>
        </p:nvSpPr>
        <p:spPr>
          <a:xfrm>
            <a:off x="7735824" y="3493008"/>
            <a:ext cx="384048" cy="201168"/>
          </a:xfrm>
          <a:prstGeom prst="roundRect">
            <a:avLst>
              <a:gd name="adj" fmla="val 18182"/>
            </a:avLst>
          </a:prstGeom>
          <a:solidFill>
            <a:srgbClr val="165A73"/>
          </a:solidFill>
          <a:ln/>
        </p:spPr>
      </p:sp>
      <p:sp>
        <p:nvSpPr>
          <p:cNvPr id="48" name="Text 46"/>
          <p:cNvSpPr/>
          <p:nvPr/>
        </p:nvSpPr>
        <p:spPr>
          <a:xfrm>
            <a:off x="8247888" y="3456432"/>
            <a:ext cx="10058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80–100</a:t>
            </a:r>
            <a:endParaRPr lang="en-US" sz="1100" dirty="0"/>
          </a:p>
        </p:txBody>
      </p:sp>
      <p:sp>
        <p:nvSpPr>
          <p:cNvPr id="49" name="Text 47"/>
          <p:cNvSpPr/>
          <p:nvPr/>
        </p:nvSpPr>
        <p:spPr>
          <a:xfrm>
            <a:off x="9290304" y="3456432"/>
            <a:ext cx="2194560" cy="274320"/>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Very High</a:t>
            </a:r>
            <a:endParaRPr lang="en-US" sz="1100" dirty="0"/>
          </a:p>
        </p:txBody>
      </p:sp>
      <p:sp>
        <p:nvSpPr>
          <p:cNvPr id="50" name="Shape 48"/>
          <p:cNvSpPr/>
          <p:nvPr/>
        </p:nvSpPr>
        <p:spPr>
          <a:xfrm>
            <a:off x="7735824" y="3877056"/>
            <a:ext cx="384048" cy="201168"/>
          </a:xfrm>
          <a:prstGeom prst="roundRect">
            <a:avLst>
              <a:gd name="adj" fmla="val 18182"/>
            </a:avLst>
          </a:prstGeom>
          <a:solidFill>
            <a:srgbClr val="1E8E86"/>
          </a:solidFill>
          <a:ln/>
        </p:spPr>
      </p:sp>
      <p:sp>
        <p:nvSpPr>
          <p:cNvPr id="51" name="Text 49"/>
          <p:cNvSpPr/>
          <p:nvPr/>
        </p:nvSpPr>
        <p:spPr>
          <a:xfrm>
            <a:off x="8247888" y="3840480"/>
            <a:ext cx="10058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60–79</a:t>
            </a:r>
            <a:endParaRPr lang="en-US" sz="1100" dirty="0"/>
          </a:p>
        </p:txBody>
      </p:sp>
      <p:sp>
        <p:nvSpPr>
          <p:cNvPr id="52" name="Text 50"/>
          <p:cNvSpPr/>
          <p:nvPr/>
        </p:nvSpPr>
        <p:spPr>
          <a:xfrm>
            <a:off x="9290304" y="3840480"/>
            <a:ext cx="2194560" cy="274320"/>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53" name="Shape 51"/>
          <p:cNvSpPr/>
          <p:nvPr/>
        </p:nvSpPr>
        <p:spPr>
          <a:xfrm>
            <a:off x="7735824" y="4261104"/>
            <a:ext cx="384048" cy="201168"/>
          </a:xfrm>
          <a:prstGeom prst="roundRect">
            <a:avLst>
              <a:gd name="adj" fmla="val 18182"/>
            </a:avLst>
          </a:prstGeom>
          <a:solidFill>
            <a:srgbClr val="3FB89F"/>
          </a:solidFill>
          <a:ln/>
        </p:spPr>
      </p:sp>
      <p:sp>
        <p:nvSpPr>
          <p:cNvPr id="54" name="Text 52"/>
          <p:cNvSpPr/>
          <p:nvPr/>
        </p:nvSpPr>
        <p:spPr>
          <a:xfrm>
            <a:off x="8247888" y="4224528"/>
            <a:ext cx="10058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40–59</a:t>
            </a:r>
            <a:endParaRPr lang="en-US" sz="1100" dirty="0"/>
          </a:p>
        </p:txBody>
      </p:sp>
      <p:sp>
        <p:nvSpPr>
          <p:cNvPr id="55" name="Text 53"/>
          <p:cNvSpPr/>
          <p:nvPr/>
        </p:nvSpPr>
        <p:spPr>
          <a:xfrm>
            <a:off x="9290304" y="4224528"/>
            <a:ext cx="2194560" cy="274320"/>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Medium</a:t>
            </a:r>
            <a:endParaRPr lang="en-US" sz="1100" dirty="0"/>
          </a:p>
        </p:txBody>
      </p:sp>
      <p:sp>
        <p:nvSpPr>
          <p:cNvPr id="56" name="Shape 54"/>
          <p:cNvSpPr/>
          <p:nvPr/>
        </p:nvSpPr>
        <p:spPr>
          <a:xfrm>
            <a:off x="7735824" y="4645152"/>
            <a:ext cx="384048" cy="201168"/>
          </a:xfrm>
          <a:prstGeom prst="roundRect">
            <a:avLst>
              <a:gd name="adj" fmla="val 18182"/>
            </a:avLst>
          </a:prstGeom>
          <a:solidFill>
            <a:srgbClr val="E9A03B"/>
          </a:solidFill>
          <a:ln/>
        </p:spPr>
      </p:sp>
      <p:sp>
        <p:nvSpPr>
          <p:cNvPr id="57" name="Text 55"/>
          <p:cNvSpPr/>
          <p:nvPr/>
        </p:nvSpPr>
        <p:spPr>
          <a:xfrm>
            <a:off x="8247888" y="4608576"/>
            <a:ext cx="10058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20–39</a:t>
            </a:r>
            <a:endParaRPr lang="en-US" sz="1100" dirty="0"/>
          </a:p>
        </p:txBody>
      </p:sp>
      <p:sp>
        <p:nvSpPr>
          <p:cNvPr id="58" name="Text 56"/>
          <p:cNvSpPr/>
          <p:nvPr/>
        </p:nvSpPr>
        <p:spPr>
          <a:xfrm>
            <a:off x="9290304" y="4608576"/>
            <a:ext cx="2194560" cy="274320"/>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59" name="Shape 57"/>
          <p:cNvSpPr/>
          <p:nvPr/>
        </p:nvSpPr>
        <p:spPr>
          <a:xfrm>
            <a:off x="7735824" y="5029200"/>
            <a:ext cx="384048" cy="201168"/>
          </a:xfrm>
          <a:prstGeom prst="roundRect">
            <a:avLst>
              <a:gd name="adj" fmla="val 18182"/>
            </a:avLst>
          </a:prstGeom>
          <a:solidFill>
            <a:srgbClr val="8DA0B8"/>
          </a:solidFill>
          <a:ln/>
        </p:spPr>
      </p:sp>
      <p:sp>
        <p:nvSpPr>
          <p:cNvPr id="60" name="Text 58"/>
          <p:cNvSpPr/>
          <p:nvPr/>
        </p:nvSpPr>
        <p:spPr>
          <a:xfrm>
            <a:off x="8247888" y="4992624"/>
            <a:ext cx="10058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&lt;20</a:t>
            </a:r>
            <a:endParaRPr lang="en-US" sz="1100" dirty="0"/>
          </a:p>
        </p:txBody>
      </p:sp>
      <p:sp>
        <p:nvSpPr>
          <p:cNvPr id="61" name="Text 59"/>
          <p:cNvSpPr/>
          <p:nvPr/>
        </p:nvSpPr>
        <p:spPr>
          <a:xfrm>
            <a:off x="9290304" y="4992624"/>
            <a:ext cx="2194560" cy="274320"/>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Very Low</a:t>
            </a:r>
            <a:endParaRPr lang="en-US" sz="1100" dirty="0"/>
          </a:p>
        </p:txBody>
      </p:sp>
      <p:sp>
        <p:nvSpPr>
          <p:cNvPr id="62" name="Shape 60"/>
          <p:cNvSpPr/>
          <p:nvPr/>
        </p:nvSpPr>
        <p:spPr>
          <a:xfrm>
            <a:off x="7735824" y="5413248"/>
            <a:ext cx="3813048" cy="310896"/>
          </a:xfrm>
          <a:prstGeom prst="roundRect">
            <a:avLst>
              <a:gd name="adj" fmla="val 26471"/>
            </a:avLst>
          </a:prstGeom>
          <a:solidFill>
            <a:srgbClr val="FBF0E6"/>
          </a:solidFill>
          <a:ln/>
        </p:spPr>
      </p:sp>
      <p:sp>
        <p:nvSpPr>
          <p:cNvPr id="63" name="Text 61"/>
          <p:cNvSpPr/>
          <p:nvPr/>
        </p:nvSpPr>
        <p:spPr>
          <a:xfrm>
            <a:off x="7827264" y="5413248"/>
            <a:ext cx="3630168" cy="310896"/>
          </a:xfrm>
          <a:prstGeom prst="rect">
            <a:avLst/>
          </a:prstGeom>
          <a:noFill/>
          <a:ln/>
        </p:spPr>
        <p:txBody>
          <a:bodyPr wrap="square" lIns="0" tIns="0" rIns="0" bIns="0" rtlCol="0" anchor="ctr"/>
          <a:lstStyle/>
          <a:p>
            <a:pPr indent="0" marL="0">
              <a:buNone/>
            </a:pPr>
            <a:r>
              <a:rPr lang="en-US" sz="900" i="1" dirty="0">
                <a:solidFill>
                  <a:srgbClr val="6B6B6B"/>
                </a:solidFill>
                <a:latin typeface="Graphik TH" pitchFamily="34" charset="0"/>
                <a:ea typeface="Graphik TH" pitchFamily="34" charset="-122"/>
                <a:cs typeface="Graphik TH" pitchFamily="34" charset="-120"/>
              </a:rPr>
              <a:t>Rate sensitivity stays outside this score until validated against post-maturity runoff.</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Promo behaviour reveals rate sensitivity</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*Balance placement around the promotional caps is a behavioural signal, not a statement of customer intent.</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Rate Sensitivity  =  70% Cap Precision  +  30% (1 − Above-Cap Balance Ratio)</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Customers who stop near a promotional cap look rate-optimising; balance above the cap suggests lower rate sensitivity.</a:t>
            </a:r>
            <a:endParaRPr lang="en-US" sz="1400" dirty="0"/>
          </a:p>
        </p:txBody>
      </p:sp>
      <p:sp>
        <p:nvSpPr>
          <p:cNvPr id="6" name="Shape 4"/>
          <p:cNvSpPr/>
          <p:nvPr/>
        </p:nvSpPr>
        <p:spPr>
          <a:xfrm>
            <a:off x="530352" y="1645920"/>
            <a:ext cx="3605784" cy="987552"/>
          </a:xfrm>
          <a:prstGeom prst="roundRect">
            <a:avLst>
              <a:gd name="adj" fmla="val 8333"/>
            </a:avLst>
          </a:prstGeom>
          <a:solidFill>
            <a:srgbClr val="F1F4F9"/>
          </a:solidFill>
          <a:ln/>
        </p:spPr>
      </p:sp>
      <p:sp>
        <p:nvSpPr>
          <p:cNvPr id="7" name="Text 5"/>
          <p:cNvSpPr/>
          <p:nvPr/>
        </p:nvSpPr>
        <p:spPr>
          <a:xfrm>
            <a:off x="749808" y="1719072"/>
            <a:ext cx="3166872"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THB 20k</a:t>
            </a:r>
            <a:endParaRPr lang="en-US" sz="2400" dirty="0"/>
          </a:p>
        </p:txBody>
      </p:sp>
      <p:sp>
        <p:nvSpPr>
          <p:cNvPr id="8" name="Text 6"/>
          <p:cNvSpPr/>
          <p:nvPr/>
        </p:nvSpPr>
        <p:spPr>
          <a:xfrm>
            <a:off x="749808" y="2121408"/>
            <a:ext cx="3166872"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Save Max 4% cap</a:t>
            </a:r>
            <a:endParaRPr lang="en-US" sz="1150" dirty="0"/>
          </a:p>
        </p:txBody>
      </p:sp>
      <p:sp>
        <p:nvSpPr>
          <p:cNvPr id="9" name="Text 7"/>
          <p:cNvSpPr/>
          <p:nvPr/>
        </p:nvSpPr>
        <p:spPr>
          <a:xfrm>
            <a:off x="749808" y="2350008"/>
            <a:ext cx="3166872"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Only the first 20k earns the high rate</a:t>
            </a:r>
            <a:endParaRPr lang="en-US" sz="950" dirty="0"/>
          </a:p>
        </p:txBody>
      </p:sp>
      <p:sp>
        <p:nvSpPr>
          <p:cNvPr id="10" name="Shape 8"/>
          <p:cNvSpPr/>
          <p:nvPr/>
        </p:nvSpPr>
        <p:spPr>
          <a:xfrm>
            <a:off x="4364736" y="1645920"/>
            <a:ext cx="3605784" cy="987552"/>
          </a:xfrm>
          <a:prstGeom prst="roundRect">
            <a:avLst>
              <a:gd name="adj" fmla="val 8333"/>
            </a:avLst>
          </a:prstGeom>
          <a:solidFill>
            <a:srgbClr val="F1F4F9"/>
          </a:solidFill>
          <a:ln/>
        </p:spPr>
      </p:sp>
      <p:sp>
        <p:nvSpPr>
          <p:cNvPr id="11" name="Text 9"/>
          <p:cNvSpPr/>
          <p:nvPr/>
        </p:nvSpPr>
        <p:spPr>
          <a:xfrm>
            <a:off x="4584192" y="1719072"/>
            <a:ext cx="3166872"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1m</a:t>
            </a:r>
            <a:endParaRPr lang="en-US" sz="2400" dirty="0"/>
          </a:p>
        </p:txBody>
      </p:sp>
      <p:sp>
        <p:nvSpPr>
          <p:cNvPr id="12" name="Text 10"/>
          <p:cNvSpPr/>
          <p:nvPr/>
        </p:nvSpPr>
        <p:spPr>
          <a:xfrm>
            <a:off x="4584192" y="2121408"/>
            <a:ext cx="3166872"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Save More 2% cap</a:t>
            </a:r>
            <a:endParaRPr lang="en-US" sz="1150" dirty="0"/>
          </a:p>
        </p:txBody>
      </p:sp>
      <p:sp>
        <p:nvSpPr>
          <p:cNvPr id="13" name="Text 11"/>
          <p:cNvSpPr/>
          <p:nvPr/>
        </p:nvSpPr>
        <p:spPr>
          <a:xfrm>
            <a:off x="4584192" y="2350008"/>
            <a:ext cx="3166872"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Only the first 1m earns the high rate</a:t>
            </a:r>
            <a:endParaRPr lang="en-US" sz="950" dirty="0"/>
          </a:p>
        </p:txBody>
      </p:sp>
      <p:sp>
        <p:nvSpPr>
          <p:cNvPr id="14" name="Shape 12"/>
          <p:cNvSpPr/>
          <p:nvPr/>
        </p:nvSpPr>
        <p:spPr>
          <a:xfrm>
            <a:off x="8199120" y="1645920"/>
            <a:ext cx="3605784" cy="987552"/>
          </a:xfrm>
          <a:prstGeom prst="roundRect">
            <a:avLst>
              <a:gd name="adj" fmla="val 8333"/>
            </a:avLst>
          </a:prstGeom>
          <a:solidFill>
            <a:srgbClr val="F1F4F9"/>
          </a:solidFill>
          <a:ln/>
        </p:spPr>
      </p:sp>
      <p:sp>
        <p:nvSpPr>
          <p:cNvPr id="15" name="Text 13"/>
          <p:cNvSpPr/>
          <p:nvPr/>
        </p:nvSpPr>
        <p:spPr>
          <a:xfrm>
            <a:off x="8418576" y="1719072"/>
            <a:ext cx="3166872" cy="402336"/>
          </a:xfrm>
          <a:prstGeom prst="rect">
            <a:avLst/>
          </a:prstGeom>
          <a:noFill/>
          <a:ln/>
        </p:spPr>
        <p:txBody>
          <a:bodyPr wrap="square" lIns="0" tIns="0" rIns="0" bIns="0" rtlCol="0" anchor="ctr"/>
          <a:lstStyle/>
          <a:p>
            <a:pPr indent="0" marL="0">
              <a:buNone/>
            </a:pPr>
            <a:r>
              <a:rPr lang="en-US" sz="1600" b="1" dirty="0">
                <a:solidFill>
                  <a:srgbClr val="045D66"/>
                </a:solidFill>
                <a:latin typeface="Graphik TH" pitchFamily="34" charset="0"/>
                <a:ea typeface="Graphik TH" pitchFamily="34" charset="-122"/>
                <a:cs typeface="Graphik TH" pitchFamily="34" charset="-120"/>
              </a:rPr>
              <a:t>Promo dependency</a:t>
            </a:r>
            <a:endParaRPr lang="en-US" sz="1600" dirty="0"/>
          </a:p>
        </p:txBody>
      </p:sp>
      <p:sp>
        <p:nvSpPr>
          <p:cNvPr id="16" name="Text 14"/>
          <p:cNvSpPr/>
          <p:nvPr/>
        </p:nvSpPr>
        <p:spPr>
          <a:xfrm>
            <a:off x="8418576" y="2121408"/>
            <a:ext cx="3166872"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Promo-exposed ÷ total deposit</a:t>
            </a:r>
            <a:endParaRPr lang="en-US" sz="1150" dirty="0"/>
          </a:p>
        </p:txBody>
      </p:sp>
      <p:sp>
        <p:nvSpPr>
          <p:cNvPr id="17" name="Text 15"/>
          <p:cNvSpPr/>
          <p:nvPr/>
        </p:nvSpPr>
        <p:spPr>
          <a:xfrm>
            <a:off x="8418576" y="2350008"/>
            <a:ext cx="3166872"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Measures exposure, not intent</a:t>
            </a:r>
            <a:endParaRPr lang="en-US" sz="950" dirty="0"/>
          </a:p>
        </p:txBody>
      </p:sp>
      <p:sp>
        <p:nvSpPr>
          <p:cNvPr id="18" name="Shape 16"/>
          <p:cNvSpPr/>
          <p:nvPr/>
        </p:nvSpPr>
        <p:spPr>
          <a:xfrm>
            <a:off x="530352" y="2798064"/>
            <a:ext cx="6720840" cy="3017520"/>
          </a:xfrm>
          <a:prstGeom prst="roundRect">
            <a:avLst>
              <a:gd name="adj" fmla="val 2727"/>
            </a:avLst>
          </a:prstGeom>
          <a:solidFill>
            <a:srgbClr val="F1F4F9"/>
          </a:solidFill>
          <a:ln/>
        </p:spPr>
      </p:sp>
      <p:sp>
        <p:nvSpPr>
          <p:cNvPr id="19" name="Text 17"/>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Three behaviour patterns</a:t>
            </a:r>
            <a:endParaRPr lang="en-US" sz="1400" dirty="0"/>
          </a:p>
        </p:txBody>
      </p:sp>
      <p:sp>
        <p:nvSpPr>
          <p:cNvPr id="20" name="Text 18"/>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Orange = balance within the promotional cap · teal = balance above the cap</a:t>
            </a:r>
            <a:endParaRPr lang="en-US" sz="950" dirty="0"/>
          </a:p>
        </p:txBody>
      </p:sp>
      <p:sp>
        <p:nvSpPr>
          <p:cNvPr id="21" name="Text 19"/>
          <p:cNvSpPr/>
          <p:nvPr/>
        </p:nvSpPr>
        <p:spPr>
          <a:xfrm>
            <a:off x="786384" y="3529584"/>
            <a:ext cx="1325880" cy="256032"/>
          </a:xfrm>
          <a:prstGeom prst="rect">
            <a:avLst/>
          </a:prstGeom>
          <a:noFill/>
          <a:ln/>
        </p:spPr>
        <p:txBody>
          <a:bodyPr wrap="square" lIns="0" tIns="0" rIns="0" bIns="0" rtlCol="0" anchor="ctr"/>
          <a:lstStyle/>
          <a:p>
            <a:pPr indent="0" marL="0">
              <a:buNone/>
            </a:pPr>
            <a:r>
              <a:rPr lang="en-US" sz="1150" b="1" dirty="0">
                <a:solidFill>
                  <a:srgbClr val="16233D"/>
                </a:solidFill>
                <a:latin typeface="Graphik TH" pitchFamily="34" charset="0"/>
                <a:ea typeface="Graphik TH" pitchFamily="34" charset="-122"/>
                <a:cs typeface="Graphik TH" pitchFamily="34" charset="-120"/>
              </a:rPr>
              <a:t>Cap optimizer</a:t>
            </a:r>
            <a:endParaRPr lang="en-US" sz="1150" dirty="0"/>
          </a:p>
        </p:txBody>
      </p:sp>
      <p:sp>
        <p:nvSpPr>
          <p:cNvPr id="22" name="Text 20"/>
          <p:cNvSpPr/>
          <p:nvPr/>
        </p:nvSpPr>
        <p:spPr>
          <a:xfrm>
            <a:off x="786384" y="3767328"/>
            <a:ext cx="2788920" cy="402336"/>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~20k in Save Max + ~1m in Save More</a:t>
            </a:r>
            <a:endParaRPr lang="en-US" sz="950" dirty="0"/>
          </a:p>
        </p:txBody>
      </p:sp>
      <p:sp>
        <p:nvSpPr>
          <p:cNvPr id="23" name="Shape 21"/>
          <p:cNvSpPr/>
          <p:nvPr/>
        </p:nvSpPr>
        <p:spPr>
          <a:xfrm>
            <a:off x="3703320" y="3584448"/>
            <a:ext cx="2148840" cy="237744"/>
          </a:xfrm>
          <a:prstGeom prst="roundRect">
            <a:avLst>
              <a:gd name="adj" fmla="val 15385"/>
            </a:avLst>
          </a:prstGeom>
          <a:solidFill>
            <a:srgbClr val="E9A03B"/>
          </a:solidFill>
          <a:ln/>
        </p:spPr>
      </p:sp>
      <p:sp>
        <p:nvSpPr>
          <p:cNvPr id="24" name="Shape 22"/>
          <p:cNvSpPr/>
          <p:nvPr/>
        </p:nvSpPr>
        <p:spPr>
          <a:xfrm>
            <a:off x="5989320" y="3547872"/>
            <a:ext cx="1005840" cy="310896"/>
          </a:xfrm>
          <a:prstGeom prst="roundRect">
            <a:avLst>
              <a:gd name="adj" fmla="val 26471"/>
            </a:avLst>
          </a:prstGeom>
          <a:solidFill>
            <a:srgbClr val="FFFFFF"/>
          </a:solidFill>
          <a:ln/>
        </p:spPr>
      </p:sp>
      <p:sp>
        <p:nvSpPr>
          <p:cNvPr id="25" name="Text 23"/>
          <p:cNvSpPr/>
          <p:nvPr/>
        </p:nvSpPr>
        <p:spPr>
          <a:xfrm>
            <a:off x="5989320" y="3547872"/>
            <a:ext cx="1005840" cy="310896"/>
          </a:xfrm>
          <a:prstGeom prst="rect">
            <a:avLst/>
          </a:prstGeom>
          <a:noFill/>
          <a:ln/>
        </p:spPr>
        <p:txBody>
          <a:bodyPr wrap="square" lIns="0" tIns="0" rIns="0" bIns="0" rtlCol="0" anchor="ctr"/>
          <a:lstStyle/>
          <a:p>
            <a:pPr algn="ctr" indent="0" marL="0">
              <a:buNone/>
            </a:pPr>
            <a:r>
              <a:rPr lang="en-US" sz="900" b="1" dirty="0">
                <a:solidFill>
                  <a:srgbClr val="C00000"/>
                </a:solidFill>
                <a:latin typeface="Graphik TH" pitchFamily="34" charset="0"/>
                <a:ea typeface="Graphik TH" pitchFamily="34" charset="-122"/>
                <a:cs typeface="Graphik TH" pitchFamily="34" charset="-120"/>
              </a:rPr>
              <a:t>VERY HIGH</a:t>
            </a:r>
            <a:endParaRPr lang="en-US" sz="900" dirty="0"/>
          </a:p>
        </p:txBody>
      </p:sp>
      <p:sp>
        <p:nvSpPr>
          <p:cNvPr id="26" name="Text 24"/>
          <p:cNvSpPr/>
          <p:nvPr/>
        </p:nvSpPr>
        <p:spPr>
          <a:xfrm>
            <a:off x="786384" y="4242816"/>
            <a:ext cx="1325880" cy="256032"/>
          </a:xfrm>
          <a:prstGeom prst="rect">
            <a:avLst/>
          </a:prstGeom>
          <a:noFill/>
          <a:ln/>
        </p:spPr>
        <p:txBody>
          <a:bodyPr wrap="square" lIns="0" tIns="0" rIns="0" bIns="0" rtlCol="0" anchor="ctr"/>
          <a:lstStyle/>
          <a:p>
            <a:pPr indent="0" marL="0">
              <a:buNone/>
            </a:pPr>
            <a:r>
              <a:rPr lang="en-US" sz="1150" b="1" dirty="0">
                <a:solidFill>
                  <a:srgbClr val="16233D"/>
                </a:solidFill>
                <a:latin typeface="Graphik TH" pitchFamily="34" charset="0"/>
                <a:ea typeface="Graphik TH" pitchFamily="34" charset="-122"/>
                <a:cs typeface="Graphik TH" pitchFamily="34" charset="-120"/>
              </a:rPr>
              <a:t>Mixed saver</a:t>
            </a:r>
            <a:endParaRPr lang="en-US" sz="1150" dirty="0"/>
          </a:p>
        </p:txBody>
      </p:sp>
      <p:sp>
        <p:nvSpPr>
          <p:cNvPr id="27" name="Text 25"/>
          <p:cNvSpPr/>
          <p:nvPr/>
        </p:nvSpPr>
        <p:spPr>
          <a:xfrm>
            <a:off x="786384" y="4480560"/>
            <a:ext cx="2788920" cy="402336"/>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Uses promo pockets but also holds balance above cap</a:t>
            </a:r>
            <a:endParaRPr lang="en-US" sz="950" dirty="0"/>
          </a:p>
        </p:txBody>
      </p:sp>
      <p:sp>
        <p:nvSpPr>
          <p:cNvPr id="28" name="Shape 26"/>
          <p:cNvSpPr/>
          <p:nvPr/>
        </p:nvSpPr>
        <p:spPr>
          <a:xfrm>
            <a:off x="3703320" y="4297680"/>
            <a:ext cx="1332281" cy="237744"/>
          </a:xfrm>
          <a:prstGeom prst="roundRect">
            <a:avLst>
              <a:gd name="adj" fmla="val 15385"/>
            </a:avLst>
          </a:prstGeom>
          <a:solidFill>
            <a:srgbClr val="E9A03B"/>
          </a:solidFill>
          <a:ln/>
        </p:spPr>
      </p:sp>
      <p:sp>
        <p:nvSpPr>
          <p:cNvPr id="29" name="Shape 27"/>
          <p:cNvSpPr/>
          <p:nvPr/>
        </p:nvSpPr>
        <p:spPr>
          <a:xfrm>
            <a:off x="5035601" y="4297680"/>
            <a:ext cx="816559" cy="237744"/>
          </a:xfrm>
          <a:prstGeom prst="roundRect">
            <a:avLst>
              <a:gd name="adj" fmla="val 15385"/>
            </a:avLst>
          </a:prstGeom>
          <a:solidFill>
            <a:srgbClr val="1E8E86"/>
          </a:solidFill>
          <a:ln/>
        </p:spPr>
      </p:sp>
      <p:sp>
        <p:nvSpPr>
          <p:cNvPr id="30" name="Shape 28"/>
          <p:cNvSpPr/>
          <p:nvPr/>
        </p:nvSpPr>
        <p:spPr>
          <a:xfrm>
            <a:off x="5989320" y="4261104"/>
            <a:ext cx="1005840" cy="310896"/>
          </a:xfrm>
          <a:prstGeom prst="roundRect">
            <a:avLst>
              <a:gd name="adj" fmla="val 26471"/>
            </a:avLst>
          </a:prstGeom>
          <a:solidFill>
            <a:srgbClr val="FFFFFF"/>
          </a:solidFill>
          <a:ln/>
        </p:spPr>
      </p:sp>
      <p:sp>
        <p:nvSpPr>
          <p:cNvPr id="31" name="Text 29"/>
          <p:cNvSpPr/>
          <p:nvPr/>
        </p:nvSpPr>
        <p:spPr>
          <a:xfrm>
            <a:off x="5989320" y="4261104"/>
            <a:ext cx="1005840" cy="310896"/>
          </a:xfrm>
          <a:prstGeom prst="rect">
            <a:avLst/>
          </a:prstGeom>
          <a:noFill/>
          <a:ln/>
        </p:spPr>
        <p:txBody>
          <a:bodyPr wrap="square" lIns="0" tIns="0" rIns="0" bIns="0" rtlCol="0" anchor="ctr"/>
          <a:lstStyle/>
          <a:p>
            <a:pPr algn="ctr" indent="0" marL="0">
              <a:buNone/>
            </a:pPr>
            <a:r>
              <a:rPr lang="en-US" sz="900" b="1" dirty="0">
                <a:solidFill>
                  <a:srgbClr val="E9A03B"/>
                </a:solidFill>
                <a:latin typeface="Graphik TH" pitchFamily="34" charset="0"/>
                <a:ea typeface="Graphik TH" pitchFamily="34" charset="-122"/>
                <a:cs typeface="Graphik TH" pitchFamily="34" charset="-120"/>
              </a:rPr>
              <a:t>MEDIUM</a:t>
            </a:r>
            <a:endParaRPr lang="en-US" sz="900" dirty="0"/>
          </a:p>
        </p:txBody>
      </p:sp>
      <p:sp>
        <p:nvSpPr>
          <p:cNvPr id="32" name="Text 30"/>
          <p:cNvSpPr/>
          <p:nvPr/>
        </p:nvSpPr>
        <p:spPr>
          <a:xfrm>
            <a:off x="786384" y="4956048"/>
            <a:ext cx="1325880" cy="256032"/>
          </a:xfrm>
          <a:prstGeom prst="rect">
            <a:avLst/>
          </a:prstGeom>
          <a:noFill/>
          <a:ln/>
        </p:spPr>
        <p:txBody>
          <a:bodyPr wrap="square" lIns="0" tIns="0" rIns="0" bIns="0" rtlCol="0" anchor="ctr"/>
          <a:lstStyle/>
          <a:p>
            <a:pPr indent="0" marL="0">
              <a:buNone/>
            </a:pPr>
            <a:r>
              <a:rPr lang="en-US" sz="1150" b="1" dirty="0">
                <a:solidFill>
                  <a:srgbClr val="16233D"/>
                </a:solidFill>
                <a:latin typeface="Graphik TH" pitchFamily="34" charset="0"/>
                <a:ea typeface="Graphik TH" pitchFamily="34" charset="-122"/>
                <a:cs typeface="Graphik TH" pitchFamily="34" charset="-120"/>
              </a:rPr>
              <a:t>Core depositor</a:t>
            </a:r>
            <a:endParaRPr lang="en-US" sz="1150" dirty="0"/>
          </a:p>
        </p:txBody>
      </p:sp>
      <p:sp>
        <p:nvSpPr>
          <p:cNvPr id="33" name="Text 31"/>
          <p:cNvSpPr/>
          <p:nvPr/>
        </p:nvSpPr>
        <p:spPr>
          <a:xfrm>
            <a:off x="786384" y="5193792"/>
            <a:ext cx="2788920" cy="402336"/>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Material balance above cap or in Main Pocket</a:t>
            </a:r>
            <a:endParaRPr lang="en-US" sz="950" dirty="0"/>
          </a:p>
        </p:txBody>
      </p:sp>
      <p:sp>
        <p:nvSpPr>
          <p:cNvPr id="34" name="Shape 32"/>
          <p:cNvSpPr/>
          <p:nvPr/>
        </p:nvSpPr>
        <p:spPr>
          <a:xfrm>
            <a:off x="3703320" y="5010912"/>
            <a:ext cx="730606" cy="237744"/>
          </a:xfrm>
          <a:prstGeom prst="roundRect">
            <a:avLst>
              <a:gd name="adj" fmla="val 15385"/>
            </a:avLst>
          </a:prstGeom>
          <a:solidFill>
            <a:srgbClr val="E9A03B"/>
          </a:solidFill>
          <a:ln/>
        </p:spPr>
      </p:sp>
      <p:sp>
        <p:nvSpPr>
          <p:cNvPr id="35" name="Shape 33"/>
          <p:cNvSpPr/>
          <p:nvPr/>
        </p:nvSpPr>
        <p:spPr>
          <a:xfrm>
            <a:off x="4433926" y="5010912"/>
            <a:ext cx="1418234" cy="237744"/>
          </a:xfrm>
          <a:prstGeom prst="roundRect">
            <a:avLst>
              <a:gd name="adj" fmla="val 15385"/>
            </a:avLst>
          </a:prstGeom>
          <a:solidFill>
            <a:srgbClr val="1E8E86"/>
          </a:solidFill>
          <a:ln/>
        </p:spPr>
      </p:sp>
      <p:sp>
        <p:nvSpPr>
          <p:cNvPr id="36" name="Shape 34"/>
          <p:cNvSpPr/>
          <p:nvPr/>
        </p:nvSpPr>
        <p:spPr>
          <a:xfrm>
            <a:off x="5989320" y="4974336"/>
            <a:ext cx="1005840" cy="310896"/>
          </a:xfrm>
          <a:prstGeom prst="roundRect">
            <a:avLst>
              <a:gd name="adj" fmla="val 26471"/>
            </a:avLst>
          </a:prstGeom>
          <a:solidFill>
            <a:srgbClr val="FFFFFF"/>
          </a:solidFill>
          <a:ln/>
        </p:spPr>
      </p:sp>
      <p:sp>
        <p:nvSpPr>
          <p:cNvPr id="37" name="Text 35"/>
          <p:cNvSpPr/>
          <p:nvPr/>
        </p:nvSpPr>
        <p:spPr>
          <a:xfrm>
            <a:off x="5989320" y="4974336"/>
            <a:ext cx="1005840" cy="310896"/>
          </a:xfrm>
          <a:prstGeom prst="rect">
            <a:avLst/>
          </a:prstGeom>
          <a:noFill/>
          <a:ln/>
        </p:spPr>
        <p:txBody>
          <a:bodyPr wrap="square" lIns="0" tIns="0" rIns="0" bIns="0" rtlCol="0" anchor="ctr"/>
          <a:lstStyle/>
          <a:p>
            <a:pPr algn="ctr" indent="0" marL="0">
              <a:buNone/>
            </a:pPr>
            <a:r>
              <a:rPr lang="en-US" sz="900" b="1" dirty="0">
                <a:solidFill>
                  <a:srgbClr val="1E8E86"/>
                </a:solidFill>
                <a:latin typeface="Graphik TH" pitchFamily="34" charset="0"/>
                <a:ea typeface="Graphik TH" pitchFamily="34" charset="-122"/>
                <a:cs typeface="Graphik TH" pitchFamily="34" charset="-120"/>
              </a:rPr>
              <a:t>LOW</a:t>
            </a:r>
            <a:endParaRPr lang="en-US" sz="900" dirty="0"/>
          </a:p>
        </p:txBody>
      </p:sp>
      <p:sp>
        <p:nvSpPr>
          <p:cNvPr id="38" name="Text 36"/>
          <p:cNvSpPr/>
          <p:nvPr/>
        </p:nvSpPr>
        <p:spPr>
          <a:xfrm>
            <a:off x="786384" y="5504688"/>
            <a:ext cx="6217920" cy="256032"/>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Cap precision = near-cap promo products ÷ active promo products, where near-cap is within ±5% of the cap.</a:t>
            </a:r>
            <a:endParaRPr lang="en-US" sz="900" dirty="0"/>
          </a:p>
        </p:txBody>
      </p:sp>
      <p:sp>
        <p:nvSpPr>
          <p:cNvPr id="39" name="Shape 37"/>
          <p:cNvSpPr/>
          <p:nvPr/>
        </p:nvSpPr>
        <p:spPr>
          <a:xfrm>
            <a:off x="7479792" y="2798064"/>
            <a:ext cx="4325112" cy="3017520"/>
          </a:xfrm>
          <a:prstGeom prst="roundRect">
            <a:avLst>
              <a:gd name="adj" fmla="val 2727"/>
            </a:avLst>
          </a:prstGeom>
          <a:solidFill>
            <a:srgbClr val="F1F4F9"/>
          </a:solidFill>
          <a:ln/>
        </p:spPr>
      </p:sp>
      <p:sp>
        <p:nvSpPr>
          <p:cNvPr id="40" name="Text 38"/>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Decision view</a:t>
            </a:r>
            <a:endParaRPr lang="en-US" sz="1400" dirty="0"/>
          </a:p>
        </p:txBody>
      </p:sp>
      <p:sp>
        <p:nvSpPr>
          <p:cNvPr id="41" name="Text 39"/>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Stickiness against rate sensitivity</a:t>
            </a:r>
            <a:endParaRPr lang="en-US" sz="950" dirty="0"/>
          </a:p>
        </p:txBody>
      </p:sp>
      <p:sp>
        <p:nvSpPr>
          <p:cNvPr id="42" name="Shape 40"/>
          <p:cNvSpPr/>
          <p:nvPr/>
        </p:nvSpPr>
        <p:spPr>
          <a:xfrm>
            <a:off x="8522208" y="3493008"/>
            <a:ext cx="1481328" cy="822960"/>
          </a:xfrm>
          <a:prstGeom prst="roundRect">
            <a:avLst>
              <a:gd name="adj" fmla="val 10000"/>
            </a:avLst>
          </a:prstGeom>
          <a:solidFill>
            <a:srgbClr val="E8F6F3"/>
          </a:solidFill>
          <a:ln/>
        </p:spPr>
      </p:sp>
      <p:sp>
        <p:nvSpPr>
          <p:cNvPr id="43" name="Text 41"/>
          <p:cNvSpPr/>
          <p:nvPr/>
        </p:nvSpPr>
        <p:spPr>
          <a:xfrm>
            <a:off x="8522208" y="3602736"/>
            <a:ext cx="1481328" cy="256032"/>
          </a:xfrm>
          <a:prstGeom prst="rect">
            <a:avLst/>
          </a:prstGeom>
          <a:noFill/>
          <a:ln/>
        </p:spPr>
        <p:txBody>
          <a:bodyPr wrap="square" lIns="0" tIns="0" rIns="0" bIns="0" rtlCol="0" anchor="ctr"/>
          <a:lstStyle/>
          <a:p>
            <a:pPr algn="ctr" indent="0" marL="0">
              <a:buNone/>
            </a:pPr>
            <a:r>
              <a:rPr lang="en-US" sz="1100" b="1" dirty="0">
                <a:solidFill>
                  <a:srgbClr val="045D66"/>
                </a:solidFill>
                <a:latin typeface="Graphik TH" pitchFamily="34" charset="0"/>
                <a:ea typeface="Graphik TH" pitchFamily="34" charset="-122"/>
                <a:cs typeface="Graphik TH" pitchFamily="34" charset="-120"/>
              </a:rPr>
              <a:t>Core sticky</a:t>
            </a:r>
            <a:endParaRPr lang="en-US" sz="1100" dirty="0"/>
          </a:p>
        </p:txBody>
      </p:sp>
      <p:sp>
        <p:nvSpPr>
          <p:cNvPr id="44" name="Text 42"/>
          <p:cNvSpPr/>
          <p:nvPr/>
        </p:nvSpPr>
        <p:spPr>
          <a:xfrm>
            <a:off x="8522208" y="3877056"/>
            <a:ext cx="1481328" cy="237744"/>
          </a:xfrm>
          <a:prstGeom prst="rect">
            <a:avLst/>
          </a:prstGeom>
          <a:noFill/>
          <a:ln/>
        </p:spPr>
        <p:txBody>
          <a:bodyPr wrap="square" lIns="0" tIns="0" rIns="0" bIns="0" rtlCol="0" anchor="ctr"/>
          <a:lstStyle/>
          <a:p>
            <a:pPr algn="ctr" indent="0" marL="0">
              <a:buNone/>
            </a:pPr>
            <a:r>
              <a:rPr lang="en-US" sz="950" dirty="0">
                <a:solidFill>
                  <a:srgbClr val="6B7A90"/>
                </a:solidFill>
                <a:latin typeface="Graphik TH" pitchFamily="34" charset="0"/>
                <a:ea typeface="Graphik TH" pitchFamily="34" charset="-122"/>
                <a:cs typeface="Graphik TH" pitchFamily="34" charset="-120"/>
              </a:rPr>
              <a:t>Protect &amp; grow</a:t>
            </a:r>
            <a:endParaRPr lang="en-US" sz="950" dirty="0"/>
          </a:p>
        </p:txBody>
      </p:sp>
      <p:sp>
        <p:nvSpPr>
          <p:cNvPr id="45" name="Shape 43"/>
          <p:cNvSpPr/>
          <p:nvPr/>
        </p:nvSpPr>
        <p:spPr>
          <a:xfrm>
            <a:off x="10094976" y="3493008"/>
            <a:ext cx="1481328" cy="822960"/>
          </a:xfrm>
          <a:prstGeom prst="roundRect">
            <a:avLst>
              <a:gd name="adj" fmla="val 10000"/>
            </a:avLst>
          </a:prstGeom>
          <a:solidFill>
            <a:srgbClr val="FBF0E6"/>
          </a:solidFill>
          <a:ln/>
        </p:spPr>
      </p:sp>
      <p:sp>
        <p:nvSpPr>
          <p:cNvPr id="46" name="Text 44"/>
          <p:cNvSpPr/>
          <p:nvPr/>
        </p:nvSpPr>
        <p:spPr>
          <a:xfrm>
            <a:off x="10094976" y="3602736"/>
            <a:ext cx="1481328" cy="256032"/>
          </a:xfrm>
          <a:prstGeom prst="rect">
            <a:avLst/>
          </a:prstGeom>
          <a:noFill/>
          <a:ln/>
        </p:spPr>
        <p:txBody>
          <a:bodyPr wrap="square" lIns="0" tIns="0" rIns="0" bIns="0" rtlCol="0" anchor="ctr"/>
          <a:lstStyle/>
          <a:p>
            <a:pPr algn="ctr" indent="0" marL="0">
              <a:buNone/>
            </a:pPr>
            <a:r>
              <a:rPr lang="en-US" sz="1100" b="1" dirty="0">
                <a:solidFill>
                  <a:srgbClr val="E9A03B"/>
                </a:solidFill>
                <a:latin typeface="Graphik TH" pitchFamily="34" charset="0"/>
                <a:ea typeface="Graphik TH" pitchFamily="34" charset="-122"/>
                <a:cs typeface="Graphik TH" pitchFamily="34" charset="-120"/>
              </a:rPr>
              <a:t>Sticky today</a:t>
            </a:r>
            <a:endParaRPr lang="en-US" sz="1100" dirty="0"/>
          </a:p>
        </p:txBody>
      </p:sp>
      <p:sp>
        <p:nvSpPr>
          <p:cNvPr id="47" name="Text 45"/>
          <p:cNvSpPr/>
          <p:nvPr/>
        </p:nvSpPr>
        <p:spPr>
          <a:xfrm>
            <a:off x="10094976" y="3877056"/>
            <a:ext cx="1481328" cy="237744"/>
          </a:xfrm>
          <a:prstGeom prst="rect">
            <a:avLst/>
          </a:prstGeom>
          <a:noFill/>
          <a:ln/>
        </p:spPr>
        <p:txBody>
          <a:bodyPr wrap="square" lIns="0" tIns="0" rIns="0" bIns="0" rtlCol="0" anchor="ctr"/>
          <a:lstStyle/>
          <a:p>
            <a:pPr algn="ctr" indent="0" marL="0">
              <a:buNone/>
            </a:pPr>
            <a:r>
              <a:rPr lang="en-US" sz="950" dirty="0">
                <a:solidFill>
                  <a:srgbClr val="6B7A90"/>
                </a:solidFill>
                <a:latin typeface="Graphik TH" pitchFamily="34" charset="0"/>
                <a:ea typeface="Graphik TH" pitchFamily="34" charset="-122"/>
                <a:cs typeface="Graphik TH" pitchFamily="34" charset="-120"/>
              </a:rPr>
              <a:t>Maturity risk</a:t>
            </a:r>
            <a:endParaRPr lang="en-US" sz="950" dirty="0"/>
          </a:p>
        </p:txBody>
      </p:sp>
      <p:sp>
        <p:nvSpPr>
          <p:cNvPr id="48" name="Shape 46"/>
          <p:cNvSpPr/>
          <p:nvPr/>
        </p:nvSpPr>
        <p:spPr>
          <a:xfrm>
            <a:off x="8522208" y="4425696"/>
            <a:ext cx="1481328" cy="822960"/>
          </a:xfrm>
          <a:prstGeom prst="roundRect">
            <a:avLst>
              <a:gd name="adj" fmla="val 10000"/>
            </a:avLst>
          </a:prstGeom>
          <a:solidFill>
            <a:srgbClr val="FFFFFF"/>
          </a:solidFill>
          <a:ln/>
        </p:spPr>
      </p:sp>
      <p:sp>
        <p:nvSpPr>
          <p:cNvPr id="49" name="Text 47"/>
          <p:cNvSpPr/>
          <p:nvPr/>
        </p:nvSpPr>
        <p:spPr>
          <a:xfrm>
            <a:off x="8522208" y="4535424"/>
            <a:ext cx="1481328" cy="256032"/>
          </a:xfrm>
          <a:prstGeom prst="rect">
            <a:avLst/>
          </a:prstGeom>
          <a:noFill/>
          <a:ln/>
        </p:spPr>
        <p:txBody>
          <a:bodyPr wrap="square" lIns="0" tIns="0" rIns="0" bIns="0" rtlCol="0" anchor="ctr"/>
          <a:lstStyle/>
          <a:p>
            <a:pPr algn="ctr" indent="0" marL="0">
              <a:buNone/>
            </a:pPr>
            <a:r>
              <a:rPr lang="en-US" sz="1100" b="1" dirty="0">
                <a:solidFill>
                  <a:srgbClr val="6B7A90"/>
                </a:solidFill>
                <a:latin typeface="Graphik TH" pitchFamily="34" charset="0"/>
                <a:ea typeface="Graphik TH" pitchFamily="34" charset="-122"/>
                <a:cs typeface="Graphik TH" pitchFamily="34" charset="-120"/>
              </a:rPr>
              <a:t>Weak relation</a:t>
            </a:r>
            <a:endParaRPr lang="en-US" sz="1100" dirty="0"/>
          </a:p>
        </p:txBody>
      </p:sp>
      <p:sp>
        <p:nvSpPr>
          <p:cNvPr id="50" name="Text 48"/>
          <p:cNvSpPr/>
          <p:nvPr/>
        </p:nvSpPr>
        <p:spPr>
          <a:xfrm>
            <a:off x="8522208" y="4809744"/>
            <a:ext cx="1481328" cy="237744"/>
          </a:xfrm>
          <a:prstGeom prst="rect">
            <a:avLst/>
          </a:prstGeom>
          <a:noFill/>
          <a:ln/>
        </p:spPr>
        <p:txBody>
          <a:bodyPr wrap="square" lIns="0" tIns="0" rIns="0" bIns="0" rtlCol="0" anchor="ctr"/>
          <a:lstStyle/>
          <a:p>
            <a:pPr algn="ctr" indent="0" marL="0">
              <a:buNone/>
            </a:pPr>
            <a:r>
              <a:rPr lang="en-US" sz="950" dirty="0">
                <a:solidFill>
                  <a:srgbClr val="6B7A90"/>
                </a:solidFill>
                <a:latin typeface="Graphik TH" pitchFamily="34" charset="0"/>
                <a:ea typeface="Graphik TH" pitchFamily="34" charset="-122"/>
                <a:cs typeface="Graphik TH" pitchFamily="34" charset="-120"/>
              </a:rPr>
              <a:t>Build usage</a:t>
            </a:r>
            <a:endParaRPr lang="en-US" sz="950" dirty="0"/>
          </a:p>
        </p:txBody>
      </p:sp>
      <p:sp>
        <p:nvSpPr>
          <p:cNvPr id="51" name="Shape 49"/>
          <p:cNvSpPr/>
          <p:nvPr/>
        </p:nvSpPr>
        <p:spPr>
          <a:xfrm>
            <a:off x="10094976" y="4425696"/>
            <a:ext cx="1481328" cy="822960"/>
          </a:xfrm>
          <a:prstGeom prst="roundRect">
            <a:avLst>
              <a:gd name="adj" fmla="val 10000"/>
            </a:avLst>
          </a:prstGeom>
          <a:solidFill>
            <a:srgbClr val="FBF0E6"/>
          </a:solidFill>
          <a:ln/>
        </p:spPr>
      </p:sp>
      <p:sp>
        <p:nvSpPr>
          <p:cNvPr id="52" name="Text 50"/>
          <p:cNvSpPr/>
          <p:nvPr/>
        </p:nvSpPr>
        <p:spPr>
          <a:xfrm>
            <a:off x="10094976" y="4535424"/>
            <a:ext cx="1481328" cy="256032"/>
          </a:xfrm>
          <a:prstGeom prst="rect">
            <a:avLst/>
          </a:prstGeom>
          <a:noFill/>
          <a:ln/>
        </p:spPr>
        <p:txBody>
          <a:bodyPr wrap="square" lIns="0" tIns="0" rIns="0" bIns="0" rtlCol="0" anchor="ctr"/>
          <a:lstStyle/>
          <a:p>
            <a:pPr algn="ctr" indent="0" marL="0">
              <a:buNone/>
            </a:pPr>
            <a:r>
              <a:rPr lang="en-US" sz="1100" b="1" dirty="0">
                <a:solidFill>
                  <a:srgbClr val="C00000"/>
                </a:solidFill>
                <a:latin typeface="Graphik TH" pitchFamily="34" charset="0"/>
                <a:ea typeface="Graphik TH" pitchFamily="34" charset="-122"/>
                <a:cs typeface="Graphik TH" pitchFamily="34" charset="-120"/>
              </a:rPr>
              <a:t>Rate driven</a:t>
            </a:r>
            <a:endParaRPr lang="en-US" sz="1100" dirty="0"/>
          </a:p>
        </p:txBody>
      </p:sp>
      <p:sp>
        <p:nvSpPr>
          <p:cNvPr id="53" name="Text 51"/>
          <p:cNvSpPr/>
          <p:nvPr/>
        </p:nvSpPr>
        <p:spPr>
          <a:xfrm>
            <a:off x="10094976" y="4809744"/>
            <a:ext cx="1481328" cy="237744"/>
          </a:xfrm>
          <a:prstGeom prst="rect">
            <a:avLst/>
          </a:prstGeom>
          <a:noFill/>
          <a:ln/>
        </p:spPr>
        <p:txBody>
          <a:bodyPr wrap="square" lIns="0" tIns="0" rIns="0" bIns="0" rtlCol="0" anchor="ctr"/>
          <a:lstStyle/>
          <a:p>
            <a:pPr algn="ctr" indent="0" marL="0">
              <a:buNone/>
            </a:pPr>
            <a:r>
              <a:rPr lang="en-US" sz="950" dirty="0">
                <a:solidFill>
                  <a:srgbClr val="6B7A90"/>
                </a:solidFill>
                <a:latin typeface="Graphik TH" pitchFamily="34" charset="0"/>
                <a:ea typeface="Graphik TH" pitchFamily="34" charset="-122"/>
                <a:cs typeface="Graphik TH" pitchFamily="34" charset="-120"/>
              </a:rPr>
              <a:t>Runoff risk</a:t>
            </a:r>
            <a:endParaRPr lang="en-US" sz="950" dirty="0"/>
          </a:p>
        </p:txBody>
      </p:sp>
      <p:sp>
        <p:nvSpPr>
          <p:cNvPr id="54" name="Text 52"/>
          <p:cNvSpPr/>
          <p:nvPr/>
        </p:nvSpPr>
        <p:spPr>
          <a:xfrm>
            <a:off x="7699248" y="3493008"/>
            <a:ext cx="777240" cy="822960"/>
          </a:xfrm>
          <a:prstGeom prst="rect">
            <a:avLst/>
          </a:prstGeom>
          <a:noFill/>
          <a:ln/>
        </p:spPr>
        <p:txBody>
          <a:bodyPr wrap="square" lIns="0" tIns="0" rIns="0" bIns="0" rtlCol="0" anchor="ctr"/>
          <a:lstStyle/>
          <a:p>
            <a:pPr algn="ctr" indent="0" marL="0">
              <a:buNone/>
            </a:pPr>
            <a:r>
              <a:rPr lang="en-US" sz="900" b="1" dirty="0">
                <a:solidFill>
                  <a:srgbClr val="6B7A90"/>
                </a:solidFill>
                <a:latin typeface="Graphik TH" pitchFamily="34" charset="0"/>
                <a:ea typeface="Graphik TH" pitchFamily="34" charset="-122"/>
                <a:cs typeface="Graphik TH" pitchFamily="34" charset="-120"/>
              </a:rPr>
              <a:t>HIGH</a:t>
            </a:r>
            <a:endParaRPr lang="en-US" sz="900" dirty="0"/>
          </a:p>
          <a:p>
            <a:pPr algn="ctr" indent="0" marL="0">
              <a:buNone/>
            </a:pPr>
            <a:r>
              <a:rPr lang="en-US" sz="900" b="1" dirty="0">
                <a:solidFill>
                  <a:srgbClr val="6B7A90"/>
                </a:solidFill>
                <a:latin typeface="Graphik TH" pitchFamily="34" charset="0"/>
                <a:ea typeface="Graphik TH" pitchFamily="34" charset="-122"/>
                <a:cs typeface="Graphik TH" pitchFamily="34" charset="-120"/>
              </a:rPr>
              <a:t>stickiness</a:t>
            </a:r>
            <a:endParaRPr lang="en-US" sz="900" dirty="0"/>
          </a:p>
        </p:txBody>
      </p:sp>
      <p:sp>
        <p:nvSpPr>
          <p:cNvPr id="55" name="Text 53"/>
          <p:cNvSpPr/>
          <p:nvPr/>
        </p:nvSpPr>
        <p:spPr>
          <a:xfrm>
            <a:off x="7699248" y="4425696"/>
            <a:ext cx="777240" cy="822960"/>
          </a:xfrm>
          <a:prstGeom prst="rect">
            <a:avLst/>
          </a:prstGeom>
          <a:noFill/>
          <a:ln/>
        </p:spPr>
        <p:txBody>
          <a:bodyPr wrap="square" lIns="0" tIns="0" rIns="0" bIns="0" rtlCol="0" anchor="ctr"/>
          <a:lstStyle/>
          <a:p>
            <a:pPr algn="ctr" indent="0" marL="0">
              <a:buNone/>
            </a:pPr>
            <a:r>
              <a:rPr lang="en-US" sz="900" b="1" dirty="0">
                <a:solidFill>
                  <a:srgbClr val="6B7A90"/>
                </a:solidFill>
                <a:latin typeface="Graphik TH" pitchFamily="34" charset="0"/>
                <a:ea typeface="Graphik TH" pitchFamily="34" charset="-122"/>
                <a:cs typeface="Graphik TH" pitchFamily="34" charset="-120"/>
              </a:rPr>
              <a:t>LOW</a:t>
            </a:r>
            <a:endParaRPr lang="en-US" sz="900" dirty="0"/>
          </a:p>
          <a:p>
            <a:pPr algn="ctr" indent="0" marL="0">
              <a:buNone/>
            </a:pPr>
            <a:r>
              <a:rPr lang="en-US" sz="900" b="1" dirty="0">
                <a:solidFill>
                  <a:srgbClr val="6B7A90"/>
                </a:solidFill>
                <a:latin typeface="Graphik TH" pitchFamily="34" charset="0"/>
                <a:ea typeface="Graphik TH" pitchFamily="34" charset="-122"/>
                <a:cs typeface="Graphik TH" pitchFamily="34" charset="-120"/>
              </a:rPr>
              <a:t>stickiness</a:t>
            </a:r>
            <a:endParaRPr lang="en-US" sz="900" dirty="0"/>
          </a:p>
        </p:txBody>
      </p:sp>
      <p:sp>
        <p:nvSpPr>
          <p:cNvPr id="56" name="Text 54"/>
          <p:cNvSpPr/>
          <p:nvPr/>
        </p:nvSpPr>
        <p:spPr>
          <a:xfrm>
            <a:off x="8522208" y="5303520"/>
            <a:ext cx="1481328" cy="219456"/>
          </a:xfrm>
          <a:prstGeom prst="rect">
            <a:avLst/>
          </a:prstGeom>
          <a:noFill/>
          <a:ln/>
        </p:spPr>
        <p:txBody>
          <a:bodyPr wrap="square" lIns="0" tIns="0" rIns="0" bIns="0" rtlCol="0" anchor="ctr"/>
          <a:lstStyle/>
          <a:p>
            <a:pPr algn="ctr" indent="0" marL="0">
              <a:buNone/>
            </a:pPr>
            <a:r>
              <a:rPr lang="en-US" sz="850" dirty="0">
                <a:solidFill>
                  <a:srgbClr val="6B7A90"/>
                </a:solidFill>
                <a:latin typeface="Graphik TH" pitchFamily="34" charset="0"/>
                <a:ea typeface="Graphik TH" pitchFamily="34" charset="-122"/>
                <a:cs typeface="Graphik TH" pitchFamily="34" charset="-120"/>
              </a:rPr>
              <a:t>Low sensitivity (&lt;60)</a:t>
            </a:r>
            <a:endParaRPr lang="en-US" sz="850" dirty="0"/>
          </a:p>
        </p:txBody>
      </p:sp>
      <p:sp>
        <p:nvSpPr>
          <p:cNvPr id="57" name="Text 55"/>
          <p:cNvSpPr/>
          <p:nvPr/>
        </p:nvSpPr>
        <p:spPr>
          <a:xfrm>
            <a:off x="10094976" y="5303520"/>
            <a:ext cx="1481328" cy="219456"/>
          </a:xfrm>
          <a:prstGeom prst="rect">
            <a:avLst/>
          </a:prstGeom>
          <a:noFill/>
          <a:ln/>
        </p:spPr>
        <p:txBody>
          <a:bodyPr wrap="square" lIns="0" tIns="0" rIns="0" bIns="0" rtlCol="0" anchor="ctr"/>
          <a:lstStyle/>
          <a:p>
            <a:pPr algn="ctr" indent="0" marL="0">
              <a:buNone/>
            </a:pPr>
            <a:r>
              <a:rPr lang="en-US" sz="850" dirty="0">
                <a:solidFill>
                  <a:srgbClr val="6B7A90"/>
                </a:solidFill>
                <a:latin typeface="Graphik TH" pitchFamily="34" charset="0"/>
                <a:ea typeface="Graphik TH" pitchFamily="34" charset="-122"/>
                <a:cs typeface="Graphik TH" pitchFamily="34" charset="-120"/>
              </a:rPr>
              <a:t>High sensitivity (≥60)</a:t>
            </a:r>
            <a:endParaRPr lang="en-US" sz="850" dirty="0"/>
          </a:p>
        </p:txBody>
      </p:sp>
      <p:sp>
        <p:nvSpPr>
          <p:cNvPr id="58" name="Text 56"/>
          <p:cNvSpPr/>
          <p:nvPr/>
        </p:nvSpPr>
        <p:spPr>
          <a:xfrm>
            <a:off x="7735824" y="5504688"/>
            <a:ext cx="3813048" cy="256032"/>
          </a:xfrm>
          <a:prstGeom prst="rect">
            <a:avLst/>
          </a:prstGeom>
          <a:noFill/>
          <a:ln/>
        </p:spPr>
        <p:txBody>
          <a:bodyPr wrap="square" lIns="0" tIns="0" rIns="0" bIns="0" rtlCol="0" anchor="ctr"/>
          <a:lstStyle/>
          <a:p>
            <a:pPr indent="0" marL="0">
              <a:buNone/>
            </a:pPr>
            <a:r>
              <a:rPr lang="en-US" sz="850" i="1" dirty="0">
                <a:solidFill>
                  <a:srgbClr val="6B6B6B"/>
                </a:solidFill>
                <a:latin typeface="Graphik TH" pitchFamily="34" charset="0"/>
                <a:ea typeface="Graphik TH" pitchFamily="34" charset="-122"/>
                <a:cs typeface="Graphik TH" pitchFamily="34" charset="-120"/>
              </a:rPr>
              <a:t>Initial cut-offs are heuristic; maturity will recalibrate them.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Rate-sensitive balances sit in the promotional pockets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*Balance at risk = customers scoring High or Very High rate sensitivity (≥60) · pre-maturity view.</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Save Max at risk THB 478m   ·   Save More at risk THB 3.27bn   ·   Highest-runoff subset THB 6m + THB 92m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Almost all rate-sensitive balance sits with customers who look sticky today — which is why maturity is the real test.</a:t>
            </a:r>
            <a:endParaRPr lang="en-US" sz="1400" dirty="0"/>
          </a:p>
        </p:txBody>
      </p:sp>
      <p:sp>
        <p:nvSpPr>
          <p:cNvPr id="6" name="Shape 4"/>
          <p:cNvSpPr/>
          <p:nvPr/>
        </p:nvSpPr>
        <p:spPr>
          <a:xfrm>
            <a:off x="530352" y="1645920"/>
            <a:ext cx="5522976" cy="1810512"/>
          </a:xfrm>
          <a:prstGeom prst="roundRect">
            <a:avLst>
              <a:gd name="adj" fmla="val 4545"/>
            </a:avLst>
          </a:prstGeom>
          <a:solidFill>
            <a:srgbClr val="F1F4F9"/>
          </a:solidFill>
          <a:ln/>
        </p:spPr>
      </p:sp>
      <p:sp>
        <p:nvSpPr>
          <p:cNvPr id="7" name="Text 5"/>
          <p:cNvSpPr/>
          <p:nvPr/>
        </p:nvSpPr>
        <p:spPr>
          <a:xfrm>
            <a:off x="786384" y="1792224"/>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Save Max 4% — maturity exposure</a:t>
            </a:r>
            <a:endParaRPr lang="en-US" sz="1400" dirty="0"/>
          </a:p>
        </p:txBody>
      </p:sp>
      <p:sp>
        <p:nvSpPr>
          <p:cNvPr id="8" name="Text 6"/>
          <p:cNvSpPr/>
          <p:nvPr/>
        </p:nvSpPr>
        <p:spPr>
          <a:xfrm>
            <a:off x="786384" y="2066544"/>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Total balance THB 685m</a:t>
            </a:r>
            <a:endParaRPr lang="en-US" sz="950" dirty="0"/>
          </a:p>
        </p:txBody>
      </p:sp>
      <p:sp>
        <p:nvSpPr>
          <p:cNvPr id="9" name="Text 7"/>
          <p:cNvSpPr/>
          <p:nvPr/>
        </p:nvSpPr>
        <p:spPr>
          <a:xfrm>
            <a:off x="786384" y="2212848"/>
            <a:ext cx="2377440" cy="420624"/>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THB 478m</a:t>
            </a:r>
            <a:endParaRPr lang="en-US" sz="2400" dirty="0"/>
          </a:p>
        </p:txBody>
      </p:sp>
      <p:sp>
        <p:nvSpPr>
          <p:cNvPr id="10" name="Text 8"/>
          <p:cNvSpPr/>
          <p:nvPr/>
        </p:nvSpPr>
        <p:spPr>
          <a:xfrm>
            <a:off x="3227832" y="2286000"/>
            <a:ext cx="2560320" cy="274320"/>
          </a:xfrm>
          <a:prstGeom prst="rect">
            <a:avLst/>
          </a:prstGeom>
          <a:noFill/>
          <a:ln/>
        </p:spPr>
        <p:txBody>
          <a:bodyPr wrap="square" lIns="0" tIns="0" rIns="0" bIns="0" rtlCol="0" anchor="ctr"/>
          <a:lstStyle/>
          <a:p>
            <a:pPr indent="0" marL="0">
              <a:buNone/>
            </a:pPr>
            <a:r>
              <a:rPr lang="en-US" sz="1000" dirty="0">
                <a:solidFill>
                  <a:srgbClr val="6B7A90"/>
                </a:solidFill>
                <a:latin typeface="Graphik TH" pitchFamily="34" charset="0"/>
                <a:ea typeface="Graphik TH" pitchFamily="34" charset="-122"/>
                <a:cs typeface="Graphik TH" pitchFamily="34" charset="-120"/>
              </a:rPr>
              <a:t>70% of pocket balance</a:t>
            </a:r>
            <a:endParaRPr lang="en-US" sz="1000" dirty="0"/>
          </a:p>
        </p:txBody>
      </p:sp>
      <p:sp>
        <p:nvSpPr>
          <p:cNvPr id="11" name="Shape 9"/>
          <p:cNvSpPr/>
          <p:nvPr/>
        </p:nvSpPr>
        <p:spPr>
          <a:xfrm>
            <a:off x="786384" y="2724912"/>
            <a:ext cx="2735885" cy="237744"/>
          </a:xfrm>
          <a:prstGeom prst="roundRect">
            <a:avLst>
              <a:gd name="adj" fmla="val 15385"/>
            </a:avLst>
          </a:prstGeom>
          <a:solidFill>
            <a:srgbClr val="165A73"/>
          </a:solidFill>
          <a:ln/>
        </p:spPr>
      </p:sp>
      <p:sp>
        <p:nvSpPr>
          <p:cNvPr id="12" name="Shape 10"/>
          <p:cNvSpPr/>
          <p:nvPr/>
        </p:nvSpPr>
        <p:spPr>
          <a:xfrm>
            <a:off x="3522269" y="2724912"/>
            <a:ext cx="760781" cy="237744"/>
          </a:xfrm>
          <a:prstGeom prst="roundRect">
            <a:avLst>
              <a:gd name="adj" fmla="val 15385"/>
            </a:avLst>
          </a:prstGeom>
          <a:solidFill>
            <a:srgbClr val="E9A03B"/>
          </a:solidFill>
          <a:ln/>
        </p:spPr>
      </p:sp>
      <p:sp>
        <p:nvSpPr>
          <p:cNvPr id="13" name="Shape 11"/>
          <p:cNvSpPr/>
          <p:nvPr/>
        </p:nvSpPr>
        <p:spPr>
          <a:xfrm>
            <a:off x="4283050" y="2724912"/>
            <a:ext cx="1514246" cy="237744"/>
          </a:xfrm>
          <a:prstGeom prst="roundRect">
            <a:avLst>
              <a:gd name="adj" fmla="val 15385"/>
            </a:avLst>
          </a:prstGeom>
          <a:solidFill>
            <a:srgbClr val="8DA0B8"/>
          </a:solidFill>
          <a:ln/>
        </p:spPr>
      </p:sp>
      <p:sp>
        <p:nvSpPr>
          <p:cNvPr id="14" name="Text 12"/>
          <p:cNvSpPr/>
          <p:nvPr/>
        </p:nvSpPr>
        <p:spPr>
          <a:xfrm>
            <a:off x="786384" y="3017520"/>
            <a:ext cx="5010912" cy="237744"/>
          </a:xfrm>
          <a:prstGeom prst="rect">
            <a:avLst/>
          </a:prstGeom>
          <a:noFill/>
          <a:ln/>
        </p:spPr>
        <p:txBody>
          <a:bodyPr wrap="square" lIns="0" tIns="0" rIns="0" bIns="0" rtlCol="0" anchor="ctr"/>
          <a:lstStyle/>
          <a:p>
            <a:pPr indent="0" marL="0">
              <a:buNone/>
            </a:pPr>
            <a:r>
              <a:rPr lang="en-US" sz="850" dirty="0">
                <a:solidFill>
                  <a:srgbClr val="6B7A90"/>
                </a:solidFill>
                <a:latin typeface="Graphik TH" pitchFamily="34" charset="0"/>
                <a:ea typeface="Graphik TH" pitchFamily="34" charset="-122"/>
                <a:cs typeface="Graphik TH" pitchFamily="34" charset="-120"/>
              </a:rPr>
              <a:t>Very High RS        High RS        RS &lt; 60</a:t>
            </a:r>
            <a:endParaRPr lang="en-US" sz="850" dirty="0"/>
          </a:p>
        </p:txBody>
      </p:sp>
      <p:sp>
        <p:nvSpPr>
          <p:cNvPr id="15" name="Shape 13"/>
          <p:cNvSpPr/>
          <p:nvPr/>
        </p:nvSpPr>
        <p:spPr>
          <a:xfrm>
            <a:off x="6281928" y="1645920"/>
            <a:ext cx="5522976" cy="1810512"/>
          </a:xfrm>
          <a:prstGeom prst="roundRect">
            <a:avLst>
              <a:gd name="adj" fmla="val 4545"/>
            </a:avLst>
          </a:prstGeom>
          <a:solidFill>
            <a:srgbClr val="F1F4F9"/>
          </a:solidFill>
          <a:ln/>
        </p:spPr>
      </p:sp>
      <p:sp>
        <p:nvSpPr>
          <p:cNvPr id="16" name="Text 14"/>
          <p:cNvSpPr/>
          <p:nvPr/>
        </p:nvSpPr>
        <p:spPr>
          <a:xfrm>
            <a:off x="6537960" y="1792224"/>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Save More 2% — promotional exposure</a:t>
            </a:r>
            <a:endParaRPr lang="en-US" sz="1400" dirty="0"/>
          </a:p>
        </p:txBody>
      </p:sp>
      <p:sp>
        <p:nvSpPr>
          <p:cNvPr id="17" name="Text 15"/>
          <p:cNvSpPr/>
          <p:nvPr/>
        </p:nvSpPr>
        <p:spPr>
          <a:xfrm>
            <a:off x="6537960" y="2066544"/>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Total balance THB 4.16bn</a:t>
            </a:r>
            <a:endParaRPr lang="en-US" sz="950" dirty="0"/>
          </a:p>
        </p:txBody>
      </p:sp>
      <p:sp>
        <p:nvSpPr>
          <p:cNvPr id="18" name="Text 16"/>
          <p:cNvSpPr/>
          <p:nvPr/>
        </p:nvSpPr>
        <p:spPr>
          <a:xfrm>
            <a:off x="6537960" y="2212848"/>
            <a:ext cx="2377440" cy="420624"/>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THB 3.27bn</a:t>
            </a:r>
            <a:endParaRPr lang="en-US" sz="2400" dirty="0"/>
          </a:p>
        </p:txBody>
      </p:sp>
      <p:sp>
        <p:nvSpPr>
          <p:cNvPr id="19" name="Text 17"/>
          <p:cNvSpPr/>
          <p:nvPr/>
        </p:nvSpPr>
        <p:spPr>
          <a:xfrm>
            <a:off x="8979408" y="2286000"/>
            <a:ext cx="2560320" cy="274320"/>
          </a:xfrm>
          <a:prstGeom prst="rect">
            <a:avLst/>
          </a:prstGeom>
          <a:noFill/>
          <a:ln/>
        </p:spPr>
        <p:txBody>
          <a:bodyPr wrap="square" lIns="0" tIns="0" rIns="0" bIns="0" rtlCol="0" anchor="ctr"/>
          <a:lstStyle/>
          <a:p>
            <a:pPr indent="0" marL="0">
              <a:buNone/>
            </a:pPr>
            <a:r>
              <a:rPr lang="en-US" sz="1000" dirty="0">
                <a:solidFill>
                  <a:srgbClr val="6B7A90"/>
                </a:solidFill>
                <a:latin typeface="Graphik TH" pitchFamily="34" charset="0"/>
                <a:ea typeface="Graphik TH" pitchFamily="34" charset="-122"/>
                <a:cs typeface="Graphik TH" pitchFamily="34" charset="-120"/>
              </a:rPr>
              <a:t>78% of pocket balance</a:t>
            </a:r>
            <a:endParaRPr lang="en-US" sz="1000" dirty="0"/>
          </a:p>
        </p:txBody>
      </p:sp>
      <p:sp>
        <p:nvSpPr>
          <p:cNvPr id="20" name="Shape 18"/>
          <p:cNvSpPr/>
          <p:nvPr/>
        </p:nvSpPr>
        <p:spPr>
          <a:xfrm>
            <a:off x="6537960" y="2724912"/>
            <a:ext cx="2662047" cy="237744"/>
          </a:xfrm>
          <a:prstGeom prst="roundRect">
            <a:avLst>
              <a:gd name="adj" fmla="val 15385"/>
            </a:avLst>
          </a:prstGeom>
          <a:solidFill>
            <a:srgbClr val="165A73"/>
          </a:solidFill>
          <a:ln/>
        </p:spPr>
      </p:sp>
      <p:sp>
        <p:nvSpPr>
          <p:cNvPr id="21" name="Shape 19"/>
          <p:cNvSpPr/>
          <p:nvPr/>
        </p:nvSpPr>
        <p:spPr>
          <a:xfrm>
            <a:off x="9200007" y="2724912"/>
            <a:ext cx="1276819" cy="237744"/>
          </a:xfrm>
          <a:prstGeom prst="roundRect">
            <a:avLst>
              <a:gd name="adj" fmla="val 15385"/>
            </a:avLst>
          </a:prstGeom>
          <a:solidFill>
            <a:srgbClr val="E9A03B"/>
          </a:solidFill>
          <a:ln/>
        </p:spPr>
      </p:sp>
      <p:sp>
        <p:nvSpPr>
          <p:cNvPr id="22" name="Shape 20"/>
          <p:cNvSpPr/>
          <p:nvPr/>
        </p:nvSpPr>
        <p:spPr>
          <a:xfrm>
            <a:off x="10476826" y="2724912"/>
            <a:ext cx="1072046" cy="237744"/>
          </a:xfrm>
          <a:prstGeom prst="roundRect">
            <a:avLst>
              <a:gd name="adj" fmla="val 15385"/>
            </a:avLst>
          </a:prstGeom>
          <a:solidFill>
            <a:srgbClr val="8DA0B8"/>
          </a:solidFill>
          <a:ln/>
        </p:spPr>
      </p:sp>
      <p:sp>
        <p:nvSpPr>
          <p:cNvPr id="23" name="Text 21"/>
          <p:cNvSpPr/>
          <p:nvPr/>
        </p:nvSpPr>
        <p:spPr>
          <a:xfrm>
            <a:off x="6537960" y="3017520"/>
            <a:ext cx="5010912" cy="237744"/>
          </a:xfrm>
          <a:prstGeom prst="rect">
            <a:avLst/>
          </a:prstGeom>
          <a:noFill/>
          <a:ln/>
        </p:spPr>
        <p:txBody>
          <a:bodyPr wrap="square" lIns="0" tIns="0" rIns="0" bIns="0" rtlCol="0" anchor="ctr"/>
          <a:lstStyle/>
          <a:p>
            <a:pPr indent="0" marL="0">
              <a:buNone/>
            </a:pPr>
            <a:r>
              <a:rPr lang="en-US" sz="850" dirty="0">
                <a:solidFill>
                  <a:srgbClr val="6B7A90"/>
                </a:solidFill>
                <a:latin typeface="Graphik TH" pitchFamily="34" charset="0"/>
                <a:ea typeface="Graphik TH" pitchFamily="34" charset="-122"/>
                <a:cs typeface="Graphik TH" pitchFamily="34" charset="-120"/>
              </a:rPr>
              <a:t>Very High RS        High RS        RS &lt; 60</a:t>
            </a:r>
            <a:endParaRPr lang="en-US" sz="850" dirty="0"/>
          </a:p>
        </p:txBody>
      </p:sp>
      <p:sp>
        <p:nvSpPr>
          <p:cNvPr id="24" name="Shape 22"/>
          <p:cNvSpPr/>
          <p:nvPr/>
        </p:nvSpPr>
        <p:spPr>
          <a:xfrm>
            <a:off x="530352" y="3621024"/>
            <a:ext cx="6720840" cy="2212848"/>
          </a:xfrm>
          <a:prstGeom prst="roundRect">
            <a:avLst>
              <a:gd name="adj" fmla="val 3719"/>
            </a:avLst>
          </a:prstGeom>
          <a:solidFill>
            <a:srgbClr val="F1F4F9"/>
          </a:solidFill>
          <a:ln/>
        </p:spPr>
      </p:sp>
      <p:sp>
        <p:nvSpPr>
          <p:cNvPr id="25" name="Text 23"/>
          <p:cNvSpPr/>
          <p:nvPr/>
        </p:nvSpPr>
        <p:spPr>
          <a:xfrm>
            <a:off x="786384" y="376732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What is actually at risk?</a:t>
            </a:r>
            <a:endParaRPr lang="en-US" sz="1400" dirty="0"/>
          </a:p>
        </p:txBody>
      </p:sp>
      <p:sp>
        <p:nvSpPr>
          <p:cNvPr id="26" name="Text 24"/>
          <p:cNvSpPr/>
          <p:nvPr/>
        </p:nvSpPr>
        <p:spPr>
          <a:xfrm>
            <a:off x="786384" y="404164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Most rate-sensitive balance still looks sticky today</a:t>
            </a:r>
            <a:endParaRPr lang="en-US" sz="950" dirty="0"/>
          </a:p>
        </p:txBody>
      </p:sp>
      <p:sp>
        <p:nvSpPr>
          <p:cNvPr id="27" name="Text 25"/>
          <p:cNvSpPr/>
          <p:nvPr/>
        </p:nvSpPr>
        <p:spPr>
          <a:xfrm>
            <a:off x="786384" y="4261104"/>
            <a:ext cx="6217920" cy="347472"/>
          </a:xfrm>
          <a:prstGeom prst="rect">
            <a:avLst/>
          </a:prstGeom>
          <a:noFill/>
          <a:ln/>
        </p:spPr>
        <p:txBody>
          <a:bodyPr wrap="square" lIns="0" tIns="0" rIns="0" bIns="0" rtlCol="0" anchor="t"/>
          <a:lstStyle/>
          <a:p>
            <a:pPr indent="0" marL="0">
              <a:buNone/>
            </a:pPr>
            <a:r>
              <a:rPr lang="en-US" sz="1100" dirty="0">
                <a:solidFill>
                  <a:srgbClr val="16233D"/>
                </a:solidFill>
                <a:latin typeface="Graphik TH" pitchFamily="34" charset="0"/>
                <a:ea typeface="Graphik TH" pitchFamily="34" charset="-122"/>
                <a:cs typeface="Graphik TH" pitchFamily="34" charset="-120"/>
              </a:rPr>
              <a:t>Save Max: THB 472m (99%) of rate-sensitive balance sits with High / Very High stickiness customers.</a:t>
            </a:r>
            <a:endParaRPr lang="en-US" sz="1100" dirty="0"/>
          </a:p>
        </p:txBody>
      </p:sp>
      <p:sp>
        <p:nvSpPr>
          <p:cNvPr id="28" name="Text 26"/>
          <p:cNvSpPr/>
          <p:nvPr/>
        </p:nvSpPr>
        <p:spPr>
          <a:xfrm>
            <a:off x="786384" y="4645152"/>
            <a:ext cx="6217920" cy="347472"/>
          </a:xfrm>
          <a:prstGeom prst="rect">
            <a:avLst/>
          </a:prstGeom>
          <a:noFill/>
          <a:ln/>
        </p:spPr>
        <p:txBody>
          <a:bodyPr wrap="square" lIns="0" tIns="0" rIns="0" bIns="0" rtlCol="0" anchor="t"/>
          <a:lstStyle/>
          <a:p>
            <a:pPr indent="0" marL="0">
              <a:buNone/>
            </a:pPr>
            <a:r>
              <a:rPr lang="en-US" sz="1100" dirty="0">
                <a:solidFill>
                  <a:srgbClr val="16233D"/>
                </a:solidFill>
                <a:latin typeface="Graphik TH" pitchFamily="34" charset="0"/>
                <a:ea typeface="Graphik TH" pitchFamily="34" charset="-122"/>
                <a:cs typeface="Graphik TH" pitchFamily="34" charset="-120"/>
              </a:rPr>
              <a:t>Save More: THB 3.18bn (97%) of rate-sensitive balance sits with High / Very High stickiness customers.</a:t>
            </a:r>
            <a:endParaRPr lang="en-US" sz="1100" dirty="0"/>
          </a:p>
        </p:txBody>
      </p:sp>
      <p:sp>
        <p:nvSpPr>
          <p:cNvPr id="29" name="Shape 27"/>
          <p:cNvSpPr/>
          <p:nvPr/>
        </p:nvSpPr>
        <p:spPr>
          <a:xfrm>
            <a:off x="786384" y="5084064"/>
            <a:ext cx="6208776" cy="566928"/>
          </a:xfrm>
          <a:prstGeom prst="roundRect">
            <a:avLst>
              <a:gd name="adj" fmla="val 14516"/>
            </a:avLst>
          </a:prstGeom>
          <a:solidFill>
            <a:srgbClr val="FBF0E6"/>
          </a:solidFill>
          <a:ln/>
        </p:spPr>
      </p:sp>
      <p:sp>
        <p:nvSpPr>
          <p:cNvPr id="30" name="Text 28"/>
          <p:cNvSpPr/>
          <p:nvPr/>
        </p:nvSpPr>
        <p:spPr>
          <a:xfrm>
            <a:off x="969264" y="5084064"/>
            <a:ext cx="5852160" cy="566928"/>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Current stickiness may be propped up by promotional pricing — maturity is the real retention test.</a:t>
            </a:r>
            <a:endParaRPr lang="en-US" sz="1100" dirty="0"/>
          </a:p>
        </p:txBody>
      </p:sp>
      <p:sp>
        <p:nvSpPr>
          <p:cNvPr id="31" name="Shape 29"/>
          <p:cNvSpPr/>
          <p:nvPr/>
        </p:nvSpPr>
        <p:spPr>
          <a:xfrm>
            <a:off x="7479792" y="3621024"/>
            <a:ext cx="4325112" cy="2212848"/>
          </a:xfrm>
          <a:prstGeom prst="roundRect">
            <a:avLst>
              <a:gd name="adj" fmla="val 3719"/>
            </a:avLst>
          </a:prstGeom>
          <a:solidFill>
            <a:srgbClr val="FBF0E6"/>
          </a:solidFill>
          <a:ln/>
        </p:spPr>
      </p:sp>
      <p:sp>
        <p:nvSpPr>
          <p:cNvPr id="32" name="Text 30"/>
          <p:cNvSpPr/>
          <p:nvPr/>
        </p:nvSpPr>
        <p:spPr>
          <a:xfrm>
            <a:off x="7735824" y="376732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Highest runoff-risk subset</a:t>
            </a:r>
            <a:endParaRPr lang="en-US" sz="1400" dirty="0"/>
          </a:p>
        </p:txBody>
      </p:sp>
      <p:sp>
        <p:nvSpPr>
          <p:cNvPr id="33" name="Text 31"/>
          <p:cNvSpPr/>
          <p:nvPr/>
        </p:nvSpPr>
        <p:spPr>
          <a:xfrm>
            <a:off x="7735824" y="404164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Stickiness &lt; 60 and rate sensitivity ≥ 60</a:t>
            </a:r>
            <a:endParaRPr lang="en-US" sz="950" dirty="0"/>
          </a:p>
        </p:txBody>
      </p:sp>
      <p:sp>
        <p:nvSpPr>
          <p:cNvPr id="34" name="Text 32"/>
          <p:cNvSpPr/>
          <p:nvPr/>
        </p:nvSpPr>
        <p:spPr>
          <a:xfrm>
            <a:off x="7735824" y="4261104"/>
            <a:ext cx="1645920" cy="384048"/>
          </a:xfrm>
          <a:prstGeom prst="rect">
            <a:avLst/>
          </a:prstGeom>
          <a:noFill/>
          <a:ln/>
        </p:spPr>
        <p:txBody>
          <a:bodyPr wrap="square" lIns="0" tIns="0" rIns="0" bIns="0" rtlCol="0" anchor="ctr"/>
          <a:lstStyle/>
          <a:p>
            <a:pPr indent="0" marL="0">
              <a:buNone/>
            </a:pPr>
            <a:r>
              <a:rPr lang="en-US" sz="1900" b="1" dirty="0">
                <a:solidFill>
                  <a:srgbClr val="C00000"/>
                </a:solidFill>
                <a:latin typeface="Graphik TH" pitchFamily="34" charset="0"/>
                <a:ea typeface="Graphik TH" pitchFamily="34" charset="-122"/>
                <a:cs typeface="Graphik TH" pitchFamily="34" charset="-120"/>
              </a:rPr>
              <a:t>THB 6m</a:t>
            </a:r>
            <a:endParaRPr lang="en-US" sz="1900" dirty="0"/>
          </a:p>
        </p:txBody>
      </p:sp>
      <p:sp>
        <p:nvSpPr>
          <p:cNvPr id="35" name="Text 33"/>
          <p:cNvSpPr/>
          <p:nvPr/>
        </p:nvSpPr>
        <p:spPr>
          <a:xfrm>
            <a:off x="9418320" y="4261104"/>
            <a:ext cx="2103120" cy="384048"/>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Save Max</a:t>
            </a:r>
            <a:endParaRPr lang="en-US" sz="1100" dirty="0"/>
          </a:p>
        </p:txBody>
      </p:sp>
      <p:sp>
        <p:nvSpPr>
          <p:cNvPr id="36" name="Text 34"/>
          <p:cNvSpPr/>
          <p:nvPr/>
        </p:nvSpPr>
        <p:spPr>
          <a:xfrm>
            <a:off x="7735824" y="4736592"/>
            <a:ext cx="1645920" cy="384048"/>
          </a:xfrm>
          <a:prstGeom prst="rect">
            <a:avLst/>
          </a:prstGeom>
          <a:noFill/>
          <a:ln/>
        </p:spPr>
        <p:txBody>
          <a:bodyPr wrap="square" lIns="0" tIns="0" rIns="0" bIns="0" rtlCol="0" anchor="ctr"/>
          <a:lstStyle/>
          <a:p>
            <a:pPr indent="0" marL="0">
              <a:buNone/>
            </a:pPr>
            <a:r>
              <a:rPr lang="en-US" sz="1900" b="1" dirty="0">
                <a:solidFill>
                  <a:srgbClr val="C00000"/>
                </a:solidFill>
                <a:latin typeface="Graphik TH" pitchFamily="34" charset="0"/>
                <a:ea typeface="Graphik TH" pitchFamily="34" charset="-122"/>
                <a:cs typeface="Graphik TH" pitchFamily="34" charset="-120"/>
              </a:rPr>
              <a:t>THB 92m</a:t>
            </a:r>
            <a:endParaRPr lang="en-US" sz="1900" dirty="0"/>
          </a:p>
        </p:txBody>
      </p:sp>
      <p:sp>
        <p:nvSpPr>
          <p:cNvPr id="37" name="Text 35"/>
          <p:cNvSpPr/>
          <p:nvPr/>
        </p:nvSpPr>
        <p:spPr>
          <a:xfrm>
            <a:off x="9418320" y="4736592"/>
            <a:ext cx="2103120" cy="384048"/>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Save More</a:t>
            </a:r>
            <a:endParaRPr lang="en-US" sz="1100" dirty="0"/>
          </a:p>
        </p:txBody>
      </p:sp>
      <p:sp>
        <p:nvSpPr>
          <p:cNvPr id="38" name="Text 36"/>
          <p:cNvSpPr/>
          <p:nvPr/>
        </p:nvSpPr>
        <p:spPr>
          <a:xfrm>
            <a:off x="7735824" y="5285232"/>
            <a:ext cx="3813048" cy="274320"/>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Prioritise for maturity and repricing retention actions.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The two scores, side by side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*20-day engagement target is prorated by tenure. Rate-sensitivity cut-offs are initial heuristics, to be validated after maturity.</a:t>
            </a:r>
            <a:endParaRPr lang="en-US" sz="1150" dirty="0"/>
          </a:p>
        </p:txBody>
      </p:sp>
      <p:sp>
        <p:nvSpPr>
          <p:cNvPr id="4" name="Text 2"/>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Stickiness measures retention behaviour; rate sensitivity measures behaviour around the promotional rate caps.</a:t>
            </a:r>
            <a:endParaRPr lang="en-US" sz="1400" dirty="0"/>
          </a:p>
        </p:txBody>
      </p:sp>
      <p:sp>
        <p:nvSpPr>
          <p:cNvPr id="5" name="Shape 3"/>
          <p:cNvSpPr/>
          <p:nvPr/>
        </p:nvSpPr>
        <p:spPr>
          <a:xfrm>
            <a:off x="530352" y="1645920"/>
            <a:ext cx="5522976" cy="4187952"/>
          </a:xfrm>
          <a:prstGeom prst="roundRect">
            <a:avLst>
              <a:gd name="adj" fmla="val 1965"/>
            </a:avLst>
          </a:prstGeom>
          <a:solidFill>
            <a:srgbClr val="F1F4F9"/>
          </a:solidFill>
          <a:ln/>
        </p:spPr>
      </p:sp>
      <p:sp>
        <p:nvSpPr>
          <p:cNvPr id="6" name="Text 4"/>
          <p:cNvSpPr/>
          <p:nvPr/>
        </p:nvSpPr>
        <p:spPr>
          <a:xfrm>
            <a:off x="786384" y="1773936"/>
            <a:ext cx="5010912" cy="310896"/>
          </a:xfrm>
          <a:prstGeom prst="rect">
            <a:avLst/>
          </a:prstGeom>
          <a:noFill/>
          <a:ln/>
        </p:spPr>
        <p:txBody>
          <a:bodyPr wrap="square" lIns="0" tIns="0" rIns="0" bIns="0" rtlCol="0" anchor="ctr"/>
          <a:lstStyle/>
          <a:p>
            <a:pPr indent="0" marL="0">
              <a:buNone/>
            </a:pPr>
            <a:r>
              <a:rPr lang="en-US" sz="1500" b="1" dirty="0">
                <a:solidFill>
                  <a:srgbClr val="045D66"/>
                </a:solidFill>
                <a:latin typeface="Cambria" pitchFamily="34" charset="0"/>
                <a:ea typeface="Cambria" pitchFamily="34" charset="-122"/>
                <a:cs typeface="Cambria" pitchFamily="34" charset="-120"/>
              </a:rPr>
              <a:t>1)  Deposit stickiness</a:t>
            </a:r>
            <a:endParaRPr lang="en-US" sz="1500" dirty="0"/>
          </a:p>
        </p:txBody>
      </p:sp>
      <p:sp>
        <p:nvSpPr>
          <p:cNvPr id="7" name="Shape 5"/>
          <p:cNvSpPr/>
          <p:nvPr/>
        </p:nvSpPr>
        <p:spPr>
          <a:xfrm>
            <a:off x="786384" y="2139696"/>
            <a:ext cx="5010912" cy="420624"/>
          </a:xfrm>
          <a:prstGeom prst="roundRect">
            <a:avLst>
              <a:gd name="adj" fmla="val 19565"/>
            </a:avLst>
          </a:prstGeom>
          <a:solidFill>
            <a:srgbClr val="E8F6F3"/>
          </a:solidFill>
          <a:ln/>
        </p:spPr>
      </p:sp>
      <p:sp>
        <p:nvSpPr>
          <p:cNvPr id="8" name="Text 6"/>
          <p:cNvSpPr/>
          <p:nvPr/>
        </p:nvSpPr>
        <p:spPr>
          <a:xfrm>
            <a:off x="786384" y="2139696"/>
            <a:ext cx="5010912"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Graphik TH" pitchFamily="34" charset="0"/>
                <a:ea typeface="Graphik TH" pitchFamily="34" charset="-122"/>
                <a:cs typeface="Graphik TH" pitchFamily="34" charset="-120"/>
              </a:rPr>
              <a:t>Score = 40% BP + 25% FC + 20% RI + 15% DE</a:t>
            </a:r>
            <a:endParaRPr lang="en-US" sz="1100" dirty="0"/>
          </a:p>
        </p:txBody>
      </p:sp>
      <p:sp>
        <p:nvSpPr>
          <p:cNvPr id="9" name="Text 7"/>
          <p:cNvSpPr/>
          <p:nvPr/>
        </p:nvSpPr>
        <p:spPr>
          <a:xfrm>
            <a:off x="786384" y="2706624"/>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BP · Balance persistence</a:t>
            </a:r>
            <a:endParaRPr lang="en-US" sz="1000" dirty="0"/>
          </a:p>
        </p:txBody>
      </p:sp>
      <p:sp>
        <p:nvSpPr>
          <p:cNvPr id="10" name="Text 8"/>
          <p:cNvSpPr/>
          <p:nvPr/>
        </p:nvSpPr>
        <p:spPr>
          <a:xfrm>
            <a:off x="2752344" y="2706624"/>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Latest avg balance ÷ prior avg balance</a:t>
            </a:r>
            <a:endParaRPr lang="en-US" sz="1000" dirty="0"/>
          </a:p>
        </p:txBody>
      </p:sp>
      <p:sp>
        <p:nvSpPr>
          <p:cNvPr id="11" name="Text 9"/>
          <p:cNvSpPr/>
          <p:nvPr/>
        </p:nvSpPr>
        <p:spPr>
          <a:xfrm>
            <a:off x="786384" y="3054096"/>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FC · Funding continuity</a:t>
            </a:r>
            <a:endParaRPr lang="en-US" sz="1000" dirty="0"/>
          </a:p>
        </p:txBody>
      </p:sp>
      <p:sp>
        <p:nvSpPr>
          <p:cNvPr id="12" name="Text 10"/>
          <p:cNvSpPr/>
          <p:nvPr/>
        </p:nvSpPr>
        <p:spPr>
          <a:xfrm>
            <a:off x="2752344" y="3054096"/>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 eligible days with balance ≥ THB100</a:t>
            </a:r>
            <a:endParaRPr lang="en-US" sz="1000" dirty="0"/>
          </a:p>
        </p:txBody>
      </p:sp>
      <p:sp>
        <p:nvSpPr>
          <p:cNvPr id="13" name="Text 11"/>
          <p:cNvSpPr/>
          <p:nvPr/>
        </p:nvSpPr>
        <p:spPr>
          <a:xfrm>
            <a:off x="786384" y="3401568"/>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RI · Recurring inflow</a:t>
            </a:r>
            <a:endParaRPr lang="en-US" sz="1000" dirty="0"/>
          </a:p>
        </p:txBody>
      </p:sp>
      <p:sp>
        <p:nvSpPr>
          <p:cNvPr id="14" name="Text 12"/>
          <p:cNvSpPr/>
          <p:nvPr/>
        </p:nvSpPr>
        <p:spPr>
          <a:xfrm>
            <a:off x="2752344" y="3401568"/>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 eligible months with transfer-in ≥ THB100</a:t>
            </a:r>
            <a:endParaRPr lang="en-US" sz="1000" dirty="0"/>
          </a:p>
        </p:txBody>
      </p:sp>
      <p:sp>
        <p:nvSpPr>
          <p:cNvPr id="15" name="Text 13"/>
          <p:cNvSpPr/>
          <p:nvPr/>
        </p:nvSpPr>
        <p:spPr>
          <a:xfrm>
            <a:off x="786384" y="3749040"/>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DE · Daily engagement</a:t>
            </a:r>
            <a:endParaRPr lang="en-US" sz="1000" dirty="0"/>
          </a:p>
        </p:txBody>
      </p:sp>
      <p:sp>
        <p:nvSpPr>
          <p:cNvPr id="16" name="Text 14"/>
          <p:cNvSpPr/>
          <p:nvPr/>
        </p:nvSpPr>
        <p:spPr>
          <a:xfrm>
            <a:off x="2752344" y="3749040"/>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Active txn days ÷ 20-day / 90-day target*</a:t>
            </a:r>
            <a:endParaRPr lang="en-US" sz="1000" dirty="0"/>
          </a:p>
        </p:txBody>
      </p:sp>
      <p:sp>
        <p:nvSpPr>
          <p:cNvPr id="17" name="Shape 15"/>
          <p:cNvSpPr/>
          <p:nvPr/>
        </p:nvSpPr>
        <p:spPr>
          <a:xfrm>
            <a:off x="786384" y="4151376"/>
            <a:ext cx="5010912" cy="10973"/>
          </a:xfrm>
          <a:prstGeom prst="rect">
            <a:avLst/>
          </a:prstGeom>
          <a:solidFill>
            <a:srgbClr val="D8DFE9"/>
          </a:solidFill>
          <a:ln/>
        </p:spPr>
      </p:sp>
      <p:sp>
        <p:nvSpPr>
          <p:cNvPr id="18" name="Text 16"/>
          <p:cNvSpPr/>
          <p:nvPr/>
        </p:nvSpPr>
        <p:spPr>
          <a:xfrm>
            <a:off x="786384" y="4261104"/>
            <a:ext cx="5010912" cy="256032"/>
          </a:xfrm>
          <a:prstGeom prst="rect">
            <a:avLst/>
          </a:prstGeom>
          <a:noFill/>
          <a:ln/>
        </p:spPr>
        <p:txBody>
          <a:bodyPr wrap="square" lIns="0" tIns="0" rIns="0" bIns="0" rtlCol="0" anchor="ctr"/>
          <a:lstStyle/>
          <a:p>
            <a:pPr indent="0" marL="0">
              <a:buNone/>
            </a:pPr>
            <a:r>
              <a:rPr lang="en-US" sz="1150" b="1" dirty="0">
                <a:solidFill>
                  <a:srgbClr val="045D66"/>
                </a:solidFill>
                <a:latin typeface="Graphik TH" pitchFamily="34" charset="0"/>
                <a:ea typeface="Graphik TH" pitchFamily="34" charset="-122"/>
                <a:cs typeface="Graphik TH" pitchFamily="34" charset="-120"/>
              </a:rPr>
              <a:t>In plain terms</a:t>
            </a:r>
            <a:endParaRPr lang="en-US" sz="1150" dirty="0"/>
          </a:p>
        </p:txBody>
      </p:sp>
      <p:sp>
        <p:nvSpPr>
          <p:cNvPr id="19" name="Text 17"/>
          <p:cNvSpPr/>
          <p:nvPr/>
        </p:nvSpPr>
        <p:spPr>
          <a:xfrm>
            <a:off x="786384" y="4517136"/>
            <a:ext cx="5010912" cy="566928"/>
          </a:xfrm>
          <a:prstGeom prst="rect">
            <a:avLst/>
          </a:prstGeom>
          <a:noFill/>
          <a:ln/>
        </p:spPr>
        <p:txBody>
          <a:bodyPr wrap="square" lIns="0" tIns="0" rIns="0" bIns="0" rtlCol="0" anchor="t"/>
          <a:lstStyle/>
          <a:p>
            <a:pPr indent="0" marL="0">
              <a:buNone/>
            </a:pPr>
            <a:r>
              <a:rPr lang="en-US" sz="1050" dirty="0">
                <a:solidFill>
                  <a:srgbClr val="16233D"/>
                </a:solidFill>
                <a:latin typeface="Graphik TH" pitchFamily="34" charset="0"/>
                <a:ea typeface="Graphik TH" pitchFamily="34" charset="-122"/>
                <a:cs typeface="Graphik TH" pitchFamily="34" charset="-120"/>
              </a:rPr>
              <a:t>Higher score = money stays longer, the account stays funded, fresh money keeps arriving, and the customer uses the account regularly.</a:t>
            </a:r>
            <a:endParaRPr lang="en-US" sz="1050" dirty="0"/>
          </a:p>
        </p:txBody>
      </p:sp>
      <p:sp>
        <p:nvSpPr>
          <p:cNvPr id="20" name="Text 18"/>
          <p:cNvSpPr/>
          <p:nvPr/>
        </p:nvSpPr>
        <p:spPr>
          <a:xfrm>
            <a:off x="786384" y="5138928"/>
            <a:ext cx="5010912"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Score cut-offs</a:t>
            </a:r>
            <a:endParaRPr lang="en-US" sz="1100" dirty="0"/>
          </a:p>
        </p:txBody>
      </p:sp>
      <p:sp>
        <p:nvSpPr>
          <p:cNvPr id="21" name="Shape 19"/>
          <p:cNvSpPr/>
          <p:nvPr/>
        </p:nvSpPr>
        <p:spPr>
          <a:xfrm>
            <a:off x="786384" y="5449824"/>
            <a:ext cx="310896" cy="173736"/>
          </a:xfrm>
          <a:prstGeom prst="roundRect">
            <a:avLst>
              <a:gd name="adj" fmla="val 21053"/>
            </a:avLst>
          </a:prstGeom>
          <a:solidFill>
            <a:srgbClr val="165A73"/>
          </a:solidFill>
          <a:ln/>
        </p:spPr>
      </p:sp>
      <p:sp>
        <p:nvSpPr>
          <p:cNvPr id="22" name="Text 20"/>
          <p:cNvSpPr/>
          <p:nvPr/>
        </p:nvSpPr>
        <p:spPr>
          <a:xfrm>
            <a:off x="1170432"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80–100</a:t>
            </a:r>
            <a:endParaRPr lang="en-US" sz="850" dirty="0"/>
          </a:p>
        </p:txBody>
      </p:sp>
      <p:sp>
        <p:nvSpPr>
          <p:cNvPr id="23" name="Text 21"/>
          <p:cNvSpPr/>
          <p:nvPr/>
        </p:nvSpPr>
        <p:spPr>
          <a:xfrm>
            <a:off x="1170432"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Very High</a:t>
            </a:r>
            <a:endParaRPr lang="en-US" sz="750" dirty="0"/>
          </a:p>
        </p:txBody>
      </p:sp>
      <p:sp>
        <p:nvSpPr>
          <p:cNvPr id="24" name="Shape 22"/>
          <p:cNvSpPr/>
          <p:nvPr/>
        </p:nvSpPr>
        <p:spPr>
          <a:xfrm>
            <a:off x="1788566" y="5449824"/>
            <a:ext cx="310896" cy="173736"/>
          </a:xfrm>
          <a:prstGeom prst="roundRect">
            <a:avLst>
              <a:gd name="adj" fmla="val 21053"/>
            </a:avLst>
          </a:prstGeom>
          <a:solidFill>
            <a:srgbClr val="1E8E86"/>
          </a:solidFill>
          <a:ln/>
        </p:spPr>
      </p:sp>
      <p:sp>
        <p:nvSpPr>
          <p:cNvPr id="25" name="Text 23"/>
          <p:cNvSpPr/>
          <p:nvPr/>
        </p:nvSpPr>
        <p:spPr>
          <a:xfrm>
            <a:off x="2172614"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60–79</a:t>
            </a:r>
            <a:endParaRPr lang="en-US" sz="850" dirty="0"/>
          </a:p>
        </p:txBody>
      </p:sp>
      <p:sp>
        <p:nvSpPr>
          <p:cNvPr id="26" name="Text 24"/>
          <p:cNvSpPr/>
          <p:nvPr/>
        </p:nvSpPr>
        <p:spPr>
          <a:xfrm>
            <a:off x="2172614"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High</a:t>
            </a:r>
            <a:endParaRPr lang="en-US" sz="750" dirty="0"/>
          </a:p>
        </p:txBody>
      </p:sp>
      <p:sp>
        <p:nvSpPr>
          <p:cNvPr id="27" name="Shape 25"/>
          <p:cNvSpPr/>
          <p:nvPr/>
        </p:nvSpPr>
        <p:spPr>
          <a:xfrm>
            <a:off x="2790749" y="5449824"/>
            <a:ext cx="310896" cy="173736"/>
          </a:xfrm>
          <a:prstGeom prst="roundRect">
            <a:avLst>
              <a:gd name="adj" fmla="val 21053"/>
            </a:avLst>
          </a:prstGeom>
          <a:solidFill>
            <a:srgbClr val="3FB89F"/>
          </a:solidFill>
          <a:ln/>
        </p:spPr>
      </p:sp>
      <p:sp>
        <p:nvSpPr>
          <p:cNvPr id="28" name="Text 26"/>
          <p:cNvSpPr/>
          <p:nvPr/>
        </p:nvSpPr>
        <p:spPr>
          <a:xfrm>
            <a:off x="3174797"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40–59</a:t>
            </a:r>
            <a:endParaRPr lang="en-US" sz="850" dirty="0"/>
          </a:p>
        </p:txBody>
      </p:sp>
      <p:sp>
        <p:nvSpPr>
          <p:cNvPr id="29" name="Text 27"/>
          <p:cNvSpPr/>
          <p:nvPr/>
        </p:nvSpPr>
        <p:spPr>
          <a:xfrm>
            <a:off x="3174797"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Medium</a:t>
            </a:r>
            <a:endParaRPr lang="en-US" sz="750" dirty="0"/>
          </a:p>
        </p:txBody>
      </p:sp>
      <p:sp>
        <p:nvSpPr>
          <p:cNvPr id="30" name="Shape 28"/>
          <p:cNvSpPr/>
          <p:nvPr/>
        </p:nvSpPr>
        <p:spPr>
          <a:xfrm>
            <a:off x="3792931" y="5449824"/>
            <a:ext cx="310896" cy="173736"/>
          </a:xfrm>
          <a:prstGeom prst="roundRect">
            <a:avLst>
              <a:gd name="adj" fmla="val 21053"/>
            </a:avLst>
          </a:prstGeom>
          <a:solidFill>
            <a:srgbClr val="E9A03B"/>
          </a:solidFill>
          <a:ln/>
        </p:spPr>
      </p:sp>
      <p:sp>
        <p:nvSpPr>
          <p:cNvPr id="31" name="Text 29"/>
          <p:cNvSpPr/>
          <p:nvPr/>
        </p:nvSpPr>
        <p:spPr>
          <a:xfrm>
            <a:off x="4176979"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20–39</a:t>
            </a:r>
            <a:endParaRPr lang="en-US" sz="850" dirty="0"/>
          </a:p>
        </p:txBody>
      </p:sp>
      <p:sp>
        <p:nvSpPr>
          <p:cNvPr id="32" name="Text 30"/>
          <p:cNvSpPr/>
          <p:nvPr/>
        </p:nvSpPr>
        <p:spPr>
          <a:xfrm>
            <a:off x="4176979"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Low</a:t>
            </a:r>
            <a:endParaRPr lang="en-US" sz="750" dirty="0"/>
          </a:p>
        </p:txBody>
      </p:sp>
      <p:sp>
        <p:nvSpPr>
          <p:cNvPr id="33" name="Shape 31"/>
          <p:cNvSpPr/>
          <p:nvPr/>
        </p:nvSpPr>
        <p:spPr>
          <a:xfrm>
            <a:off x="4795114" y="5449824"/>
            <a:ext cx="310896" cy="173736"/>
          </a:xfrm>
          <a:prstGeom prst="roundRect">
            <a:avLst>
              <a:gd name="adj" fmla="val 21053"/>
            </a:avLst>
          </a:prstGeom>
          <a:solidFill>
            <a:srgbClr val="8DA0B8"/>
          </a:solidFill>
          <a:ln/>
        </p:spPr>
      </p:sp>
      <p:sp>
        <p:nvSpPr>
          <p:cNvPr id="34" name="Text 32"/>
          <p:cNvSpPr/>
          <p:nvPr/>
        </p:nvSpPr>
        <p:spPr>
          <a:xfrm>
            <a:off x="5179162"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&lt;20</a:t>
            </a:r>
            <a:endParaRPr lang="en-US" sz="850" dirty="0"/>
          </a:p>
        </p:txBody>
      </p:sp>
      <p:sp>
        <p:nvSpPr>
          <p:cNvPr id="35" name="Text 33"/>
          <p:cNvSpPr/>
          <p:nvPr/>
        </p:nvSpPr>
        <p:spPr>
          <a:xfrm>
            <a:off x="5179162"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Very Low</a:t>
            </a:r>
            <a:endParaRPr lang="en-US" sz="750" dirty="0"/>
          </a:p>
        </p:txBody>
      </p:sp>
      <p:sp>
        <p:nvSpPr>
          <p:cNvPr id="36" name="Shape 34"/>
          <p:cNvSpPr/>
          <p:nvPr/>
        </p:nvSpPr>
        <p:spPr>
          <a:xfrm>
            <a:off x="6281928" y="1645920"/>
            <a:ext cx="5522976" cy="4187952"/>
          </a:xfrm>
          <a:prstGeom prst="roundRect">
            <a:avLst>
              <a:gd name="adj" fmla="val 1965"/>
            </a:avLst>
          </a:prstGeom>
          <a:solidFill>
            <a:srgbClr val="F1F4F9"/>
          </a:solidFill>
          <a:ln/>
        </p:spPr>
      </p:sp>
      <p:sp>
        <p:nvSpPr>
          <p:cNvPr id="37" name="Text 35"/>
          <p:cNvSpPr/>
          <p:nvPr/>
        </p:nvSpPr>
        <p:spPr>
          <a:xfrm>
            <a:off x="6537960" y="1773936"/>
            <a:ext cx="5010912" cy="310896"/>
          </a:xfrm>
          <a:prstGeom prst="rect">
            <a:avLst/>
          </a:prstGeom>
          <a:noFill/>
          <a:ln/>
        </p:spPr>
        <p:txBody>
          <a:bodyPr wrap="square" lIns="0" tIns="0" rIns="0" bIns="0" rtlCol="0" anchor="ctr"/>
          <a:lstStyle/>
          <a:p>
            <a:pPr indent="0" marL="0">
              <a:buNone/>
            </a:pPr>
            <a:r>
              <a:rPr lang="en-US" sz="1500" b="1" dirty="0">
                <a:solidFill>
                  <a:srgbClr val="045D66"/>
                </a:solidFill>
                <a:latin typeface="Cambria" pitchFamily="34" charset="0"/>
                <a:ea typeface="Cambria" pitchFamily="34" charset="-122"/>
                <a:cs typeface="Cambria" pitchFamily="34" charset="-120"/>
              </a:rPr>
              <a:t>2)  Rate sensitivity</a:t>
            </a:r>
            <a:endParaRPr lang="en-US" sz="1500" dirty="0"/>
          </a:p>
        </p:txBody>
      </p:sp>
      <p:sp>
        <p:nvSpPr>
          <p:cNvPr id="38" name="Shape 36"/>
          <p:cNvSpPr/>
          <p:nvPr/>
        </p:nvSpPr>
        <p:spPr>
          <a:xfrm>
            <a:off x="6537960" y="2139696"/>
            <a:ext cx="5010912" cy="420624"/>
          </a:xfrm>
          <a:prstGeom prst="roundRect">
            <a:avLst>
              <a:gd name="adj" fmla="val 19565"/>
            </a:avLst>
          </a:prstGeom>
          <a:solidFill>
            <a:srgbClr val="E8F6F3"/>
          </a:solidFill>
          <a:ln/>
        </p:spPr>
      </p:sp>
      <p:sp>
        <p:nvSpPr>
          <p:cNvPr id="39" name="Text 37"/>
          <p:cNvSpPr/>
          <p:nvPr/>
        </p:nvSpPr>
        <p:spPr>
          <a:xfrm>
            <a:off x="6537960" y="2139696"/>
            <a:ext cx="5010912"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Graphik TH" pitchFamily="34" charset="0"/>
                <a:ea typeface="Graphik TH" pitchFamily="34" charset="-122"/>
                <a:cs typeface="Graphik TH" pitchFamily="34" charset="-120"/>
              </a:rPr>
              <a:t>Score = 70% Cap Precision + 30% (1 − Above-Cap Ratio)</a:t>
            </a:r>
            <a:endParaRPr lang="en-US" sz="1100" dirty="0"/>
          </a:p>
        </p:txBody>
      </p:sp>
      <p:sp>
        <p:nvSpPr>
          <p:cNvPr id="40" name="Text 38"/>
          <p:cNvSpPr/>
          <p:nvPr/>
        </p:nvSpPr>
        <p:spPr>
          <a:xfrm>
            <a:off x="6537960" y="2706624"/>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Cap precision</a:t>
            </a:r>
            <a:endParaRPr lang="en-US" sz="1000" dirty="0"/>
          </a:p>
        </p:txBody>
      </p:sp>
      <p:sp>
        <p:nvSpPr>
          <p:cNvPr id="41" name="Text 39"/>
          <p:cNvSpPr/>
          <p:nvPr/>
        </p:nvSpPr>
        <p:spPr>
          <a:xfrm>
            <a:off x="8503920" y="2706624"/>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Near-cap promo products ÷ active promo products</a:t>
            </a:r>
            <a:endParaRPr lang="en-US" sz="1000" dirty="0"/>
          </a:p>
        </p:txBody>
      </p:sp>
      <p:sp>
        <p:nvSpPr>
          <p:cNvPr id="42" name="Text 40"/>
          <p:cNvSpPr/>
          <p:nvPr/>
        </p:nvSpPr>
        <p:spPr>
          <a:xfrm>
            <a:off x="6537960" y="3054096"/>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Above-cap balance ratio</a:t>
            </a:r>
            <a:endParaRPr lang="en-US" sz="1000" dirty="0"/>
          </a:p>
        </p:txBody>
      </p:sp>
      <p:sp>
        <p:nvSpPr>
          <p:cNvPr id="43" name="Text 41"/>
          <p:cNvSpPr/>
          <p:nvPr/>
        </p:nvSpPr>
        <p:spPr>
          <a:xfrm>
            <a:off x="8503920" y="3054096"/>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Balance above caps ÷ total promo-pocket balance</a:t>
            </a:r>
            <a:endParaRPr lang="en-US" sz="1000" dirty="0"/>
          </a:p>
        </p:txBody>
      </p:sp>
      <p:sp>
        <p:nvSpPr>
          <p:cNvPr id="44" name="Text 42"/>
          <p:cNvSpPr/>
          <p:nvPr/>
        </p:nvSpPr>
        <p:spPr>
          <a:xfrm>
            <a:off x="6537960" y="3401568"/>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Promo caps</a:t>
            </a:r>
            <a:endParaRPr lang="en-US" sz="1000" dirty="0"/>
          </a:p>
        </p:txBody>
      </p:sp>
      <p:sp>
        <p:nvSpPr>
          <p:cNvPr id="45" name="Text 43"/>
          <p:cNvSpPr/>
          <p:nvPr/>
        </p:nvSpPr>
        <p:spPr>
          <a:xfrm>
            <a:off x="8503920" y="3401568"/>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Save Max 4%: THB 20k · Save More 2%: THB 1m</a:t>
            </a:r>
            <a:endParaRPr lang="en-US" sz="1000" dirty="0"/>
          </a:p>
        </p:txBody>
      </p:sp>
      <p:sp>
        <p:nvSpPr>
          <p:cNvPr id="46" name="Text 44"/>
          <p:cNvSpPr/>
          <p:nvPr/>
        </p:nvSpPr>
        <p:spPr>
          <a:xfrm>
            <a:off x="6537960" y="3749040"/>
            <a:ext cx="1965960" cy="274320"/>
          </a:xfrm>
          <a:prstGeom prst="rect">
            <a:avLst/>
          </a:prstGeom>
          <a:noFill/>
          <a:ln/>
        </p:spPr>
        <p:txBody>
          <a:bodyPr wrap="square" lIns="0" tIns="0" rIns="0" bIns="0" rtlCol="0" anchor="ctr"/>
          <a:lstStyle/>
          <a:p>
            <a:pPr indent="0" marL="0">
              <a:buNone/>
            </a:pPr>
            <a:r>
              <a:rPr lang="en-US" sz="1000" b="1" dirty="0">
                <a:solidFill>
                  <a:srgbClr val="045D66"/>
                </a:solidFill>
                <a:latin typeface="Graphik TH" pitchFamily="34" charset="0"/>
                <a:ea typeface="Graphik TH" pitchFamily="34" charset="-122"/>
                <a:cs typeface="Graphik TH" pitchFamily="34" charset="-120"/>
              </a:rPr>
              <a:t>Near-cap</a:t>
            </a:r>
            <a:endParaRPr lang="en-US" sz="1000" dirty="0"/>
          </a:p>
        </p:txBody>
      </p:sp>
      <p:sp>
        <p:nvSpPr>
          <p:cNvPr id="47" name="Text 45"/>
          <p:cNvSpPr/>
          <p:nvPr/>
        </p:nvSpPr>
        <p:spPr>
          <a:xfrm>
            <a:off x="8503920" y="3749040"/>
            <a:ext cx="3044952" cy="274320"/>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Within ±5% of the promotional cap</a:t>
            </a:r>
            <a:endParaRPr lang="en-US" sz="1000" dirty="0"/>
          </a:p>
        </p:txBody>
      </p:sp>
      <p:sp>
        <p:nvSpPr>
          <p:cNvPr id="48" name="Shape 46"/>
          <p:cNvSpPr/>
          <p:nvPr/>
        </p:nvSpPr>
        <p:spPr>
          <a:xfrm>
            <a:off x="6537960" y="4151376"/>
            <a:ext cx="5010912" cy="10973"/>
          </a:xfrm>
          <a:prstGeom prst="rect">
            <a:avLst/>
          </a:prstGeom>
          <a:solidFill>
            <a:srgbClr val="D8DFE9"/>
          </a:solidFill>
          <a:ln/>
        </p:spPr>
      </p:sp>
      <p:sp>
        <p:nvSpPr>
          <p:cNvPr id="49" name="Text 47"/>
          <p:cNvSpPr/>
          <p:nvPr/>
        </p:nvSpPr>
        <p:spPr>
          <a:xfrm>
            <a:off x="6537960" y="4261104"/>
            <a:ext cx="5010912" cy="256032"/>
          </a:xfrm>
          <a:prstGeom prst="rect">
            <a:avLst/>
          </a:prstGeom>
          <a:noFill/>
          <a:ln/>
        </p:spPr>
        <p:txBody>
          <a:bodyPr wrap="square" lIns="0" tIns="0" rIns="0" bIns="0" rtlCol="0" anchor="ctr"/>
          <a:lstStyle/>
          <a:p>
            <a:pPr indent="0" marL="0">
              <a:buNone/>
            </a:pPr>
            <a:r>
              <a:rPr lang="en-US" sz="1150" b="1" dirty="0">
                <a:solidFill>
                  <a:srgbClr val="045D66"/>
                </a:solidFill>
                <a:latin typeface="Graphik TH" pitchFamily="34" charset="0"/>
                <a:ea typeface="Graphik TH" pitchFamily="34" charset="-122"/>
                <a:cs typeface="Graphik TH" pitchFamily="34" charset="-120"/>
              </a:rPr>
              <a:t>In plain terms</a:t>
            </a:r>
            <a:endParaRPr lang="en-US" sz="1150" dirty="0"/>
          </a:p>
        </p:txBody>
      </p:sp>
      <p:sp>
        <p:nvSpPr>
          <p:cNvPr id="50" name="Text 48"/>
          <p:cNvSpPr/>
          <p:nvPr/>
        </p:nvSpPr>
        <p:spPr>
          <a:xfrm>
            <a:off x="6537960" y="4517136"/>
            <a:ext cx="5010912" cy="566928"/>
          </a:xfrm>
          <a:prstGeom prst="rect">
            <a:avLst/>
          </a:prstGeom>
          <a:noFill/>
          <a:ln/>
        </p:spPr>
        <p:txBody>
          <a:bodyPr wrap="square" lIns="0" tIns="0" rIns="0" bIns="0" rtlCol="0" anchor="t"/>
          <a:lstStyle/>
          <a:p>
            <a:pPr indent="0" marL="0">
              <a:buNone/>
            </a:pPr>
            <a:r>
              <a:rPr lang="en-US" sz="1050" dirty="0">
                <a:solidFill>
                  <a:srgbClr val="16233D"/>
                </a:solidFill>
                <a:latin typeface="Graphik TH" pitchFamily="34" charset="0"/>
                <a:ea typeface="Graphik TH" pitchFamily="34" charset="-122"/>
                <a:cs typeface="Graphik TH" pitchFamily="34" charset="-120"/>
              </a:rPr>
              <a:t>Higher score = the customer behaves like a rate optimiser, keeping balances close to the promo caps and little money above them.</a:t>
            </a:r>
            <a:endParaRPr lang="en-US" sz="1050" dirty="0"/>
          </a:p>
        </p:txBody>
      </p:sp>
      <p:sp>
        <p:nvSpPr>
          <p:cNvPr id="51" name="Text 49"/>
          <p:cNvSpPr/>
          <p:nvPr/>
        </p:nvSpPr>
        <p:spPr>
          <a:xfrm>
            <a:off x="6537960" y="5138928"/>
            <a:ext cx="5010912"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Score cut-offs</a:t>
            </a:r>
            <a:endParaRPr lang="en-US" sz="1100" dirty="0"/>
          </a:p>
        </p:txBody>
      </p:sp>
      <p:sp>
        <p:nvSpPr>
          <p:cNvPr id="52" name="Shape 50"/>
          <p:cNvSpPr/>
          <p:nvPr/>
        </p:nvSpPr>
        <p:spPr>
          <a:xfrm>
            <a:off x="6537960" y="5449824"/>
            <a:ext cx="310896" cy="173736"/>
          </a:xfrm>
          <a:prstGeom prst="roundRect">
            <a:avLst>
              <a:gd name="adj" fmla="val 21053"/>
            </a:avLst>
          </a:prstGeom>
          <a:solidFill>
            <a:srgbClr val="165A73"/>
          </a:solidFill>
          <a:ln/>
        </p:spPr>
      </p:sp>
      <p:sp>
        <p:nvSpPr>
          <p:cNvPr id="53" name="Text 51"/>
          <p:cNvSpPr/>
          <p:nvPr/>
        </p:nvSpPr>
        <p:spPr>
          <a:xfrm>
            <a:off x="6922008"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80–100</a:t>
            </a:r>
            <a:endParaRPr lang="en-US" sz="850" dirty="0"/>
          </a:p>
        </p:txBody>
      </p:sp>
      <p:sp>
        <p:nvSpPr>
          <p:cNvPr id="54" name="Text 52"/>
          <p:cNvSpPr/>
          <p:nvPr/>
        </p:nvSpPr>
        <p:spPr>
          <a:xfrm>
            <a:off x="6922008"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Very High</a:t>
            </a:r>
            <a:endParaRPr lang="en-US" sz="750" dirty="0"/>
          </a:p>
        </p:txBody>
      </p:sp>
      <p:sp>
        <p:nvSpPr>
          <p:cNvPr id="55" name="Shape 53"/>
          <p:cNvSpPr/>
          <p:nvPr/>
        </p:nvSpPr>
        <p:spPr>
          <a:xfrm>
            <a:off x="7540142" y="5449824"/>
            <a:ext cx="310896" cy="173736"/>
          </a:xfrm>
          <a:prstGeom prst="roundRect">
            <a:avLst>
              <a:gd name="adj" fmla="val 21053"/>
            </a:avLst>
          </a:prstGeom>
          <a:solidFill>
            <a:srgbClr val="1E8E86"/>
          </a:solidFill>
          <a:ln/>
        </p:spPr>
      </p:sp>
      <p:sp>
        <p:nvSpPr>
          <p:cNvPr id="56" name="Text 54"/>
          <p:cNvSpPr/>
          <p:nvPr/>
        </p:nvSpPr>
        <p:spPr>
          <a:xfrm>
            <a:off x="7924190"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60–79</a:t>
            </a:r>
            <a:endParaRPr lang="en-US" sz="850" dirty="0"/>
          </a:p>
        </p:txBody>
      </p:sp>
      <p:sp>
        <p:nvSpPr>
          <p:cNvPr id="57" name="Text 55"/>
          <p:cNvSpPr/>
          <p:nvPr/>
        </p:nvSpPr>
        <p:spPr>
          <a:xfrm>
            <a:off x="7924190"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High</a:t>
            </a:r>
            <a:endParaRPr lang="en-US" sz="750" dirty="0"/>
          </a:p>
        </p:txBody>
      </p:sp>
      <p:sp>
        <p:nvSpPr>
          <p:cNvPr id="58" name="Shape 56"/>
          <p:cNvSpPr/>
          <p:nvPr/>
        </p:nvSpPr>
        <p:spPr>
          <a:xfrm>
            <a:off x="8542325" y="5449824"/>
            <a:ext cx="310896" cy="173736"/>
          </a:xfrm>
          <a:prstGeom prst="roundRect">
            <a:avLst>
              <a:gd name="adj" fmla="val 21053"/>
            </a:avLst>
          </a:prstGeom>
          <a:solidFill>
            <a:srgbClr val="3FB89F"/>
          </a:solidFill>
          <a:ln/>
        </p:spPr>
      </p:sp>
      <p:sp>
        <p:nvSpPr>
          <p:cNvPr id="59" name="Text 57"/>
          <p:cNvSpPr/>
          <p:nvPr/>
        </p:nvSpPr>
        <p:spPr>
          <a:xfrm>
            <a:off x="8926373"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40–59</a:t>
            </a:r>
            <a:endParaRPr lang="en-US" sz="850" dirty="0"/>
          </a:p>
        </p:txBody>
      </p:sp>
      <p:sp>
        <p:nvSpPr>
          <p:cNvPr id="60" name="Text 58"/>
          <p:cNvSpPr/>
          <p:nvPr/>
        </p:nvSpPr>
        <p:spPr>
          <a:xfrm>
            <a:off x="8926373"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Medium</a:t>
            </a:r>
            <a:endParaRPr lang="en-US" sz="750" dirty="0"/>
          </a:p>
        </p:txBody>
      </p:sp>
      <p:sp>
        <p:nvSpPr>
          <p:cNvPr id="61" name="Shape 59"/>
          <p:cNvSpPr/>
          <p:nvPr/>
        </p:nvSpPr>
        <p:spPr>
          <a:xfrm>
            <a:off x="9544507" y="5449824"/>
            <a:ext cx="310896" cy="173736"/>
          </a:xfrm>
          <a:prstGeom prst="roundRect">
            <a:avLst>
              <a:gd name="adj" fmla="val 21053"/>
            </a:avLst>
          </a:prstGeom>
          <a:solidFill>
            <a:srgbClr val="E9A03B"/>
          </a:solidFill>
          <a:ln/>
        </p:spPr>
      </p:sp>
      <p:sp>
        <p:nvSpPr>
          <p:cNvPr id="62" name="Text 60"/>
          <p:cNvSpPr/>
          <p:nvPr/>
        </p:nvSpPr>
        <p:spPr>
          <a:xfrm>
            <a:off x="9928555"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20–39</a:t>
            </a:r>
            <a:endParaRPr lang="en-US" sz="850" dirty="0"/>
          </a:p>
        </p:txBody>
      </p:sp>
      <p:sp>
        <p:nvSpPr>
          <p:cNvPr id="63" name="Text 61"/>
          <p:cNvSpPr/>
          <p:nvPr/>
        </p:nvSpPr>
        <p:spPr>
          <a:xfrm>
            <a:off x="9928555"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Low</a:t>
            </a:r>
            <a:endParaRPr lang="en-US" sz="750" dirty="0"/>
          </a:p>
        </p:txBody>
      </p:sp>
      <p:sp>
        <p:nvSpPr>
          <p:cNvPr id="64" name="Shape 62"/>
          <p:cNvSpPr/>
          <p:nvPr/>
        </p:nvSpPr>
        <p:spPr>
          <a:xfrm>
            <a:off x="10546690" y="5449824"/>
            <a:ext cx="310896" cy="173736"/>
          </a:xfrm>
          <a:prstGeom prst="roundRect">
            <a:avLst>
              <a:gd name="adj" fmla="val 21053"/>
            </a:avLst>
          </a:prstGeom>
          <a:solidFill>
            <a:srgbClr val="8DA0B8"/>
          </a:solidFill>
          <a:ln/>
        </p:spPr>
      </p:sp>
      <p:sp>
        <p:nvSpPr>
          <p:cNvPr id="65" name="Text 63"/>
          <p:cNvSpPr/>
          <p:nvPr/>
        </p:nvSpPr>
        <p:spPr>
          <a:xfrm>
            <a:off x="10930738" y="5394960"/>
            <a:ext cx="581558" cy="201168"/>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&lt;20</a:t>
            </a:r>
            <a:endParaRPr lang="en-US" sz="850" dirty="0"/>
          </a:p>
        </p:txBody>
      </p:sp>
      <p:sp>
        <p:nvSpPr>
          <p:cNvPr id="66" name="Text 64"/>
          <p:cNvSpPr/>
          <p:nvPr/>
        </p:nvSpPr>
        <p:spPr>
          <a:xfrm>
            <a:off x="10930738" y="5568696"/>
            <a:ext cx="581558" cy="201168"/>
          </a:xfrm>
          <a:prstGeom prst="rect">
            <a:avLst/>
          </a:prstGeom>
          <a:noFill/>
          <a:ln/>
        </p:spPr>
        <p:txBody>
          <a:bodyPr wrap="square" lIns="0" tIns="0" rIns="0" bIns="0" rtlCol="0" anchor="ctr"/>
          <a:lstStyle/>
          <a:p>
            <a:pPr indent="0" marL="0">
              <a:buNone/>
            </a:pPr>
            <a:r>
              <a:rPr lang="en-US" sz="750" dirty="0">
                <a:solidFill>
                  <a:srgbClr val="6B7A90"/>
                </a:solidFill>
                <a:latin typeface="Graphik TH" pitchFamily="34" charset="0"/>
                <a:ea typeface="Graphik TH" pitchFamily="34" charset="-122"/>
                <a:cs typeface="Graphik TH" pitchFamily="34" charset="-120"/>
              </a:rPr>
              <a:t>Very Low</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Two customers, equally sticky today — very different repricing risk</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*Illustrative examples. Stickiness measures observed retention behaviour; rate sensitivity measures how balances sit around the promotional caps.</a:t>
            </a:r>
            <a:endParaRPr lang="en-US" sz="1150" dirty="0"/>
          </a:p>
        </p:txBody>
      </p:sp>
      <p:sp>
        <p:nvSpPr>
          <p:cNvPr id="4" name="Text 2"/>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Both examples score Very High stickiness — they differ only in where balance sits relative to the caps.</a:t>
            </a:r>
            <a:endParaRPr lang="en-US" sz="1400" dirty="0"/>
          </a:p>
        </p:txBody>
      </p:sp>
      <p:sp>
        <p:nvSpPr>
          <p:cNvPr id="5" name="Shape 3"/>
          <p:cNvSpPr/>
          <p:nvPr/>
        </p:nvSpPr>
        <p:spPr>
          <a:xfrm>
            <a:off x="530352" y="1645920"/>
            <a:ext cx="5522976" cy="4169664"/>
          </a:xfrm>
          <a:prstGeom prst="roundRect">
            <a:avLst>
              <a:gd name="adj" fmla="val 1974"/>
            </a:avLst>
          </a:prstGeom>
          <a:solidFill>
            <a:srgbClr val="F1F4F9"/>
          </a:solidFill>
          <a:ln/>
        </p:spPr>
      </p:sp>
      <p:sp>
        <p:nvSpPr>
          <p:cNvPr id="6" name="Text 4"/>
          <p:cNvSpPr/>
          <p:nvPr/>
        </p:nvSpPr>
        <p:spPr>
          <a:xfrm>
            <a:off x="786384" y="1755648"/>
            <a:ext cx="3703320"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Example 1 · Sticky but rate-sensitive</a:t>
            </a:r>
            <a:endParaRPr lang="en-US" sz="1400" dirty="0"/>
          </a:p>
        </p:txBody>
      </p:sp>
      <p:sp>
        <p:nvSpPr>
          <p:cNvPr id="7" name="Shape 5"/>
          <p:cNvSpPr/>
          <p:nvPr/>
        </p:nvSpPr>
        <p:spPr>
          <a:xfrm>
            <a:off x="4562856" y="1737360"/>
            <a:ext cx="1234440" cy="310896"/>
          </a:xfrm>
          <a:prstGeom prst="roundRect">
            <a:avLst>
              <a:gd name="adj" fmla="val 14706"/>
            </a:avLst>
          </a:prstGeom>
          <a:solidFill>
            <a:srgbClr val="E9A03B"/>
          </a:solidFill>
          <a:ln/>
        </p:spPr>
      </p:sp>
      <p:sp>
        <p:nvSpPr>
          <p:cNvPr id="8" name="Text 6"/>
          <p:cNvSpPr/>
          <p:nvPr/>
        </p:nvSpPr>
        <p:spPr>
          <a:xfrm>
            <a:off x="4562856" y="1737360"/>
            <a:ext cx="12344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Maturity risk</a:t>
            </a:r>
            <a:endParaRPr lang="en-US" sz="950" dirty="0"/>
          </a:p>
        </p:txBody>
      </p:sp>
      <p:sp>
        <p:nvSpPr>
          <p:cNvPr id="9" name="Text 7"/>
          <p:cNvSpPr/>
          <p:nvPr/>
        </p:nvSpPr>
        <p:spPr>
          <a:xfrm>
            <a:off x="786384" y="2048256"/>
            <a:ext cx="5010912"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sit exactly at the promotional caps.</a:t>
            </a:r>
            <a:endParaRPr lang="en-US" sz="950" dirty="0"/>
          </a:p>
        </p:txBody>
      </p:sp>
      <p:sp>
        <p:nvSpPr>
          <p:cNvPr id="10" name="Shape 8"/>
          <p:cNvSpPr/>
          <p:nvPr/>
        </p:nvSpPr>
        <p:spPr>
          <a:xfrm>
            <a:off x="786384" y="2267712"/>
            <a:ext cx="1572768" cy="603504"/>
          </a:xfrm>
          <a:prstGeom prst="roundRect">
            <a:avLst>
              <a:gd name="adj" fmla="val 13636"/>
            </a:avLst>
          </a:prstGeom>
          <a:solidFill>
            <a:srgbClr val="FFFFFF"/>
          </a:solidFill>
          <a:ln/>
        </p:spPr>
      </p:sp>
      <p:sp>
        <p:nvSpPr>
          <p:cNvPr id="11" name="Text 9"/>
          <p:cNvSpPr/>
          <p:nvPr/>
        </p:nvSpPr>
        <p:spPr>
          <a:xfrm>
            <a:off x="932688" y="2331720"/>
            <a:ext cx="128016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Main Pocket</a:t>
            </a:r>
            <a:endParaRPr lang="en-US" sz="900" dirty="0"/>
          </a:p>
        </p:txBody>
      </p:sp>
      <p:sp>
        <p:nvSpPr>
          <p:cNvPr id="12" name="Text 10"/>
          <p:cNvSpPr/>
          <p:nvPr/>
        </p:nvSpPr>
        <p:spPr>
          <a:xfrm>
            <a:off x="932688" y="2514600"/>
            <a:ext cx="1280160" cy="292608"/>
          </a:xfrm>
          <a:prstGeom prst="rect">
            <a:avLst/>
          </a:prstGeom>
          <a:noFill/>
          <a:ln/>
        </p:spPr>
        <p:txBody>
          <a:bodyPr wrap="square" lIns="0" tIns="0" rIns="0" bIns="0" rtlCol="0" anchor="ctr"/>
          <a:lstStyle/>
          <a:p>
            <a:pPr indent="0" marL="0">
              <a:buNone/>
            </a:pPr>
            <a:r>
              <a:rPr lang="en-US" sz="1500" b="1" dirty="0">
                <a:solidFill>
                  <a:srgbClr val="16233D"/>
                </a:solidFill>
                <a:latin typeface="Graphik TH" pitchFamily="34" charset="0"/>
                <a:ea typeface="Graphik TH" pitchFamily="34" charset="-122"/>
                <a:cs typeface="Graphik TH" pitchFamily="34" charset="-120"/>
              </a:rPr>
              <a:t>THB 50k</a:t>
            </a:r>
            <a:endParaRPr lang="en-US" sz="1500" dirty="0"/>
          </a:p>
        </p:txBody>
      </p:sp>
      <p:sp>
        <p:nvSpPr>
          <p:cNvPr id="13" name="Shape 11"/>
          <p:cNvSpPr/>
          <p:nvPr/>
        </p:nvSpPr>
        <p:spPr>
          <a:xfrm>
            <a:off x="2505456" y="2267712"/>
            <a:ext cx="1572768" cy="603504"/>
          </a:xfrm>
          <a:prstGeom prst="roundRect">
            <a:avLst>
              <a:gd name="adj" fmla="val 13636"/>
            </a:avLst>
          </a:prstGeom>
          <a:solidFill>
            <a:srgbClr val="FFFFFF"/>
          </a:solidFill>
          <a:ln/>
        </p:spPr>
      </p:sp>
      <p:sp>
        <p:nvSpPr>
          <p:cNvPr id="14" name="Text 12"/>
          <p:cNvSpPr/>
          <p:nvPr/>
        </p:nvSpPr>
        <p:spPr>
          <a:xfrm>
            <a:off x="2651760" y="2331720"/>
            <a:ext cx="91440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Save Max</a:t>
            </a:r>
            <a:endParaRPr lang="en-US" sz="900" dirty="0"/>
          </a:p>
        </p:txBody>
      </p:sp>
      <p:sp>
        <p:nvSpPr>
          <p:cNvPr id="15" name="Shape 13"/>
          <p:cNvSpPr/>
          <p:nvPr/>
        </p:nvSpPr>
        <p:spPr>
          <a:xfrm>
            <a:off x="3456432" y="2327148"/>
            <a:ext cx="475488" cy="192024"/>
          </a:xfrm>
          <a:prstGeom prst="roundRect">
            <a:avLst>
              <a:gd name="adj" fmla="val 23810"/>
            </a:avLst>
          </a:prstGeom>
          <a:solidFill>
            <a:srgbClr val="1E8E86"/>
          </a:solidFill>
          <a:ln/>
        </p:spPr>
      </p:sp>
      <p:sp>
        <p:nvSpPr>
          <p:cNvPr id="16" name="Text 14"/>
          <p:cNvSpPr/>
          <p:nvPr/>
        </p:nvSpPr>
        <p:spPr>
          <a:xfrm>
            <a:off x="3456432" y="2327148"/>
            <a:ext cx="475488" cy="192024"/>
          </a:xfrm>
          <a:prstGeom prst="rect">
            <a:avLst/>
          </a:prstGeom>
          <a:noFill/>
          <a:ln/>
        </p:spPr>
        <p:txBody>
          <a:bodyPr wrap="square" lIns="0" tIns="0" rIns="0" bIns="0" rtlCol="0" anchor="ctr"/>
          <a:lstStyle/>
          <a:p>
            <a:pPr algn="ctr" indent="0" marL="0">
              <a:buNone/>
            </a:pPr>
            <a:r>
              <a:rPr lang="en-US" sz="700" b="1" dirty="0">
                <a:solidFill>
                  <a:srgbClr val="FFFFFF"/>
                </a:solidFill>
                <a:latin typeface="Graphik TH" pitchFamily="34" charset="0"/>
                <a:ea typeface="Graphik TH" pitchFamily="34" charset="-122"/>
                <a:cs typeface="Graphik TH" pitchFamily="34" charset="-120"/>
              </a:rPr>
              <a:t>FLAG Y</a:t>
            </a:r>
            <a:endParaRPr lang="en-US" sz="700" dirty="0"/>
          </a:p>
        </p:txBody>
      </p:sp>
      <p:sp>
        <p:nvSpPr>
          <p:cNvPr id="17" name="Text 15"/>
          <p:cNvSpPr/>
          <p:nvPr/>
        </p:nvSpPr>
        <p:spPr>
          <a:xfrm>
            <a:off x="2651760" y="2514600"/>
            <a:ext cx="1280160" cy="292608"/>
          </a:xfrm>
          <a:prstGeom prst="rect">
            <a:avLst/>
          </a:prstGeom>
          <a:noFill/>
          <a:ln/>
        </p:spPr>
        <p:txBody>
          <a:bodyPr wrap="square" lIns="0" tIns="0" rIns="0" bIns="0" rtlCol="0" anchor="ctr"/>
          <a:lstStyle/>
          <a:p>
            <a:pPr indent="0" marL="0">
              <a:buNone/>
            </a:pPr>
            <a:r>
              <a:rPr lang="en-US" sz="1500" b="1" dirty="0">
                <a:solidFill>
                  <a:srgbClr val="E9A03B"/>
                </a:solidFill>
                <a:latin typeface="Graphik TH" pitchFamily="34" charset="0"/>
                <a:ea typeface="Graphik TH" pitchFamily="34" charset="-122"/>
                <a:cs typeface="Graphik TH" pitchFamily="34" charset="-120"/>
              </a:rPr>
              <a:t>THB 20k</a:t>
            </a:r>
            <a:endParaRPr lang="en-US" sz="1500" dirty="0"/>
          </a:p>
        </p:txBody>
      </p:sp>
      <p:sp>
        <p:nvSpPr>
          <p:cNvPr id="18" name="Shape 16"/>
          <p:cNvSpPr/>
          <p:nvPr/>
        </p:nvSpPr>
        <p:spPr>
          <a:xfrm>
            <a:off x="4224528" y="2267712"/>
            <a:ext cx="1572768" cy="603504"/>
          </a:xfrm>
          <a:prstGeom prst="roundRect">
            <a:avLst>
              <a:gd name="adj" fmla="val 13636"/>
            </a:avLst>
          </a:prstGeom>
          <a:solidFill>
            <a:srgbClr val="FFFFFF"/>
          </a:solidFill>
          <a:ln/>
        </p:spPr>
      </p:sp>
      <p:sp>
        <p:nvSpPr>
          <p:cNvPr id="19" name="Text 17"/>
          <p:cNvSpPr/>
          <p:nvPr/>
        </p:nvSpPr>
        <p:spPr>
          <a:xfrm>
            <a:off x="4370832" y="2331720"/>
            <a:ext cx="91440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Save More</a:t>
            </a:r>
            <a:endParaRPr lang="en-US" sz="900" dirty="0"/>
          </a:p>
        </p:txBody>
      </p:sp>
      <p:sp>
        <p:nvSpPr>
          <p:cNvPr id="20" name="Shape 18"/>
          <p:cNvSpPr/>
          <p:nvPr/>
        </p:nvSpPr>
        <p:spPr>
          <a:xfrm>
            <a:off x="5175504" y="2327148"/>
            <a:ext cx="475488" cy="192024"/>
          </a:xfrm>
          <a:prstGeom prst="roundRect">
            <a:avLst>
              <a:gd name="adj" fmla="val 23810"/>
            </a:avLst>
          </a:prstGeom>
          <a:solidFill>
            <a:srgbClr val="1E8E86"/>
          </a:solidFill>
          <a:ln/>
        </p:spPr>
      </p:sp>
      <p:sp>
        <p:nvSpPr>
          <p:cNvPr id="21" name="Text 19"/>
          <p:cNvSpPr/>
          <p:nvPr/>
        </p:nvSpPr>
        <p:spPr>
          <a:xfrm>
            <a:off x="5175504" y="2327148"/>
            <a:ext cx="475488" cy="192024"/>
          </a:xfrm>
          <a:prstGeom prst="rect">
            <a:avLst/>
          </a:prstGeom>
          <a:noFill/>
          <a:ln/>
        </p:spPr>
        <p:txBody>
          <a:bodyPr wrap="square" lIns="0" tIns="0" rIns="0" bIns="0" rtlCol="0" anchor="ctr"/>
          <a:lstStyle/>
          <a:p>
            <a:pPr algn="ctr" indent="0" marL="0">
              <a:buNone/>
            </a:pPr>
            <a:r>
              <a:rPr lang="en-US" sz="700" b="1" dirty="0">
                <a:solidFill>
                  <a:srgbClr val="FFFFFF"/>
                </a:solidFill>
                <a:latin typeface="Graphik TH" pitchFamily="34" charset="0"/>
                <a:ea typeface="Graphik TH" pitchFamily="34" charset="-122"/>
                <a:cs typeface="Graphik TH" pitchFamily="34" charset="-120"/>
              </a:rPr>
              <a:t>FLAG Y</a:t>
            </a:r>
            <a:endParaRPr lang="en-US" sz="700" dirty="0"/>
          </a:p>
        </p:txBody>
      </p:sp>
      <p:sp>
        <p:nvSpPr>
          <p:cNvPr id="22" name="Text 20"/>
          <p:cNvSpPr/>
          <p:nvPr/>
        </p:nvSpPr>
        <p:spPr>
          <a:xfrm>
            <a:off x="4370832" y="2514600"/>
            <a:ext cx="1280160" cy="292608"/>
          </a:xfrm>
          <a:prstGeom prst="rect">
            <a:avLst/>
          </a:prstGeom>
          <a:noFill/>
          <a:ln/>
        </p:spPr>
        <p:txBody>
          <a:bodyPr wrap="square" lIns="0" tIns="0" rIns="0" bIns="0" rtlCol="0" anchor="ctr"/>
          <a:lstStyle/>
          <a:p>
            <a:pPr indent="0" marL="0">
              <a:buNone/>
            </a:pPr>
            <a:r>
              <a:rPr lang="en-US" sz="1500" b="1" dirty="0">
                <a:solidFill>
                  <a:srgbClr val="E9A03B"/>
                </a:solidFill>
                <a:latin typeface="Graphik TH" pitchFamily="34" charset="0"/>
                <a:ea typeface="Graphik TH" pitchFamily="34" charset="-122"/>
                <a:cs typeface="Graphik TH" pitchFamily="34" charset="-120"/>
              </a:rPr>
              <a:t>THB 1.0m</a:t>
            </a:r>
            <a:endParaRPr lang="en-US" sz="1500" dirty="0"/>
          </a:p>
        </p:txBody>
      </p:sp>
      <p:sp>
        <p:nvSpPr>
          <p:cNvPr id="23" name="Text 21"/>
          <p:cNvSpPr/>
          <p:nvPr/>
        </p:nvSpPr>
        <p:spPr>
          <a:xfrm>
            <a:off x="786384" y="2962656"/>
            <a:ext cx="5010912"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Deposit stickiness components</a:t>
            </a:r>
            <a:endParaRPr lang="en-US" sz="1100" dirty="0"/>
          </a:p>
        </p:txBody>
      </p:sp>
      <p:sp>
        <p:nvSpPr>
          <p:cNvPr id="24" name="Text 22"/>
          <p:cNvSpPr/>
          <p:nvPr/>
        </p:nvSpPr>
        <p:spPr>
          <a:xfrm>
            <a:off x="786384" y="3218688"/>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Balance persistence</a:t>
            </a:r>
            <a:endParaRPr lang="en-US" sz="1000" dirty="0"/>
          </a:p>
        </p:txBody>
      </p:sp>
      <p:sp>
        <p:nvSpPr>
          <p:cNvPr id="25" name="Text 23"/>
          <p:cNvSpPr/>
          <p:nvPr/>
        </p:nvSpPr>
        <p:spPr>
          <a:xfrm>
            <a:off x="2377440" y="3218688"/>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latest ÷ prior avg. balance   ·   40%</a:t>
            </a:r>
            <a:endParaRPr lang="en-US" sz="900" dirty="0"/>
          </a:p>
        </p:txBody>
      </p:sp>
      <p:sp>
        <p:nvSpPr>
          <p:cNvPr id="26" name="Shape 24"/>
          <p:cNvSpPr/>
          <p:nvPr/>
        </p:nvSpPr>
        <p:spPr>
          <a:xfrm>
            <a:off x="5065776" y="3227832"/>
            <a:ext cx="731520" cy="237744"/>
          </a:xfrm>
          <a:prstGeom prst="roundRect">
            <a:avLst>
              <a:gd name="adj" fmla="val 19231"/>
            </a:avLst>
          </a:prstGeom>
          <a:solidFill>
            <a:srgbClr val="165A73"/>
          </a:solidFill>
          <a:ln/>
        </p:spPr>
      </p:sp>
      <p:sp>
        <p:nvSpPr>
          <p:cNvPr id="27" name="Text 25"/>
          <p:cNvSpPr/>
          <p:nvPr/>
        </p:nvSpPr>
        <p:spPr>
          <a:xfrm>
            <a:off x="5065776" y="3227832"/>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95</a:t>
            </a:r>
            <a:endParaRPr lang="en-US" sz="950" dirty="0"/>
          </a:p>
        </p:txBody>
      </p:sp>
      <p:sp>
        <p:nvSpPr>
          <p:cNvPr id="28" name="Text 26"/>
          <p:cNvSpPr/>
          <p:nvPr/>
        </p:nvSpPr>
        <p:spPr>
          <a:xfrm>
            <a:off x="786384" y="3511296"/>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Funding continuity</a:t>
            </a:r>
            <a:endParaRPr lang="en-US" sz="1000" dirty="0"/>
          </a:p>
        </p:txBody>
      </p:sp>
      <p:sp>
        <p:nvSpPr>
          <p:cNvPr id="29" name="Text 27"/>
          <p:cNvSpPr/>
          <p:nvPr/>
        </p:nvSpPr>
        <p:spPr>
          <a:xfrm>
            <a:off x="2377440" y="3511296"/>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 eligible days funded   ·   25%</a:t>
            </a:r>
            <a:endParaRPr lang="en-US" sz="900" dirty="0"/>
          </a:p>
        </p:txBody>
      </p:sp>
      <p:sp>
        <p:nvSpPr>
          <p:cNvPr id="30" name="Shape 28"/>
          <p:cNvSpPr/>
          <p:nvPr/>
        </p:nvSpPr>
        <p:spPr>
          <a:xfrm>
            <a:off x="5065776" y="3520440"/>
            <a:ext cx="731520" cy="237744"/>
          </a:xfrm>
          <a:prstGeom prst="roundRect">
            <a:avLst>
              <a:gd name="adj" fmla="val 19231"/>
            </a:avLst>
          </a:prstGeom>
          <a:solidFill>
            <a:srgbClr val="165A73"/>
          </a:solidFill>
          <a:ln/>
        </p:spPr>
      </p:sp>
      <p:sp>
        <p:nvSpPr>
          <p:cNvPr id="31" name="Text 29"/>
          <p:cNvSpPr/>
          <p:nvPr/>
        </p:nvSpPr>
        <p:spPr>
          <a:xfrm>
            <a:off x="5065776" y="3520440"/>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100</a:t>
            </a:r>
            <a:endParaRPr lang="en-US" sz="950" dirty="0"/>
          </a:p>
        </p:txBody>
      </p:sp>
      <p:sp>
        <p:nvSpPr>
          <p:cNvPr id="32" name="Text 30"/>
          <p:cNvSpPr/>
          <p:nvPr/>
        </p:nvSpPr>
        <p:spPr>
          <a:xfrm>
            <a:off x="786384" y="3803904"/>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Recurring inflow</a:t>
            </a:r>
            <a:endParaRPr lang="en-US" sz="1000" dirty="0"/>
          </a:p>
        </p:txBody>
      </p:sp>
      <p:sp>
        <p:nvSpPr>
          <p:cNvPr id="33" name="Text 31"/>
          <p:cNvSpPr/>
          <p:nvPr/>
        </p:nvSpPr>
        <p:spPr>
          <a:xfrm>
            <a:off x="2377440" y="3803904"/>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 months with inflow   ·   20%</a:t>
            </a:r>
            <a:endParaRPr lang="en-US" sz="900" dirty="0"/>
          </a:p>
        </p:txBody>
      </p:sp>
      <p:sp>
        <p:nvSpPr>
          <p:cNvPr id="34" name="Shape 32"/>
          <p:cNvSpPr/>
          <p:nvPr/>
        </p:nvSpPr>
        <p:spPr>
          <a:xfrm>
            <a:off x="5065776" y="3813048"/>
            <a:ext cx="731520" cy="237744"/>
          </a:xfrm>
          <a:prstGeom prst="roundRect">
            <a:avLst>
              <a:gd name="adj" fmla="val 19231"/>
            </a:avLst>
          </a:prstGeom>
          <a:solidFill>
            <a:srgbClr val="1E8E86"/>
          </a:solidFill>
          <a:ln/>
        </p:spPr>
      </p:sp>
      <p:sp>
        <p:nvSpPr>
          <p:cNvPr id="35" name="Text 33"/>
          <p:cNvSpPr/>
          <p:nvPr/>
        </p:nvSpPr>
        <p:spPr>
          <a:xfrm>
            <a:off x="5065776" y="3813048"/>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75</a:t>
            </a:r>
            <a:endParaRPr lang="en-US" sz="950" dirty="0"/>
          </a:p>
        </p:txBody>
      </p:sp>
      <p:sp>
        <p:nvSpPr>
          <p:cNvPr id="36" name="Text 34"/>
          <p:cNvSpPr/>
          <p:nvPr/>
        </p:nvSpPr>
        <p:spPr>
          <a:xfrm>
            <a:off x="786384" y="4096512"/>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Daily engagement</a:t>
            </a:r>
            <a:endParaRPr lang="en-US" sz="1000" dirty="0"/>
          </a:p>
        </p:txBody>
      </p:sp>
      <p:sp>
        <p:nvSpPr>
          <p:cNvPr id="37" name="Text 35"/>
          <p:cNvSpPr/>
          <p:nvPr/>
        </p:nvSpPr>
        <p:spPr>
          <a:xfrm>
            <a:off x="2377440" y="4096512"/>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active days vs target   ·   15%</a:t>
            </a:r>
            <a:endParaRPr lang="en-US" sz="900" dirty="0"/>
          </a:p>
        </p:txBody>
      </p:sp>
      <p:sp>
        <p:nvSpPr>
          <p:cNvPr id="38" name="Shape 36"/>
          <p:cNvSpPr/>
          <p:nvPr/>
        </p:nvSpPr>
        <p:spPr>
          <a:xfrm>
            <a:off x="5065776" y="4105656"/>
            <a:ext cx="731520" cy="237744"/>
          </a:xfrm>
          <a:prstGeom prst="roundRect">
            <a:avLst>
              <a:gd name="adj" fmla="val 19231"/>
            </a:avLst>
          </a:prstGeom>
          <a:solidFill>
            <a:srgbClr val="3FB89F"/>
          </a:solidFill>
          <a:ln/>
        </p:spPr>
      </p:sp>
      <p:sp>
        <p:nvSpPr>
          <p:cNvPr id="39" name="Text 37"/>
          <p:cNvSpPr/>
          <p:nvPr/>
        </p:nvSpPr>
        <p:spPr>
          <a:xfrm>
            <a:off x="5065776" y="4105656"/>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50</a:t>
            </a:r>
            <a:endParaRPr lang="en-US" sz="950" dirty="0"/>
          </a:p>
        </p:txBody>
      </p:sp>
      <p:sp>
        <p:nvSpPr>
          <p:cNvPr id="40" name="Shape 38"/>
          <p:cNvSpPr/>
          <p:nvPr/>
        </p:nvSpPr>
        <p:spPr>
          <a:xfrm>
            <a:off x="786384" y="4443984"/>
            <a:ext cx="5010912" cy="10973"/>
          </a:xfrm>
          <a:prstGeom prst="rect">
            <a:avLst/>
          </a:prstGeom>
          <a:solidFill>
            <a:srgbClr val="D8DFE9"/>
          </a:solidFill>
          <a:ln/>
        </p:spPr>
      </p:sp>
      <p:sp>
        <p:nvSpPr>
          <p:cNvPr id="41" name="Text 39"/>
          <p:cNvSpPr/>
          <p:nvPr/>
        </p:nvSpPr>
        <p:spPr>
          <a:xfrm>
            <a:off x="786384" y="4553712"/>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Stickiness score</a:t>
            </a:r>
            <a:endParaRPr lang="en-US" sz="1050" dirty="0"/>
          </a:p>
        </p:txBody>
      </p:sp>
      <p:sp>
        <p:nvSpPr>
          <p:cNvPr id="42" name="Text 40"/>
          <p:cNvSpPr/>
          <p:nvPr/>
        </p:nvSpPr>
        <p:spPr>
          <a:xfrm>
            <a:off x="2377440" y="4553712"/>
            <a:ext cx="1956816" cy="274320"/>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40/25/20/15 weighted</a:t>
            </a:r>
            <a:endParaRPr lang="en-US" sz="900" dirty="0"/>
          </a:p>
        </p:txBody>
      </p:sp>
      <p:sp>
        <p:nvSpPr>
          <p:cNvPr id="43" name="Shape 41"/>
          <p:cNvSpPr/>
          <p:nvPr/>
        </p:nvSpPr>
        <p:spPr>
          <a:xfrm>
            <a:off x="4389120" y="4562856"/>
            <a:ext cx="1408176" cy="256032"/>
          </a:xfrm>
          <a:prstGeom prst="roundRect">
            <a:avLst>
              <a:gd name="adj" fmla="val 17857"/>
            </a:avLst>
          </a:prstGeom>
          <a:solidFill>
            <a:srgbClr val="165A73"/>
          </a:solidFill>
          <a:ln/>
        </p:spPr>
      </p:sp>
      <p:sp>
        <p:nvSpPr>
          <p:cNvPr id="44" name="Text 42"/>
          <p:cNvSpPr/>
          <p:nvPr/>
        </p:nvSpPr>
        <p:spPr>
          <a:xfrm>
            <a:off x="4389120" y="4562856"/>
            <a:ext cx="140817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86  ·  Very High</a:t>
            </a:r>
            <a:endParaRPr lang="en-US" sz="950" dirty="0"/>
          </a:p>
        </p:txBody>
      </p:sp>
      <p:sp>
        <p:nvSpPr>
          <p:cNvPr id="45" name="Text 43"/>
          <p:cNvSpPr/>
          <p:nvPr/>
        </p:nvSpPr>
        <p:spPr>
          <a:xfrm>
            <a:off x="786384" y="4882896"/>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Rate sensitivity</a:t>
            </a:r>
            <a:endParaRPr lang="en-US" sz="1050" dirty="0"/>
          </a:p>
        </p:txBody>
      </p:sp>
      <p:sp>
        <p:nvSpPr>
          <p:cNvPr id="46" name="Text 44"/>
          <p:cNvSpPr/>
          <p:nvPr/>
        </p:nvSpPr>
        <p:spPr>
          <a:xfrm>
            <a:off x="2377440" y="4882896"/>
            <a:ext cx="1956816" cy="274320"/>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2/2 near cap  ·  0% above cap</a:t>
            </a:r>
            <a:endParaRPr lang="en-US" sz="900" dirty="0"/>
          </a:p>
        </p:txBody>
      </p:sp>
      <p:sp>
        <p:nvSpPr>
          <p:cNvPr id="47" name="Shape 45"/>
          <p:cNvSpPr/>
          <p:nvPr/>
        </p:nvSpPr>
        <p:spPr>
          <a:xfrm>
            <a:off x="4389120" y="4892040"/>
            <a:ext cx="1408176" cy="256032"/>
          </a:xfrm>
          <a:prstGeom prst="roundRect">
            <a:avLst>
              <a:gd name="adj" fmla="val 17857"/>
            </a:avLst>
          </a:prstGeom>
          <a:solidFill>
            <a:srgbClr val="C00000"/>
          </a:solidFill>
          <a:ln/>
        </p:spPr>
      </p:sp>
      <p:sp>
        <p:nvSpPr>
          <p:cNvPr id="48" name="Text 46"/>
          <p:cNvSpPr/>
          <p:nvPr/>
        </p:nvSpPr>
        <p:spPr>
          <a:xfrm>
            <a:off x="4389120" y="4892040"/>
            <a:ext cx="140817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100  ·  Very High</a:t>
            </a:r>
            <a:endParaRPr lang="en-US" sz="950" dirty="0"/>
          </a:p>
        </p:txBody>
      </p:sp>
      <p:sp>
        <p:nvSpPr>
          <p:cNvPr id="49" name="Shape 47"/>
          <p:cNvSpPr/>
          <p:nvPr/>
        </p:nvSpPr>
        <p:spPr>
          <a:xfrm>
            <a:off x="786384" y="5248656"/>
            <a:ext cx="5010912" cy="512064"/>
          </a:xfrm>
          <a:prstGeom prst="roundRect">
            <a:avLst>
              <a:gd name="adj" fmla="val 16071"/>
            </a:avLst>
          </a:prstGeom>
          <a:solidFill>
            <a:srgbClr val="FBF0E6"/>
          </a:solidFill>
          <a:ln/>
        </p:spPr>
      </p:sp>
      <p:sp>
        <p:nvSpPr>
          <p:cNvPr id="50" name="Text 48"/>
          <p:cNvSpPr/>
          <p:nvPr/>
        </p:nvSpPr>
        <p:spPr>
          <a:xfrm>
            <a:off x="932688" y="5248656"/>
            <a:ext cx="4718304" cy="51206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Layman view: the money has stayed so far, but the customer behaves like a rate optimiser — retest retention when the promo rate reprices.</a:t>
            </a:r>
            <a:endParaRPr lang="en-US" sz="950" dirty="0"/>
          </a:p>
        </p:txBody>
      </p:sp>
      <p:sp>
        <p:nvSpPr>
          <p:cNvPr id="51" name="Shape 49"/>
          <p:cNvSpPr/>
          <p:nvPr/>
        </p:nvSpPr>
        <p:spPr>
          <a:xfrm>
            <a:off x="6281928" y="1645920"/>
            <a:ext cx="5522976" cy="4169664"/>
          </a:xfrm>
          <a:prstGeom prst="roundRect">
            <a:avLst>
              <a:gd name="adj" fmla="val 1974"/>
            </a:avLst>
          </a:prstGeom>
          <a:solidFill>
            <a:srgbClr val="F1F4F9"/>
          </a:solidFill>
          <a:ln/>
        </p:spPr>
      </p:sp>
      <p:sp>
        <p:nvSpPr>
          <p:cNvPr id="52" name="Text 50"/>
          <p:cNvSpPr/>
          <p:nvPr/>
        </p:nvSpPr>
        <p:spPr>
          <a:xfrm>
            <a:off x="6537960" y="1755648"/>
            <a:ext cx="3703320"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Example 2 · Core sticky depositor</a:t>
            </a:r>
            <a:endParaRPr lang="en-US" sz="1400" dirty="0"/>
          </a:p>
        </p:txBody>
      </p:sp>
      <p:sp>
        <p:nvSpPr>
          <p:cNvPr id="53" name="Shape 51"/>
          <p:cNvSpPr/>
          <p:nvPr/>
        </p:nvSpPr>
        <p:spPr>
          <a:xfrm>
            <a:off x="10314432" y="1737360"/>
            <a:ext cx="1234440" cy="310896"/>
          </a:xfrm>
          <a:prstGeom prst="roundRect">
            <a:avLst>
              <a:gd name="adj" fmla="val 14706"/>
            </a:avLst>
          </a:prstGeom>
          <a:solidFill>
            <a:srgbClr val="1E8E86"/>
          </a:solidFill>
          <a:ln/>
        </p:spPr>
      </p:sp>
      <p:sp>
        <p:nvSpPr>
          <p:cNvPr id="54" name="Text 52"/>
          <p:cNvSpPr/>
          <p:nvPr/>
        </p:nvSpPr>
        <p:spPr>
          <a:xfrm>
            <a:off x="10314432" y="1737360"/>
            <a:ext cx="12344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Lower risk</a:t>
            </a:r>
            <a:endParaRPr lang="en-US" sz="950" dirty="0"/>
          </a:p>
        </p:txBody>
      </p:sp>
      <p:sp>
        <p:nvSpPr>
          <p:cNvPr id="55" name="Text 53"/>
          <p:cNvSpPr/>
          <p:nvPr/>
        </p:nvSpPr>
        <p:spPr>
          <a:xfrm>
            <a:off x="6537960" y="2048256"/>
            <a:ext cx="5010912"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Holds meaningful balance above both promotional caps.</a:t>
            </a:r>
            <a:endParaRPr lang="en-US" sz="950" dirty="0"/>
          </a:p>
        </p:txBody>
      </p:sp>
      <p:sp>
        <p:nvSpPr>
          <p:cNvPr id="56" name="Shape 54"/>
          <p:cNvSpPr/>
          <p:nvPr/>
        </p:nvSpPr>
        <p:spPr>
          <a:xfrm>
            <a:off x="6537960" y="2267712"/>
            <a:ext cx="1572768" cy="603504"/>
          </a:xfrm>
          <a:prstGeom prst="roundRect">
            <a:avLst>
              <a:gd name="adj" fmla="val 13636"/>
            </a:avLst>
          </a:prstGeom>
          <a:solidFill>
            <a:srgbClr val="FFFFFF"/>
          </a:solidFill>
          <a:ln/>
        </p:spPr>
      </p:sp>
      <p:sp>
        <p:nvSpPr>
          <p:cNvPr id="57" name="Text 55"/>
          <p:cNvSpPr/>
          <p:nvPr/>
        </p:nvSpPr>
        <p:spPr>
          <a:xfrm>
            <a:off x="6684264" y="2331720"/>
            <a:ext cx="128016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Main Pocket</a:t>
            </a:r>
            <a:endParaRPr lang="en-US" sz="900" dirty="0"/>
          </a:p>
        </p:txBody>
      </p:sp>
      <p:sp>
        <p:nvSpPr>
          <p:cNvPr id="58" name="Text 56"/>
          <p:cNvSpPr/>
          <p:nvPr/>
        </p:nvSpPr>
        <p:spPr>
          <a:xfrm>
            <a:off x="6684264" y="2514600"/>
            <a:ext cx="1280160" cy="292608"/>
          </a:xfrm>
          <a:prstGeom prst="rect">
            <a:avLst/>
          </a:prstGeom>
          <a:noFill/>
          <a:ln/>
        </p:spPr>
        <p:txBody>
          <a:bodyPr wrap="square" lIns="0" tIns="0" rIns="0" bIns="0" rtlCol="0" anchor="ctr"/>
          <a:lstStyle/>
          <a:p>
            <a:pPr indent="0" marL="0">
              <a:buNone/>
            </a:pPr>
            <a:r>
              <a:rPr lang="en-US" sz="1500" b="1" dirty="0">
                <a:solidFill>
                  <a:srgbClr val="16233D"/>
                </a:solidFill>
                <a:latin typeface="Graphik TH" pitchFamily="34" charset="0"/>
                <a:ea typeface="Graphik TH" pitchFamily="34" charset="-122"/>
                <a:cs typeface="Graphik TH" pitchFamily="34" charset="-120"/>
              </a:rPr>
              <a:t>THB 300k</a:t>
            </a:r>
            <a:endParaRPr lang="en-US" sz="1500" dirty="0"/>
          </a:p>
        </p:txBody>
      </p:sp>
      <p:sp>
        <p:nvSpPr>
          <p:cNvPr id="59" name="Shape 57"/>
          <p:cNvSpPr/>
          <p:nvPr/>
        </p:nvSpPr>
        <p:spPr>
          <a:xfrm>
            <a:off x="8257032" y="2267712"/>
            <a:ext cx="1572768" cy="603504"/>
          </a:xfrm>
          <a:prstGeom prst="roundRect">
            <a:avLst>
              <a:gd name="adj" fmla="val 13636"/>
            </a:avLst>
          </a:prstGeom>
          <a:solidFill>
            <a:srgbClr val="FFFFFF"/>
          </a:solidFill>
          <a:ln/>
        </p:spPr>
      </p:sp>
      <p:sp>
        <p:nvSpPr>
          <p:cNvPr id="60" name="Text 58"/>
          <p:cNvSpPr/>
          <p:nvPr/>
        </p:nvSpPr>
        <p:spPr>
          <a:xfrm>
            <a:off x="8403336" y="2331720"/>
            <a:ext cx="91440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Save Max</a:t>
            </a:r>
            <a:endParaRPr lang="en-US" sz="900" dirty="0"/>
          </a:p>
        </p:txBody>
      </p:sp>
      <p:sp>
        <p:nvSpPr>
          <p:cNvPr id="61" name="Shape 59"/>
          <p:cNvSpPr/>
          <p:nvPr/>
        </p:nvSpPr>
        <p:spPr>
          <a:xfrm>
            <a:off x="9208008" y="2327148"/>
            <a:ext cx="475488" cy="192024"/>
          </a:xfrm>
          <a:prstGeom prst="roundRect">
            <a:avLst>
              <a:gd name="adj" fmla="val 23810"/>
            </a:avLst>
          </a:prstGeom>
          <a:solidFill>
            <a:srgbClr val="1E8E86"/>
          </a:solidFill>
          <a:ln/>
        </p:spPr>
      </p:sp>
      <p:sp>
        <p:nvSpPr>
          <p:cNvPr id="62" name="Text 60"/>
          <p:cNvSpPr/>
          <p:nvPr/>
        </p:nvSpPr>
        <p:spPr>
          <a:xfrm>
            <a:off x="9208008" y="2327148"/>
            <a:ext cx="475488" cy="192024"/>
          </a:xfrm>
          <a:prstGeom prst="rect">
            <a:avLst/>
          </a:prstGeom>
          <a:noFill/>
          <a:ln/>
        </p:spPr>
        <p:txBody>
          <a:bodyPr wrap="square" lIns="0" tIns="0" rIns="0" bIns="0" rtlCol="0" anchor="ctr"/>
          <a:lstStyle/>
          <a:p>
            <a:pPr algn="ctr" indent="0" marL="0">
              <a:buNone/>
            </a:pPr>
            <a:r>
              <a:rPr lang="en-US" sz="700" b="1" dirty="0">
                <a:solidFill>
                  <a:srgbClr val="FFFFFF"/>
                </a:solidFill>
                <a:latin typeface="Graphik TH" pitchFamily="34" charset="0"/>
                <a:ea typeface="Graphik TH" pitchFamily="34" charset="-122"/>
                <a:cs typeface="Graphik TH" pitchFamily="34" charset="-120"/>
              </a:rPr>
              <a:t>FLAG Y</a:t>
            </a:r>
            <a:endParaRPr lang="en-US" sz="700" dirty="0"/>
          </a:p>
        </p:txBody>
      </p:sp>
      <p:sp>
        <p:nvSpPr>
          <p:cNvPr id="63" name="Text 61"/>
          <p:cNvSpPr/>
          <p:nvPr/>
        </p:nvSpPr>
        <p:spPr>
          <a:xfrm>
            <a:off x="8403336" y="2514600"/>
            <a:ext cx="1280160" cy="292608"/>
          </a:xfrm>
          <a:prstGeom prst="rect">
            <a:avLst/>
          </a:prstGeom>
          <a:noFill/>
          <a:ln/>
        </p:spPr>
        <p:txBody>
          <a:bodyPr wrap="square" lIns="0" tIns="0" rIns="0" bIns="0" rtlCol="0" anchor="ctr"/>
          <a:lstStyle/>
          <a:p>
            <a:pPr indent="0" marL="0">
              <a:buNone/>
            </a:pPr>
            <a:r>
              <a:rPr lang="en-US" sz="1500" b="1" dirty="0">
                <a:solidFill>
                  <a:srgbClr val="1E8E86"/>
                </a:solidFill>
                <a:latin typeface="Graphik TH" pitchFamily="34" charset="0"/>
                <a:ea typeface="Graphik TH" pitchFamily="34" charset="-122"/>
                <a:cs typeface="Graphik TH" pitchFamily="34" charset="-120"/>
              </a:rPr>
              <a:t>THB 100k</a:t>
            </a:r>
            <a:endParaRPr lang="en-US" sz="1500" dirty="0"/>
          </a:p>
        </p:txBody>
      </p:sp>
      <p:sp>
        <p:nvSpPr>
          <p:cNvPr id="64" name="Shape 62"/>
          <p:cNvSpPr/>
          <p:nvPr/>
        </p:nvSpPr>
        <p:spPr>
          <a:xfrm>
            <a:off x="9976104" y="2267712"/>
            <a:ext cx="1572768" cy="603504"/>
          </a:xfrm>
          <a:prstGeom prst="roundRect">
            <a:avLst>
              <a:gd name="adj" fmla="val 13636"/>
            </a:avLst>
          </a:prstGeom>
          <a:solidFill>
            <a:srgbClr val="FFFFFF"/>
          </a:solidFill>
          <a:ln/>
        </p:spPr>
      </p:sp>
      <p:sp>
        <p:nvSpPr>
          <p:cNvPr id="65" name="Text 63"/>
          <p:cNvSpPr/>
          <p:nvPr/>
        </p:nvSpPr>
        <p:spPr>
          <a:xfrm>
            <a:off x="10122408" y="2331720"/>
            <a:ext cx="914400" cy="182880"/>
          </a:xfrm>
          <a:prstGeom prst="rect">
            <a:avLst/>
          </a:prstGeom>
          <a:noFill/>
          <a:ln/>
        </p:spPr>
        <p:txBody>
          <a:bodyPr wrap="square" lIns="0" tIns="0" rIns="0" bIns="0" rtlCol="0" anchor="ctr"/>
          <a:lstStyle/>
          <a:p>
            <a:pPr indent="0" marL="0">
              <a:buNone/>
            </a:pPr>
            <a:r>
              <a:rPr lang="en-US" sz="900" b="1" dirty="0">
                <a:solidFill>
                  <a:srgbClr val="6B7A90"/>
                </a:solidFill>
                <a:latin typeface="Graphik TH" pitchFamily="34" charset="0"/>
                <a:ea typeface="Graphik TH" pitchFamily="34" charset="-122"/>
                <a:cs typeface="Graphik TH" pitchFamily="34" charset="-120"/>
              </a:rPr>
              <a:t>Save More</a:t>
            </a:r>
            <a:endParaRPr lang="en-US" sz="900" dirty="0"/>
          </a:p>
        </p:txBody>
      </p:sp>
      <p:sp>
        <p:nvSpPr>
          <p:cNvPr id="66" name="Shape 64"/>
          <p:cNvSpPr/>
          <p:nvPr/>
        </p:nvSpPr>
        <p:spPr>
          <a:xfrm>
            <a:off x="10927080" y="2327148"/>
            <a:ext cx="475488" cy="192024"/>
          </a:xfrm>
          <a:prstGeom prst="roundRect">
            <a:avLst>
              <a:gd name="adj" fmla="val 23810"/>
            </a:avLst>
          </a:prstGeom>
          <a:solidFill>
            <a:srgbClr val="1E8E86"/>
          </a:solidFill>
          <a:ln/>
        </p:spPr>
      </p:sp>
      <p:sp>
        <p:nvSpPr>
          <p:cNvPr id="67" name="Text 65"/>
          <p:cNvSpPr/>
          <p:nvPr/>
        </p:nvSpPr>
        <p:spPr>
          <a:xfrm>
            <a:off x="10927080" y="2327148"/>
            <a:ext cx="475488" cy="192024"/>
          </a:xfrm>
          <a:prstGeom prst="rect">
            <a:avLst/>
          </a:prstGeom>
          <a:noFill/>
          <a:ln/>
        </p:spPr>
        <p:txBody>
          <a:bodyPr wrap="square" lIns="0" tIns="0" rIns="0" bIns="0" rtlCol="0" anchor="ctr"/>
          <a:lstStyle/>
          <a:p>
            <a:pPr algn="ctr" indent="0" marL="0">
              <a:buNone/>
            </a:pPr>
            <a:r>
              <a:rPr lang="en-US" sz="700" b="1" dirty="0">
                <a:solidFill>
                  <a:srgbClr val="FFFFFF"/>
                </a:solidFill>
                <a:latin typeface="Graphik TH" pitchFamily="34" charset="0"/>
                <a:ea typeface="Graphik TH" pitchFamily="34" charset="-122"/>
                <a:cs typeface="Graphik TH" pitchFamily="34" charset="-120"/>
              </a:rPr>
              <a:t>FLAG Y</a:t>
            </a:r>
            <a:endParaRPr lang="en-US" sz="700" dirty="0"/>
          </a:p>
        </p:txBody>
      </p:sp>
      <p:sp>
        <p:nvSpPr>
          <p:cNvPr id="68" name="Text 66"/>
          <p:cNvSpPr/>
          <p:nvPr/>
        </p:nvSpPr>
        <p:spPr>
          <a:xfrm>
            <a:off x="10122408" y="2514600"/>
            <a:ext cx="1280160" cy="292608"/>
          </a:xfrm>
          <a:prstGeom prst="rect">
            <a:avLst/>
          </a:prstGeom>
          <a:noFill/>
          <a:ln/>
        </p:spPr>
        <p:txBody>
          <a:bodyPr wrap="square" lIns="0" tIns="0" rIns="0" bIns="0" rtlCol="0" anchor="ctr"/>
          <a:lstStyle/>
          <a:p>
            <a:pPr indent="0" marL="0">
              <a:buNone/>
            </a:pPr>
            <a:r>
              <a:rPr lang="en-US" sz="1500" b="1" dirty="0">
                <a:solidFill>
                  <a:srgbClr val="1E8E86"/>
                </a:solidFill>
                <a:latin typeface="Graphik TH" pitchFamily="34" charset="0"/>
                <a:ea typeface="Graphik TH" pitchFamily="34" charset="-122"/>
                <a:cs typeface="Graphik TH" pitchFamily="34" charset="-120"/>
              </a:rPr>
              <a:t>THB 1.5m</a:t>
            </a:r>
            <a:endParaRPr lang="en-US" sz="1500" dirty="0"/>
          </a:p>
        </p:txBody>
      </p:sp>
      <p:sp>
        <p:nvSpPr>
          <p:cNvPr id="69" name="Text 67"/>
          <p:cNvSpPr/>
          <p:nvPr/>
        </p:nvSpPr>
        <p:spPr>
          <a:xfrm>
            <a:off x="6537960" y="2962656"/>
            <a:ext cx="5010912" cy="23774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Deposit stickiness components</a:t>
            </a:r>
            <a:endParaRPr lang="en-US" sz="1100" dirty="0"/>
          </a:p>
        </p:txBody>
      </p:sp>
      <p:sp>
        <p:nvSpPr>
          <p:cNvPr id="70" name="Text 68"/>
          <p:cNvSpPr/>
          <p:nvPr/>
        </p:nvSpPr>
        <p:spPr>
          <a:xfrm>
            <a:off x="6537960" y="3218688"/>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Balance persistence</a:t>
            </a:r>
            <a:endParaRPr lang="en-US" sz="1000" dirty="0"/>
          </a:p>
        </p:txBody>
      </p:sp>
      <p:sp>
        <p:nvSpPr>
          <p:cNvPr id="71" name="Text 69"/>
          <p:cNvSpPr/>
          <p:nvPr/>
        </p:nvSpPr>
        <p:spPr>
          <a:xfrm>
            <a:off x="8129016" y="3218688"/>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latest ÷ prior avg. balance   ·   40%</a:t>
            </a:r>
            <a:endParaRPr lang="en-US" sz="900" dirty="0"/>
          </a:p>
        </p:txBody>
      </p:sp>
      <p:sp>
        <p:nvSpPr>
          <p:cNvPr id="72" name="Shape 70"/>
          <p:cNvSpPr/>
          <p:nvPr/>
        </p:nvSpPr>
        <p:spPr>
          <a:xfrm>
            <a:off x="10817352" y="3227832"/>
            <a:ext cx="731520" cy="237744"/>
          </a:xfrm>
          <a:prstGeom prst="roundRect">
            <a:avLst>
              <a:gd name="adj" fmla="val 19231"/>
            </a:avLst>
          </a:prstGeom>
          <a:solidFill>
            <a:srgbClr val="165A73"/>
          </a:solidFill>
          <a:ln/>
        </p:spPr>
      </p:sp>
      <p:sp>
        <p:nvSpPr>
          <p:cNvPr id="73" name="Text 71"/>
          <p:cNvSpPr/>
          <p:nvPr/>
        </p:nvSpPr>
        <p:spPr>
          <a:xfrm>
            <a:off x="10817352" y="3227832"/>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90</a:t>
            </a:r>
            <a:endParaRPr lang="en-US" sz="950" dirty="0"/>
          </a:p>
        </p:txBody>
      </p:sp>
      <p:sp>
        <p:nvSpPr>
          <p:cNvPr id="74" name="Text 72"/>
          <p:cNvSpPr/>
          <p:nvPr/>
        </p:nvSpPr>
        <p:spPr>
          <a:xfrm>
            <a:off x="6537960" y="3511296"/>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Funding continuity</a:t>
            </a:r>
            <a:endParaRPr lang="en-US" sz="1000" dirty="0"/>
          </a:p>
        </p:txBody>
      </p:sp>
      <p:sp>
        <p:nvSpPr>
          <p:cNvPr id="75" name="Text 73"/>
          <p:cNvSpPr/>
          <p:nvPr/>
        </p:nvSpPr>
        <p:spPr>
          <a:xfrm>
            <a:off x="8129016" y="3511296"/>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 eligible days funded   ·   25%</a:t>
            </a:r>
            <a:endParaRPr lang="en-US" sz="900" dirty="0"/>
          </a:p>
        </p:txBody>
      </p:sp>
      <p:sp>
        <p:nvSpPr>
          <p:cNvPr id="76" name="Shape 74"/>
          <p:cNvSpPr/>
          <p:nvPr/>
        </p:nvSpPr>
        <p:spPr>
          <a:xfrm>
            <a:off x="10817352" y="3520440"/>
            <a:ext cx="731520" cy="237744"/>
          </a:xfrm>
          <a:prstGeom prst="roundRect">
            <a:avLst>
              <a:gd name="adj" fmla="val 19231"/>
            </a:avLst>
          </a:prstGeom>
          <a:solidFill>
            <a:srgbClr val="165A73"/>
          </a:solidFill>
          <a:ln/>
        </p:spPr>
      </p:sp>
      <p:sp>
        <p:nvSpPr>
          <p:cNvPr id="77" name="Text 75"/>
          <p:cNvSpPr/>
          <p:nvPr/>
        </p:nvSpPr>
        <p:spPr>
          <a:xfrm>
            <a:off x="10817352" y="3520440"/>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95</a:t>
            </a:r>
            <a:endParaRPr lang="en-US" sz="950" dirty="0"/>
          </a:p>
        </p:txBody>
      </p:sp>
      <p:sp>
        <p:nvSpPr>
          <p:cNvPr id="78" name="Text 76"/>
          <p:cNvSpPr/>
          <p:nvPr/>
        </p:nvSpPr>
        <p:spPr>
          <a:xfrm>
            <a:off x="6537960" y="3803904"/>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Recurring inflow</a:t>
            </a:r>
            <a:endParaRPr lang="en-US" sz="1000" dirty="0"/>
          </a:p>
        </p:txBody>
      </p:sp>
      <p:sp>
        <p:nvSpPr>
          <p:cNvPr id="79" name="Text 77"/>
          <p:cNvSpPr/>
          <p:nvPr/>
        </p:nvSpPr>
        <p:spPr>
          <a:xfrm>
            <a:off x="8129016" y="3803904"/>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 months with inflow   ·   20%</a:t>
            </a:r>
            <a:endParaRPr lang="en-US" sz="900" dirty="0"/>
          </a:p>
        </p:txBody>
      </p:sp>
      <p:sp>
        <p:nvSpPr>
          <p:cNvPr id="80" name="Shape 78"/>
          <p:cNvSpPr/>
          <p:nvPr/>
        </p:nvSpPr>
        <p:spPr>
          <a:xfrm>
            <a:off x="10817352" y="3813048"/>
            <a:ext cx="731520" cy="237744"/>
          </a:xfrm>
          <a:prstGeom prst="roundRect">
            <a:avLst>
              <a:gd name="adj" fmla="val 19231"/>
            </a:avLst>
          </a:prstGeom>
          <a:solidFill>
            <a:srgbClr val="165A73"/>
          </a:solidFill>
          <a:ln/>
        </p:spPr>
      </p:sp>
      <p:sp>
        <p:nvSpPr>
          <p:cNvPr id="81" name="Text 79"/>
          <p:cNvSpPr/>
          <p:nvPr/>
        </p:nvSpPr>
        <p:spPr>
          <a:xfrm>
            <a:off x="10817352" y="3813048"/>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100</a:t>
            </a:r>
            <a:endParaRPr lang="en-US" sz="950" dirty="0"/>
          </a:p>
        </p:txBody>
      </p:sp>
      <p:sp>
        <p:nvSpPr>
          <p:cNvPr id="82" name="Text 80"/>
          <p:cNvSpPr/>
          <p:nvPr/>
        </p:nvSpPr>
        <p:spPr>
          <a:xfrm>
            <a:off x="6537960" y="4096512"/>
            <a:ext cx="155448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Daily engagement</a:t>
            </a:r>
            <a:endParaRPr lang="en-US" sz="1000" dirty="0"/>
          </a:p>
        </p:txBody>
      </p:sp>
      <p:sp>
        <p:nvSpPr>
          <p:cNvPr id="83" name="Text 81"/>
          <p:cNvSpPr/>
          <p:nvPr/>
        </p:nvSpPr>
        <p:spPr>
          <a:xfrm>
            <a:off x="8129016" y="4096512"/>
            <a:ext cx="2651760" cy="256032"/>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active days vs target   ·   15%</a:t>
            </a:r>
            <a:endParaRPr lang="en-US" sz="900" dirty="0"/>
          </a:p>
        </p:txBody>
      </p:sp>
      <p:sp>
        <p:nvSpPr>
          <p:cNvPr id="84" name="Shape 82"/>
          <p:cNvSpPr/>
          <p:nvPr/>
        </p:nvSpPr>
        <p:spPr>
          <a:xfrm>
            <a:off x="10817352" y="4105656"/>
            <a:ext cx="731520" cy="237744"/>
          </a:xfrm>
          <a:prstGeom prst="roundRect">
            <a:avLst>
              <a:gd name="adj" fmla="val 19231"/>
            </a:avLst>
          </a:prstGeom>
          <a:solidFill>
            <a:srgbClr val="1E8E86"/>
          </a:solidFill>
          <a:ln/>
        </p:spPr>
      </p:sp>
      <p:sp>
        <p:nvSpPr>
          <p:cNvPr id="85" name="Text 83"/>
          <p:cNvSpPr/>
          <p:nvPr/>
        </p:nvSpPr>
        <p:spPr>
          <a:xfrm>
            <a:off x="10817352" y="4105656"/>
            <a:ext cx="7315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75</a:t>
            </a:r>
            <a:endParaRPr lang="en-US" sz="950" dirty="0"/>
          </a:p>
        </p:txBody>
      </p:sp>
      <p:sp>
        <p:nvSpPr>
          <p:cNvPr id="86" name="Shape 84"/>
          <p:cNvSpPr/>
          <p:nvPr/>
        </p:nvSpPr>
        <p:spPr>
          <a:xfrm>
            <a:off x="6537960" y="4443984"/>
            <a:ext cx="5010912" cy="10973"/>
          </a:xfrm>
          <a:prstGeom prst="rect">
            <a:avLst/>
          </a:prstGeom>
          <a:solidFill>
            <a:srgbClr val="D8DFE9"/>
          </a:solidFill>
          <a:ln/>
        </p:spPr>
      </p:sp>
      <p:sp>
        <p:nvSpPr>
          <p:cNvPr id="87" name="Text 85"/>
          <p:cNvSpPr/>
          <p:nvPr/>
        </p:nvSpPr>
        <p:spPr>
          <a:xfrm>
            <a:off x="6537960" y="4553712"/>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Stickiness score</a:t>
            </a:r>
            <a:endParaRPr lang="en-US" sz="1050" dirty="0"/>
          </a:p>
        </p:txBody>
      </p:sp>
      <p:sp>
        <p:nvSpPr>
          <p:cNvPr id="88" name="Text 86"/>
          <p:cNvSpPr/>
          <p:nvPr/>
        </p:nvSpPr>
        <p:spPr>
          <a:xfrm>
            <a:off x="8129016" y="4553712"/>
            <a:ext cx="1956816" cy="274320"/>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40/25/20/15 weighted</a:t>
            </a:r>
            <a:endParaRPr lang="en-US" sz="900" dirty="0"/>
          </a:p>
        </p:txBody>
      </p:sp>
      <p:sp>
        <p:nvSpPr>
          <p:cNvPr id="89" name="Shape 87"/>
          <p:cNvSpPr/>
          <p:nvPr/>
        </p:nvSpPr>
        <p:spPr>
          <a:xfrm>
            <a:off x="10140696" y="4562856"/>
            <a:ext cx="1408176" cy="256032"/>
          </a:xfrm>
          <a:prstGeom prst="roundRect">
            <a:avLst>
              <a:gd name="adj" fmla="val 17857"/>
            </a:avLst>
          </a:prstGeom>
          <a:solidFill>
            <a:srgbClr val="165A73"/>
          </a:solidFill>
          <a:ln/>
        </p:spPr>
      </p:sp>
      <p:sp>
        <p:nvSpPr>
          <p:cNvPr id="90" name="Text 88"/>
          <p:cNvSpPr/>
          <p:nvPr/>
        </p:nvSpPr>
        <p:spPr>
          <a:xfrm>
            <a:off x="10140696" y="4562856"/>
            <a:ext cx="140817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91  ·  Very High</a:t>
            </a:r>
            <a:endParaRPr lang="en-US" sz="950" dirty="0"/>
          </a:p>
        </p:txBody>
      </p:sp>
      <p:sp>
        <p:nvSpPr>
          <p:cNvPr id="91" name="Text 89"/>
          <p:cNvSpPr/>
          <p:nvPr/>
        </p:nvSpPr>
        <p:spPr>
          <a:xfrm>
            <a:off x="6537960" y="4882896"/>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Rate sensitivity</a:t>
            </a:r>
            <a:endParaRPr lang="en-US" sz="1050" dirty="0"/>
          </a:p>
        </p:txBody>
      </p:sp>
      <p:sp>
        <p:nvSpPr>
          <p:cNvPr id="92" name="Text 90"/>
          <p:cNvSpPr/>
          <p:nvPr/>
        </p:nvSpPr>
        <p:spPr>
          <a:xfrm>
            <a:off x="8129016" y="4882896"/>
            <a:ext cx="1956816" cy="274320"/>
          </a:xfrm>
          <a:prstGeom prst="rect">
            <a:avLst/>
          </a:prstGeom>
          <a:noFill/>
          <a:ln/>
        </p:spPr>
        <p:txBody>
          <a:bodyPr wrap="square" lIns="0" tIns="0" rIns="0" bIns="0" rtlCol="0" anchor="ctr"/>
          <a:lstStyle/>
          <a:p>
            <a:pPr indent="0" marL="0">
              <a:buNone/>
            </a:pPr>
            <a:r>
              <a:rPr lang="en-US" sz="900" dirty="0">
                <a:solidFill>
                  <a:srgbClr val="6B7A90"/>
                </a:solidFill>
                <a:latin typeface="Graphik TH" pitchFamily="34" charset="0"/>
                <a:ea typeface="Graphik TH" pitchFamily="34" charset="-122"/>
                <a:cs typeface="Graphik TH" pitchFamily="34" charset="-120"/>
              </a:rPr>
              <a:t>0/2 near cap  ·  36% above cap</a:t>
            </a:r>
            <a:endParaRPr lang="en-US" sz="900" dirty="0"/>
          </a:p>
        </p:txBody>
      </p:sp>
      <p:sp>
        <p:nvSpPr>
          <p:cNvPr id="93" name="Shape 91"/>
          <p:cNvSpPr/>
          <p:nvPr/>
        </p:nvSpPr>
        <p:spPr>
          <a:xfrm>
            <a:off x="10140696" y="4892040"/>
            <a:ext cx="1408176" cy="256032"/>
          </a:xfrm>
          <a:prstGeom prst="roundRect">
            <a:avLst>
              <a:gd name="adj" fmla="val 17857"/>
            </a:avLst>
          </a:prstGeom>
          <a:solidFill>
            <a:srgbClr val="1E8E86"/>
          </a:solidFill>
          <a:ln/>
        </p:spPr>
      </p:sp>
      <p:sp>
        <p:nvSpPr>
          <p:cNvPr id="94" name="Text 92"/>
          <p:cNvSpPr/>
          <p:nvPr/>
        </p:nvSpPr>
        <p:spPr>
          <a:xfrm>
            <a:off x="10140696" y="4892040"/>
            <a:ext cx="140817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19  ·  Very Low</a:t>
            </a:r>
            <a:endParaRPr lang="en-US" sz="950" dirty="0"/>
          </a:p>
        </p:txBody>
      </p:sp>
      <p:sp>
        <p:nvSpPr>
          <p:cNvPr id="95" name="Shape 93"/>
          <p:cNvSpPr/>
          <p:nvPr/>
        </p:nvSpPr>
        <p:spPr>
          <a:xfrm>
            <a:off x="6537960" y="5248656"/>
            <a:ext cx="5010912" cy="512064"/>
          </a:xfrm>
          <a:prstGeom prst="roundRect">
            <a:avLst>
              <a:gd name="adj" fmla="val 16071"/>
            </a:avLst>
          </a:prstGeom>
          <a:solidFill>
            <a:srgbClr val="E8F6F3"/>
          </a:solidFill>
          <a:ln/>
        </p:spPr>
      </p:sp>
      <p:sp>
        <p:nvSpPr>
          <p:cNvPr id="96" name="Text 94"/>
          <p:cNvSpPr/>
          <p:nvPr/>
        </p:nvSpPr>
        <p:spPr>
          <a:xfrm>
            <a:off x="6684264" y="5248656"/>
            <a:ext cx="4718304" cy="51206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Layman view: the money stays and the customer holds well above the high-rate limits — a sign of structural, not promo-driven, deposits.</a:t>
            </a:r>
            <a:endParaRPr lang="en-US" sz="950" dirty="0"/>
          </a:p>
        </p:txBody>
      </p:sp>
      <p:sp>
        <p:nvSpPr>
          <p:cNvPr id="97" name="Shape 95"/>
          <p:cNvSpPr/>
          <p:nvPr/>
        </p:nvSpPr>
        <p:spPr>
          <a:xfrm>
            <a:off x="530352" y="5943600"/>
            <a:ext cx="11274552" cy="530352"/>
          </a:xfrm>
          <a:prstGeom prst="roundRect">
            <a:avLst>
              <a:gd name="adj" fmla="val 15517"/>
            </a:avLst>
          </a:prstGeom>
          <a:solidFill>
            <a:srgbClr val="E8F6F3"/>
          </a:solidFill>
          <a:ln/>
        </p:spPr>
      </p:sp>
      <p:sp>
        <p:nvSpPr>
          <p:cNvPr id="98" name="Text 96"/>
          <p:cNvSpPr/>
          <p:nvPr/>
        </p:nvSpPr>
        <p:spPr>
          <a:xfrm>
            <a:off x="804672" y="5943600"/>
            <a:ext cx="10725912" cy="530352"/>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Stickiness and rate sensitivity answer different questions</a:t>
            </a:r>
            <a:pPr indent="0" marL="0">
              <a:buNone/>
            </a:pPr>
            <a:r>
              <a:rPr lang="en-US" sz="1100" dirty="0">
                <a:solidFill>
                  <a:srgbClr val="16233D"/>
                </a:solidFill>
                <a:latin typeface="Graphik TH" pitchFamily="34" charset="0"/>
                <a:ea typeface="Graphik TH" pitchFamily="34" charset="-122"/>
                <a:cs typeface="Graphik TH" pitchFamily="34" charset="-120"/>
              </a:rPr>
              <a:t>  —  both examples score Very High stickiness, but only Example 2 keeps material balance above the caps. A customer can look sticky today and still be exposed when the promotion reprices.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Save Max : 47.2k customers, THB 685m — THB 478m rate-sensitive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*Pre-maturity view · customers with Save Max balance &gt; 0, by deposit stickiness × rate sensitivity.</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Customers 47.2k   ·   High rate sensitivity 23.8k   ·   Balance THB 685m   ·   At risk THB 478m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Balances concentrate in the High and Very High stickiness tiers, yet most of that balance is also highly rate-sensitive.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47.2k</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Save Max customers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distinct ccd_id, balance &gt; 0</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23.8k</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high-rate-sensitivity</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50% of the cohort</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685m</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Save Max balance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current pocket balance</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478m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at risk</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70% · High + Very High RS</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Customer count</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stickiness · columns: rate sensitivity</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9808" y="3401568"/>
          <a:ext cx="5084064" cy="914400"/>
        </p:xfrm>
        <a:graphic>
          <a:graphicData uri="http://schemas.openxmlformats.org/drawingml/2006/table">
            <a:tbl>
              <a:tblPr/>
              <a:tblGrid>
                <a:gridCol w="1118494"/>
                <a:gridCol w="793114"/>
                <a:gridCol w="793114"/>
                <a:gridCol w="793114"/>
                <a:gridCol w="793114"/>
                <a:gridCol w="793114"/>
              </a:tblGrid>
              <a:tr h="274320">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890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5,595</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2,340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3,318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829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7,809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2,788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15,007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4,791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236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2,073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1,408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bl>
          </a:graphicData>
        </a:graphic>
      </p:graphicFrame>
      <p:sp>
        <p:nvSpPr>
          <p:cNvPr id="26" name="Shape 23"/>
          <p:cNvSpPr/>
          <p:nvPr/>
        </p:nvSpPr>
        <p:spPr>
          <a:xfrm>
            <a:off x="6281928" y="2798064"/>
            <a:ext cx="5522976" cy="2322576"/>
          </a:xfrm>
          <a:prstGeom prst="roundRect">
            <a:avLst>
              <a:gd name="adj" fmla="val 3543"/>
            </a:avLst>
          </a:prstGeom>
          <a:solidFill>
            <a:srgbClr val="F1F4F9"/>
          </a:solidFill>
          <a:ln/>
        </p:spPr>
      </p:sp>
      <p:sp>
        <p:nvSpPr>
          <p:cNvPr id="27" name="Text 24"/>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Balance (THB m)</a:t>
            </a:r>
            <a:endParaRPr lang="en-US" sz="1400" dirty="0"/>
          </a:p>
        </p:txBody>
      </p:sp>
      <p:sp>
        <p:nvSpPr>
          <p:cNvPr id="28" name="Text 25"/>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stickiness · columns: rate sensitivity</a:t>
            </a:r>
            <a:endParaRPr lang="en-US" sz="9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501384" y="3401568"/>
          <a:ext cx="5084064" cy="914400"/>
        </p:xfrm>
        <a:graphic>
          <a:graphicData uri="http://schemas.openxmlformats.org/drawingml/2006/table">
            <a:tbl>
              <a:tblPr/>
              <a:tblGrid>
                <a:gridCol w="1118494"/>
                <a:gridCol w="793114"/>
                <a:gridCol w="793114"/>
                <a:gridCol w="793114"/>
                <a:gridCol w="793114"/>
                <a:gridCol w="793114"/>
              </a:tblGrid>
              <a:tr h="274320">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71.6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33.2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47.1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66.7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63.5</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32.0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0.5</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55.9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302.0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bl>
          </a:graphicData>
        </a:graphic>
      </p:graphicFrame>
      <p:sp>
        <p:nvSpPr>
          <p:cNvPr id="30" name="Shape 26"/>
          <p:cNvSpPr/>
          <p:nvPr/>
        </p:nvSpPr>
        <p:spPr>
          <a:xfrm>
            <a:off x="530352" y="5285232"/>
            <a:ext cx="11274552" cy="786384"/>
          </a:xfrm>
          <a:prstGeom prst="roundRect">
            <a:avLst>
              <a:gd name="adj" fmla="val 10465"/>
            </a:avLst>
          </a:prstGeom>
          <a:solidFill>
            <a:srgbClr val="FBF0E6"/>
          </a:solidFill>
          <a:ln/>
        </p:spPr>
      </p:sp>
      <p:sp>
        <p:nvSpPr>
          <p:cNvPr id="31" name="Text 27"/>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THB 472m (99%) of the at-risk balance sits with High / Very High stickiness customers</a:t>
            </a:r>
            <a:pPr indent="0" marL="0">
              <a:buNone/>
            </a:pPr>
            <a:r>
              <a:rPr lang="en-US" sz="1100" dirty="0">
                <a:solidFill>
                  <a:srgbClr val="16233D"/>
                </a:solidFill>
                <a:latin typeface="Graphik TH" pitchFamily="34" charset="0"/>
                <a:ea typeface="Graphik TH" pitchFamily="34" charset="-122"/>
                <a:cs typeface="Graphik TH" pitchFamily="34" charset="-120"/>
              </a:rPr>
              <a:t>  —  so today's stickiness may be promotional. The genuinely fragile subset is stickiness &lt; 60 with rate sensitivity ≥ 60: THB 6m. Monitor it for early runoff signals.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All customers : 1.38m — only 320.1k hold a balance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*Full customer base · distinct ccd_id by deposit stickiness × rate sensitivity.</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Total 1.38m   ·   With balance &gt; 0  320.1k (23%)   ·   High rate sensitivity 25.0k</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 funded base is far stickier than the account base — low stickiness falls from 81% to 21% once you require a balance.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1.38m</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customers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distinct ccd_id</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320.1k</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customers with balance</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23% of the base</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21%</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low stickiness, funded</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against 81% of the full base</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25.0k</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high rate sensitivity</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every one of them holds a balance</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All customers  1.38m</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stickiness · columns: rate sensitivity</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9808" y="3401568"/>
          <a:ext cx="5084064" cy="914400"/>
        </p:xfrm>
        <a:graphic>
          <a:graphicData uri="http://schemas.openxmlformats.org/drawingml/2006/table">
            <a:tbl>
              <a:tblPr/>
              <a:tblGrid>
                <a:gridCol w="1118494"/>
                <a:gridCol w="793114"/>
                <a:gridCol w="793114"/>
                <a:gridCol w="793114"/>
                <a:gridCol w="793114"/>
                <a:gridCol w="793114"/>
              </a:tblGrid>
              <a:tr h="274320">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38,436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9,260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2,340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4,101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75,965</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10,897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2,788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15,372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94,354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6,137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306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37,300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2,433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1,081,554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1,564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bl>
          </a:graphicData>
        </a:graphic>
      </p:graphicFrame>
      <p:sp>
        <p:nvSpPr>
          <p:cNvPr id="26" name="Shape 23"/>
          <p:cNvSpPr/>
          <p:nvPr/>
        </p:nvSpPr>
        <p:spPr>
          <a:xfrm>
            <a:off x="6281928" y="2798064"/>
            <a:ext cx="5522976" cy="2322576"/>
          </a:xfrm>
          <a:prstGeom prst="roundRect">
            <a:avLst>
              <a:gd name="adj" fmla="val 3543"/>
            </a:avLst>
          </a:prstGeom>
          <a:solidFill>
            <a:srgbClr val="F1F4F9"/>
          </a:solidFill>
          <a:ln/>
        </p:spPr>
      </p:sp>
      <p:sp>
        <p:nvSpPr>
          <p:cNvPr id="27" name="Text 24"/>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Customers with balance &gt; 0  320.1k</a:t>
            </a:r>
            <a:endParaRPr lang="en-US" sz="1400" dirty="0"/>
          </a:p>
        </p:txBody>
      </p:sp>
      <p:sp>
        <p:nvSpPr>
          <p:cNvPr id="28" name="Text 25"/>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stickiness · columns: rate sensitivity</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501384" y="3401568"/>
          <a:ext cx="5084064" cy="914400"/>
        </p:xfrm>
        <a:graphic>
          <a:graphicData uri="http://schemas.openxmlformats.org/drawingml/2006/table">
            <a:tbl>
              <a:tblPr/>
              <a:tblGrid>
                <a:gridCol w="1118494"/>
                <a:gridCol w="793114"/>
                <a:gridCol w="793114"/>
                <a:gridCol w="793114"/>
                <a:gridCol w="793114"/>
                <a:gridCol w="793114"/>
              </a:tblGrid>
              <a:tr h="274320">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38,080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9,260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2,340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4,101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72,946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10,897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2,788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15,372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89,934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6,137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306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28,146</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2,433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35,737</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1,564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bl>
          </a:graphicData>
        </a:graphic>
      </p:graphicFrame>
      <p:sp>
        <p:nvSpPr>
          <p:cNvPr id="30" name="Shape 26"/>
          <p:cNvSpPr/>
          <p:nvPr/>
        </p:nvSpPr>
        <p:spPr>
          <a:xfrm>
            <a:off x="530352" y="5285232"/>
            <a:ext cx="11274552" cy="786384"/>
          </a:xfrm>
          <a:prstGeom prst="roundRect">
            <a:avLst>
              <a:gd name="adj" fmla="val 10465"/>
            </a:avLst>
          </a:prstGeom>
          <a:solidFill>
            <a:srgbClr val="E8F6F3"/>
          </a:solidFill>
          <a:ln/>
        </p:spPr>
      </p:sp>
      <p:sp>
        <p:nvSpPr>
          <p:cNvPr id="31" name="Text 27"/>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Very Low stickiness is largely an unfunded population — only 3% of them hold a balance, against 99% of Very High</a:t>
            </a:r>
            <a:pPr indent="0" marL="0">
              <a:buNone/>
            </a:pPr>
            <a:r>
              <a:rPr lang="en-US" sz="1100" dirty="0">
                <a:solidFill>
                  <a:srgbClr val="16233D"/>
                </a:solidFill>
                <a:latin typeface="Graphik TH" pitchFamily="34" charset="0"/>
                <a:ea typeface="Graphik TH" pitchFamily="34" charset="-122"/>
                <a:cs typeface="Graphik TH" pitchFamily="34" charset="-120"/>
              </a:rPr>
              <a:t>  —  so use the funded view for maturity and runoff risk, and the full base for activation and funding strategy.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Funded balance : THB 5.48bn — 70% of it is rate-sensitive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*Customers with balance &gt; 0. Only 4 customers score Medium rate sensitivity, so that band is effectively empty — the score is close to binary.</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Total THB 5.48bn   ·   Rate-sensitive THB 3.83bn (70%)   ·   Save Max THB 0.69bn — 13% of the book</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Seven baht in ten across the deposit book is rate-sensitive — the exposure runs far wider than Save Max.</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5.48bn</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deposit balance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320.1k funded customers</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3.83bn</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rate-sensitive balance</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70% of the book · RS ≥ 60</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96%</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balance in sticky tiers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High + Very High stickiness</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99m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fragile subset</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stickiness &lt; 60 and RS ≥ 60</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Balance (THB m)</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stickiness · columns: rate sensitivity</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9808" y="3401568"/>
          <a:ext cx="6281928" cy="914400"/>
        </p:xfrm>
        <a:graphic>
          <a:graphicData uri="http://schemas.openxmlformats.org/drawingml/2006/table">
            <a:tbl>
              <a:tblPr/>
              <a:tblGrid>
                <a:gridCol w="1382024"/>
                <a:gridCol w="979981"/>
                <a:gridCol w="979981"/>
                <a:gridCol w="979981"/>
                <a:gridCol w="979981"/>
                <a:gridCol w="979981"/>
              </a:tblGrid>
              <a:tr h="274320">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346.4</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591.0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3.3</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464.2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1,258.9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263.9</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310.8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3.0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693.0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1,314.8</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41.2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74.0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11.1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85.1</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6.0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4.0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1.2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1.2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2.2</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6233D"/>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0.0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c>
                  <a:txBody>
                    <a:bodyP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2.0</a:t>
                      </a:r>
                      <a:endParaRPr lang="en-US" sz="950" dirty="0">
                        <a:latin typeface="Graphik TH" charset="0"/>
                        <a:ea typeface="Graphik TH" charset="0"/>
                        <a:cs typeface="Graphik TH" charset="0"/>
                      </a:endParaRPr>
                    </a:p>
                  </a:txBody>
                  <a:tcPr marL="73152" marR="73152"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Average balance per customer</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Funded customers, by stickiness tier</a:t>
            </a:r>
            <a:endParaRPr lang="en-US" sz="950" dirty="0"/>
          </a:p>
        </p:txBody>
      </p:sp>
      <p:sp>
        <p:nvSpPr>
          <p:cNvPr id="29" name="Text 26"/>
          <p:cNvSpPr/>
          <p:nvPr/>
        </p:nvSpPr>
        <p:spPr>
          <a:xfrm>
            <a:off x="7735824" y="3474720"/>
            <a:ext cx="1051560" cy="256032"/>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Very High</a:t>
            </a:r>
            <a:endParaRPr lang="en-US" sz="1050" dirty="0"/>
          </a:p>
        </p:txBody>
      </p:sp>
      <p:sp>
        <p:nvSpPr>
          <p:cNvPr id="30" name="Shape 27"/>
          <p:cNvSpPr/>
          <p:nvPr/>
        </p:nvSpPr>
        <p:spPr>
          <a:xfrm>
            <a:off x="8851392" y="3520440"/>
            <a:ext cx="1417320" cy="164592"/>
          </a:xfrm>
          <a:prstGeom prst="roundRect">
            <a:avLst>
              <a:gd name="adj" fmla="val 16667"/>
            </a:avLst>
          </a:prstGeom>
          <a:solidFill>
            <a:srgbClr val="165A73"/>
          </a:solidFill>
          <a:ln/>
        </p:spPr>
      </p:sp>
      <p:sp>
        <p:nvSpPr>
          <p:cNvPr id="31" name="Text 28"/>
          <p:cNvSpPr/>
          <p:nvPr/>
        </p:nvSpPr>
        <p:spPr>
          <a:xfrm>
            <a:off x="10351008" y="3474720"/>
            <a:ext cx="1197864" cy="256032"/>
          </a:xfrm>
          <a:prstGeom prst="rect">
            <a:avLst/>
          </a:prstGeom>
          <a:noFill/>
          <a:ln/>
        </p:spPr>
        <p:txBody>
          <a:bodyPr wrap="square" lIns="0" tIns="0" rIns="0" bIns="0" rtlCol="0" anchor="ctr"/>
          <a:lstStyle/>
          <a:p>
            <a:pPr algn="r" indent="0" marL="0">
              <a:buNone/>
            </a:pPr>
            <a:r>
              <a:rPr lang="en-US" sz="1050" b="1" dirty="0">
                <a:solidFill>
                  <a:srgbClr val="16233D"/>
                </a:solidFill>
                <a:latin typeface="Graphik TH" pitchFamily="34" charset="0"/>
                <a:ea typeface="Graphik TH" pitchFamily="34" charset="-122"/>
                <a:cs typeface="Graphik TH" pitchFamily="34" charset="-120"/>
              </a:rPr>
              <a:t>THB 49,529</a:t>
            </a:r>
            <a:endParaRPr lang="en-US" sz="1050" dirty="0"/>
          </a:p>
        </p:txBody>
      </p:sp>
      <p:sp>
        <p:nvSpPr>
          <p:cNvPr id="32" name="Text 29"/>
          <p:cNvSpPr/>
          <p:nvPr/>
        </p:nvSpPr>
        <p:spPr>
          <a:xfrm>
            <a:off x="7735824" y="3785616"/>
            <a:ext cx="1051560" cy="256032"/>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High</a:t>
            </a:r>
            <a:endParaRPr lang="en-US" sz="1050" dirty="0"/>
          </a:p>
        </p:txBody>
      </p:sp>
      <p:sp>
        <p:nvSpPr>
          <p:cNvPr id="33" name="Shape 30"/>
          <p:cNvSpPr/>
          <p:nvPr/>
        </p:nvSpPr>
        <p:spPr>
          <a:xfrm>
            <a:off x="8851392" y="3831336"/>
            <a:ext cx="725350" cy="164592"/>
          </a:xfrm>
          <a:prstGeom prst="roundRect">
            <a:avLst>
              <a:gd name="adj" fmla="val 16667"/>
            </a:avLst>
          </a:prstGeom>
          <a:solidFill>
            <a:srgbClr val="1E8E86"/>
          </a:solidFill>
          <a:ln/>
        </p:spPr>
      </p:sp>
      <p:sp>
        <p:nvSpPr>
          <p:cNvPr id="34" name="Text 31"/>
          <p:cNvSpPr/>
          <p:nvPr/>
        </p:nvSpPr>
        <p:spPr>
          <a:xfrm>
            <a:off x="10351008" y="3785616"/>
            <a:ext cx="1197864" cy="256032"/>
          </a:xfrm>
          <a:prstGeom prst="rect">
            <a:avLst/>
          </a:prstGeom>
          <a:noFill/>
          <a:ln/>
        </p:spPr>
        <p:txBody>
          <a:bodyPr wrap="square" lIns="0" tIns="0" rIns="0" bIns="0" rtlCol="0" anchor="ctr"/>
          <a:lstStyle/>
          <a:p>
            <a:pPr algn="r" indent="0" marL="0">
              <a:buNone/>
            </a:pPr>
            <a:r>
              <a:rPr lang="en-US" sz="1050" b="1" dirty="0">
                <a:solidFill>
                  <a:srgbClr val="16233D"/>
                </a:solidFill>
                <a:latin typeface="Graphik TH" pitchFamily="34" charset="0"/>
                <a:ea typeface="Graphik TH" pitchFamily="34" charset="-122"/>
                <a:cs typeface="Graphik TH" pitchFamily="34" charset="-120"/>
              </a:rPr>
              <a:t>THB 25,348</a:t>
            </a:r>
            <a:endParaRPr lang="en-US" sz="1050" dirty="0"/>
          </a:p>
        </p:txBody>
      </p:sp>
      <p:sp>
        <p:nvSpPr>
          <p:cNvPr id="35" name="Text 32"/>
          <p:cNvSpPr/>
          <p:nvPr/>
        </p:nvSpPr>
        <p:spPr>
          <a:xfrm>
            <a:off x="7735824" y="4096512"/>
            <a:ext cx="1051560" cy="256032"/>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Medium</a:t>
            </a:r>
            <a:endParaRPr lang="en-US" sz="1050" dirty="0"/>
          </a:p>
        </p:txBody>
      </p:sp>
      <p:sp>
        <p:nvSpPr>
          <p:cNvPr id="36" name="Shape 33"/>
          <p:cNvSpPr/>
          <p:nvPr/>
        </p:nvSpPr>
        <p:spPr>
          <a:xfrm>
            <a:off x="8851392" y="4142232"/>
            <a:ext cx="62733" cy="164592"/>
          </a:xfrm>
          <a:prstGeom prst="roundRect">
            <a:avLst>
              <a:gd name="adj" fmla="val 43728"/>
            </a:avLst>
          </a:prstGeom>
          <a:solidFill>
            <a:srgbClr val="3FB89F"/>
          </a:solidFill>
          <a:ln/>
        </p:spPr>
      </p:sp>
      <p:sp>
        <p:nvSpPr>
          <p:cNvPr id="37" name="Text 34"/>
          <p:cNvSpPr/>
          <p:nvPr/>
        </p:nvSpPr>
        <p:spPr>
          <a:xfrm>
            <a:off x="10351008" y="4096512"/>
            <a:ext cx="1197864" cy="256032"/>
          </a:xfrm>
          <a:prstGeom prst="rect">
            <a:avLst/>
          </a:prstGeom>
          <a:noFill/>
          <a:ln/>
        </p:spPr>
        <p:txBody>
          <a:bodyPr wrap="square" lIns="0" tIns="0" rIns="0" bIns="0" rtlCol="0" anchor="ctr"/>
          <a:lstStyle/>
          <a:p>
            <a:pPr algn="r" indent="0" marL="0">
              <a:buNone/>
            </a:pPr>
            <a:r>
              <a:rPr lang="en-US" sz="1050" b="1" dirty="0">
                <a:solidFill>
                  <a:srgbClr val="16233D"/>
                </a:solidFill>
                <a:latin typeface="Graphik TH" pitchFamily="34" charset="0"/>
                <a:ea typeface="Graphik TH" pitchFamily="34" charset="-122"/>
                <a:cs typeface="Graphik TH" pitchFamily="34" charset="-120"/>
              </a:rPr>
              <a:t>THB 2,192</a:t>
            </a:r>
            <a:endParaRPr lang="en-US" sz="1050" dirty="0"/>
          </a:p>
        </p:txBody>
      </p:sp>
      <p:sp>
        <p:nvSpPr>
          <p:cNvPr id="38" name="Text 35"/>
          <p:cNvSpPr/>
          <p:nvPr/>
        </p:nvSpPr>
        <p:spPr>
          <a:xfrm>
            <a:off x="7735824" y="4407408"/>
            <a:ext cx="1051560" cy="256032"/>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Low</a:t>
            </a:r>
            <a:endParaRPr lang="en-US" sz="1050" dirty="0"/>
          </a:p>
        </p:txBody>
      </p:sp>
      <p:sp>
        <p:nvSpPr>
          <p:cNvPr id="39" name="Shape 36"/>
          <p:cNvSpPr/>
          <p:nvPr/>
        </p:nvSpPr>
        <p:spPr>
          <a:xfrm>
            <a:off x="8851392" y="4453128"/>
            <a:ext cx="36576" cy="164592"/>
          </a:xfrm>
          <a:prstGeom prst="roundRect">
            <a:avLst>
              <a:gd name="adj" fmla="val 75000"/>
            </a:avLst>
          </a:prstGeom>
          <a:solidFill>
            <a:srgbClr val="E9A03B"/>
          </a:solidFill>
          <a:ln/>
        </p:spPr>
      </p:sp>
      <p:sp>
        <p:nvSpPr>
          <p:cNvPr id="40" name="Text 37"/>
          <p:cNvSpPr/>
          <p:nvPr/>
        </p:nvSpPr>
        <p:spPr>
          <a:xfrm>
            <a:off x="10351008" y="4407408"/>
            <a:ext cx="1197864" cy="256032"/>
          </a:xfrm>
          <a:prstGeom prst="rect">
            <a:avLst/>
          </a:prstGeom>
          <a:noFill/>
          <a:ln/>
        </p:spPr>
        <p:txBody>
          <a:bodyPr wrap="square" lIns="0" tIns="0" rIns="0" bIns="0" rtlCol="0" anchor="ctr"/>
          <a:lstStyle/>
          <a:p>
            <a:pPr algn="r" indent="0" marL="0">
              <a:buNone/>
            </a:pPr>
            <a:r>
              <a:rPr lang="en-US" sz="1050" b="1" dirty="0">
                <a:solidFill>
                  <a:srgbClr val="16233D"/>
                </a:solidFill>
                <a:latin typeface="Graphik TH" pitchFamily="34" charset="0"/>
                <a:ea typeface="Graphik TH" pitchFamily="34" charset="-122"/>
                <a:cs typeface="Graphik TH" pitchFamily="34" charset="-120"/>
              </a:rPr>
              <a:t>THB 370</a:t>
            </a:r>
            <a:endParaRPr lang="en-US" sz="1050" dirty="0"/>
          </a:p>
        </p:txBody>
      </p:sp>
      <p:sp>
        <p:nvSpPr>
          <p:cNvPr id="41" name="Text 38"/>
          <p:cNvSpPr/>
          <p:nvPr/>
        </p:nvSpPr>
        <p:spPr>
          <a:xfrm>
            <a:off x="7735824" y="4718304"/>
            <a:ext cx="1051560" cy="256032"/>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Very Low</a:t>
            </a:r>
            <a:endParaRPr lang="en-US" sz="1050" dirty="0"/>
          </a:p>
        </p:txBody>
      </p:sp>
      <p:sp>
        <p:nvSpPr>
          <p:cNvPr id="42" name="Shape 39"/>
          <p:cNvSpPr/>
          <p:nvPr/>
        </p:nvSpPr>
        <p:spPr>
          <a:xfrm>
            <a:off x="8851392" y="4764024"/>
            <a:ext cx="36576" cy="164592"/>
          </a:xfrm>
          <a:prstGeom prst="roundRect">
            <a:avLst>
              <a:gd name="adj" fmla="val 75000"/>
            </a:avLst>
          </a:prstGeom>
          <a:solidFill>
            <a:srgbClr val="8DA0B8"/>
          </a:solidFill>
          <a:ln/>
        </p:spPr>
      </p:sp>
      <p:sp>
        <p:nvSpPr>
          <p:cNvPr id="43" name="Text 40"/>
          <p:cNvSpPr/>
          <p:nvPr/>
        </p:nvSpPr>
        <p:spPr>
          <a:xfrm>
            <a:off x="10351008" y="4718304"/>
            <a:ext cx="1197864" cy="256032"/>
          </a:xfrm>
          <a:prstGeom prst="rect">
            <a:avLst/>
          </a:prstGeom>
          <a:noFill/>
          <a:ln/>
        </p:spPr>
        <p:txBody>
          <a:bodyPr wrap="square" lIns="0" tIns="0" rIns="0" bIns="0" rtlCol="0" anchor="ctr"/>
          <a:lstStyle/>
          <a:p>
            <a:pPr algn="r" indent="0" marL="0">
              <a:buNone/>
            </a:pPr>
            <a:r>
              <a:rPr lang="en-US" sz="1050" b="1" dirty="0">
                <a:solidFill>
                  <a:srgbClr val="16233D"/>
                </a:solidFill>
                <a:latin typeface="Graphik TH" pitchFamily="34" charset="0"/>
                <a:ea typeface="Graphik TH" pitchFamily="34" charset="-122"/>
                <a:cs typeface="Graphik TH" pitchFamily="34" charset="-120"/>
              </a:rPr>
              <a:t>THB 143</a:t>
            </a:r>
            <a:endParaRPr lang="en-US" sz="1050" dirty="0"/>
          </a:p>
        </p:txBody>
      </p:sp>
      <p:sp>
        <p:nvSpPr>
          <p:cNvPr id="44" name="Text 41"/>
          <p:cNvSpPr/>
          <p:nvPr/>
        </p:nvSpPr>
        <p:spPr>
          <a:xfrm>
            <a:off x="7735824" y="5084064"/>
            <a:ext cx="3813048" cy="274320"/>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Very High stickiness holds ~346× the balance of Very Low.</a:t>
            </a:r>
            <a:endParaRPr lang="en-US" sz="900" dirty="0"/>
          </a:p>
        </p:txBody>
      </p:sp>
      <p:sp>
        <p:nvSpPr>
          <p:cNvPr id="45" name="Shape 42"/>
          <p:cNvSpPr/>
          <p:nvPr/>
        </p:nvSpPr>
        <p:spPr>
          <a:xfrm>
            <a:off x="530352" y="5285232"/>
            <a:ext cx="11274552" cy="786384"/>
          </a:xfrm>
          <a:prstGeom prst="roundRect">
            <a:avLst>
              <a:gd name="adj" fmla="val 10465"/>
            </a:avLst>
          </a:prstGeom>
          <a:solidFill>
            <a:srgbClr val="FBF0E6"/>
          </a:solidFill>
          <a:ln/>
        </p:spPr>
      </p:sp>
      <p:sp>
        <p:nvSpPr>
          <p:cNvPr id="46" name="Text 43"/>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97% of the rate-sensitive balance sits with High / Very High stickiness customers</a:t>
            </a:r>
            <a:pPr indent="0" marL="0">
              <a:buNone/>
            </a:pPr>
            <a:r>
              <a:rPr lang="en-US" sz="1100" dirty="0">
                <a:solidFill>
                  <a:srgbClr val="16233D"/>
                </a:solidFill>
                <a:latin typeface="Graphik TH" pitchFamily="34" charset="0"/>
                <a:ea typeface="Graphik TH" pitchFamily="34" charset="-122"/>
                <a:cs typeface="Graphik TH" pitchFamily="34" charset="-120"/>
              </a:rPr>
              <a:t>  —  the same pattern as Save Max, at eight times the size. The genuinely fragile slice is THB 99m: customers who are neither sticky nor indifferent to price.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Two risk lenses : low stickiness and high rate sensitivity</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*Funded base only (balance &gt; 0). Low stickiness = score &lt; 40 (Low + Very Low bands) · high rate sensitivity = score ≥ 60 (High + Very High bands).</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Funded 320.1k · THB 5.48bn   ·   Low stickiness 67.9k → THB 16.7m   ·   High rate sensitivity 25.0k → THB 3.83bn</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Low-stickiness customers are numerous but barely funded; rate-sensitive customers are few but hold seven baht in ten.</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67.9k</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low-stickiness customers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21.2% of the funded base</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THB 16.7m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they hold</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0.3% of the deposit book</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25.0k</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rate-sensitive customers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7.8% of the funded base · RS ≥ 60</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3.83bn</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at risk</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70% of the deposit book</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Share of customers against share of balance</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Each bar is a percentage of the funded base · full track = 100%</a:t>
            </a:r>
            <a:endParaRPr lang="en-US" sz="950" dirty="0"/>
          </a:p>
        </p:txBody>
      </p:sp>
      <p:sp>
        <p:nvSpPr>
          <p:cNvPr id="25" name="Text 23"/>
          <p:cNvSpPr/>
          <p:nvPr/>
        </p:nvSpPr>
        <p:spPr>
          <a:xfrm>
            <a:off x="786384" y="3401568"/>
            <a:ext cx="6217920" cy="219456"/>
          </a:xfrm>
          <a:prstGeom prst="rect">
            <a:avLst/>
          </a:prstGeom>
          <a:noFill/>
          <a:ln/>
        </p:spPr>
        <p:txBody>
          <a:bodyPr wrap="square" lIns="0" tIns="0" rIns="0" bIns="0" rtlCol="0" anchor="ctr"/>
          <a:lstStyle/>
          <a:p>
            <a:pPr indent="0" marL="0">
              <a:buNone/>
            </a:pPr>
            <a:r>
              <a:rPr lang="en-US" sz="1050" b="1" dirty="0">
                <a:solidFill>
                  <a:srgbClr val="E9A03B"/>
                </a:solidFill>
                <a:latin typeface="Graphik TH" pitchFamily="34" charset="0"/>
                <a:ea typeface="Graphik TH" pitchFamily="34" charset="-122"/>
                <a:cs typeface="Graphik TH" pitchFamily="34" charset="-120"/>
              </a:rPr>
              <a:t>Low stickiness  ·  score &lt; 40</a:t>
            </a:r>
            <a:endParaRPr lang="en-US" sz="1050" dirty="0"/>
          </a:p>
        </p:txBody>
      </p:sp>
      <p:sp>
        <p:nvSpPr>
          <p:cNvPr id="26" name="Text 24"/>
          <p:cNvSpPr/>
          <p:nvPr/>
        </p:nvSpPr>
        <p:spPr>
          <a:xfrm>
            <a:off x="786384" y="3639312"/>
            <a:ext cx="182880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Share of customers</a:t>
            </a:r>
            <a:endParaRPr lang="en-US" sz="1000" dirty="0"/>
          </a:p>
        </p:txBody>
      </p:sp>
      <p:sp>
        <p:nvSpPr>
          <p:cNvPr id="27" name="Shape 25"/>
          <p:cNvSpPr/>
          <p:nvPr/>
        </p:nvSpPr>
        <p:spPr>
          <a:xfrm>
            <a:off x="2670048" y="3675888"/>
            <a:ext cx="3154680" cy="182880"/>
          </a:xfrm>
          <a:prstGeom prst="roundRect">
            <a:avLst>
              <a:gd name="adj" fmla="val 15000"/>
            </a:avLst>
          </a:prstGeom>
          <a:solidFill>
            <a:srgbClr val="E4E9F0"/>
          </a:solidFill>
          <a:ln/>
        </p:spPr>
      </p:sp>
      <p:sp>
        <p:nvSpPr>
          <p:cNvPr id="28" name="Shape 26"/>
          <p:cNvSpPr/>
          <p:nvPr/>
        </p:nvSpPr>
        <p:spPr>
          <a:xfrm>
            <a:off x="2670048" y="3675888"/>
            <a:ext cx="669106" cy="182880"/>
          </a:xfrm>
          <a:prstGeom prst="roundRect">
            <a:avLst>
              <a:gd name="adj" fmla="val 15000"/>
            </a:avLst>
          </a:prstGeom>
          <a:solidFill>
            <a:srgbClr val="E9A03B"/>
          </a:solidFill>
          <a:ln/>
        </p:spPr>
      </p:sp>
      <p:sp>
        <p:nvSpPr>
          <p:cNvPr id="29" name="Text 27"/>
          <p:cNvSpPr/>
          <p:nvPr/>
        </p:nvSpPr>
        <p:spPr>
          <a:xfrm>
            <a:off x="5925312" y="3639312"/>
            <a:ext cx="1088136" cy="256032"/>
          </a:xfrm>
          <a:prstGeom prst="rect">
            <a:avLst/>
          </a:prstGeom>
          <a:noFill/>
          <a:ln/>
        </p:spPr>
        <p:txBody>
          <a:bodyPr wrap="square" lIns="0" tIns="0" rIns="0" bIns="0" rtlCol="0" anchor="ctr"/>
          <a:lstStyle/>
          <a:p>
            <a:pPr algn="r" indent="0" marL="0">
              <a:buNone/>
            </a:pPr>
            <a:r>
              <a:rPr lang="en-US" sz="1050" b="1" dirty="0">
                <a:solidFill>
                  <a:srgbClr val="E9A03B"/>
                </a:solidFill>
                <a:latin typeface="Graphik TH" pitchFamily="34" charset="0"/>
                <a:ea typeface="Graphik TH" pitchFamily="34" charset="-122"/>
                <a:cs typeface="Graphik TH" pitchFamily="34" charset="-120"/>
              </a:rPr>
              <a:t>21.2%</a:t>
            </a:r>
            <a:endParaRPr lang="en-US" sz="1050" dirty="0"/>
          </a:p>
        </p:txBody>
      </p:sp>
      <p:sp>
        <p:nvSpPr>
          <p:cNvPr id="30" name="Text 28"/>
          <p:cNvSpPr/>
          <p:nvPr/>
        </p:nvSpPr>
        <p:spPr>
          <a:xfrm>
            <a:off x="786384" y="3931920"/>
            <a:ext cx="182880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Share of balance</a:t>
            </a:r>
            <a:endParaRPr lang="en-US" sz="1000" dirty="0"/>
          </a:p>
        </p:txBody>
      </p:sp>
      <p:sp>
        <p:nvSpPr>
          <p:cNvPr id="31" name="Shape 29"/>
          <p:cNvSpPr/>
          <p:nvPr/>
        </p:nvSpPr>
        <p:spPr>
          <a:xfrm>
            <a:off x="2670048" y="3968496"/>
            <a:ext cx="3154680" cy="182880"/>
          </a:xfrm>
          <a:prstGeom prst="roundRect">
            <a:avLst>
              <a:gd name="adj" fmla="val 15000"/>
            </a:avLst>
          </a:prstGeom>
          <a:solidFill>
            <a:srgbClr val="E4E9F0"/>
          </a:solidFill>
          <a:ln/>
        </p:spPr>
      </p:sp>
      <p:sp>
        <p:nvSpPr>
          <p:cNvPr id="32" name="Shape 30"/>
          <p:cNvSpPr/>
          <p:nvPr/>
        </p:nvSpPr>
        <p:spPr>
          <a:xfrm>
            <a:off x="2670048" y="3968496"/>
            <a:ext cx="45720" cy="182880"/>
          </a:xfrm>
          <a:prstGeom prst="roundRect">
            <a:avLst>
              <a:gd name="adj" fmla="val 60000"/>
            </a:avLst>
          </a:prstGeom>
          <a:solidFill>
            <a:srgbClr val="E9A03B"/>
          </a:solidFill>
          <a:ln/>
        </p:spPr>
      </p:sp>
      <p:sp>
        <p:nvSpPr>
          <p:cNvPr id="33" name="Text 31"/>
          <p:cNvSpPr/>
          <p:nvPr/>
        </p:nvSpPr>
        <p:spPr>
          <a:xfrm>
            <a:off x="5925312" y="3931920"/>
            <a:ext cx="1088136" cy="256032"/>
          </a:xfrm>
          <a:prstGeom prst="rect">
            <a:avLst/>
          </a:prstGeom>
          <a:noFill/>
          <a:ln/>
        </p:spPr>
        <p:txBody>
          <a:bodyPr wrap="square" lIns="0" tIns="0" rIns="0" bIns="0" rtlCol="0" anchor="ctr"/>
          <a:lstStyle/>
          <a:p>
            <a:pPr algn="r" indent="0" marL="0">
              <a:buNone/>
            </a:pPr>
            <a:r>
              <a:rPr lang="en-US" sz="1050" b="1" dirty="0">
                <a:solidFill>
                  <a:srgbClr val="E9A03B"/>
                </a:solidFill>
                <a:latin typeface="Graphik TH" pitchFamily="34" charset="0"/>
                <a:ea typeface="Graphik TH" pitchFamily="34" charset="-122"/>
                <a:cs typeface="Graphik TH" pitchFamily="34" charset="-120"/>
              </a:rPr>
              <a:t>0.3%</a:t>
            </a:r>
            <a:endParaRPr lang="en-US" sz="1050" dirty="0"/>
          </a:p>
        </p:txBody>
      </p:sp>
      <p:sp>
        <p:nvSpPr>
          <p:cNvPr id="34" name="Text 32"/>
          <p:cNvSpPr/>
          <p:nvPr/>
        </p:nvSpPr>
        <p:spPr>
          <a:xfrm>
            <a:off x="786384" y="4261104"/>
            <a:ext cx="6217920" cy="219456"/>
          </a:xfrm>
          <a:prstGeom prst="rect">
            <a:avLst/>
          </a:prstGeom>
          <a:noFill/>
          <a:ln/>
        </p:spPr>
        <p:txBody>
          <a:bodyPr wrap="square" lIns="0" tIns="0" rIns="0" bIns="0" rtlCol="0" anchor="ctr"/>
          <a:lstStyle/>
          <a:p>
            <a:pPr indent="0" marL="0">
              <a:buNone/>
            </a:pPr>
            <a:r>
              <a:rPr lang="en-US" sz="1050" b="1" dirty="0">
                <a:solidFill>
                  <a:srgbClr val="C00000"/>
                </a:solidFill>
                <a:latin typeface="Graphik TH" pitchFamily="34" charset="0"/>
                <a:ea typeface="Graphik TH" pitchFamily="34" charset="-122"/>
                <a:cs typeface="Graphik TH" pitchFamily="34" charset="-120"/>
              </a:rPr>
              <a:t>High rate sensitivity  ·  score ≥ 60</a:t>
            </a:r>
            <a:endParaRPr lang="en-US" sz="1050" dirty="0"/>
          </a:p>
        </p:txBody>
      </p:sp>
      <p:sp>
        <p:nvSpPr>
          <p:cNvPr id="35" name="Text 33"/>
          <p:cNvSpPr/>
          <p:nvPr/>
        </p:nvSpPr>
        <p:spPr>
          <a:xfrm>
            <a:off x="786384" y="4498848"/>
            <a:ext cx="182880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Share of customers</a:t>
            </a:r>
            <a:endParaRPr lang="en-US" sz="1000" dirty="0"/>
          </a:p>
        </p:txBody>
      </p:sp>
      <p:sp>
        <p:nvSpPr>
          <p:cNvPr id="36" name="Shape 34"/>
          <p:cNvSpPr/>
          <p:nvPr/>
        </p:nvSpPr>
        <p:spPr>
          <a:xfrm>
            <a:off x="2670048" y="4535424"/>
            <a:ext cx="3154680" cy="182880"/>
          </a:xfrm>
          <a:prstGeom prst="roundRect">
            <a:avLst>
              <a:gd name="adj" fmla="val 15000"/>
            </a:avLst>
          </a:prstGeom>
          <a:solidFill>
            <a:srgbClr val="E4E9F0"/>
          </a:solidFill>
          <a:ln/>
        </p:spPr>
      </p:sp>
      <p:sp>
        <p:nvSpPr>
          <p:cNvPr id="37" name="Shape 35"/>
          <p:cNvSpPr/>
          <p:nvPr/>
        </p:nvSpPr>
        <p:spPr>
          <a:xfrm>
            <a:off x="2670048" y="4535424"/>
            <a:ext cx="246090" cy="182880"/>
          </a:xfrm>
          <a:prstGeom prst="roundRect">
            <a:avLst>
              <a:gd name="adj" fmla="val 15000"/>
            </a:avLst>
          </a:prstGeom>
          <a:solidFill>
            <a:srgbClr val="C00000"/>
          </a:solidFill>
          <a:ln/>
        </p:spPr>
      </p:sp>
      <p:sp>
        <p:nvSpPr>
          <p:cNvPr id="38" name="Text 36"/>
          <p:cNvSpPr/>
          <p:nvPr/>
        </p:nvSpPr>
        <p:spPr>
          <a:xfrm>
            <a:off x="5925312" y="4498848"/>
            <a:ext cx="1088136" cy="256032"/>
          </a:xfrm>
          <a:prstGeom prst="rect">
            <a:avLst/>
          </a:prstGeom>
          <a:noFill/>
          <a:ln/>
        </p:spPr>
        <p:txBody>
          <a:bodyPr wrap="square" lIns="0" tIns="0" rIns="0" bIns="0" rtlCol="0" anchor="ctr"/>
          <a:lstStyle/>
          <a:p>
            <a:pPr algn="r" indent="0" marL="0">
              <a:buNone/>
            </a:pPr>
            <a:r>
              <a:rPr lang="en-US" sz="1050" b="1" dirty="0">
                <a:solidFill>
                  <a:srgbClr val="C00000"/>
                </a:solidFill>
                <a:latin typeface="Graphik TH" pitchFamily="34" charset="0"/>
                <a:ea typeface="Graphik TH" pitchFamily="34" charset="-122"/>
                <a:cs typeface="Graphik TH" pitchFamily="34" charset="-120"/>
              </a:rPr>
              <a:t>7.8%</a:t>
            </a:r>
            <a:endParaRPr lang="en-US" sz="1050" dirty="0"/>
          </a:p>
        </p:txBody>
      </p:sp>
      <p:sp>
        <p:nvSpPr>
          <p:cNvPr id="39" name="Text 37"/>
          <p:cNvSpPr/>
          <p:nvPr/>
        </p:nvSpPr>
        <p:spPr>
          <a:xfrm>
            <a:off x="786384" y="4791456"/>
            <a:ext cx="182880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Share of balance</a:t>
            </a:r>
            <a:endParaRPr lang="en-US" sz="1000" dirty="0"/>
          </a:p>
        </p:txBody>
      </p:sp>
      <p:sp>
        <p:nvSpPr>
          <p:cNvPr id="40" name="Shape 38"/>
          <p:cNvSpPr/>
          <p:nvPr/>
        </p:nvSpPr>
        <p:spPr>
          <a:xfrm>
            <a:off x="2670048" y="4828032"/>
            <a:ext cx="3154680" cy="182880"/>
          </a:xfrm>
          <a:prstGeom prst="roundRect">
            <a:avLst>
              <a:gd name="adj" fmla="val 15000"/>
            </a:avLst>
          </a:prstGeom>
          <a:solidFill>
            <a:srgbClr val="E4E9F0"/>
          </a:solidFill>
          <a:ln/>
        </p:spPr>
      </p:sp>
      <p:sp>
        <p:nvSpPr>
          <p:cNvPr id="41" name="Shape 39"/>
          <p:cNvSpPr/>
          <p:nvPr/>
        </p:nvSpPr>
        <p:spPr>
          <a:xfrm>
            <a:off x="2670048" y="4828032"/>
            <a:ext cx="2206080" cy="182880"/>
          </a:xfrm>
          <a:prstGeom prst="roundRect">
            <a:avLst>
              <a:gd name="adj" fmla="val 15000"/>
            </a:avLst>
          </a:prstGeom>
          <a:solidFill>
            <a:srgbClr val="C00000"/>
          </a:solidFill>
          <a:ln/>
        </p:spPr>
      </p:sp>
      <p:sp>
        <p:nvSpPr>
          <p:cNvPr id="42" name="Text 40"/>
          <p:cNvSpPr/>
          <p:nvPr/>
        </p:nvSpPr>
        <p:spPr>
          <a:xfrm>
            <a:off x="5925312" y="4791456"/>
            <a:ext cx="1088136" cy="256032"/>
          </a:xfrm>
          <a:prstGeom prst="rect">
            <a:avLst/>
          </a:prstGeom>
          <a:noFill/>
          <a:ln/>
        </p:spPr>
        <p:txBody>
          <a:bodyPr wrap="square" lIns="0" tIns="0" rIns="0" bIns="0" rtlCol="0" anchor="ctr"/>
          <a:lstStyle/>
          <a:p>
            <a:pPr algn="r" indent="0" marL="0">
              <a:buNone/>
            </a:pPr>
            <a:r>
              <a:rPr lang="en-US" sz="1050" b="1" dirty="0">
                <a:solidFill>
                  <a:srgbClr val="C00000"/>
                </a:solidFill>
                <a:latin typeface="Graphik TH" pitchFamily="34" charset="0"/>
                <a:ea typeface="Graphik TH" pitchFamily="34" charset="-122"/>
                <a:cs typeface="Graphik TH" pitchFamily="34" charset="-120"/>
              </a:rPr>
              <a:t>69.9%</a:t>
            </a:r>
            <a:endParaRPr lang="en-US" sz="1050" dirty="0"/>
          </a:p>
        </p:txBody>
      </p:sp>
      <p:sp>
        <p:nvSpPr>
          <p:cNvPr id="43" name="Shape 41"/>
          <p:cNvSpPr/>
          <p:nvPr/>
        </p:nvSpPr>
        <p:spPr>
          <a:xfrm>
            <a:off x="7479792" y="2798064"/>
            <a:ext cx="4325112" cy="2322576"/>
          </a:xfrm>
          <a:prstGeom prst="roundRect">
            <a:avLst>
              <a:gd name="adj" fmla="val 3543"/>
            </a:avLst>
          </a:prstGeom>
          <a:solidFill>
            <a:srgbClr val="F1F4F9"/>
          </a:solidFill>
          <a:ln/>
        </p:spPr>
      </p:sp>
      <p:sp>
        <p:nvSpPr>
          <p:cNvPr id="44" name="Text 42"/>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Where the two lenses overlap</a:t>
            </a:r>
            <a:endParaRPr lang="en-US" sz="1400" dirty="0"/>
          </a:p>
        </p:txBody>
      </p:sp>
      <p:sp>
        <p:nvSpPr>
          <p:cNvPr id="45" name="Text 43"/>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Stickiness &lt; 60 and rate sensitivity ≥ 60</a:t>
            </a:r>
            <a:endParaRPr lang="en-US" sz="950" dirty="0"/>
          </a:p>
        </p:txBody>
      </p:sp>
      <p:sp>
        <p:nvSpPr>
          <p:cNvPr id="46" name="Text 44"/>
          <p:cNvSpPr/>
          <p:nvPr/>
        </p:nvSpPr>
        <p:spPr>
          <a:xfrm>
            <a:off x="7735824" y="3438144"/>
            <a:ext cx="2011680" cy="402336"/>
          </a:xfrm>
          <a:prstGeom prst="rect">
            <a:avLst/>
          </a:prstGeom>
          <a:noFill/>
          <a:ln/>
        </p:spPr>
        <p:txBody>
          <a:bodyPr wrap="square" lIns="0" tIns="0" rIns="0" bIns="0" rtlCol="0" anchor="ctr"/>
          <a:lstStyle/>
          <a:p>
            <a:pPr indent="0" marL="0">
              <a:buNone/>
            </a:pPr>
            <a:r>
              <a:rPr lang="en-US" sz="2200" b="1" dirty="0">
                <a:solidFill>
                  <a:srgbClr val="C00000"/>
                </a:solidFill>
                <a:latin typeface="Graphik TH" pitchFamily="34" charset="0"/>
                <a:ea typeface="Graphik TH" pitchFamily="34" charset="-122"/>
                <a:cs typeface="Graphik TH" pitchFamily="34" charset="-120"/>
              </a:rPr>
              <a:t>370</a:t>
            </a:r>
            <a:endParaRPr lang="en-US" sz="2200" dirty="0"/>
          </a:p>
        </p:txBody>
      </p:sp>
      <p:sp>
        <p:nvSpPr>
          <p:cNvPr id="47" name="Text 45"/>
          <p:cNvSpPr/>
          <p:nvPr/>
        </p:nvSpPr>
        <p:spPr>
          <a:xfrm>
            <a:off x="9802368" y="3438144"/>
            <a:ext cx="1746504" cy="402336"/>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customers</a:t>
            </a:r>
            <a:endParaRPr lang="en-US" sz="1100" dirty="0"/>
          </a:p>
        </p:txBody>
      </p:sp>
      <p:sp>
        <p:nvSpPr>
          <p:cNvPr id="48" name="Text 46"/>
          <p:cNvSpPr/>
          <p:nvPr/>
        </p:nvSpPr>
        <p:spPr>
          <a:xfrm>
            <a:off x="7735824" y="3895344"/>
            <a:ext cx="2011680" cy="402336"/>
          </a:xfrm>
          <a:prstGeom prst="rect">
            <a:avLst/>
          </a:prstGeom>
          <a:noFill/>
          <a:ln/>
        </p:spPr>
        <p:txBody>
          <a:bodyPr wrap="square" lIns="0" tIns="0" rIns="0" bIns="0" rtlCol="0" anchor="ctr"/>
          <a:lstStyle/>
          <a:p>
            <a:pPr indent="0" marL="0">
              <a:buNone/>
            </a:pPr>
            <a:r>
              <a:rPr lang="en-US" sz="2200" b="1" dirty="0">
                <a:solidFill>
                  <a:srgbClr val="C00000"/>
                </a:solidFill>
                <a:latin typeface="Graphik TH" pitchFamily="34" charset="0"/>
                <a:ea typeface="Graphik TH" pitchFamily="34" charset="-122"/>
                <a:cs typeface="Graphik TH" pitchFamily="34" charset="-120"/>
              </a:rPr>
              <a:t>THB 99m</a:t>
            </a:r>
            <a:endParaRPr lang="en-US" sz="2200" dirty="0"/>
          </a:p>
        </p:txBody>
      </p:sp>
      <p:sp>
        <p:nvSpPr>
          <p:cNvPr id="49" name="Text 47"/>
          <p:cNvSpPr/>
          <p:nvPr/>
        </p:nvSpPr>
        <p:spPr>
          <a:xfrm>
            <a:off x="9802368" y="3895344"/>
            <a:ext cx="1746504" cy="402336"/>
          </a:xfrm>
          <a:prstGeom prst="rect">
            <a:avLst/>
          </a:prstGeom>
          <a:noFill/>
          <a:ln/>
        </p:spPr>
        <p:txBody>
          <a:bodyPr wrap="square" lIns="0" tIns="0" rIns="0" bIns="0" rtlCol="0" anchor="ctr"/>
          <a:lstStyle/>
          <a:p>
            <a:pPr indent="0" marL="0">
              <a:buNone/>
            </a:pPr>
            <a:r>
              <a:rPr lang="en-US" sz="1100" dirty="0">
                <a:solidFill>
                  <a:srgbClr val="16233D"/>
                </a:solidFill>
                <a:latin typeface="Graphik TH" pitchFamily="34" charset="0"/>
                <a:ea typeface="Graphik TH" pitchFamily="34" charset="-122"/>
                <a:cs typeface="Graphik TH" pitchFamily="34" charset="-120"/>
              </a:rPr>
              <a:t>balance at risk</a:t>
            </a:r>
            <a:endParaRPr lang="en-US" sz="1100" dirty="0"/>
          </a:p>
        </p:txBody>
      </p:sp>
      <p:sp>
        <p:nvSpPr>
          <p:cNvPr id="50" name="Shape 48"/>
          <p:cNvSpPr/>
          <p:nvPr/>
        </p:nvSpPr>
        <p:spPr>
          <a:xfrm>
            <a:off x="7735824" y="4389120"/>
            <a:ext cx="3813048" cy="658368"/>
          </a:xfrm>
          <a:prstGeom prst="roundRect">
            <a:avLst>
              <a:gd name="adj" fmla="val 12500"/>
            </a:avLst>
          </a:prstGeom>
          <a:solidFill>
            <a:srgbClr val="FBF0E6"/>
          </a:solidFill>
          <a:ln/>
        </p:spPr>
      </p:sp>
      <p:sp>
        <p:nvSpPr>
          <p:cNvPr id="51" name="Text 49"/>
          <p:cNvSpPr/>
          <p:nvPr/>
        </p:nvSpPr>
        <p:spPr>
          <a:xfrm>
            <a:off x="7882128" y="4389120"/>
            <a:ext cx="3520440" cy="658368"/>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The other 97% of rate-sensitive balance — THB 3.73bn — sits with High / Very High stickiness customers.</a:t>
            </a:r>
            <a:endParaRPr lang="en-US" sz="950" dirty="0"/>
          </a:p>
        </p:txBody>
      </p:sp>
      <p:sp>
        <p:nvSpPr>
          <p:cNvPr id="52" name="Shape 50"/>
          <p:cNvSpPr/>
          <p:nvPr/>
        </p:nvSpPr>
        <p:spPr>
          <a:xfrm>
            <a:off x="530352" y="5285232"/>
            <a:ext cx="11274552" cy="786384"/>
          </a:xfrm>
          <a:prstGeom prst="roundRect">
            <a:avLst>
              <a:gd name="adj" fmla="val 10465"/>
            </a:avLst>
          </a:prstGeom>
          <a:solidFill>
            <a:srgbClr val="FBF0E6"/>
          </a:solidFill>
          <a:ln/>
        </p:spPr>
      </p:sp>
      <p:sp>
        <p:nvSpPr>
          <p:cNvPr id="53" name="Text 51"/>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The balance at risk is not with the disengaged — it is with the rate-optimisers</a:t>
            </a:r>
            <a:pPr indent="0" marL="0">
              <a:buNone/>
            </a:pPr>
            <a:r>
              <a:rPr lang="en-US" sz="1100" dirty="0">
                <a:solidFill>
                  <a:srgbClr val="16233D"/>
                </a:solidFill>
                <a:latin typeface="Graphik TH" pitchFamily="34" charset="0"/>
                <a:ea typeface="Graphik TH" pitchFamily="34" charset="-122"/>
                <a:cs typeface="Graphik TH" pitchFamily="34" charset="-120"/>
              </a:rPr>
              <a:t>  —  67.9k low-stickiness customers hold only THB 16.7m, while 25.0k rate-sensitive customers hold THB 3.83bn. Retention spend belongs with the second group; activation and funding with the first.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Maturity outcome : Save Max −THB 193m, total balance +THB 111m</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*Save Max holders with balance &gt; 0. 'Move' = Save Max now zero. prev / latest balance is the customer's total deposit balance, not Save Max alone.</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Customers 47,184  ·  Moved 6,671 (14.1%)  ·  Save Max THB 685m → 492m  ·  Total THB 2.90bn → 3.01bn</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 money left the pocket, not the bank — Save Max fell 28% while total deposit balance rose 4%.</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47.2k</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customers in cohort</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held Save Max last period</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6,671</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moved out of Save Max</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14.1% · Save Max now zero</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193m</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Save Max balance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−28.2% period on period</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111m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deposit balance</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+3.8% period on period</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Prior period against latest</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Both measures on one scale — Save Max is a pocket inside the total</a:t>
            </a:r>
            <a:endParaRPr lang="en-US" sz="950" dirty="0"/>
          </a:p>
        </p:txBody>
      </p:sp>
      <p:sp>
        <p:nvSpPr>
          <p:cNvPr id="25" name="Text 23"/>
          <p:cNvSpPr/>
          <p:nvPr/>
        </p:nvSpPr>
        <p:spPr>
          <a:xfrm>
            <a:off x="786384" y="3401568"/>
            <a:ext cx="5010912" cy="201168"/>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Save Max pocket</a:t>
            </a:r>
            <a:endParaRPr lang="en-US" sz="1050" dirty="0"/>
          </a:p>
        </p:txBody>
      </p:sp>
      <p:sp>
        <p:nvSpPr>
          <p:cNvPr id="26" name="Text 24"/>
          <p:cNvSpPr/>
          <p:nvPr/>
        </p:nvSpPr>
        <p:spPr>
          <a:xfrm>
            <a:off x="786384" y="3621024"/>
            <a:ext cx="123444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Prior</a:t>
            </a:r>
            <a:endParaRPr lang="en-US" sz="1000" dirty="0"/>
          </a:p>
        </p:txBody>
      </p:sp>
      <p:sp>
        <p:nvSpPr>
          <p:cNvPr id="27" name="Shape 25"/>
          <p:cNvSpPr/>
          <p:nvPr/>
        </p:nvSpPr>
        <p:spPr>
          <a:xfrm>
            <a:off x="2130552" y="3666744"/>
            <a:ext cx="2331720" cy="164592"/>
          </a:xfrm>
          <a:prstGeom prst="roundRect">
            <a:avLst>
              <a:gd name="adj" fmla="val 16667"/>
            </a:avLst>
          </a:prstGeom>
          <a:solidFill>
            <a:srgbClr val="E4E9F0"/>
          </a:solidFill>
          <a:ln/>
        </p:spPr>
      </p:sp>
      <p:sp>
        <p:nvSpPr>
          <p:cNvPr id="28" name="Shape 26"/>
          <p:cNvSpPr/>
          <p:nvPr/>
        </p:nvSpPr>
        <p:spPr>
          <a:xfrm>
            <a:off x="2130552" y="3666744"/>
            <a:ext cx="530098" cy="164592"/>
          </a:xfrm>
          <a:prstGeom prst="roundRect">
            <a:avLst>
              <a:gd name="adj" fmla="val 16667"/>
            </a:avLst>
          </a:prstGeom>
          <a:solidFill>
            <a:srgbClr val="8DA0B8"/>
          </a:solidFill>
          <a:ln/>
        </p:spPr>
      </p:sp>
      <p:sp>
        <p:nvSpPr>
          <p:cNvPr id="29" name="Text 27"/>
          <p:cNvSpPr/>
          <p:nvPr/>
        </p:nvSpPr>
        <p:spPr>
          <a:xfrm>
            <a:off x="4553712" y="3621024"/>
            <a:ext cx="1243584" cy="256032"/>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THB 685m</a:t>
            </a:r>
            <a:endParaRPr lang="en-US" sz="1000" dirty="0"/>
          </a:p>
        </p:txBody>
      </p:sp>
      <p:sp>
        <p:nvSpPr>
          <p:cNvPr id="30" name="Text 28"/>
          <p:cNvSpPr/>
          <p:nvPr/>
        </p:nvSpPr>
        <p:spPr>
          <a:xfrm>
            <a:off x="786384" y="3913632"/>
            <a:ext cx="123444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Latest</a:t>
            </a:r>
            <a:endParaRPr lang="en-US" sz="1000" dirty="0"/>
          </a:p>
        </p:txBody>
      </p:sp>
      <p:sp>
        <p:nvSpPr>
          <p:cNvPr id="31" name="Shape 29"/>
          <p:cNvSpPr/>
          <p:nvPr/>
        </p:nvSpPr>
        <p:spPr>
          <a:xfrm>
            <a:off x="2130552" y="3959352"/>
            <a:ext cx="2331720" cy="164592"/>
          </a:xfrm>
          <a:prstGeom prst="roundRect">
            <a:avLst>
              <a:gd name="adj" fmla="val 16667"/>
            </a:avLst>
          </a:prstGeom>
          <a:solidFill>
            <a:srgbClr val="E4E9F0"/>
          </a:solidFill>
          <a:ln/>
        </p:spPr>
      </p:sp>
      <p:sp>
        <p:nvSpPr>
          <p:cNvPr id="32" name="Shape 30"/>
          <p:cNvSpPr/>
          <p:nvPr/>
        </p:nvSpPr>
        <p:spPr>
          <a:xfrm>
            <a:off x="2130552" y="3959352"/>
            <a:ext cx="380650" cy="164592"/>
          </a:xfrm>
          <a:prstGeom prst="roundRect">
            <a:avLst>
              <a:gd name="adj" fmla="val 16667"/>
            </a:avLst>
          </a:prstGeom>
          <a:solidFill>
            <a:srgbClr val="C00000"/>
          </a:solidFill>
          <a:ln/>
        </p:spPr>
      </p:sp>
      <p:sp>
        <p:nvSpPr>
          <p:cNvPr id="33" name="Text 31"/>
          <p:cNvSpPr/>
          <p:nvPr/>
        </p:nvSpPr>
        <p:spPr>
          <a:xfrm>
            <a:off x="4553712" y="3913632"/>
            <a:ext cx="1243584" cy="256032"/>
          </a:xfrm>
          <a:prstGeom prst="rect">
            <a:avLst/>
          </a:prstGeom>
          <a:noFill/>
          <a:ln/>
        </p:spPr>
        <p:txBody>
          <a:bodyPr wrap="square" lIns="0" tIns="0" rIns="0" bIns="0" rtlCol="0" anchor="ctr"/>
          <a:lstStyle/>
          <a:p>
            <a:pPr algn="r" indent="0" marL="0">
              <a:buNone/>
            </a:pPr>
            <a:r>
              <a:rPr lang="en-US" sz="1000" b="1" dirty="0">
                <a:solidFill>
                  <a:srgbClr val="C00000"/>
                </a:solidFill>
                <a:latin typeface="Graphik TH" pitchFamily="34" charset="0"/>
                <a:ea typeface="Graphik TH" pitchFamily="34" charset="-122"/>
                <a:cs typeface="Graphik TH" pitchFamily="34" charset="-120"/>
              </a:rPr>
              <a:t>THB 492m</a:t>
            </a:r>
            <a:endParaRPr lang="en-US" sz="1000" dirty="0"/>
          </a:p>
        </p:txBody>
      </p:sp>
      <p:sp>
        <p:nvSpPr>
          <p:cNvPr id="34" name="Text 32"/>
          <p:cNvSpPr/>
          <p:nvPr/>
        </p:nvSpPr>
        <p:spPr>
          <a:xfrm>
            <a:off x="786384" y="4242816"/>
            <a:ext cx="5010912" cy="201168"/>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Total deposit balance</a:t>
            </a:r>
            <a:endParaRPr lang="en-US" sz="1050" dirty="0"/>
          </a:p>
        </p:txBody>
      </p:sp>
      <p:sp>
        <p:nvSpPr>
          <p:cNvPr id="35" name="Text 33"/>
          <p:cNvSpPr/>
          <p:nvPr/>
        </p:nvSpPr>
        <p:spPr>
          <a:xfrm>
            <a:off x="786384" y="4462272"/>
            <a:ext cx="123444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Prior</a:t>
            </a:r>
            <a:endParaRPr lang="en-US" sz="1000" dirty="0"/>
          </a:p>
        </p:txBody>
      </p:sp>
      <p:sp>
        <p:nvSpPr>
          <p:cNvPr id="36" name="Shape 34"/>
          <p:cNvSpPr/>
          <p:nvPr/>
        </p:nvSpPr>
        <p:spPr>
          <a:xfrm>
            <a:off x="2130552" y="4507992"/>
            <a:ext cx="2331720" cy="164592"/>
          </a:xfrm>
          <a:prstGeom prst="roundRect">
            <a:avLst>
              <a:gd name="adj" fmla="val 16667"/>
            </a:avLst>
          </a:prstGeom>
          <a:solidFill>
            <a:srgbClr val="E4E9F0"/>
          </a:solidFill>
          <a:ln/>
        </p:spPr>
      </p:sp>
      <p:sp>
        <p:nvSpPr>
          <p:cNvPr id="37" name="Shape 35"/>
          <p:cNvSpPr/>
          <p:nvPr/>
        </p:nvSpPr>
        <p:spPr>
          <a:xfrm>
            <a:off x="2130552" y="4507992"/>
            <a:ext cx="2245618" cy="164592"/>
          </a:xfrm>
          <a:prstGeom prst="roundRect">
            <a:avLst>
              <a:gd name="adj" fmla="val 16667"/>
            </a:avLst>
          </a:prstGeom>
          <a:solidFill>
            <a:srgbClr val="8DA0B8"/>
          </a:solidFill>
          <a:ln/>
        </p:spPr>
      </p:sp>
      <p:sp>
        <p:nvSpPr>
          <p:cNvPr id="38" name="Text 36"/>
          <p:cNvSpPr/>
          <p:nvPr/>
        </p:nvSpPr>
        <p:spPr>
          <a:xfrm>
            <a:off x="4553712" y="4462272"/>
            <a:ext cx="1243584" cy="256032"/>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THB 2,902m</a:t>
            </a:r>
            <a:endParaRPr lang="en-US" sz="1000" dirty="0"/>
          </a:p>
        </p:txBody>
      </p:sp>
      <p:sp>
        <p:nvSpPr>
          <p:cNvPr id="39" name="Text 37"/>
          <p:cNvSpPr/>
          <p:nvPr/>
        </p:nvSpPr>
        <p:spPr>
          <a:xfrm>
            <a:off x="786384" y="4754880"/>
            <a:ext cx="1234440" cy="256032"/>
          </a:xfrm>
          <a:prstGeom prst="rect">
            <a:avLst/>
          </a:prstGeom>
          <a:noFill/>
          <a:ln/>
        </p:spPr>
        <p:txBody>
          <a:bodyPr wrap="square" lIns="0" tIns="0" rIns="0" bIns="0" rtlCol="0" anchor="ctr"/>
          <a:lstStyle/>
          <a:p>
            <a:pPr indent="0" marL="0">
              <a:buNone/>
            </a:pPr>
            <a:r>
              <a:rPr lang="en-US" sz="1000" dirty="0">
                <a:solidFill>
                  <a:srgbClr val="16233D"/>
                </a:solidFill>
                <a:latin typeface="Graphik TH" pitchFamily="34" charset="0"/>
                <a:ea typeface="Graphik TH" pitchFamily="34" charset="-122"/>
                <a:cs typeface="Graphik TH" pitchFamily="34" charset="-120"/>
              </a:rPr>
              <a:t>Latest</a:t>
            </a:r>
            <a:endParaRPr lang="en-US" sz="1000" dirty="0"/>
          </a:p>
        </p:txBody>
      </p:sp>
      <p:sp>
        <p:nvSpPr>
          <p:cNvPr id="40" name="Shape 38"/>
          <p:cNvSpPr/>
          <p:nvPr/>
        </p:nvSpPr>
        <p:spPr>
          <a:xfrm>
            <a:off x="2130552" y="4800600"/>
            <a:ext cx="2331720" cy="164592"/>
          </a:xfrm>
          <a:prstGeom prst="roundRect">
            <a:avLst>
              <a:gd name="adj" fmla="val 16667"/>
            </a:avLst>
          </a:prstGeom>
          <a:solidFill>
            <a:srgbClr val="E4E9F0"/>
          </a:solidFill>
          <a:ln/>
        </p:spPr>
      </p:sp>
      <p:sp>
        <p:nvSpPr>
          <p:cNvPr id="41" name="Shape 39"/>
          <p:cNvSpPr/>
          <p:nvPr/>
        </p:nvSpPr>
        <p:spPr>
          <a:xfrm>
            <a:off x="2130552" y="4800600"/>
            <a:ext cx="2331720" cy="164592"/>
          </a:xfrm>
          <a:prstGeom prst="roundRect">
            <a:avLst>
              <a:gd name="adj" fmla="val 16667"/>
            </a:avLst>
          </a:prstGeom>
          <a:solidFill>
            <a:srgbClr val="1E8E86"/>
          </a:solidFill>
          <a:ln/>
        </p:spPr>
      </p:sp>
      <p:sp>
        <p:nvSpPr>
          <p:cNvPr id="42" name="Text 40"/>
          <p:cNvSpPr/>
          <p:nvPr/>
        </p:nvSpPr>
        <p:spPr>
          <a:xfrm>
            <a:off x="4553712" y="4754880"/>
            <a:ext cx="1243584" cy="256032"/>
          </a:xfrm>
          <a:prstGeom prst="rect">
            <a:avLst/>
          </a:prstGeom>
          <a:noFill/>
          <a:ln/>
        </p:spPr>
        <p:txBody>
          <a:bodyPr wrap="square" lIns="0" tIns="0" rIns="0" bIns="0" rtlCol="0" anchor="ctr"/>
          <a:lstStyle/>
          <a:p>
            <a:pPr algn="r" indent="0" marL="0">
              <a:buNone/>
            </a:pPr>
            <a:r>
              <a:rPr lang="en-US" sz="1000" b="1" dirty="0">
                <a:solidFill>
                  <a:srgbClr val="1E8E86"/>
                </a:solidFill>
                <a:latin typeface="Graphik TH" pitchFamily="34" charset="0"/>
                <a:ea typeface="Graphik TH" pitchFamily="34" charset="-122"/>
                <a:cs typeface="Graphik TH" pitchFamily="34" charset="-120"/>
              </a:rPr>
              <a:t>THB 3,013m</a:t>
            </a:r>
            <a:endParaRPr lang="en-US" sz="1000" dirty="0"/>
          </a:p>
        </p:txBody>
      </p:sp>
      <p:sp>
        <p:nvSpPr>
          <p:cNvPr id="43" name="Shape 41"/>
          <p:cNvSpPr/>
          <p:nvPr/>
        </p:nvSpPr>
        <p:spPr>
          <a:xfrm>
            <a:off x="6281928" y="2798064"/>
            <a:ext cx="5522976" cy="2322576"/>
          </a:xfrm>
          <a:prstGeom prst="roundRect">
            <a:avLst>
              <a:gd name="adj" fmla="val 3543"/>
            </a:avLst>
          </a:prstGeom>
          <a:solidFill>
            <a:srgbClr val="F1F4F9"/>
          </a:solidFill>
          <a:ln/>
        </p:spPr>
      </p:sp>
      <p:sp>
        <p:nvSpPr>
          <p:cNvPr id="44" name="Text 42"/>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Who emptied Save Max</a:t>
            </a:r>
            <a:endParaRPr lang="en-US" sz="1400" dirty="0"/>
          </a:p>
        </p:txBody>
      </p:sp>
      <p:sp>
        <p:nvSpPr>
          <p:cNvPr id="45" name="Text 43"/>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Share of each rate-sensitivity segment that moved</a:t>
            </a:r>
            <a:endParaRPr lang="en-US" sz="950" dirty="0"/>
          </a:p>
        </p:txBody>
      </p:sp>
      <p:sp>
        <p:nvSpPr>
          <p:cNvPr id="46" name="Text 44"/>
          <p:cNvSpPr/>
          <p:nvPr/>
        </p:nvSpPr>
        <p:spPr>
          <a:xfrm>
            <a:off x="6537960" y="3438144"/>
            <a:ext cx="105156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High</a:t>
            </a:r>
            <a:endParaRPr lang="en-US" sz="1000" dirty="0"/>
          </a:p>
        </p:txBody>
      </p:sp>
      <p:sp>
        <p:nvSpPr>
          <p:cNvPr id="47" name="Shape 45"/>
          <p:cNvSpPr/>
          <p:nvPr/>
        </p:nvSpPr>
        <p:spPr>
          <a:xfrm>
            <a:off x="7680960" y="3483864"/>
            <a:ext cx="1828800" cy="164592"/>
          </a:xfrm>
          <a:prstGeom prst="roundRect">
            <a:avLst>
              <a:gd name="adj" fmla="val 16667"/>
            </a:avLst>
          </a:prstGeom>
          <a:solidFill>
            <a:srgbClr val="E4E9F0"/>
          </a:solidFill>
          <a:ln/>
        </p:spPr>
      </p:sp>
      <p:sp>
        <p:nvSpPr>
          <p:cNvPr id="48" name="Shape 46"/>
          <p:cNvSpPr/>
          <p:nvPr/>
        </p:nvSpPr>
        <p:spPr>
          <a:xfrm>
            <a:off x="7680960" y="3483864"/>
            <a:ext cx="235050" cy="164592"/>
          </a:xfrm>
          <a:prstGeom prst="roundRect">
            <a:avLst>
              <a:gd name="adj" fmla="val 16667"/>
            </a:avLst>
          </a:prstGeom>
          <a:solidFill>
            <a:srgbClr val="165A73"/>
          </a:solidFill>
          <a:ln/>
        </p:spPr>
      </p:sp>
      <p:sp>
        <p:nvSpPr>
          <p:cNvPr id="49" name="Text 47"/>
          <p:cNvSpPr/>
          <p:nvPr/>
        </p:nvSpPr>
        <p:spPr>
          <a:xfrm>
            <a:off x="9601200" y="3438144"/>
            <a:ext cx="777240" cy="256032"/>
          </a:xfrm>
          <a:prstGeom prst="rect">
            <a:avLst/>
          </a:prstGeom>
          <a:noFill/>
          <a:ln/>
        </p:spPr>
        <p:txBody>
          <a:bodyPr wrap="square" lIns="0" tIns="0" rIns="0" bIns="0" rtlCol="0" anchor="ctr"/>
          <a:lstStyle/>
          <a:p>
            <a:pPr algn="r" indent="0" marL="0">
              <a:buNone/>
            </a:pPr>
            <a:r>
              <a:rPr lang="en-US" sz="1000" b="1" dirty="0">
                <a:solidFill>
                  <a:srgbClr val="165A73"/>
                </a:solidFill>
                <a:latin typeface="Graphik TH" pitchFamily="34" charset="0"/>
                <a:ea typeface="Graphik TH" pitchFamily="34" charset="-122"/>
                <a:cs typeface="Graphik TH" pitchFamily="34" charset="-120"/>
              </a:rPr>
              <a:t>12.9%</a:t>
            </a:r>
            <a:endParaRPr lang="en-US" sz="1000" dirty="0"/>
          </a:p>
        </p:txBody>
      </p:sp>
      <p:sp>
        <p:nvSpPr>
          <p:cNvPr id="50" name="Text 48"/>
          <p:cNvSpPr/>
          <p:nvPr/>
        </p:nvSpPr>
        <p:spPr>
          <a:xfrm>
            <a:off x="10469880" y="3438144"/>
            <a:ext cx="1280160" cy="256032"/>
          </a:xfrm>
          <a:prstGeom prst="rect">
            <a:avLst/>
          </a:prstGeom>
          <a:noFill/>
          <a:ln/>
        </p:spPr>
        <p:txBody>
          <a:bodyPr wrap="square" lIns="0" tIns="0" rIns="0" bIns="0" rtlCol="0" anchor="ctr"/>
          <a:lstStyle/>
          <a:p>
            <a:pPr algn="r" indent="0" marL="0">
              <a:buNone/>
            </a:pPr>
            <a:r>
              <a:rPr lang="en-US" sz="900" dirty="0">
                <a:solidFill>
                  <a:srgbClr val="6B7A90"/>
                </a:solidFill>
                <a:latin typeface="Graphik TH" pitchFamily="34" charset="0"/>
                <a:ea typeface="Graphik TH" pitchFamily="34" charset="-122"/>
                <a:cs typeface="Graphik TH" pitchFamily="34" charset="-120"/>
              </a:rPr>
              <a:t>2,387 of 18,572</a:t>
            </a:r>
            <a:endParaRPr lang="en-US" sz="900" dirty="0"/>
          </a:p>
        </p:txBody>
      </p:sp>
      <p:sp>
        <p:nvSpPr>
          <p:cNvPr id="51" name="Text 49"/>
          <p:cNvSpPr/>
          <p:nvPr/>
        </p:nvSpPr>
        <p:spPr>
          <a:xfrm>
            <a:off x="6537960" y="3749040"/>
            <a:ext cx="105156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High</a:t>
            </a:r>
            <a:endParaRPr lang="en-US" sz="1000" dirty="0"/>
          </a:p>
        </p:txBody>
      </p:sp>
      <p:sp>
        <p:nvSpPr>
          <p:cNvPr id="52" name="Shape 50"/>
          <p:cNvSpPr/>
          <p:nvPr/>
        </p:nvSpPr>
        <p:spPr>
          <a:xfrm>
            <a:off x="7680960" y="3794760"/>
            <a:ext cx="1828800" cy="164592"/>
          </a:xfrm>
          <a:prstGeom prst="roundRect">
            <a:avLst>
              <a:gd name="adj" fmla="val 16667"/>
            </a:avLst>
          </a:prstGeom>
          <a:solidFill>
            <a:srgbClr val="E4E9F0"/>
          </a:solidFill>
          <a:ln/>
        </p:spPr>
      </p:sp>
      <p:sp>
        <p:nvSpPr>
          <p:cNvPr id="53" name="Shape 51"/>
          <p:cNvSpPr/>
          <p:nvPr/>
        </p:nvSpPr>
        <p:spPr>
          <a:xfrm>
            <a:off x="7680960" y="3794760"/>
            <a:ext cx="904864" cy="164592"/>
          </a:xfrm>
          <a:prstGeom prst="roundRect">
            <a:avLst>
              <a:gd name="adj" fmla="val 16667"/>
            </a:avLst>
          </a:prstGeom>
          <a:solidFill>
            <a:srgbClr val="C00000"/>
          </a:solidFill>
          <a:ln/>
        </p:spPr>
      </p:sp>
      <p:sp>
        <p:nvSpPr>
          <p:cNvPr id="54" name="Text 52"/>
          <p:cNvSpPr/>
          <p:nvPr/>
        </p:nvSpPr>
        <p:spPr>
          <a:xfrm>
            <a:off x="9601200" y="3749040"/>
            <a:ext cx="777240" cy="256032"/>
          </a:xfrm>
          <a:prstGeom prst="rect">
            <a:avLst/>
          </a:prstGeom>
          <a:noFill/>
          <a:ln/>
        </p:spPr>
        <p:txBody>
          <a:bodyPr wrap="square" lIns="0" tIns="0" rIns="0" bIns="0" rtlCol="0" anchor="ctr"/>
          <a:lstStyle/>
          <a:p>
            <a:pPr algn="r" indent="0" marL="0">
              <a:buNone/>
            </a:pPr>
            <a:r>
              <a:rPr lang="en-US" sz="1000" b="1" dirty="0">
                <a:solidFill>
                  <a:srgbClr val="C00000"/>
                </a:solidFill>
                <a:latin typeface="Graphik TH" pitchFamily="34" charset="0"/>
                <a:ea typeface="Graphik TH" pitchFamily="34" charset="-122"/>
                <a:cs typeface="Graphik TH" pitchFamily="34" charset="-120"/>
              </a:rPr>
              <a:t>49.5%</a:t>
            </a:r>
            <a:endParaRPr lang="en-US" sz="1000" dirty="0"/>
          </a:p>
        </p:txBody>
      </p:sp>
      <p:sp>
        <p:nvSpPr>
          <p:cNvPr id="55" name="Text 53"/>
          <p:cNvSpPr/>
          <p:nvPr/>
        </p:nvSpPr>
        <p:spPr>
          <a:xfrm>
            <a:off x="10469880" y="3749040"/>
            <a:ext cx="1280160" cy="256032"/>
          </a:xfrm>
          <a:prstGeom prst="rect">
            <a:avLst/>
          </a:prstGeom>
          <a:noFill/>
          <a:ln/>
        </p:spPr>
        <p:txBody>
          <a:bodyPr wrap="square" lIns="0" tIns="0" rIns="0" bIns="0" rtlCol="0" anchor="ctr"/>
          <a:lstStyle/>
          <a:p>
            <a:pPr algn="r" indent="0" marL="0">
              <a:buNone/>
            </a:pPr>
            <a:r>
              <a:rPr lang="en-US" sz="900" dirty="0">
                <a:solidFill>
                  <a:srgbClr val="6B7A90"/>
                </a:solidFill>
                <a:latin typeface="Graphik TH" pitchFamily="34" charset="0"/>
                <a:ea typeface="Graphik TH" pitchFamily="34" charset="-122"/>
                <a:cs typeface="Graphik TH" pitchFamily="34" charset="-120"/>
              </a:rPr>
              <a:t>2,562 of 5,178</a:t>
            </a:r>
            <a:endParaRPr lang="en-US" sz="900" dirty="0"/>
          </a:p>
        </p:txBody>
      </p:sp>
      <p:sp>
        <p:nvSpPr>
          <p:cNvPr id="56" name="Text 54"/>
          <p:cNvSpPr/>
          <p:nvPr/>
        </p:nvSpPr>
        <p:spPr>
          <a:xfrm>
            <a:off x="6537960" y="4059936"/>
            <a:ext cx="105156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Medium</a:t>
            </a:r>
            <a:endParaRPr lang="en-US" sz="1000" dirty="0"/>
          </a:p>
        </p:txBody>
      </p:sp>
      <p:sp>
        <p:nvSpPr>
          <p:cNvPr id="57" name="Shape 55"/>
          <p:cNvSpPr/>
          <p:nvPr/>
        </p:nvSpPr>
        <p:spPr>
          <a:xfrm>
            <a:off x="7680960" y="4105656"/>
            <a:ext cx="1828800" cy="164592"/>
          </a:xfrm>
          <a:prstGeom prst="roundRect">
            <a:avLst>
              <a:gd name="adj" fmla="val 16667"/>
            </a:avLst>
          </a:prstGeom>
          <a:solidFill>
            <a:srgbClr val="E4E9F0"/>
          </a:solidFill>
          <a:ln/>
        </p:spPr>
      </p:sp>
      <p:sp>
        <p:nvSpPr>
          <p:cNvPr id="58" name="Shape 56"/>
          <p:cNvSpPr/>
          <p:nvPr/>
        </p:nvSpPr>
        <p:spPr>
          <a:xfrm>
            <a:off x="7680960" y="4105656"/>
            <a:ext cx="36576" cy="164592"/>
          </a:xfrm>
          <a:prstGeom prst="roundRect">
            <a:avLst>
              <a:gd name="adj" fmla="val 75000"/>
            </a:avLst>
          </a:prstGeom>
          <a:solidFill>
            <a:srgbClr val="3FB89F"/>
          </a:solidFill>
          <a:ln/>
        </p:spPr>
      </p:sp>
      <p:sp>
        <p:nvSpPr>
          <p:cNvPr id="59" name="Text 57"/>
          <p:cNvSpPr/>
          <p:nvPr/>
        </p:nvSpPr>
        <p:spPr>
          <a:xfrm>
            <a:off x="9601200" y="4059936"/>
            <a:ext cx="777240" cy="256032"/>
          </a:xfrm>
          <a:prstGeom prst="rect">
            <a:avLst/>
          </a:prstGeom>
          <a:noFill/>
          <a:ln/>
        </p:spPr>
        <p:txBody>
          <a:bodyPr wrap="square" lIns="0" tIns="0" rIns="0" bIns="0" rtlCol="0" anchor="ctr"/>
          <a:lstStyle/>
          <a:p>
            <a:pPr algn="r" indent="0" marL="0">
              <a:buNone/>
            </a:pPr>
            <a:r>
              <a:rPr lang="en-US" sz="1000" b="1" dirty="0">
                <a:solidFill>
                  <a:srgbClr val="3FB89F"/>
                </a:solidFill>
                <a:latin typeface="Graphik TH" pitchFamily="34" charset="0"/>
                <a:ea typeface="Graphik TH" pitchFamily="34" charset="-122"/>
                <a:cs typeface="Graphik TH" pitchFamily="34" charset="-120"/>
              </a:rPr>
              <a:t>0.0%</a:t>
            </a:r>
            <a:endParaRPr lang="en-US" sz="1000" dirty="0"/>
          </a:p>
        </p:txBody>
      </p:sp>
      <p:sp>
        <p:nvSpPr>
          <p:cNvPr id="60" name="Text 58"/>
          <p:cNvSpPr/>
          <p:nvPr/>
        </p:nvSpPr>
        <p:spPr>
          <a:xfrm>
            <a:off x="10469880" y="4059936"/>
            <a:ext cx="1280160" cy="256032"/>
          </a:xfrm>
          <a:prstGeom prst="rect">
            <a:avLst/>
          </a:prstGeom>
          <a:noFill/>
          <a:ln/>
        </p:spPr>
        <p:txBody>
          <a:bodyPr wrap="square" lIns="0" tIns="0" rIns="0" bIns="0" rtlCol="0" anchor="ctr"/>
          <a:lstStyle/>
          <a:p>
            <a:pPr algn="r" indent="0" marL="0">
              <a:buNone/>
            </a:pPr>
            <a:r>
              <a:rPr lang="en-US" sz="900" dirty="0">
                <a:solidFill>
                  <a:srgbClr val="6B7A90"/>
                </a:solidFill>
                <a:latin typeface="Graphik TH" pitchFamily="34" charset="0"/>
                <a:ea typeface="Graphik TH" pitchFamily="34" charset="-122"/>
                <a:cs typeface="Graphik TH" pitchFamily="34" charset="-120"/>
              </a:rPr>
              <a:t>0 of 4</a:t>
            </a:r>
            <a:endParaRPr lang="en-US" sz="900" dirty="0"/>
          </a:p>
        </p:txBody>
      </p:sp>
      <p:sp>
        <p:nvSpPr>
          <p:cNvPr id="61" name="Text 59"/>
          <p:cNvSpPr/>
          <p:nvPr/>
        </p:nvSpPr>
        <p:spPr>
          <a:xfrm>
            <a:off x="6537960" y="4370832"/>
            <a:ext cx="105156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Low</a:t>
            </a:r>
            <a:endParaRPr lang="en-US" sz="1000" dirty="0"/>
          </a:p>
        </p:txBody>
      </p:sp>
      <p:sp>
        <p:nvSpPr>
          <p:cNvPr id="62" name="Shape 60"/>
          <p:cNvSpPr/>
          <p:nvPr/>
        </p:nvSpPr>
        <p:spPr>
          <a:xfrm>
            <a:off x="7680960" y="4416552"/>
            <a:ext cx="1828800" cy="164592"/>
          </a:xfrm>
          <a:prstGeom prst="roundRect">
            <a:avLst>
              <a:gd name="adj" fmla="val 16667"/>
            </a:avLst>
          </a:prstGeom>
          <a:solidFill>
            <a:srgbClr val="E4E9F0"/>
          </a:solidFill>
          <a:ln/>
        </p:spPr>
      </p:sp>
      <p:sp>
        <p:nvSpPr>
          <p:cNvPr id="63" name="Shape 61"/>
          <p:cNvSpPr/>
          <p:nvPr/>
        </p:nvSpPr>
        <p:spPr>
          <a:xfrm>
            <a:off x="7680960" y="4416552"/>
            <a:ext cx="131026" cy="164592"/>
          </a:xfrm>
          <a:prstGeom prst="roundRect">
            <a:avLst>
              <a:gd name="adj" fmla="val 20936"/>
            </a:avLst>
          </a:prstGeom>
          <a:solidFill>
            <a:srgbClr val="E9A03B"/>
          </a:solidFill>
          <a:ln/>
        </p:spPr>
      </p:sp>
      <p:sp>
        <p:nvSpPr>
          <p:cNvPr id="64" name="Text 62"/>
          <p:cNvSpPr/>
          <p:nvPr/>
        </p:nvSpPr>
        <p:spPr>
          <a:xfrm>
            <a:off x="9601200" y="4370832"/>
            <a:ext cx="777240" cy="256032"/>
          </a:xfrm>
          <a:prstGeom prst="rect">
            <a:avLst/>
          </a:prstGeom>
          <a:noFill/>
          <a:ln/>
        </p:spPr>
        <p:txBody>
          <a:bodyPr wrap="square" lIns="0" tIns="0" rIns="0" bIns="0" rtlCol="0" anchor="ctr"/>
          <a:lstStyle/>
          <a:p>
            <a:pPr algn="r" indent="0" marL="0">
              <a:buNone/>
            </a:pPr>
            <a:r>
              <a:rPr lang="en-US" sz="1000" b="1" dirty="0">
                <a:solidFill>
                  <a:srgbClr val="E9A03B"/>
                </a:solidFill>
                <a:latin typeface="Graphik TH" pitchFamily="34" charset="0"/>
                <a:ea typeface="Graphik TH" pitchFamily="34" charset="-122"/>
                <a:cs typeface="Graphik TH" pitchFamily="34" charset="-120"/>
              </a:rPr>
              <a:t>7.2%</a:t>
            </a:r>
            <a:endParaRPr lang="en-US" sz="1000" dirty="0"/>
          </a:p>
        </p:txBody>
      </p:sp>
      <p:sp>
        <p:nvSpPr>
          <p:cNvPr id="65" name="Text 63"/>
          <p:cNvSpPr/>
          <p:nvPr/>
        </p:nvSpPr>
        <p:spPr>
          <a:xfrm>
            <a:off x="10469880" y="4370832"/>
            <a:ext cx="1280160" cy="256032"/>
          </a:xfrm>
          <a:prstGeom prst="rect">
            <a:avLst/>
          </a:prstGeom>
          <a:noFill/>
          <a:ln/>
        </p:spPr>
        <p:txBody>
          <a:bodyPr wrap="square" lIns="0" tIns="0" rIns="0" bIns="0" rtlCol="0" anchor="ctr"/>
          <a:lstStyle/>
          <a:p>
            <a:pPr algn="r" indent="0" marL="0">
              <a:buNone/>
            </a:pPr>
            <a:r>
              <a:rPr lang="en-US" sz="900" dirty="0">
                <a:solidFill>
                  <a:srgbClr val="6B7A90"/>
                </a:solidFill>
                <a:latin typeface="Graphik TH" pitchFamily="34" charset="0"/>
                <a:ea typeface="Graphik TH" pitchFamily="34" charset="-122"/>
                <a:cs typeface="Graphik TH" pitchFamily="34" charset="-120"/>
              </a:rPr>
              <a:t>1,553 of 21,676</a:t>
            </a:r>
            <a:endParaRPr lang="en-US" sz="900" dirty="0"/>
          </a:p>
        </p:txBody>
      </p:sp>
      <p:sp>
        <p:nvSpPr>
          <p:cNvPr id="66" name="Text 64"/>
          <p:cNvSpPr/>
          <p:nvPr/>
        </p:nvSpPr>
        <p:spPr>
          <a:xfrm>
            <a:off x="6537960" y="4681728"/>
            <a:ext cx="1051560" cy="256032"/>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Low</a:t>
            </a:r>
            <a:endParaRPr lang="en-US" sz="1000" dirty="0"/>
          </a:p>
        </p:txBody>
      </p:sp>
      <p:sp>
        <p:nvSpPr>
          <p:cNvPr id="67" name="Shape 65"/>
          <p:cNvSpPr/>
          <p:nvPr/>
        </p:nvSpPr>
        <p:spPr>
          <a:xfrm>
            <a:off x="7680960" y="4727448"/>
            <a:ext cx="1828800" cy="164592"/>
          </a:xfrm>
          <a:prstGeom prst="roundRect">
            <a:avLst>
              <a:gd name="adj" fmla="val 16667"/>
            </a:avLst>
          </a:prstGeom>
          <a:solidFill>
            <a:srgbClr val="E4E9F0"/>
          </a:solidFill>
          <a:ln/>
        </p:spPr>
      </p:sp>
      <p:sp>
        <p:nvSpPr>
          <p:cNvPr id="68" name="Shape 66"/>
          <p:cNvSpPr/>
          <p:nvPr/>
        </p:nvSpPr>
        <p:spPr>
          <a:xfrm>
            <a:off x="7680960" y="4727448"/>
            <a:ext cx="176207" cy="164592"/>
          </a:xfrm>
          <a:prstGeom prst="roundRect">
            <a:avLst>
              <a:gd name="adj" fmla="val 16667"/>
            </a:avLst>
          </a:prstGeom>
          <a:solidFill>
            <a:srgbClr val="8DA0B8"/>
          </a:solidFill>
          <a:ln/>
        </p:spPr>
      </p:sp>
      <p:sp>
        <p:nvSpPr>
          <p:cNvPr id="69" name="Text 67"/>
          <p:cNvSpPr/>
          <p:nvPr/>
        </p:nvSpPr>
        <p:spPr>
          <a:xfrm>
            <a:off x="9601200" y="4681728"/>
            <a:ext cx="777240" cy="256032"/>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9.6%</a:t>
            </a:r>
            <a:endParaRPr lang="en-US" sz="1000" dirty="0"/>
          </a:p>
        </p:txBody>
      </p:sp>
      <p:sp>
        <p:nvSpPr>
          <p:cNvPr id="70" name="Text 68"/>
          <p:cNvSpPr/>
          <p:nvPr/>
        </p:nvSpPr>
        <p:spPr>
          <a:xfrm>
            <a:off x="10469880" y="4681728"/>
            <a:ext cx="1280160" cy="256032"/>
          </a:xfrm>
          <a:prstGeom prst="rect">
            <a:avLst/>
          </a:prstGeom>
          <a:noFill/>
          <a:ln/>
        </p:spPr>
        <p:txBody>
          <a:bodyPr wrap="square" lIns="0" tIns="0" rIns="0" bIns="0" rtlCol="0" anchor="ctr"/>
          <a:lstStyle/>
          <a:p>
            <a:pPr algn="r" indent="0" marL="0">
              <a:buNone/>
            </a:pPr>
            <a:r>
              <a:rPr lang="en-US" sz="900" dirty="0">
                <a:solidFill>
                  <a:srgbClr val="6B7A90"/>
                </a:solidFill>
                <a:latin typeface="Graphik TH" pitchFamily="34" charset="0"/>
                <a:ea typeface="Graphik TH" pitchFamily="34" charset="-122"/>
                <a:cs typeface="Graphik TH" pitchFamily="34" charset="-120"/>
              </a:rPr>
              <a:t>169 of 1,754</a:t>
            </a:r>
            <a:endParaRPr lang="en-US" sz="900" dirty="0"/>
          </a:p>
        </p:txBody>
      </p:sp>
      <p:sp>
        <p:nvSpPr>
          <p:cNvPr id="71" name="Text 69"/>
          <p:cNvSpPr/>
          <p:nvPr/>
        </p:nvSpPr>
        <p:spPr>
          <a:xfrm>
            <a:off x="6537960" y="4956048"/>
            <a:ext cx="5010912" cy="164592"/>
          </a:xfrm>
          <a:prstGeom prst="rect">
            <a:avLst/>
          </a:prstGeom>
          <a:noFill/>
          <a:ln/>
        </p:spPr>
        <p:txBody>
          <a:bodyPr wrap="square" lIns="0" tIns="0" rIns="0" bIns="0" rtlCol="0" anchor="ctr"/>
          <a:lstStyle/>
          <a:p>
            <a:pPr indent="0" marL="0">
              <a:buNone/>
            </a:pPr>
            <a:r>
              <a:rPr lang="en-US" sz="850" i="1" dirty="0">
                <a:solidFill>
                  <a:srgbClr val="6B7A90"/>
                </a:solidFill>
                <a:latin typeface="Graphik TH" pitchFamily="34" charset="0"/>
                <a:ea typeface="Graphik TH" pitchFamily="34" charset="-122"/>
                <a:cs typeface="Graphik TH" pitchFamily="34" charset="-120"/>
              </a:rPr>
              <a:t>High is the mover band — Very High moves at barely a quarter of that rate.</a:t>
            </a:r>
            <a:endParaRPr lang="en-US" sz="850" dirty="0"/>
          </a:p>
        </p:txBody>
      </p:sp>
      <p:sp>
        <p:nvSpPr>
          <p:cNvPr id="72" name="Shape 70"/>
          <p:cNvSpPr/>
          <p:nvPr/>
        </p:nvSpPr>
        <p:spPr>
          <a:xfrm>
            <a:off x="530352" y="5285232"/>
            <a:ext cx="11274552" cy="786384"/>
          </a:xfrm>
          <a:prstGeom prst="roundRect">
            <a:avLst>
              <a:gd name="adj" fmla="val 10465"/>
            </a:avLst>
          </a:prstGeom>
          <a:solidFill>
            <a:srgbClr val="E8F6F3"/>
          </a:solidFill>
          <a:ln/>
        </p:spPr>
      </p:sp>
      <p:sp>
        <p:nvSpPr>
          <p:cNvPr id="73" name="Text 71"/>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Save Max lost THB 193m but the book gained THB 111m</a:t>
            </a:r>
            <a:pPr indent="0" marL="0">
              <a:buNone/>
            </a:pPr>
            <a:r>
              <a:rPr lang="en-US" sz="1100" dirty="0">
                <a:solidFill>
                  <a:srgbClr val="16233D"/>
                </a:solidFill>
                <a:latin typeface="Graphik TH" pitchFamily="34" charset="0"/>
                <a:ea typeface="Graphik TH" pitchFamily="34" charset="-122"/>
                <a:cs typeface="Graphik TH" pitchFamily="34" charset="-120"/>
              </a:rPr>
              <a:t>  —  the 6,671 customers who emptied Save Max took THB 123m out of the pocket, yet total deposits rose. Runoff from the promotional pocket is not the same as runoff from the bank.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The Save More flag decides whether the money stays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*Balance retained = latest total deposit balance ÷ prior total deposit balance, for the same customers.</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Movers 6,671   ·   With Save More 3,912 → +THB 81m (+8.8%)   ·   Without Save More 2,759 → −THB 39m (−72.9%)</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Among customers who emptied Save Max, holding Save More is the difference between growth and near-total runoff.</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3,912</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movers holding Save More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59% of all movers</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109%</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retained</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THB 924m → THB 1.01bn</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2,759</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movers without Save More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41% of all movers</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27%</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retained</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THB 54m → THB 15m</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Balance retained after maturity</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Latest ÷ prior total deposit balance · absolute figures in THB m</a:t>
            </a:r>
            <a:endParaRPr lang="en-US" sz="950" dirty="0"/>
          </a:p>
        </p:txBody>
      </p:sp>
      <p:sp>
        <p:nvSpPr>
          <p:cNvPr id="25" name="Shape 23"/>
          <p:cNvSpPr/>
          <p:nvPr/>
        </p:nvSpPr>
        <p:spPr>
          <a:xfrm>
            <a:off x="3830505" y="3419856"/>
            <a:ext cx="10973" cy="1499616"/>
          </a:xfrm>
          <a:prstGeom prst="rect">
            <a:avLst/>
          </a:prstGeom>
          <a:solidFill>
            <a:srgbClr val="6B7A90"/>
          </a:solidFill>
          <a:ln/>
        </p:spPr>
      </p:sp>
      <p:sp>
        <p:nvSpPr>
          <p:cNvPr id="26" name="Text 24"/>
          <p:cNvSpPr/>
          <p:nvPr/>
        </p:nvSpPr>
        <p:spPr>
          <a:xfrm>
            <a:off x="786384" y="3474720"/>
            <a:ext cx="178308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Moved · has Save More</a:t>
            </a:r>
            <a:endParaRPr lang="en-US" sz="950" dirty="0"/>
          </a:p>
        </p:txBody>
      </p:sp>
      <p:sp>
        <p:nvSpPr>
          <p:cNvPr id="27" name="Shape 25"/>
          <p:cNvSpPr/>
          <p:nvPr/>
        </p:nvSpPr>
        <p:spPr>
          <a:xfrm>
            <a:off x="2633472" y="3520440"/>
            <a:ext cx="1316736" cy="164592"/>
          </a:xfrm>
          <a:prstGeom prst="roundRect">
            <a:avLst>
              <a:gd name="adj" fmla="val 16667"/>
            </a:avLst>
          </a:prstGeom>
          <a:solidFill>
            <a:srgbClr val="E4E9F0"/>
          </a:solidFill>
          <a:ln/>
        </p:spPr>
      </p:sp>
      <p:sp>
        <p:nvSpPr>
          <p:cNvPr id="28" name="Shape 26"/>
          <p:cNvSpPr/>
          <p:nvPr/>
        </p:nvSpPr>
        <p:spPr>
          <a:xfrm>
            <a:off x="2633472" y="3520440"/>
            <a:ext cx="1302114" cy="164592"/>
          </a:xfrm>
          <a:prstGeom prst="roundRect">
            <a:avLst>
              <a:gd name="adj" fmla="val 16667"/>
            </a:avLst>
          </a:prstGeom>
          <a:solidFill>
            <a:srgbClr val="1E8E86"/>
          </a:solidFill>
          <a:ln/>
        </p:spPr>
      </p:sp>
      <p:sp>
        <p:nvSpPr>
          <p:cNvPr id="29" name="Text 27"/>
          <p:cNvSpPr/>
          <p:nvPr/>
        </p:nvSpPr>
        <p:spPr>
          <a:xfrm>
            <a:off x="3986784" y="3474720"/>
            <a:ext cx="530352" cy="256032"/>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108.8%</a:t>
            </a:r>
            <a:endParaRPr lang="en-US" sz="950" dirty="0"/>
          </a:p>
        </p:txBody>
      </p:sp>
      <p:sp>
        <p:nvSpPr>
          <p:cNvPr id="30" name="Text 28"/>
          <p:cNvSpPr/>
          <p:nvPr/>
        </p:nvSpPr>
        <p:spPr>
          <a:xfrm>
            <a:off x="4553712" y="3474720"/>
            <a:ext cx="1499616" cy="256032"/>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924.5m → 1005.6m</a:t>
            </a:r>
            <a:endParaRPr lang="en-US" sz="850" dirty="0"/>
          </a:p>
        </p:txBody>
      </p:sp>
      <p:sp>
        <p:nvSpPr>
          <p:cNvPr id="31" name="Text 29"/>
          <p:cNvSpPr/>
          <p:nvPr/>
        </p:nvSpPr>
        <p:spPr>
          <a:xfrm>
            <a:off x="786384" y="3858768"/>
            <a:ext cx="178308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Moved · no Save More</a:t>
            </a:r>
            <a:endParaRPr lang="en-US" sz="950" dirty="0"/>
          </a:p>
        </p:txBody>
      </p:sp>
      <p:sp>
        <p:nvSpPr>
          <p:cNvPr id="32" name="Shape 30"/>
          <p:cNvSpPr/>
          <p:nvPr/>
        </p:nvSpPr>
        <p:spPr>
          <a:xfrm>
            <a:off x="2633472" y="3904488"/>
            <a:ext cx="1316736" cy="164592"/>
          </a:xfrm>
          <a:prstGeom prst="roundRect">
            <a:avLst>
              <a:gd name="adj" fmla="val 16667"/>
            </a:avLst>
          </a:prstGeom>
          <a:solidFill>
            <a:srgbClr val="E4E9F0"/>
          </a:solidFill>
          <a:ln/>
        </p:spPr>
      </p:sp>
      <p:sp>
        <p:nvSpPr>
          <p:cNvPr id="33" name="Shape 31"/>
          <p:cNvSpPr/>
          <p:nvPr/>
        </p:nvSpPr>
        <p:spPr>
          <a:xfrm>
            <a:off x="2633472" y="3904488"/>
            <a:ext cx="324211" cy="164592"/>
          </a:xfrm>
          <a:prstGeom prst="roundRect">
            <a:avLst>
              <a:gd name="adj" fmla="val 16667"/>
            </a:avLst>
          </a:prstGeom>
          <a:solidFill>
            <a:srgbClr val="C00000"/>
          </a:solidFill>
          <a:ln/>
        </p:spPr>
      </p:sp>
      <p:sp>
        <p:nvSpPr>
          <p:cNvPr id="34" name="Text 32"/>
          <p:cNvSpPr/>
          <p:nvPr/>
        </p:nvSpPr>
        <p:spPr>
          <a:xfrm>
            <a:off x="3986784" y="3858768"/>
            <a:ext cx="530352" cy="256032"/>
          </a:xfrm>
          <a:prstGeom prst="rect">
            <a:avLst/>
          </a:prstGeom>
          <a:noFill/>
          <a:ln/>
        </p:spPr>
        <p:txBody>
          <a:bodyPr wrap="square" lIns="0" tIns="0" rIns="0" bIns="0" rtlCol="0" anchor="ctr"/>
          <a:lstStyle/>
          <a:p>
            <a:pPr algn="r" indent="0" marL="0">
              <a:buNone/>
            </a:pPr>
            <a:r>
              <a:rPr lang="en-US" sz="950" b="1" dirty="0">
                <a:solidFill>
                  <a:srgbClr val="C00000"/>
                </a:solidFill>
                <a:latin typeface="Graphik TH" pitchFamily="34" charset="0"/>
                <a:ea typeface="Graphik TH" pitchFamily="34" charset="-122"/>
                <a:cs typeface="Graphik TH" pitchFamily="34" charset="-120"/>
              </a:rPr>
              <a:t>27.1%</a:t>
            </a:r>
            <a:endParaRPr lang="en-US" sz="950" dirty="0"/>
          </a:p>
        </p:txBody>
      </p:sp>
      <p:sp>
        <p:nvSpPr>
          <p:cNvPr id="35" name="Text 33"/>
          <p:cNvSpPr/>
          <p:nvPr/>
        </p:nvSpPr>
        <p:spPr>
          <a:xfrm>
            <a:off x="4553712" y="3858768"/>
            <a:ext cx="1499616" cy="256032"/>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54.1m → 14.7m</a:t>
            </a:r>
            <a:endParaRPr lang="en-US" sz="850" dirty="0"/>
          </a:p>
        </p:txBody>
      </p:sp>
      <p:sp>
        <p:nvSpPr>
          <p:cNvPr id="36" name="Text 34"/>
          <p:cNvSpPr/>
          <p:nvPr/>
        </p:nvSpPr>
        <p:spPr>
          <a:xfrm>
            <a:off x="786384" y="4242816"/>
            <a:ext cx="178308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Stayed · has Save More</a:t>
            </a:r>
            <a:endParaRPr lang="en-US" sz="950" dirty="0"/>
          </a:p>
        </p:txBody>
      </p:sp>
      <p:sp>
        <p:nvSpPr>
          <p:cNvPr id="37" name="Shape 35"/>
          <p:cNvSpPr/>
          <p:nvPr/>
        </p:nvSpPr>
        <p:spPr>
          <a:xfrm>
            <a:off x="2633472" y="4288536"/>
            <a:ext cx="1316736" cy="164592"/>
          </a:xfrm>
          <a:prstGeom prst="roundRect">
            <a:avLst>
              <a:gd name="adj" fmla="val 16667"/>
            </a:avLst>
          </a:prstGeom>
          <a:solidFill>
            <a:srgbClr val="E4E9F0"/>
          </a:solidFill>
          <a:ln/>
        </p:spPr>
      </p:sp>
      <p:sp>
        <p:nvSpPr>
          <p:cNvPr id="38" name="Shape 36"/>
          <p:cNvSpPr/>
          <p:nvPr/>
        </p:nvSpPr>
        <p:spPr>
          <a:xfrm>
            <a:off x="2633472" y="4288536"/>
            <a:ext cx="1269402" cy="164592"/>
          </a:xfrm>
          <a:prstGeom prst="roundRect">
            <a:avLst>
              <a:gd name="adj" fmla="val 16667"/>
            </a:avLst>
          </a:prstGeom>
          <a:solidFill>
            <a:srgbClr val="1E8E86"/>
          </a:solidFill>
          <a:ln/>
        </p:spPr>
      </p:sp>
      <p:sp>
        <p:nvSpPr>
          <p:cNvPr id="39" name="Text 37"/>
          <p:cNvSpPr/>
          <p:nvPr/>
        </p:nvSpPr>
        <p:spPr>
          <a:xfrm>
            <a:off x="3986784" y="4242816"/>
            <a:ext cx="530352" cy="256032"/>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106.0%</a:t>
            </a:r>
            <a:endParaRPr lang="en-US" sz="950" dirty="0"/>
          </a:p>
        </p:txBody>
      </p:sp>
      <p:sp>
        <p:nvSpPr>
          <p:cNvPr id="40" name="Text 38"/>
          <p:cNvSpPr/>
          <p:nvPr/>
        </p:nvSpPr>
        <p:spPr>
          <a:xfrm>
            <a:off x="4553712" y="4242816"/>
            <a:ext cx="1499616" cy="256032"/>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1368.3m → 1451.0m</a:t>
            </a:r>
            <a:endParaRPr lang="en-US" sz="850" dirty="0"/>
          </a:p>
        </p:txBody>
      </p:sp>
      <p:sp>
        <p:nvSpPr>
          <p:cNvPr id="41" name="Text 39"/>
          <p:cNvSpPr/>
          <p:nvPr/>
        </p:nvSpPr>
        <p:spPr>
          <a:xfrm>
            <a:off x="786384" y="4626864"/>
            <a:ext cx="178308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Stayed · no Save More</a:t>
            </a:r>
            <a:endParaRPr lang="en-US" sz="950" dirty="0"/>
          </a:p>
        </p:txBody>
      </p:sp>
      <p:sp>
        <p:nvSpPr>
          <p:cNvPr id="42" name="Shape 40"/>
          <p:cNvSpPr/>
          <p:nvPr/>
        </p:nvSpPr>
        <p:spPr>
          <a:xfrm>
            <a:off x="2633472" y="4672584"/>
            <a:ext cx="1316736" cy="164592"/>
          </a:xfrm>
          <a:prstGeom prst="roundRect">
            <a:avLst>
              <a:gd name="adj" fmla="val 16667"/>
            </a:avLst>
          </a:prstGeom>
          <a:solidFill>
            <a:srgbClr val="E4E9F0"/>
          </a:solidFill>
          <a:ln/>
        </p:spPr>
      </p:sp>
      <p:sp>
        <p:nvSpPr>
          <p:cNvPr id="43" name="Shape 41"/>
          <p:cNvSpPr/>
          <p:nvPr/>
        </p:nvSpPr>
        <p:spPr>
          <a:xfrm>
            <a:off x="2633472" y="4672584"/>
            <a:ext cx="1168659" cy="164592"/>
          </a:xfrm>
          <a:prstGeom prst="roundRect">
            <a:avLst>
              <a:gd name="adj" fmla="val 16667"/>
            </a:avLst>
          </a:prstGeom>
          <a:solidFill>
            <a:srgbClr val="8DA0B8"/>
          </a:solidFill>
          <a:ln/>
        </p:spPr>
      </p:sp>
      <p:sp>
        <p:nvSpPr>
          <p:cNvPr id="44" name="Text 42"/>
          <p:cNvSpPr/>
          <p:nvPr/>
        </p:nvSpPr>
        <p:spPr>
          <a:xfrm>
            <a:off x="3986784" y="4626864"/>
            <a:ext cx="530352" cy="256032"/>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97.6%</a:t>
            </a:r>
            <a:endParaRPr lang="en-US" sz="950" dirty="0"/>
          </a:p>
        </p:txBody>
      </p:sp>
      <p:sp>
        <p:nvSpPr>
          <p:cNvPr id="45" name="Text 43"/>
          <p:cNvSpPr/>
          <p:nvPr/>
        </p:nvSpPr>
        <p:spPr>
          <a:xfrm>
            <a:off x="4553712" y="4626864"/>
            <a:ext cx="1499616" cy="256032"/>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555.0m → 541.9m</a:t>
            </a:r>
            <a:endParaRPr lang="en-US" sz="850" dirty="0"/>
          </a:p>
        </p:txBody>
      </p:sp>
      <p:sp>
        <p:nvSpPr>
          <p:cNvPr id="46" name="Text 44"/>
          <p:cNvSpPr/>
          <p:nvPr/>
        </p:nvSpPr>
        <p:spPr>
          <a:xfrm>
            <a:off x="3556185" y="4974336"/>
            <a:ext cx="548640" cy="164592"/>
          </a:xfrm>
          <a:prstGeom prst="rect">
            <a:avLst/>
          </a:prstGeom>
          <a:noFill/>
          <a:ln/>
        </p:spPr>
        <p:txBody>
          <a:bodyPr wrap="square" lIns="0" tIns="0" rIns="0" bIns="0" rtlCol="0" anchor="ctr"/>
          <a:lstStyle/>
          <a:p>
            <a:pPr algn="ctr" indent="0" marL="0">
              <a:buNone/>
            </a:pPr>
            <a:r>
              <a:rPr lang="en-US" sz="800" dirty="0">
                <a:solidFill>
                  <a:srgbClr val="6B7A90"/>
                </a:solidFill>
                <a:latin typeface="Graphik TH" pitchFamily="34" charset="0"/>
                <a:ea typeface="Graphik TH" pitchFamily="34" charset="-122"/>
                <a:cs typeface="Graphik TH" pitchFamily="34" charset="-120"/>
              </a:rPr>
              <a:t>100%</a:t>
            </a:r>
            <a:endParaRPr lang="en-US" sz="800" dirty="0"/>
          </a:p>
        </p:txBody>
      </p:sp>
      <p:sp>
        <p:nvSpPr>
          <p:cNvPr id="47" name="Shape 45"/>
          <p:cNvSpPr/>
          <p:nvPr/>
        </p:nvSpPr>
        <p:spPr>
          <a:xfrm>
            <a:off x="6281928" y="2798064"/>
            <a:ext cx="5522976" cy="2322576"/>
          </a:xfrm>
          <a:prstGeom prst="roundRect">
            <a:avLst>
              <a:gd name="adj" fmla="val 3543"/>
            </a:avLst>
          </a:prstGeom>
          <a:solidFill>
            <a:srgbClr val="F1F4F9"/>
          </a:solidFill>
          <a:ln/>
        </p:spPr>
      </p:sp>
      <p:sp>
        <p:nvSpPr>
          <p:cNvPr id="48" name="Text 46"/>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Customers and balance change</a:t>
            </a:r>
            <a:endParaRPr lang="en-US" sz="1400" dirty="0"/>
          </a:p>
        </p:txBody>
      </p:sp>
      <p:sp>
        <p:nvSpPr>
          <p:cNvPr id="49" name="Text 47"/>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Save Max behaviour · columns: Save More holding · THB m</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01384" y="3401568"/>
          <a:ext cx="5084064" cy="914400"/>
        </p:xfrm>
        <a:graphic>
          <a:graphicData uri="http://schemas.openxmlformats.org/drawingml/2006/table">
            <a:tbl>
              <a:tblPr/>
              <a:tblGrid>
                <a:gridCol w="1463040"/>
                <a:gridCol w="1810512"/>
                <a:gridCol w="1810512"/>
              </a:tblGrid>
              <a:tr h="420624">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Save Max</a:t>
                      </a:r>
                      <a:endParaRPr lang="en-US" sz="90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Holds Save More</a:t>
                      </a:r>
                      <a:endParaRPr lang="en-US" sz="90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No Save More</a:t>
                      </a:r>
                      <a:endParaRPr lang="en-US" sz="90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420624">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Moved out</a:t>
                      </a:r>
                      <a:endParaRPr lang="en-US" sz="9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850" dirty="0">
                          <a:solidFill>
                            <a:srgbClr val="16233D"/>
                          </a:solidFill>
                          <a:latin typeface="Graphik TH" pitchFamily="34" charset="0"/>
                          <a:ea typeface="Graphik TH" pitchFamily="34" charset="-122"/>
                          <a:cs typeface="Graphik TH" pitchFamily="34" charset="-120"/>
                        </a:rPr>
                        <a:t>3,912</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+8.8%   +THB 81m</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924.5m → 1005.6m</a:t>
                      </a:r>
                      <a:endParaRPr lang="en-US" sz="8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C00000"/>
                          </a:solidFill>
                          <a:latin typeface="Graphik TH" pitchFamily="34" charset="0"/>
                          <a:ea typeface="Graphik TH" pitchFamily="34" charset="-122"/>
                          <a:cs typeface="Graphik TH" pitchFamily="34" charset="-120"/>
                        </a:rPr>
                        <a:t>2,759</a:t>
                      </a:r>
                      <a:endParaRPr lang="en-US" sz="850" dirty="0">
                        <a:latin typeface="Graphik TH" charset="0"/>
                        <a:ea typeface="Graphik TH" charset="0"/>
                        <a:cs typeface="Graphik TH" charset="0"/>
                      </a:endParaRPr>
                    </a:p>
                    <a:p>
                      <a:pPr algn="ctr" indent="0" marL="0">
                        <a:buNone/>
                      </a:pPr>
                      <a:r>
                        <a:rPr lang="en-US" sz="850" b="1" dirty="0">
                          <a:solidFill>
                            <a:srgbClr val="C00000"/>
                          </a:solidFill>
                          <a:latin typeface="Graphik TH" pitchFamily="34" charset="0"/>
                          <a:ea typeface="Graphik TH" pitchFamily="34" charset="-122"/>
                          <a:cs typeface="Graphik TH" pitchFamily="34" charset="-120"/>
                        </a:rPr>
                        <a:t>−72.9%   −THB 39m</a:t>
                      </a:r>
                      <a:endParaRPr lang="en-US" sz="850" dirty="0">
                        <a:latin typeface="Graphik TH" charset="0"/>
                        <a:ea typeface="Graphik TH" charset="0"/>
                        <a:cs typeface="Graphik TH" charset="0"/>
                      </a:endParaRPr>
                    </a:p>
                    <a:p>
                      <a:pPr algn="ctr" indent="0" marL="0">
                        <a:buNone/>
                      </a:pPr>
                      <a:r>
                        <a:rPr lang="en-US" sz="850" b="1" dirty="0">
                          <a:solidFill>
                            <a:srgbClr val="C00000"/>
                          </a:solidFill>
                          <a:latin typeface="Graphik TH" pitchFamily="34" charset="0"/>
                          <a:ea typeface="Graphik TH" pitchFamily="34" charset="-122"/>
                          <a:cs typeface="Graphik TH" pitchFamily="34" charset="-120"/>
                        </a:rPr>
                        <a:t>54.1m → 14.7m</a:t>
                      </a:r>
                      <a:endParaRPr lang="en-US" sz="8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DEDE"/>
                    </a:solidFill>
                  </a:tcPr>
                </a:tc>
              </a:tr>
              <a:tr h="420624">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Stayed</a:t>
                      </a:r>
                      <a:endParaRPr lang="en-US" sz="9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850" dirty="0">
                          <a:solidFill>
                            <a:srgbClr val="16233D"/>
                          </a:solidFill>
                          <a:latin typeface="Graphik TH" pitchFamily="34" charset="0"/>
                          <a:ea typeface="Graphik TH" pitchFamily="34" charset="-122"/>
                          <a:cs typeface="Graphik TH" pitchFamily="34" charset="-120"/>
                        </a:rPr>
                        <a:t>6,414</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+6.0%   +THB 83m</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1368.3m → 1451.0m</a:t>
                      </a:r>
                      <a:endParaRPr lang="en-US" sz="8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6233D"/>
                          </a:solidFill>
                          <a:latin typeface="Graphik TH" pitchFamily="34" charset="0"/>
                          <a:ea typeface="Graphik TH" pitchFamily="34" charset="-122"/>
                          <a:cs typeface="Graphik TH" pitchFamily="34" charset="-120"/>
                        </a:rPr>
                        <a:t>34,099</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−2.4%   −THB 13m</a:t>
                      </a:r>
                      <a:endParaRPr lang="en-US" sz="850" dirty="0">
                        <a:latin typeface="Graphik TH" charset="0"/>
                        <a:ea typeface="Graphik TH" charset="0"/>
                        <a:cs typeface="Graphik TH" charset="0"/>
                      </a:endParaRPr>
                    </a:p>
                    <a:p>
                      <a:pPr algn="ctr" indent="0" marL="0">
                        <a:buNone/>
                      </a:pPr>
                      <a:r>
                        <a:rPr lang="en-US" sz="850" dirty="0">
                          <a:solidFill>
                            <a:srgbClr val="16233D"/>
                          </a:solidFill>
                          <a:latin typeface="Graphik TH" pitchFamily="34" charset="0"/>
                          <a:ea typeface="Graphik TH" pitchFamily="34" charset="-122"/>
                          <a:cs typeface="Graphik TH" pitchFamily="34" charset="-120"/>
                        </a:rPr>
                        <a:t>555.0m → 541.9m</a:t>
                      </a:r>
                      <a:endParaRPr lang="en-US" sz="850" dirty="0">
                        <a:latin typeface="Graphik TH" charset="0"/>
                        <a:ea typeface="Graphik TH" charset="0"/>
                        <a:cs typeface="Graphik TH" charset="0"/>
                      </a:endParaRPr>
                    </a:p>
                  </a:txBody>
                  <a:tcPr marL="73152" marR="73152" marT="36576" marB="36576"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bl>
          </a:graphicData>
        </a:graphic>
      </p:graphicFrame>
      <p:sp>
        <p:nvSpPr>
          <p:cNvPr id="51" name="Text 48"/>
          <p:cNvSpPr/>
          <p:nvPr/>
        </p:nvSpPr>
        <p:spPr>
          <a:xfrm>
            <a:off x="6537960" y="4736592"/>
            <a:ext cx="5010912" cy="365760"/>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Save More holders move 37.9% of the time against 7.5% — they move far more often, but into the next pocket rather than out of the bank.</a:t>
            </a:r>
            <a:endParaRPr lang="en-US" sz="900" dirty="0"/>
          </a:p>
        </p:txBody>
      </p:sp>
      <p:sp>
        <p:nvSpPr>
          <p:cNvPr id="52" name="Shape 49"/>
          <p:cNvSpPr/>
          <p:nvPr/>
        </p:nvSpPr>
        <p:spPr>
          <a:xfrm>
            <a:off x="530352" y="5285232"/>
            <a:ext cx="11274552" cy="786384"/>
          </a:xfrm>
          <a:prstGeom prst="roundRect">
            <a:avLst>
              <a:gd name="adj" fmla="val 10465"/>
            </a:avLst>
          </a:prstGeom>
          <a:solidFill>
            <a:srgbClr val="FBF0E6"/>
          </a:solidFill>
          <a:ln/>
        </p:spPr>
      </p:sp>
      <p:sp>
        <p:nvSpPr>
          <p:cNvPr id="53" name="Text 50"/>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The 2,759 movers with no Save More kept only 27% of their balance</a:t>
            </a:r>
            <a:pPr indent="0" marL="0">
              <a:buNone/>
            </a:pPr>
            <a:r>
              <a:rPr lang="en-US" sz="1100" dirty="0">
                <a:solidFill>
                  <a:srgbClr val="16233D"/>
                </a:solidFill>
                <a:latin typeface="Graphik TH" pitchFamily="34" charset="0"/>
                <a:ea typeface="Graphik TH" pitchFamily="34" charset="-122"/>
                <a:cs typeface="Graphik TH" pitchFamily="34" charset="-120"/>
              </a:rPr>
              <a:t>  —  −THB 39m gone. The same behaviour with a Save More holding grew +8.8%. Cross-holding, not the stickiness score, is what converts a maturing promotion into retained deposits.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Move rate : deposit stickiness against rate sensitivity</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*Save Max holders with balance &gt; 0. 'Move' = Save Max balance now zero. Each cell shows the move rate with its customer count beneath.</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Cohort 47,184   ·   Moved 6,671 (14.1%)   ·   Hottest cell: High stickiness × High sensitivity 56.2% on 2,788 customers</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Move rate climbs with both scores — the runoff sits in the sticky, rate-sensitive core, not in the low-stickiness corner.</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14.1%</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cohort move rate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6,671 of 47,184 emptied Save Max</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56.2%</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hottest cell</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High stickiness × High sensitivity</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98.7%</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walked balance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came from stickiness ≥ 60</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6B7A90"/>
                </a:solidFill>
                <a:latin typeface="Graphik TH" pitchFamily="34" charset="0"/>
                <a:ea typeface="Graphik TH" pitchFamily="34" charset="-122"/>
                <a:cs typeface="Graphik TH" pitchFamily="34" charset="-120"/>
              </a:rPr>
              <a:t>297</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in the 'fragile' corner</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stickiness &lt; 60 and RS ≥ 60</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Move rate by cell</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Rows: deposit stickiness · columns: rate sensitivity · shaded by move rate</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161288"/>
                <a:gridCol w="1024128"/>
                <a:gridCol w="1024128"/>
                <a:gridCol w="1024128"/>
                <a:gridCol w="1024128"/>
                <a:gridCol w="1024128"/>
              </a:tblGrid>
              <a:tr h="237744">
                <a:tc>
                  <a:txBody>
                    <a:bodyPr/>
                    <a:lstStyle/>
                    <a:p>
                      <a:pPr algn="l" indent="0" marL="0">
                        <a:buNone/>
                      </a:pPr>
                      <a:r>
                        <a:rPr lang="en-US" sz="900" b="1" dirty="0">
                          <a:solidFill>
                            <a:srgbClr val="FFFFFF"/>
                          </a:solidFill>
                          <a:latin typeface="Graphik TH" pitchFamily="34" charset="0"/>
                          <a:ea typeface="Graphik TH" pitchFamily="34" charset="-122"/>
                          <a:cs typeface="Graphik TH" pitchFamily="34" charset="-120"/>
                        </a:rPr>
                        <a:t>Stickiness</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Low</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Low</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Medium</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High</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ctr" indent="0" marL="0">
                        <a:buNone/>
                      </a:pPr>
                      <a:r>
                        <a:rPr lang="en-US" sz="900" b="1" dirty="0">
                          <a:solidFill>
                            <a:srgbClr val="FFFFFF"/>
                          </a:solidFill>
                          <a:latin typeface="Graphik TH" pitchFamily="34" charset="0"/>
                          <a:ea typeface="Graphik TH" pitchFamily="34" charset="-122"/>
                          <a:cs typeface="Graphik TH" pitchFamily="34" charset="-120"/>
                        </a:rPr>
                        <a:t>Very High</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12.8%</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890</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C5C5"/>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13.7%</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5,595</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0C1C1"/>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0.0%</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2</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41.8%</a:t>
                      </a:r>
                      <a:pPr algn="ctr" indent="0" marL="0">
                        <a:buNone/>
                      </a:pPr>
                      <a:endParaRPr lang="en-US" sz="1200" dirty="0"/>
                    </a:p>
                    <a:p>
                      <a:pPr algn="ctr" indent="0" marL="0">
                        <a:buNone/>
                      </a:pPr>
                      <a:r>
                        <a:rPr lang="en-US" sz="700" dirty="0">
                          <a:solidFill>
                            <a:srgbClr val="F0D6D6"/>
                          </a:solidFill>
                          <a:latin typeface="Graphik TH" pitchFamily="34" charset="0"/>
                          <a:ea typeface="Graphik TH" pitchFamily="34" charset="-122"/>
                          <a:cs typeface="Graphik TH" pitchFamily="34" charset="-120"/>
                        </a:rPr>
                        <a:t>2,340</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D04141"/>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14.2%</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3,318</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EFBFBF"/>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6.2%</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829</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8E3E3"/>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6.8%</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7,809</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7E0E0"/>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0.0%</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2</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Graphik TH" pitchFamily="34" charset="0"/>
                          <a:ea typeface="Graphik TH" pitchFamily="34" charset="-122"/>
                          <a:cs typeface="Graphik TH" pitchFamily="34" charset="-120"/>
                        </a:rPr>
                        <a:t>56.2%</a:t>
                      </a:r>
                      <a:pPr algn="ctr" indent="0" marL="0">
                        <a:buNone/>
                      </a:pPr>
                      <a:endParaRPr lang="en-US" sz="1200" dirty="0"/>
                    </a:p>
                    <a:p>
                      <a:pPr algn="ctr" indent="0" marL="0">
                        <a:buNone/>
                      </a:pPr>
                      <a:r>
                        <a:rPr lang="en-US" sz="700" dirty="0">
                          <a:solidFill>
                            <a:srgbClr val="F0D6D6"/>
                          </a:solidFill>
                          <a:latin typeface="Graphik TH" pitchFamily="34" charset="0"/>
                          <a:ea typeface="Graphik TH" pitchFamily="34" charset="-122"/>
                          <a:cs typeface="Graphik TH" pitchFamily="34" charset="-120"/>
                        </a:rPr>
                        <a:t>2,788</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C00000"/>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12.6%</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15,007</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C6C6"/>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12.9%</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31</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3.7%</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4,791</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BEEEE"/>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38.8%</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49</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9.7%</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236</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4D3D3"/>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0.0%</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4</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2.5%</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2,073</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CF4F4"/>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0.0%</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1</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6B7A90"/>
                          </a:solidFill>
                          <a:latin typeface="Graphik TH" pitchFamily="34" charset="0"/>
                          <a:ea typeface="Graphik TH" pitchFamily="34" charset="-122"/>
                          <a:cs typeface="Graphik TH" pitchFamily="34" charset="-120"/>
                        </a:rPr>
                        <a:t>36.4%</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11</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233D"/>
                          </a:solidFill>
                          <a:latin typeface="Graphik TH" pitchFamily="34" charset="0"/>
                          <a:ea typeface="Graphik TH" pitchFamily="34" charset="-122"/>
                          <a:cs typeface="Graphik TH" pitchFamily="34" charset="-120"/>
                        </a:rPr>
                        <a:t>1.9%</a:t>
                      </a:r>
                      <a:pPr algn="ctr" indent="0" marL="0">
                        <a:buNone/>
                      </a:pPr>
                      <a:endParaRPr lang="en-US" sz="1200" dirty="0"/>
                    </a:p>
                    <a:p>
                      <a:pPr algn="ctr" indent="0" marL="0">
                        <a:buNone/>
                      </a:pPr>
                      <a:r>
                        <a:rPr lang="en-US" sz="700" dirty="0">
                          <a:solidFill>
                            <a:srgbClr val="6B7A90"/>
                          </a:solidFill>
                          <a:latin typeface="Graphik TH" pitchFamily="34" charset="0"/>
                          <a:ea typeface="Graphik TH" pitchFamily="34" charset="-122"/>
                          <a:cs typeface="Graphik TH" pitchFamily="34" charset="-120"/>
                        </a:rPr>
                        <a:t>1,408</a:t>
                      </a:r>
                      <a:endParaRPr lang="en-US" sz="1200" dirty="0"/>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DF6F6"/>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A90"/>
                          </a:solidFill>
                          <a:latin typeface="Graphik TH" pitchFamily="34" charset="0"/>
                          <a:ea typeface="Graphik TH" pitchFamily="34" charset="-122"/>
                          <a:cs typeface="Graphik TH" pitchFamily="34" charset="-120"/>
                        </a:rPr>
                        <a:t>—</a:t>
                      </a:r>
                      <a:endParaRPr lang="en-US" sz="900" dirty="0">
                        <a:latin typeface="Graphik TH" charset="0"/>
                        <a:ea typeface="Graphik TH" charset="0"/>
                        <a:cs typeface="Graphik TH" charset="0"/>
                      </a:endParaRPr>
                    </a:p>
                  </a:txBody>
                  <a:tcPr marL="36576" marR="36576"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Move rate by stickiness</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The new dimension, on its own</a:t>
            </a:r>
            <a:endParaRPr lang="en-US" sz="950" dirty="0"/>
          </a:p>
        </p:txBody>
      </p:sp>
      <p:sp>
        <p:nvSpPr>
          <p:cNvPr id="29" name="Text 26"/>
          <p:cNvSpPr/>
          <p:nvPr/>
        </p:nvSpPr>
        <p:spPr>
          <a:xfrm>
            <a:off x="7735824" y="343814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High</a:t>
            </a:r>
            <a:endParaRPr lang="en-US" sz="1000" dirty="0"/>
          </a:p>
        </p:txBody>
      </p:sp>
      <p:sp>
        <p:nvSpPr>
          <p:cNvPr id="30" name="Shape 27"/>
          <p:cNvSpPr/>
          <p:nvPr/>
        </p:nvSpPr>
        <p:spPr>
          <a:xfrm>
            <a:off x="8833104" y="3474720"/>
            <a:ext cx="1417320" cy="164592"/>
          </a:xfrm>
          <a:prstGeom prst="roundRect">
            <a:avLst>
              <a:gd name="adj" fmla="val 16667"/>
            </a:avLst>
          </a:prstGeom>
          <a:solidFill>
            <a:srgbClr val="165A73"/>
          </a:solidFill>
          <a:ln/>
        </p:spPr>
      </p:sp>
      <p:sp>
        <p:nvSpPr>
          <p:cNvPr id="31" name="Text 28"/>
          <p:cNvSpPr/>
          <p:nvPr/>
        </p:nvSpPr>
        <p:spPr>
          <a:xfrm>
            <a:off x="10296144" y="3438144"/>
            <a:ext cx="658368" cy="237744"/>
          </a:xfrm>
          <a:prstGeom prst="rect">
            <a:avLst/>
          </a:prstGeom>
          <a:noFill/>
          <a:ln/>
        </p:spPr>
        <p:txBody>
          <a:bodyPr wrap="square" lIns="0" tIns="0" rIns="0" bIns="0" rtlCol="0" anchor="ctr"/>
          <a:lstStyle/>
          <a:p>
            <a:pPr algn="r" indent="0" marL="0">
              <a:buNone/>
            </a:pPr>
            <a:r>
              <a:rPr lang="en-US" sz="1000" b="1" dirty="0">
                <a:solidFill>
                  <a:srgbClr val="165A73"/>
                </a:solidFill>
                <a:latin typeface="Graphik TH" pitchFamily="34" charset="0"/>
                <a:ea typeface="Graphik TH" pitchFamily="34" charset="-122"/>
                <a:cs typeface="Graphik TH" pitchFamily="34" charset="-120"/>
              </a:rPr>
              <a:t>19.2%</a:t>
            </a:r>
            <a:endParaRPr lang="en-US" sz="1000" dirty="0"/>
          </a:p>
        </p:txBody>
      </p:sp>
      <p:sp>
        <p:nvSpPr>
          <p:cNvPr id="32" name="Text 29"/>
          <p:cNvSpPr/>
          <p:nvPr/>
        </p:nvSpPr>
        <p:spPr>
          <a:xfrm>
            <a:off x="10991088" y="3438144"/>
            <a:ext cx="557784"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12,145</a:t>
            </a:r>
            <a:endParaRPr lang="en-US" sz="850" dirty="0"/>
          </a:p>
        </p:txBody>
      </p:sp>
      <p:sp>
        <p:nvSpPr>
          <p:cNvPr id="33" name="Text 30"/>
          <p:cNvSpPr/>
          <p:nvPr/>
        </p:nvSpPr>
        <p:spPr>
          <a:xfrm>
            <a:off x="7735824" y="371246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High</a:t>
            </a:r>
            <a:endParaRPr lang="en-US" sz="1000" dirty="0"/>
          </a:p>
        </p:txBody>
      </p:sp>
      <p:sp>
        <p:nvSpPr>
          <p:cNvPr id="34" name="Shape 31"/>
          <p:cNvSpPr/>
          <p:nvPr/>
        </p:nvSpPr>
        <p:spPr>
          <a:xfrm>
            <a:off x="8833104" y="3749040"/>
            <a:ext cx="1128412" cy="164592"/>
          </a:xfrm>
          <a:prstGeom prst="roundRect">
            <a:avLst>
              <a:gd name="adj" fmla="val 16667"/>
            </a:avLst>
          </a:prstGeom>
          <a:solidFill>
            <a:srgbClr val="1E8E86"/>
          </a:solidFill>
          <a:ln/>
        </p:spPr>
      </p:sp>
      <p:sp>
        <p:nvSpPr>
          <p:cNvPr id="35" name="Text 32"/>
          <p:cNvSpPr/>
          <p:nvPr/>
        </p:nvSpPr>
        <p:spPr>
          <a:xfrm>
            <a:off x="10296144" y="3712464"/>
            <a:ext cx="658368" cy="237744"/>
          </a:xfrm>
          <a:prstGeom prst="rect">
            <a:avLst/>
          </a:prstGeom>
          <a:noFill/>
          <a:ln/>
        </p:spPr>
        <p:txBody>
          <a:bodyPr wrap="square" lIns="0" tIns="0" rIns="0" bIns="0" rtlCol="0" anchor="ctr"/>
          <a:lstStyle/>
          <a:p>
            <a:pPr algn="r" indent="0" marL="0">
              <a:buNone/>
            </a:pPr>
            <a:r>
              <a:rPr lang="en-US" sz="1000" b="1" dirty="0">
                <a:solidFill>
                  <a:srgbClr val="1E8E86"/>
                </a:solidFill>
                <a:latin typeface="Graphik TH" pitchFamily="34" charset="0"/>
                <a:ea typeface="Graphik TH" pitchFamily="34" charset="-122"/>
                <a:cs typeface="Graphik TH" pitchFamily="34" charset="-120"/>
              </a:rPr>
              <a:t>15.3%</a:t>
            </a:r>
            <a:endParaRPr lang="en-US" sz="1000" dirty="0"/>
          </a:p>
        </p:txBody>
      </p:sp>
      <p:sp>
        <p:nvSpPr>
          <p:cNvPr id="36" name="Text 33"/>
          <p:cNvSpPr/>
          <p:nvPr/>
        </p:nvSpPr>
        <p:spPr>
          <a:xfrm>
            <a:off x="10991088" y="3712464"/>
            <a:ext cx="557784"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26,435</a:t>
            </a:r>
            <a:endParaRPr lang="en-US" sz="850" dirty="0"/>
          </a:p>
        </p:txBody>
      </p:sp>
      <p:sp>
        <p:nvSpPr>
          <p:cNvPr id="37" name="Text 34"/>
          <p:cNvSpPr/>
          <p:nvPr/>
        </p:nvSpPr>
        <p:spPr>
          <a:xfrm>
            <a:off x="7735824" y="398678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Medium</a:t>
            </a:r>
            <a:endParaRPr lang="en-US" sz="1000" dirty="0"/>
          </a:p>
        </p:txBody>
      </p:sp>
      <p:sp>
        <p:nvSpPr>
          <p:cNvPr id="38" name="Shape 35"/>
          <p:cNvSpPr/>
          <p:nvPr/>
        </p:nvSpPr>
        <p:spPr>
          <a:xfrm>
            <a:off x="8833104" y="4023360"/>
            <a:ext cx="322727" cy="164592"/>
          </a:xfrm>
          <a:prstGeom prst="roundRect">
            <a:avLst>
              <a:gd name="adj" fmla="val 16667"/>
            </a:avLst>
          </a:prstGeom>
          <a:solidFill>
            <a:srgbClr val="3FB89F"/>
          </a:solidFill>
          <a:ln/>
        </p:spPr>
      </p:sp>
      <p:sp>
        <p:nvSpPr>
          <p:cNvPr id="39" name="Text 36"/>
          <p:cNvSpPr/>
          <p:nvPr/>
        </p:nvSpPr>
        <p:spPr>
          <a:xfrm>
            <a:off x="10296144" y="3986784"/>
            <a:ext cx="658368" cy="237744"/>
          </a:xfrm>
          <a:prstGeom prst="rect">
            <a:avLst/>
          </a:prstGeom>
          <a:noFill/>
          <a:ln/>
        </p:spPr>
        <p:txBody>
          <a:bodyPr wrap="square" lIns="0" tIns="0" rIns="0" bIns="0" rtlCol="0" anchor="ctr"/>
          <a:lstStyle/>
          <a:p>
            <a:pPr algn="r" indent="0" marL="0">
              <a:buNone/>
            </a:pPr>
            <a:r>
              <a:rPr lang="en-US" sz="1000" b="1" dirty="0">
                <a:solidFill>
                  <a:srgbClr val="3FB89F"/>
                </a:solidFill>
                <a:latin typeface="Graphik TH" pitchFamily="34" charset="0"/>
                <a:ea typeface="Graphik TH" pitchFamily="34" charset="-122"/>
                <a:cs typeface="Graphik TH" pitchFamily="34" charset="-120"/>
              </a:rPr>
              <a:t>4.4%</a:t>
            </a:r>
            <a:endParaRPr lang="en-US" sz="1000" dirty="0"/>
          </a:p>
        </p:txBody>
      </p:sp>
      <p:sp>
        <p:nvSpPr>
          <p:cNvPr id="40" name="Text 37"/>
          <p:cNvSpPr/>
          <p:nvPr/>
        </p:nvSpPr>
        <p:spPr>
          <a:xfrm>
            <a:off x="10991088" y="3986784"/>
            <a:ext cx="557784"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5,107</a:t>
            </a:r>
            <a:endParaRPr lang="en-US" sz="850" dirty="0"/>
          </a:p>
        </p:txBody>
      </p:sp>
      <p:sp>
        <p:nvSpPr>
          <p:cNvPr id="41" name="Text 38"/>
          <p:cNvSpPr/>
          <p:nvPr/>
        </p:nvSpPr>
        <p:spPr>
          <a:xfrm>
            <a:off x="7735824" y="426110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Low</a:t>
            </a:r>
            <a:endParaRPr lang="en-US" sz="1000" dirty="0"/>
          </a:p>
        </p:txBody>
      </p:sp>
      <p:sp>
        <p:nvSpPr>
          <p:cNvPr id="42" name="Shape 39"/>
          <p:cNvSpPr/>
          <p:nvPr/>
        </p:nvSpPr>
        <p:spPr>
          <a:xfrm>
            <a:off x="8833104" y="4297680"/>
            <a:ext cx="198128" cy="164592"/>
          </a:xfrm>
          <a:prstGeom prst="roundRect">
            <a:avLst>
              <a:gd name="adj" fmla="val 16667"/>
            </a:avLst>
          </a:prstGeom>
          <a:solidFill>
            <a:srgbClr val="E9A03B"/>
          </a:solidFill>
          <a:ln/>
        </p:spPr>
      </p:sp>
      <p:sp>
        <p:nvSpPr>
          <p:cNvPr id="43" name="Text 40"/>
          <p:cNvSpPr/>
          <p:nvPr/>
        </p:nvSpPr>
        <p:spPr>
          <a:xfrm>
            <a:off x="10296144" y="4261104"/>
            <a:ext cx="658368" cy="237744"/>
          </a:xfrm>
          <a:prstGeom prst="rect">
            <a:avLst/>
          </a:prstGeom>
          <a:noFill/>
          <a:ln/>
        </p:spPr>
        <p:txBody>
          <a:bodyPr wrap="square" lIns="0" tIns="0" rIns="0" bIns="0" rtlCol="0" anchor="ctr"/>
          <a:lstStyle/>
          <a:p>
            <a:pPr algn="r" indent="0" marL="0">
              <a:buNone/>
            </a:pPr>
            <a:r>
              <a:rPr lang="en-US" sz="1000" b="1" dirty="0">
                <a:solidFill>
                  <a:srgbClr val="E9A03B"/>
                </a:solidFill>
                <a:latin typeface="Graphik TH" pitchFamily="34" charset="0"/>
                <a:ea typeface="Graphik TH" pitchFamily="34" charset="-122"/>
                <a:cs typeface="Graphik TH" pitchFamily="34" charset="-120"/>
              </a:rPr>
              <a:t>2.7%</a:t>
            </a:r>
            <a:endParaRPr lang="en-US" sz="1000" dirty="0"/>
          </a:p>
        </p:txBody>
      </p:sp>
      <p:sp>
        <p:nvSpPr>
          <p:cNvPr id="44" name="Text 41"/>
          <p:cNvSpPr/>
          <p:nvPr/>
        </p:nvSpPr>
        <p:spPr>
          <a:xfrm>
            <a:off x="10991088" y="4261104"/>
            <a:ext cx="557784"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2,089</a:t>
            </a:r>
            <a:endParaRPr lang="en-US" sz="850" dirty="0"/>
          </a:p>
        </p:txBody>
      </p:sp>
      <p:sp>
        <p:nvSpPr>
          <p:cNvPr id="45" name="Text 42"/>
          <p:cNvSpPr/>
          <p:nvPr/>
        </p:nvSpPr>
        <p:spPr>
          <a:xfrm>
            <a:off x="7735824" y="453542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Low</a:t>
            </a:r>
            <a:endParaRPr lang="en-US" sz="1000" dirty="0"/>
          </a:p>
        </p:txBody>
      </p:sp>
      <p:sp>
        <p:nvSpPr>
          <p:cNvPr id="46" name="Shape 43"/>
          <p:cNvSpPr/>
          <p:nvPr/>
        </p:nvSpPr>
        <p:spPr>
          <a:xfrm>
            <a:off x="8833104" y="4572000"/>
            <a:ext cx="141728" cy="164592"/>
          </a:xfrm>
          <a:prstGeom prst="roundRect">
            <a:avLst>
              <a:gd name="adj" fmla="val 19355"/>
            </a:avLst>
          </a:prstGeom>
          <a:solidFill>
            <a:srgbClr val="8DA0B8"/>
          </a:solidFill>
          <a:ln/>
        </p:spPr>
      </p:sp>
      <p:sp>
        <p:nvSpPr>
          <p:cNvPr id="47" name="Text 44"/>
          <p:cNvSpPr/>
          <p:nvPr/>
        </p:nvSpPr>
        <p:spPr>
          <a:xfrm>
            <a:off x="10296144" y="4535424"/>
            <a:ext cx="658368" cy="237744"/>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1.9%</a:t>
            </a:r>
            <a:endParaRPr lang="en-US" sz="1000" dirty="0"/>
          </a:p>
        </p:txBody>
      </p:sp>
      <p:sp>
        <p:nvSpPr>
          <p:cNvPr id="48" name="Text 45"/>
          <p:cNvSpPr/>
          <p:nvPr/>
        </p:nvSpPr>
        <p:spPr>
          <a:xfrm>
            <a:off x="10991088" y="4535424"/>
            <a:ext cx="557784"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1,408</a:t>
            </a:r>
            <a:endParaRPr lang="en-US" sz="850" dirty="0"/>
          </a:p>
        </p:txBody>
      </p:sp>
      <p:sp>
        <p:nvSpPr>
          <p:cNvPr id="49" name="Shape 46"/>
          <p:cNvSpPr/>
          <p:nvPr/>
        </p:nvSpPr>
        <p:spPr>
          <a:xfrm>
            <a:off x="7735824" y="4809744"/>
            <a:ext cx="3813048" cy="274320"/>
          </a:xfrm>
          <a:prstGeom prst="roundRect">
            <a:avLst>
              <a:gd name="adj" fmla="val 30000"/>
            </a:avLst>
          </a:prstGeom>
          <a:solidFill>
            <a:srgbClr val="FBF0E6"/>
          </a:solidFill>
          <a:ln/>
        </p:spPr>
      </p:sp>
      <p:sp>
        <p:nvSpPr>
          <p:cNvPr id="50" name="Text 47"/>
          <p:cNvSpPr/>
          <p:nvPr/>
        </p:nvSpPr>
        <p:spPr>
          <a:xfrm>
            <a:off x="7882128" y="4809744"/>
            <a:ext cx="3520440" cy="274320"/>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Stickiness &lt; 60: 18.2% of customers, 1.6% of pocket.</a:t>
            </a:r>
            <a:endParaRPr lang="en-US" sz="950" dirty="0"/>
          </a:p>
        </p:txBody>
      </p:sp>
      <p:sp>
        <p:nvSpPr>
          <p:cNvPr id="51" name="Shape 48"/>
          <p:cNvSpPr/>
          <p:nvPr/>
        </p:nvSpPr>
        <p:spPr>
          <a:xfrm>
            <a:off x="530352" y="5285232"/>
            <a:ext cx="11274552" cy="786384"/>
          </a:xfrm>
          <a:prstGeom prst="roundRect">
            <a:avLst>
              <a:gd name="adj" fmla="val 10465"/>
            </a:avLst>
          </a:prstGeom>
          <a:solidFill>
            <a:srgbClr val="FBF0E6"/>
          </a:solidFill>
          <a:ln/>
        </p:spPr>
      </p:sp>
      <p:sp>
        <p:nvSpPr>
          <p:cNvPr id="52" name="Text 49"/>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98.7% of the Save Max balance that walked came from customers scoring stickiness ≥ 60</a:t>
            </a:r>
            <a:pPr indent="0" marL="0">
              <a:buNone/>
            </a:pPr>
            <a:r>
              <a:rPr lang="en-US" sz="1100" dirty="0">
                <a:solidFill>
                  <a:srgbClr val="16233D"/>
                </a:solidFill>
                <a:latin typeface="Graphik TH" pitchFamily="34" charset="0"/>
                <a:ea typeface="Graphik TH" pitchFamily="34" charset="-122"/>
                <a:cs typeface="Graphik TH" pitchFamily="34" charset="-120"/>
              </a:rPr>
              <a:t>  —  the low-stickiness corner the decision view flags as fragile holds 297 customers and THB 5.9m. Low stickiness here means dormant, not disloyal.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Balance change by deposit stickiness — Save Max holders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*Save Max holders with balance &gt; 0. Percentage change is shown for every tier — read it against the prior-balance column.</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Cohort 47,184   ·   Prior THB 2.90bn → latest THB 3.01bn   ·   Change +111.3m (+3.8%)</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Every tier gained. The percentages reverse the ranking, but the low tiers grow from near-zero balances.</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+111.3m</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balance change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+3.8% across the base</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+71.4m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High stickiness tier</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+4.0% · largest contributor</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000" b="1" dirty="0">
                <a:solidFill>
                  <a:srgbClr val="E9A03B"/>
                </a:solidFill>
                <a:latin typeface="Graphik TH" pitchFamily="34" charset="0"/>
                <a:ea typeface="Graphik TH" pitchFamily="34" charset="-122"/>
                <a:cs typeface="Graphik TH" pitchFamily="34" charset="-120"/>
              </a:rPr>
              <a:t>+1549.2%</a:t>
            </a:r>
            <a:endParaRPr lang="en-US" sz="20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Very Low stickiness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on a THB 0.03m prior balance</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95.5%</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the gain</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came from stickiness ≥ 60</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Total deposit balance by stickiness tier</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in THB m · change per customer in THB</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024128"/>
                <a:gridCol w="868680"/>
                <a:gridCol w="868680"/>
                <a:gridCol w="868680"/>
                <a:gridCol w="868680"/>
                <a:gridCol w="905256"/>
                <a:gridCol w="877824"/>
              </a:tblGrid>
              <a:tr h="228600">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Stickiness</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Customers</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Prior</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Latest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Change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Change %</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Chg / cust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12,145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1094.9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1129.8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+34.9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+2,871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26,435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1773.1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1844.5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+71.4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+4.0%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+2,702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5,107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33.0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35.9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+8.8%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+571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2,089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0.90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2.48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+174.7%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+754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1,408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0.03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0.51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+0.5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+1549.2%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+341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All tiers</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47,184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2901.9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3013.2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+111.3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+2,358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Share of the total gain</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Each tier's contribution to +111.3m</a:t>
            </a:r>
            <a:endParaRPr lang="en-US" sz="950" dirty="0"/>
          </a:p>
        </p:txBody>
      </p:sp>
      <p:sp>
        <p:nvSpPr>
          <p:cNvPr id="29" name="Text 26"/>
          <p:cNvSpPr/>
          <p:nvPr/>
        </p:nvSpPr>
        <p:spPr>
          <a:xfrm>
            <a:off x="7735824" y="343814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High</a:t>
            </a:r>
            <a:endParaRPr lang="en-US" sz="1000" dirty="0"/>
          </a:p>
        </p:txBody>
      </p:sp>
      <p:sp>
        <p:nvSpPr>
          <p:cNvPr id="30" name="Shape 27"/>
          <p:cNvSpPr/>
          <p:nvPr/>
        </p:nvSpPr>
        <p:spPr>
          <a:xfrm>
            <a:off x="8833104" y="3474720"/>
            <a:ext cx="691841" cy="164592"/>
          </a:xfrm>
          <a:prstGeom prst="roundRect">
            <a:avLst>
              <a:gd name="adj" fmla="val 16667"/>
            </a:avLst>
          </a:prstGeom>
          <a:solidFill>
            <a:srgbClr val="165A73"/>
          </a:solidFill>
          <a:ln/>
        </p:spPr>
      </p:sp>
      <p:sp>
        <p:nvSpPr>
          <p:cNvPr id="31" name="Text 28"/>
          <p:cNvSpPr/>
          <p:nvPr/>
        </p:nvSpPr>
        <p:spPr>
          <a:xfrm>
            <a:off x="10296144" y="3438144"/>
            <a:ext cx="658368" cy="237744"/>
          </a:xfrm>
          <a:prstGeom prst="rect">
            <a:avLst/>
          </a:prstGeom>
          <a:noFill/>
          <a:ln/>
        </p:spPr>
        <p:txBody>
          <a:bodyPr wrap="square" lIns="0" tIns="0" rIns="0" bIns="0" rtlCol="0" anchor="ctr"/>
          <a:lstStyle/>
          <a:p>
            <a:pPr algn="r" indent="0" marL="0">
              <a:buNone/>
            </a:pPr>
            <a:r>
              <a:rPr lang="en-US" sz="1000" b="1" dirty="0">
                <a:solidFill>
                  <a:srgbClr val="165A73"/>
                </a:solidFill>
                <a:latin typeface="Graphik TH" pitchFamily="34" charset="0"/>
                <a:ea typeface="Graphik TH" pitchFamily="34" charset="-122"/>
                <a:cs typeface="Graphik TH" pitchFamily="34" charset="-120"/>
              </a:rPr>
              <a:t>31.3%</a:t>
            </a:r>
            <a:endParaRPr lang="en-US" sz="1000" dirty="0"/>
          </a:p>
        </p:txBody>
      </p:sp>
      <p:sp>
        <p:nvSpPr>
          <p:cNvPr id="32" name="Text 29"/>
          <p:cNvSpPr/>
          <p:nvPr/>
        </p:nvSpPr>
        <p:spPr>
          <a:xfrm>
            <a:off x="10972800" y="343814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+34.9</a:t>
            </a:r>
            <a:endParaRPr lang="en-US" sz="850" dirty="0"/>
          </a:p>
        </p:txBody>
      </p:sp>
      <p:sp>
        <p:nvSpPr>
          <p:cNvPr id="33" name="Text 30"/>
          <p:cNvSpPr/>
          <p:nvPr/>
        </p:nvSpPr>
        <p:spPr>
          <a:xfrm>
            <a:off x="7735824" y="371246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High</a:t>
            </a:r>
            <a:endParaRPr lang="en-US" sz="1000" dirty="0"/>
          </a:p>
        </p:txBody>
      </p:sp>
      <p:sp>
        <p:nvSpPr>
          <p:cNvPr id="34" name="Shape 31"/>
          <p:cNvSpPr/>
          <p:nvPr/>
        </p:nvSpPr>
        <p:spPr>
          <a:xfrm>
            <a:off x="8833104" y="3749040"/>
            <a:ext cx="1417320" cy="164592"/>
          </a:xfrm>
          <a:prstGeom prst="roundRect">
            <a:avLst>
              <a:gd name="adj" fmla="val 16667"/>
            </a:avLst>
          </a:prstGeom>
          <a:solidFill>
            <a:srgbClr val="1E8E86"/>
          </a:solidFill>
          <a:ln/>
        </p:spPr>
      </p:sp>
      <p:sp>
        <p:nvSpPr>
          <p:cNvPr id="35" name="Text 32"/>
          <p:cNvSpPr/>
          <p:nvPr/>
        </p:nvSpPr>
        <p:spPr>
          <a:xfrm>
            <a:off x="10296144" y="3712464"/>
            <a:ext cx="658368" cy="237744"/>
          </a:xfrm>
          <a:prstGeom prst="rect">
            <a:avLst/>
          </a:prstGeom>
          <a:noFill/>
          <a:ln/>
        </p:spPr>
        <p:txBody>
          <a:bodyPr wrap="square" lIns="0" tIns="0" rIns="0" bIns="0" rtlCol="0" anchor="ctr"/>
          <a:lstStyle/>
          <a:p>
            <a:pPr algn="r" indent="0" marL="0">
              <a:buNone/>
            </a:pPr>
            <a:r>
              <a:rPr lang="en-US" sz="1000" b="1" dirty="0">
                <a:solidFill>
                  <a:srgbClr val="1E8E86"/>
                </a:solidFill>
                <a:latin typeface="Graphik TH" pitchFamily="34" charset="0"/>
                <a:ea typeface="Graphik TH" pitchFamily="34" charset="-122"/>
                <a:cs typeface="Graphik TH" pitchFamily="34" charset="-120"/>
              </a:rPr>
              <a:t>64.2%</a:t>
            </a:r>
            <a:endParaRPr lang="en-US" sz="1000" dirty="0"/>
          </a:p>
        </p:txBody>
      </p:sp>
      <p:sp>
        <p:nvSpPr>
          <p:cNvPr id="36" name="Text 33"/>
          <p:cNvSpPr/>
          <p:nvPr/>
        </p:nvSpPr>
        <p:spPr>
          <a:xfrm>
            <a:off x="10972800" y="371246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+71.4</a:t>
            </a:r>
            <a:endParaRPr lang="en-US" sz="850" dirty="0"/>
          </a:p>
        </p:txBody>
      </p:sp>
      <p:sp>
        <p:nvSpPr>
          <p:cNvPr id="37" name="Text 34"/>
          <p:cNvSpPr/>
          <p:nvPr/>
        </p:nvSpPr>
        <p:spPr>
          <a:xfrm>
            <a:off x="7735824" y="398678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Medium</a:t>
            </a:r>
            <a:endParaRPr lang="en-US" sz="1000" dirty="0"/>
          </a:p>
        </p:txBody>
      </p:sp>
      <p:sp>
        <p:nvSpPr>
          <p:cNvPr id="38" name="Shape 35"/>
          <p:cNvSpPr/>
          <p:nvPr/>
        </p:nvSpPr>
        <p:spPr>
          <a:xfrm>
            <a:off x="8833104" y="4023360"/>
            <a:ext cx="57814" cy="164592"/>
          </a:xfrm>
          <a:prstGeom prst="roundRect">
            <a:avLst>
              <a:gd name="adj" fmla="val 47449"/>
            </a:avLst>
          </a:prstGeom>
          <a:solidFill>
            <a:srgbClr val="3FB89F"/>
          </a:solidFill>
          <a:ln/>
        </p:spPr>
      </p:sp>
      <p:sp>
        <p:nvSpPr>
          <p:cNvPr id="39" name="Text 36"/>
          <p:cNvSpPr/>
          <p:nvPr/>
        </p:nvSpPr>
        <p:spPr>
          <a:xfrm>
            <a:off x="10296144" y="3986784"/>
            <a:ext cx="658368" cy="237744"/>
          </a:xfrm>
          <a:prstGeom prst="rect">
            <a:avLst/>
          </a:prstGeom>
          <a:noFill/>
          <a:ln/>
        </p:spPr>
        <p:txBody>
          <a:bodyPr wrap="square" lIns="0" tIns="0" rIns="0" bIns="0" rtlCol="0" anchor="ctr"/>
          <a:lstStyle/>
          <a:p>
            <a:pPr algn="r" indent="0" marL="0">
              <a:buNone/>
            </a:pPr>
            <a:r>
              <a:rPr lang="en-US" sz="1000" b="1" dirty="0">
                <a:solidFill>
                  <a:srgbClr val="3FB89F"/>
                </a:solidFill>
                <a:latin typeface="Graphik TH" pitchFamily="34" charset="0"/>
                <a:ea typeface="Graphik TH" pitchFamily="34" charset="-122"/>
                <a:cs typeface="Graphik TH" pitchFamily="34" charset="-120"/>
              </a:rPr>
              <a:t>2.6%</a:t>
            </a:r>
            <a:endParaRPr lang="en-US" sz="1000" dirty="0"/>
          </a:p>
        </p:txBody>
      </p:sp>
      <p:sp>
        <p:nvSpPr>
          <p:cNvPr id="40" name="Text 37"/>
          <p:cNvSpPr/>
          <p:nvPr/>
        </p:nvSpPr>
        <p:spPr>
          <a:xfrm>
            <a:off x="10972800" y="398678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+2.9</a:t>
            </a:r>
            <a:endParaRPr lang="en-US" sz="850" dirty="0"/>
          </a:p>
        </p:txBody>
      </p:sp>
      <p:sp>
        <p:nvSpPr>
          <p:cNvPr id="41" name="Text 38"/>
          <p:cNvSpPr/>
          <p:nvPr/>
        </p:nvSpPr>
        <p:spPr>
          <a:xfrm>
            <a:off x="7735824" y="426110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Low</a:t>
            </a:r>
            <a:endParaRPr lang="en-US" sz="1000" dirty="0"/>
          </a:p>
        </p:txBody>
      </p:sp>
      <p:sp>
        <p:nvSpPr>
          <p:cNvPr id="42" name="Shape 39"/>
          <p:cNvSpPr/>
          <p:nvPr/>
        </p:nvSpPr>
        <p:spPr>
          <a:xfrm>
            <a:off x="8833104" y="4297680"/>
            <a:ext cx="31262" cy="164592"/>
          </a:xfrm>
          <a:prstGeom prst="roundRect">
            <a:avLst>
              <a:gd name="adj" fmla="val 87749"/>
            </a:avLst>
          </a:prstGeom>
          <a:solidFill>
            <a:srgbClr val="E9A03B"/>
          </a:solidFill>
          <a:ln/>
        </p:spPr>
      </p:sp>
      <p:sp>
        <p:nvSpPr>
          <p:cNvPr id="43" name="Text 40"/>
          <p:cNvSpPr/>
          <p:nvPr/>
        </p:nvSpPr>
        <p:spPr>
          <a:xfrm>
            <a:off x="10296144" y="4261104"/>
            <a:ext cx="658368" cy="237744"/>
          </a:xfrm>
          <a:prstGeom prst="rect">
            <a:avLst/>
          </a:prstGeom>
          <a:noFill/>
          <a:ln/>
        </p:spPr>
        <p:txBody>
          <a:bodyPr wrap="square" lIns="0" tIns="0" rIns="0" bIns="0" rtlCol="0" anchor="ctr"/>
          <a:lstStyle/>
          <a:p>
            <a:pPr algn="r" indent="0" marL="0">
              <a:buNone/>
            </a:pPr>
            <a:r>
              <a:rPr lang="en-US" sz="1000" b="1" dirty="0">
                <a:solidFill>
                  <a:srgbClr val="E9A03B"/>
                </a:solidFill>
                <a:latin typeface="Graphik TH" pitchFamily="34" charset="0"/>
                <a:ea typeface="Graphik TH" pitchFamily="34" charset="-122"/>
                <a:cs typeface="Graphik TH" pitchFamily="34" charset="-120"/>
              </a:rPr>
              <a:t>1.4%</a:t>
            </a:r>
            <a:endParaRPr lang="en-US" sz="1000" dirty="0"/>
          </a:p>
        </p:txBody>
      </p:sp>
      <p:sp>
        <p:nvSpPr>
          <p:cNvPr id="44" name="Text 41"/>
          <p:cNvSpPr/>
          <p:nvPr/>
        </p:nvSpPr>
        <p:spPr>
          <a:xfrm>
            <a:off x="10972800" y="426110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+1.6</a:t>
            </a:r>
            <a:endParaRPr lang="en-US" sz="850" dirty="0"/>
          </a:p>
        </p:txBody>
      </p:sp>
      <p:sp>
        <p:nvSpPr>
          <p:cNvPr id="45" name="Text 42"/>
          <p:cNvSpPr/>
          <p:nvPr/>
        </p:nvSpPr>
        <p:spPr>
          <a:xfrm>
            <a:off x="7735824" y="453542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Low</a:t>
            </a:r>
            <a:endParaRPr lang="en-US" sz="1000" dirty="0"/>
          </a:p>
        </p:txBody>
      </p:sp>
      <p:sp>
        <p:nvSpPr>
          <p:cNvPr id="46" name="Shape 43"/>
          <p:cNvSpPr/>
          <p:nvPr/>
        </p:nvSpPr>
        <p:spPr>
          <a:xfrm>
            <a:off x="8833104" y="4572000"/>
            <a:ext cx="27432" cy="164592"/>
          </a:xfrm>
          <a:prstGeom prst="roundRect">
            <a:avLst>
              <a:gd name="adj" fmla="val 100000"/>
            </a:avLst>
          </a:prstGeom>
          <a:solidFill>
            <a:srgbClr val="8DA0B8"/>
          </a:solidFill>
          <a:ln/>
        </p:spPr>
      </p:sp>
      <p:sp>
        <p:nvSpPr>
          <p:cNvPr id="47" name="Text 44"/>
          <p:cNvSpPr/>
          <p:nvPr/>
        </p:nvSpPr>
        <p:spPr>
          <a:xfrm>
            <a:off x="10296144" y="4535424"/>
            <a:ext cx="658368" cy="237744"/>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0.4%</a:t>
            </a:r>
            <a:endParaRPr lang="en-US" sz="1000" dirty="0"/>
          </a:p>
        </p:txBody>
      </p:sp>
      <p:sp>
        <p:nvSpPr>
          <p:cNvPr id="48" name="Text 45"/>
          <p:cNvSpPr/>
          <p:nvPr/>
        </p:nvSpPr>
        <p:spPr>
          <a:xfrm>
            <a:off x="10972800" y="453542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+0.5</a:t>
            </a:r>
            <a:endParaRPr lang="en-US" sz="850" dirty="0"/>
          </a:p>
        </p:txBody>
      </p:sp>
      <p:sp>
        <p:nvSpPr>
          <p:cNvPr id="49" name="Shape 46"/>
          <p:cNvSpPr/>
          <p:nvPr/>
        </p:nvSpPr>
        <p:spPr>
          <a:xfrm>
            <a:off x="7735824" y="4846320"/>
            <a:ext cx="3813048" cy="274320"/>
          </a:xfrm>
          <a:prstGeom prst="roundRect">
            <a:avLst>
              <a:gd name="adj" fmla="val 30000"/>
            </a:avLst>
          </a:prstGeom>
          <a:solidFill>
            <a:srgbClr val="FBF0E6"/>
          </a:solidFill>
          <a:ln/>
        </p:spPr>
      </p:sp>
      <p:sp>
        <p:nvSpPr>
          <p:cNvPr id="50" name="Text 47"/>
          <p:cNvSpPr/>
          <p:nvPr/>
        </p:nvSpPr>
        <p:spPr>
          <a:xfrm>
            <a:off x="7882128" y="4846320"/>
            <a:ext cx="3520440" cy="274320"/>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Stickiness ≥ 60 holds 98.8% of the prior balance.</a:t>
            </a:r>
            <a:endParaRPr lang="en-US" sz="950" dirty="0"/>
          </a:p>
        </p:txBody>
      </p:sp>
      <p:sp>
        <p:nvSpPr>
          <p:cNvPr id="51" name="Shape 48"/>
          <p:cNvSpPr/>
          <p:nvPr/>
        </p:nvSpPr>
        <p:spPr>
          <a:xfrm>
            <a:off x="530352" y="5285232"/>
            <a:ext cx="11274552" cy="786384"/>
          </a:xfrm>
          <a:prstGeom prst="roundRect">
            <a:avLst>
              <a:gd name="adj" fmla="val 10465"/>
            </a:avLst>
          </a:prstGeom>
          <a:solidFill>
            <a:srgbClr val="E8F6F3"/>
          </a:solidFill>
          <a:ln/>
        </p:spPr>
      </p:sp>
      <p:sp>
        <p:nvSpPr>
          <p:cNvPr id="52" name="Text 49"/>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Stickiness ≥ 60 contributed +106.3m of the +111.3m gain</a:t>
            </a:r>
            <a:pPr indent="0" marL="0">
              <a:buNone/>
            </a:pPr>
            <a:r>
              <a:rPr lang="en-US" sz="1100" dirty="0">
                <a:solidFill>
                  <a:srgbClr val="16233D"/>
                </a:solidFill>
                <a:latin typeface="Graphik TH" pitchFamily="34" charset="0"/>
                <a:ea typeface="Graphik TH" pitchFamily="34" charset="-122"/>
                <a:cs typeface="Graphik TH" pitchFamily="34" charset="-120"/>
              </a:rPr>
              <a:t>  —  the Low and Very Low tiers post +174.7% and +1549.2%, but on prior balances of THB 0.90m and THB 0.03m. Rank the tiers on absolute change; read the percentages as a signal that dormant accounts are being funded again.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Balance change by deposit stickiness — whole deposit base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*Whole funded deposit base (balance &gt; 0), all customers. Percentage change is shown for every tier — read it against the prior-balance column.</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Base 320,109   ·   Prior THB 5.48bn → latest THB 5.69bn   ·   Change +211.1m (+3.9%)</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 same shape at seven times the size — but a fifth of the growth now comes from the three lower tiers.</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+211.1m</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total balance change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+3.9% across the base</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+99.5m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High stickiness tier</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+3.8% · largest contributor</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000" b="1" dirty="0">
                <a:solidFill>
                  <a:srgbClr val="E9A03B"/>
                </a:solidFill>
                <a:latin typeface="Graphik TH" pitchFamily="34" charset="0"/>
                <a:ea typeface="Graphik TH" pitchFamily="34" charset="-122"/>
                <a:cs typeface="Graphik TH" pitchFamily="34" charset="-120"/>
              </a:rPr>
              <a:t>+143.6%</a:t>
            </a:r>
            <a:endParaRPr lang="en-US" sz="20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Very Low stickiness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on a THB 5.35m prior balance</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79.2%</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the gain</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came from stickiness ≥ 60</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Total deposit balance by stickiness tier</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in THB m · change per customer in THB</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024128"/>
                <a:gridCol w="868680"/>
                <a:gridCol w="868680"/>
                <a:gridCol w="868680"/>
                <a:gridCol w="868680"/>
                <a:gridCol w="905256"/>
                <a:gridCol w="877824"/>
              </a:tblGrid>
              <a:tr h="228600">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Stickiness</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Customers</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Prior</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Latest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Change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Change %</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Chg / cust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53,783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2663.8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2731.5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+67.6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+1,257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102,005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2585.6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2685.1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+99.5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+975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96,426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211.4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236.3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+24.9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+11.8%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+259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30,592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11.3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22.7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+11.4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+100.6%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+372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37,303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5.35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13.0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+7.7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+143.6%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+206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2860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All tiers</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320,109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5477.5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5688.6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+211.1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+659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Share of the total gain</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Each tier's contribution to +211.1m</a:t>
            </a:r>
            <a:endParaRPr lang="en-US" sz="950" dirty="0"/>
          </a:p>
        </p:txBody>
      </p:sp>
      <p:sp>
        <p:nvSpPr>
          <p:cNvPr id="29" name="Text 26"/>
          <p:cNvSpPr/>
          <p:nvPr/>
        </p:nvSpPr>
        <p:spPr>
          <a:xfrm>
            <a:off x="7735824" y="343814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High</a:t>
            </a:r>
            <a:endParaRPr lang="en-US" sz="1000" dirty="0"/>
          </a:p>
        </p:txBody>
      </p:sp>
      <p:sp>
        <p:nvSpPr>
          <p:cNvPr id="30" name="Shape 27"/>
          <p:cNvSpPr/>
          <p:nvPr/>
        </p:nvSpPr>
        <p:spPr>
          <a:xfrm>
            <a:off x="8833104" y="3474720"/>
            <a:ext cx="963748" cy="164592"/>
          </a:xfrm>
          <a:prstGeom prst="roundRect">
            <a:avLst>
              <a:gd name="adj" fmla="val 16667"/>
            </a:avLst>
          </a:prstGeom>
          <a:solidFill>
            <a:srgbClr val="165A73"/>
          </a:solidFill>
          <a:ln/>
        </p:spPr>
      </p:sp>
      <p:sp>
        <p:nvSpPr>
          <p:cNvPr id="31" name="Text 28"/>
          <p:cNvSpPr/>
          <p:nvPr/>
        </p:nvSpPr>
        <p:spPr>
          <a:xfrm>
            <a:off x="10296144" y="3438144"/>
            <a:ext cx="658368" cy="237744"/>
          </a:xfrm>
          <a:prstGeom prst="rect">
            <a:avLst/>
          </a:prstGeom>
          <a:noFill/>
          <a:ln/>
        </p:spPr>
        <p:txBody>
          <a:bodyPr wrap="square" lIns="0" tIns="0" rIns="0" bIns="0" rtlCol="0" anchor="ctr"/>
          <a:lstStyle/>
          <a:p>
            <a:pPr algn="r" indent="0" marL="0">
              <a:buNone/>
            </a:pPr>
            <a:r>
              <a:rPr lang="en-US" sz="1000" b="1" dirty="0">
                <a:solidFill>
                  <a:srgbClr val="165A73"/>
                </a:solidFill>
                <a:latin typeface="Graphik TH" pitchFamily="34" charset="0"/>
                <a:ea typeface="Graphik TH" pitchFamily="34" charset="-122"/>
                <a:cs typeface="Graphik TH" pitchFamily="34" charset="-120"/>
              </a:rPr>
              <a:t>32.0%</a:t>
            </a:r>
            <a:endParaRPr lang="en-US" sz="1000" dirty="0"/>
          </a:p>
        </p:txBody>
      </p:sp>
      <p:sp>
        <p:nvSpPr>
          <p:cNvPr id="32" name="Text 29"/>
          <p:cNvSpPr/>
          <p:nvPr/>
        </p:nvSpPr>
        <p:spPr>
          <a:xfrm>
            <a:off x="10972800" y="343814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+67.6</a:t>
            </a:r>
            <a:endParaRPr lang="en-US" sz="850" dirty="0"/>
          </a:p>
        </p:txBody>
      </p:sp>
      <p:sp>
        <p:nvSpPr>
          <p:cNvPr id="33" name="Text 30"/>
          <p:cNvSpPr/>
          <p:nvPr/>
        </p:nvSpPr>
        <p:spPr>
          <a:xfrm>
            <a:off x="7735824" y="371246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High</a:t>
            </a:r>
            <a:endParaRPr lang="en-US" sz="1000" dirty="0"/>
          </a:p>
        </p:txBody>
      </p:sp>
      <p:sp>
        <p:nvSpPr>
          <p:cNvPr id="34" name="Shape 31"/>
          <p:cNvSpPr/>
          <p:nvPr/>
        </p:nvSpPr>
        <p:spPr>
          <a:xfrm>
            <a:off x="8833104" y="3749040"/>
            <a:ext cx="1417320" cy="164592"/>
          </a:xfrm>
          <a:prstGeom prst="roundRect">
            <a:avLst>
              <a:gd name="adj" fmla="val 16667"/>
            </a:avLst>
          </a:prstGeom>
          <a:solidFill>
            <a:srgbClr val="1E8E86"/>
          </a:solidFill>
          <a:ln/>
        </p:spPr>
      </p:sp>
      <p:sp>
        <p:nvSpPr>
          <p:cNvPr id="35" name="Text 32"/>
          <p:cNvSpPr/>
          <p:nvPr/>
        </p:nvSpPr>
        <p:spPr>
          <a:xfrm>
            <a:off x="10296144" y="3712464"/>
            <a:ext cx="658368" cy="237744"/>
          </a:xfrm>
          <a:prstGeom prst="rect">
            <a:avLst/>
          </a:prstGeom>
          <a:noFill/>
          <a:ln/>
        </p:spPr>
        <p:txBody>
          <a:bodyPr wrap="square" lIns="0" tIns="0" rIns="0" bIns="0" rtlCol="0" anchor="ctr"/>
          <a:lstStyle/>
          <a:p>
            <a:pPr algn="r" indent="0" marL="0">
              <a:buNone/>
            </a:pPr>
            <a:r>
              <a:rPr lang="en-US" sz="1000" b="1" dirty="0">
                <a:solidFill>
                  <a:srgbClr val="1E8E86"/>
                </a:solidFill>
                <a:latin typeface="Graphik TH" pitchFamily="34" charset="0"/>
                <a:ea typeface="Graphik TH" pitchFamily="34" charset="-122"/>
                <a:cs typeface="Graphik TH" pitchFamily="34" charset="-120"/>
              </a:rPr>
              <a:t>47.1%</a:t>
            </a:r>
            <a:endParaRPr lang="en-US" sz="1000" dirty="0"/>
          </a:p>
        </p:txBody>
      </p:sp>
      <p:sp>
        <p:nvSpPr>
          <p:cNvPr id="36" name="Text 33"/>
          <p:cNvSpPr/>
          <p:nvPr/>
        </p:nvSpPr>
        <p:spPr>
          <a:xfrm>
            <a:off x="10972800" y="371246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+99.5</a:t>
            </a:r>
            <a:endParaRPr lang="en-US" sz="850" dirty="0"/>
          </a:p>
        </p:txBody>
      </p:sp>
      <p:sp>
        <p:nvSpPr>
          <p:cNvPr id="37" name="Text 34"/>
          <p:cNvSpPr/>
          <p:nvPr/>
        </p:nvSpPr>
        <p:spPr>
          <a:xfrm>
            <a:off x="7735824" y="398678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Medium</a:t>
            </a:r>
            <a:endParaRPr lang="en-US" sz="1000" dirty="0"/>
          </a:p>
        </p:txBody>
      </p:sp>
      <p:sp>
        <p:nvSpPr>
          <p:cNvPr id="38" name="Shape 35"/>
          <p:cNvSpPr/>
          <p:nvPr/>
        </p:nvSpPr>
        <p:spPr>
          <a:xfrm>
            <a:off x="8833104" y="4023360"/>
            <a:ext cx="355231" cy="164592"/>
          </a:xfrm>
          <a:prstGeom prst="roundRect">
            <a:avLst>
              <a:gd name="adj" fmla="val 16667"/>
            </a:avLst>
          </a:prstGeom>
          <a:solidFill>
            <a:srgbClr val="3FB89F"/>
          </a:solidFill>
          <a:ln/>
        </p:spPr>
      </p:sp>
      <p:sp>
        <p:nvSpPr>
          <p:cNvPr id="39" name="Text 36"/>
          <p:cNvSpPr/>
          <p:nvPr/>
        </p:nvSpPr>
        <p:spPr>
          <a:xfrm>
            <a:off x="10296144" y="3986784"/>
            <a:ext cx="658368" cy="237744"/>
          </a:xfrm>
          <a:prstGeom prst="rect">
            <a:avLst/>
          </a:prstGeom>
          <a:noFill/>
          <a:ln/>
        </p:spPr>
        <p:txBody>
          <a:bodyPr wrap="square" lIns="0" tIns="0" rIns="0" bIns="0" rtlCol="0" anchor="ctr"/>
          <a:lstStyle/>
          <a:p>
            <a:pPr algn="r" indent="0" marL="0">
              <a:buNone/>
            </a:pPr>
            <a:r>
              <a:rPr lang="en-US" sz="1000" b="1" dirty="0">
                <a:solidFill>
                  <a:srgbClr val="3FB89F"/>
                </a:solidFill>
                <a:latin typeface="Graphik TH" pitchFamily="34" charset="0"/>
                <a:ea typeface="Graphik TH" pitchFamily="34" charset="-122"/>
                <a:cs typeface="Graphik TH" pitchFamily="34" charset="-120"/>
              </a:rPr>
              <a:t>11.8%</a:t>
            </a:r>
            <a:endParaRPr lang="en-US" sz="1000" dirty="0"/>
          </a:p>
        </p:txBody>
      </p:sp>
      <p:sp>
        <p:nvSpPr>
          <p:cNvPr id="40" name="Text 37"/>
          <p:cNvSpPr/>
          <p:nvPr/>
        </p:nvSpPr>
        <p:spPr>
          <a:xfrm>
            <a:off x="10972800" y="398678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+24.9</a:t>
            </a:r>
            <a:endParaRPr lang="en-US" sz="850" dirty="0"/>
          </a:p>
        </p:txBody>
      </p:sp>
      <p:sp>
        <p:nvSpPr>
          <p:cNvPr id="41" name="Text 38"/>
          <p:cNvSpPr/>
          <p:nvPr/>
        </p:nvSpPr>
        <p:spPr>
          <a:xfrm>
            <a:off x="7735824" y="426110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Low</a:t>
            </a:r>
            <a:endParaRPr lang="en-US" sz="1000" dirty="0"/>
          </a:p>
        </p:txBody>
      </p:sp>
      <p:sp>
        <p:nvSpPr>
          <p:cNvPr id="42" name="Shape 39"/>
          <p:cNvSpPr/>
          <p:nvPr/>
        </p:nvSpPr>
        <p:spPr>
          <a:xfrm>
            <a:off x="8833104" y="4297680"/>
            <a:ext cx="162359" cy="164592"/>
          </a:xfrm>
          <a:prstGeom prst="roundRect">
            <a:avLst>
              <a:gd name="adj" fmla="val 16896"/>
            </a:avLst>
          </a:prstGeom>
          <a:solidFill>
            <a:srgbClr val="E9A03B"/>
          </a:solidFill>
          <a:ln/>
        </p:spPr>
      </p:sp>
      <p:sp>
        <p:nvSpPr>
          <p:cNvPr id="43" name="Text 40"/>
          <p:cNvSpPr/>
          <p:nvPr/>
        </p:nvSpPr>
        <p:spPr>
          <a:xfrm>
            <a:off x="10296144" y="4261104"/>
            <a:ext cx="658368" cy="237744"/>
          </a:xfrm>
          <a:prstGeom prst="rect">
            <a:avLst/>
          </a:prstGeom>
          <a:noFill/>
          <a:ln/>
        </p:spPr>
        <p:txBody>
          <a:bodyPr wrap="square" lIns="0" tIns="0" rIns="0" bIns="0" rtlCol="0" anchor="ctr"/>
          <a:lstStyle/>
          <a:p>
            <a:pPr algn="r" indent="0" marL="0">
              <a:buNone/>
            </a:pPr>
            <a:r>
              <a:rPr lang="en-US" sz="1000" b="1" dirty="0">
                <a:solidFill>
                  <a:srgbClr val="E9A03B"/>
                </a:solidFill>
                <a:latin typeface="Graphik TH" pitchFamily="34" charset="0"/>
                <a:ea typeface="Graphik TH" pitchFamily="34" charset="-122"/>
                <a:cs typeface="Graphik TH" pitchFamily="34" charset="-120"/>
              </a:rPr>
              <a:t>5.4%</a:t>
            </a:r>
            <a:endParaRPr lang="en-US" sz="1000" dirty="0"/>
          </a:p>
        </p:txBody>
      </p:sp>
      <p:sp>
        <p:nvSpPr>
          <p:cNvPr id="44" name="Text 41"/>
          <p:cNvSpPr/>
          <p:nvPr/>
        </p:nvSpPr>
        <p:spPr>
          <a:xfrm>
            <a:off x="10972800" y="426110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+11.4</a:t>
            </a:r>
            <a:endParaRPr lang="en-US" sz="850" dirty="0"/>
          </a:p>
        </p:txBody>
      </p:sp>
      <p:sp>
        <p:nvSpPr>
          <p:cNvPr id="45" name="Text 42"/>
          <p:cNvSpPr/>
          <p:nvPr/>
        </p:nvSpPr>
        <p:spPr>
          <a:xfrm>
            <a:off x="7735824" y="4535424"/>
            <a:ext cx="1051560" cy="237744"/>
          </a:xfrm>
          <a:prstGeom prst="rect">
            <a:avLst/>
          </a:prstGeom>
          <a:noFill/>
          <a:ln/>
        </p:spPr>
        <p:txBody>
          <a:bodyPr wrap="square" lIns="0" tIns="0" rIns="0" bIns="0" rtlCol="0" anchor="ctr"/>
          <a:lstStyle/>
          <a:p>
            <a:pPr indent="0" marL="0">
              <a:buNone/>
            </a:pPr>
            <a:r>
              <a:rPr lang="en-US" sz="1000" b="1" dirty="0">
                <a:solidFill>
                  <a:srgbClr val="16233D"/>
                </a:solidFill>
                <a:latin typeface="Graphik TH" pitchFamily="34" charset="0"/>
                <a:ea typeface="Graphik TH" pitchFamily="34" charset="-122"/>
                <a:cs typeface="Graphik TH" pitchFamily="34" charset="-120"/>
              </a:rPr>
              <a:t>Very Low</a:t>
            </a:r>
            <a:endParaRPr lang="en-US" sz="1000" dirty="0"/>
          </a:p>
        </p:txBody>
      </p:sp>
      <p:sp>
        <p:nvSpPr>
          <p:cNvPr id="46" name="Shape 43"/>
          <p:cNvSpPr/>
          <p:nvPr/>
        </p:nvSpPr>
        <p:spPr>
          <a:xfrm>
            <a:off x="8833104" y="4572000"/>
            <a:ext cx="109383" cy="164592"/>
          </a:xfrm>
          <a:prstGeom prst="roundRect">
            <a:avLst>
              <a:gd name="adj" fmla="val 25079"/>
            </a:avLst>
          </a:prstGeom>
          <a:solidFill>
            <a:srgbClr val="8DA0B8"/>
          </a:solidFill>
          <a:ln/>
        </p:spPr>
      </p:sp>
      <p:sp>
        <p:nvSpPr>
          <p:cNvPr id="47" name="Text 44"/>
          <p:cNvSpPr/>
          <p:nvPr/>
        </p:nvSpPr>
        <p:spPr>
          <a:xfrm>
            <a:off x="10296144" y="4535424"/>
            <a:ext cx="658368" cy="237744"/>
          </a:xfrm>
          <a:prstGeom prst="rect">
            <a:avLst/>
          </a:prstGeom>
          <a:noFill/>
          <a:ln/>
        </p:spPr>
        <p:txBody>
          <a:bodyPr wrap="square" lIns="0" tIns="0" rIns="0" bIns="0" rtlCol="0" anchor="ctr"/>
          <a:lstStyle/>
          <a:p>
            <a:pPr algn="r" indent="0" marL="0">
              <a:buNone/>
            </a:pPr>
            <a:r>
              <a:rPr lang="en-US" sz="1000" b="1" dirty="0">
                <a:solidFill>
                  <a:srgbClr val="8DA0B8"/>
                </a:solidFill>
                <a:latin typeface="Graphik TH" pitchFamily="34" charset="0"/>
                <a:ea typeface="Graphik TH" pitchFamily="34" charset="-122"/>
                <a:cs typeface="Graphik TH" pitchFamily="34" charset="-120"/>
              </a:rPr>
              <a:t>3.6%</a:t>
            </a:r>
            <a:endParaRPr lang="en-US" sz="1000" dirty="0"/>
          </a:p>
        </p:txBody>
      </p:sp>
      <p:sp>
        <p:nvSpPr>
          <p:cNvPr id="48" name="Text 45"/>
          <p:cNvSpPr/>
          <p:nvPr/>
        </p:nvSpPr>
        <p:spPr>
          <a:xfrm>
            <a:off x="10972800" y="4535424"/>
            <a:ext cx="576072" cy="237744"/>
          </a:xfrm>
          <a:prstGeom prst="rect">
            <a:avLst/>
          </a:prstGeom>
          <a:noFill/>
          <a:ln/>
        </p:spPr>
        <p:txBody>
          <a:bodyPr wrap="square" lIns="0" tIns="0" rIns="0" bIns="0" rtlCol="0" anchor="ctr"/>
          <a:lstStyle/>
          <a:p>
            <a:pPr algn="r" indent="0" marL="0">
              <a:buNone/>
            </a:pPr>
            <a:r>
              <a:rPr lang="en-US" sz="850" dirty="0">
                <a:solidFill>
                  <a:srgbClr val="6B7A90"/>
                </a:solidFill>
                <a:latin typeface="Graphik TH" pitchFamily="34" charset="0"/>
                <a:ea typeface="Graphik TH" pitchFamily="34" charset="-122"/>
                <a:cs typeface="Graphik TH" pitchFamily="34" charset="-120"/>
              </a:rPr>
              <a:t>+7.7</a:t>
            </a:r>
            <a:endParaRPr lang="en-US" sz="850" dirty="0"/>
          </a:p>
        </p:txBody>
      </p:sp>
      <p:sp>
        <p:nvSpPr>
          <p:cNvPr id="49" name="Shape 46"/>
          <p:cNvSpPr/>
          <p:nvPr/>
        </p:nvSpPr>
        <p:spPr>
          <a:xfrm>
            <a:off x="7735824" y="4846320"/>
            <a:ext cx="3813048" cy="274320"/>
          </a:xfrm>
          <a:prstGeom prst="roundRect">
            <a:avLst>
              <a:gd name="adj" fmla="val 30000"/>
            </a:avLst>
          </a:prstGeom>
          <a:solidFill>
            <a:srgbClr val="FBF0E6"/>
          </a:solidFill>
          <a:ln/>
        </p:spPr>
      </p:sp>
      <p:sp>
        <p:nvSpPr>
          <p:cNvPr id="50" name="Text 47"/>
          <p:cNvSpPr/>
          <p:nvPr/>
        </p:nvSpPr>
        <p:spPr>
          <a:xfrm>
            <a:off x="7882128" y="4846320"/>
            <a:ext cx="3520440" cy="274320"/>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Stickiness ≥ 60 holds 95.8% of the prior balance.</a:t>
            </a:r>
            <a:endParaRPr lang="en-US" sz="950" dirty="0"/>
          </a:p>
        </p:txBody>
      </p:sp>
      <p:sp>
        <p:nvSpPr>
          <p:cNvPr id="51" name="Shape 48"/>
          <p:cNvSpPr/>
          <p:nvPr/>
        </p:nvSpPr>
        <p:spPr>
          <a:xfrm>
            <a:off x="530352" y="5285232"/>
            <a:ext cx="11274552" cy="786384"/>
          </a:xfrm>
          <a:prstGeom prst="roundRect">
            <a:avLst>
              <a:gd name="adj" fmla="val 10465"/>
            </a:avLst>
          </a:prstGeom>
          <a:solidFill>
            <a:srgbClr val="E8F6F3"/>
          </a:solidFill>
          <a:ln/>
        </p:spPr>
      </p:sp>
      <p:sp>
        <p:nvSpPr>
          <p:cNvPr id="52" name="Text 49"/>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Stickiness ≥ 60 contributed +167.1m of the +211.1m gain</a:t>
            </a:r>
            <a:pPr indent="0" marL="0">
              <a:buNone/>
            </a:pPr>
            <a:r>
              <a:rPr lang="en-US" sz="1100" dirty="0">
                <a:solidFill>
                  <a:srgbClr val="16233D"/>
                </a:solidFill>
                <a:latin typeface="Graphik TH" pitchFamily="34" charset="0"/>
                <a:ea typeface="Graphik TH" pitchFamily="34" charset="-122"/>
                <a:cs typeface="Graphik TH" pitchFamily="34" charset="-120"/>
              </a:rPr>
              <a:t>  —  the Low and Very Low tiers post +100.6% and +143.6%, but on prior balances of THB 11.3m and THB 5.35m. Rank the tiers on absolute change; read the percentages as a signal that dormant accounts are being funded again.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The inversion belongs to rate sensitivity, not stickiness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*Move rate = share of tier that emptied Save Max. Percentages suppressed below THB 5m prior balance; tiers under 50 customers greyed.</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Cohort 47,184   ·   Move rate 14.1%   ·   Balance +111.3m   ·   Stickiness ≥ 60 contributed +106.3m of it</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Stickiness ranks both measures the same way; rate sensitivity ranks them in opposite directions.</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000" b="1" dirty="0">
                <a:solidFill>
                  <a:srgbClr val="00A896"/>
                </a:solidFill>
                <a:latin typeface="Graphik TH" pitchFamily="34" charset="0"/>
                <a:ea typeface="Graphik TH" pitchFamily="34" charset="-122"/>
                <a:cs typeface="Graphik TH" pitchFamily="34" charset="-120"/>
              </a:rPr>
              <a:t>1.9% → 19.2%</a:t>
            </a:r>
            <a:endParaRPr lang="en-US" sz="20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move rate by stickiness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Very Low tier to Very High tier</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+106.3m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gained by stickiness ≥ 60</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96% of the cohort's total gain</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1800" b="1" dirty="0">
                <a:solidFill>
                  <a:srgbClr val="C00000"/>
                </a:solidFill>
                <a:latin typeface="Graphik TH" pitchFamily="34" charset="0"/>
                <a:ea typeface="Graphik TH" pitchFamily="34" charset="-122"/>
                <a:cs typeface="Graphik TH" pitchFamily="34" charset="-120"/>
              </a:rPr>
              <a:t>49.5% / 12.9%</a:t>
            </a:r>
            <a:endParaRPr lang="en-US" sz="18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move rate, High / V.High</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the score's top band moves least</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1800" b="1" dirty="0">
                <a:solidFill>
                  <a:srgbClr val="C00000"/>
                </a:solidFill>
                <a:latin typeface="Graphik TH" pitchFamily="34" charset="0"/>
                <a:ea typeface="Graphik TH" pitchFamily="34" charset="-122"/>
                <a:cs typeface="Graphik TH" pitchFamily="34" charset="-120"/>
              </a:rPr>
              <a:t>+144.7 / −36.0</a:t>
            </a:r>
            <a:endParaRPr lang="en-US" sz="18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change, THB m</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same pair, opposite directions</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Deposit stickiness</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Both measures rise together — no inversion</a:t>
            </a:r>
            <a:endParaRPr lang="en-US" sz="950" dirty="0"/>
          </a:p>
        </p:txBody>
      </p:sp>
      <p:sp>
        <p:nvSpPr>
          <p:cNvPr id="25" name="Text 23"/>
          <p:cNvSpPr/>
          <p:nvPr/>
        </p:nvSpPr>
        <p:spPr>
          <a:xfrm>
            <a:off x="1755648" y="3383280"/>
            <a:ext cx="1481328" cy="182880"/>
          </a:xfrm>
          <a:prstGeom prst="rect">
            <a:avLst/>
          </a:prstGeom>
          <a:noFill/>
          <a:ln/>
        </p:spPr>
        <p:txBody>
          <a:bodyPr wrap="square" lIns="0" tIns="0" rIns="0" bIns="0" rtlCol="0" anchor="ctr"/>
          <a:lstStyle/>
          <a:p>
            <a:pPr indent="0" marL="0">
              <a:buNone/>
            </a:pPr>
            <a:r>
              <a:rPr lang="en-US" sz="850" b="1" dirty="0">
                <a:solidFill>
                  <a:srgbClr val="6B7A90"/>
                </a:solidFill>
                <a:latin typeface="Graphik TH" pitchFamily="34" charset="0"/>
                <a:ea typeface="Graphik TH" pitchFamily="34" charset="-122"/>
                <a:cs typeface="Graphik TH" pitchFamily="34" charset="-120"/>
              </a:rPr>
              <a:t>Move rate</a:t>
            </a:r>
            <a:endParaRPr lang="en-US" sz="850" dirty="0"/>
          </a:p>
        </p:txBody>
      </p:sp>
      <p:sp>
        <p:nvSpPr>
          <p:cNvPr id="26" name="Text 24"/>
          <p:cNvSpPr/>
          <p:nvPr/>
        </p:nvSpPr>
        <p:spPr>
          <a:xfrm>
            <a:off x="3547872" y="3383280"/>
            <a:ext cx="2249424" cy="182880"/>
          </a:xfrm>
          <a:prstGeom prst="rect">
            <a:avLst/>
          </a:prstGeom>
          <a:noFill/>
          <a:ln/>
        </p:spPr>
        <p:txBody>
          <a:bodyPr wrap="square" lIns="0" tIns="0" rIns="0" bIns="0" rtlCol="0" anchor="ctr"/>
          <a:lstStyle/>
          <a:p>
            <a:pPr algn="ctr" indent="0" marL="0">
              <a:buNone/>
            </a:pPr>
            <a:r>
              <a:rPr lang="en-US" sz="850" b="1" dirty="0">
                <a:solidFill>
                  <a:srgbClr val="6B7A90"/>
                </a:solidFill>
                <a:latin typeface="Graphik TH" pitchFamily="34" charset="0"/>
                <a:ea typeface="Graphik TH" pitchFamily="34" charset="-122"/>
                <a:cs typeface="Graphik TH" pitchFamily="34" charset="-120"/>
              </a:rPr>
              <a:t>Balance change, THB m</a:t>
            </a:r>
            <a:endParaRPr lang="en-US" sz="850" dirty="0"/>
          </a:p>
        </p:txBody>
      </p:sp>
      <p:sp>
        <p:nvSpPr>
          <p:cNvPr id="27" name="Shape 25"/>
          <p:cNvSpPr/>
          <p:nvPr/>
        </p:nvSpPr>
        <p:spPr>
          <a:xfrm>
            <a:off x="4114800" y="3584448"/>
            <a:ext cx="10973" cy="1444752"/>
          </a:xfrm>
          <a:prstGeom prst="rect">
            <a:avLst/>
          </a:prstGeom>
          <a:solidFill>
            <a:srgbClr val="6B7A90"/>
          </a:solidFill>
          <a:ln/>
        </p:spPr>
      </p:sp>
      <p:sp>
        <p:nvSpPr>
          <p:cNvPr id="28" name="Text 26"/>
          <p:cNvSpPr/>
          <p:nvPr/>
        </p:nvSpPr>
        <p:spPr>
          <a:xfrm>
            <a:off x="786384" y="3621024"/>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p>
        </p:txBody>
      </p:sp>
      <p:sp>
        <p:nvSpPr>
          <p:cNvPr id="29" name="Shape 27"/>
          <p:cNvSpPr/>
          <p:nvPr/>
        </p:nvSpPr>
        <p:spPr>
          <a:xfrm>
            <a:off x="1755648" y="3666744"/>
            <a:ext cx="1005840" cy="164592"/>
          </a:xfrm>
          <a:prstGeom prst="roundRect">
            <a:avLst>
              <a:gd name="adj" fmla="val 16667"/>
            </a:avLst>
          </a:prstGeom>
          <a:solidFill>
            <a:srgbClr val="165A73"/>
          </a:solidFill>
          <a:ln/>
        </p:spPr>
      </p:sp>
      <p:sp>
        <p:nvSpPr>
          <p:cNvPr id="30" name="Text 28"/>
          <p:cNvSpPr/>
          <p:nvPr/>
        </p:nvSpPr>
        <p:spPr>
          <a:xfrm>
            <a:off x="2798064" y="3621024"/>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19.2%</a:t>
            </a:r>
            <a:endParaRPr lang="en-US" sz="950" dirty="0"/>
          </a:p>
        </p:txBody>
      </p:sp>
      <p:sp>
        <p:nvSpPr>
          <p:cNvPr id="31" name="Shape 29"/>
          <p:cNvSpPr/>
          <p:nvPr/>
        </p:nvSpPr>
        <p:spPr>
          <a:xfrm>
            <a:off x="4114800" y="3666744"/>
            <a:ext cx="232102" cy="164592"/>
          </a:xfrm>
          <a:prstGeom prst="roundRect">
            <a:avLst>
              <a:gd name="adj" fmla="val 16667"/>
            </a:avLst>
          </a:prstGeom>
          <a:solidFill>
            <a:srgbClr val="1E8E86"/>
          </a:solidFill>
          <a:ln/>
        </p:spPr>
      </p:sp>
      <p:sp>
        <p:nvSpPr>
          <p:cNvPr id="32" name="Text 30"/>
          <p:cNvSpPr/>
          <p:nvPr/>
        </p:nvSpPr>
        <p:spPr>
          <a:xfrm>
            <a:off x="4626864" y="3621024"/>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+34.9 (+3.2%)</a:t>
            </a:r>
            <a:endParaRPr lang="en-US" sz="850" dirty="0"/>
          </a:p>
        </p:txBody>
      </p:sp>
      <p:sp>
        <p:nvSpPr>
          <p:cNvPr id="33" name="Text 31"/>
          <p:cNvSpPr/>
          <p:nvPr/>
        </p:nvSpPr>
        <p:spPr>
          <a:xfrm>
            <a:off x="786384" y="3913632"/>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p>
        </p:txBody>
      </p:sp>
      <p:sp>
        <p:nvSpPr>
          <p:cNvPr id="34" name="Shape 32"/>
          <p:cNvSpPr/>
          <p:nvPr/>
        </p:nvSpPr>
        <p:spPr>
          <a:xfrm>
            <a:off x="1755648" y="3959352"/>
            <a:ext cx="800809" cy="164592"/>
          </a:xfrm>
          <a:prstGeom prst="roundRect">
            <a:avLst>
              <a:gd name="adj" fmla="val 16667"/>
            </a:avLst>
          </a:prstGeom>
          <a:solidFill>
            <a:srgbClr val="165A73"/>
          </a:solidFill>
          <a:ln/>
        </p:spPr>
      </p:sp>
      <p:sp>
        <p:nvSpPr>
          <p:cNvPr id="35" name="Text 33"/>
          <p:cNvSpPr/>
          <p:nvPr/>
        </p:nvSpPr>
        <p:spPr>
          <a:xfrm>
            <a:off x="2798064" y="3913632"/>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15.3%</a:t>
            </a:r>
            <a:endParaRPr lang="en-US" sz="950" dirty="0"/>
          </a:p>
        </p:txBody>
      </p:sp>
      <p:sp>
        <p:nvSpPr>
          <p:cNvPr id="36" name="Shape 34"/>
          <p:cNvSpPr/>
          <p:nvPr/>
        </p:nvSpPr>
        <p:spPr>
          <a:xfrm>
            <a:off x="4114800" y="3959352"/>
            <a:ext cx="475488" cy="164592"/>
          </a:xfrm>
          <a:prstGeom prst="roundRect">
            <a:avLst>
              <a:gd name="adj" fmla="val 16667"/>
            </a:avLst>
          </a:prstGeom>
          <a:solidFill>
            <a:srgbClr val="1E8E86"/>
          </a:solidFill>
          <a:ln/>
        </p:spPr>
      </p:sp>
      <p:sp>
        <p:nvSpPr>
          <p:cNvPr id="37" name="Text 35"/>
          <p:cNvSpPr/>
          <p:nvPr/>
        </p:nvSpPr>
        <p:spPr>
          <a:xfrm>
            <a:off x="4626864" y="3913632"/>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+71.4 (+4.0%)</a:t>
            </a:r>
            <a:endParaRPr lang="en-US" sz="850" dirty="0"/>
          </a:p>
        </p:txBody>
      </p:sp>
      <p:sp>
        <p:nvSpPr>
          <p:cNvPr id="38" name="Text 36"/>
          <p:cNvSpPr/>
          <p:nvPr/>
        </p:nvSpPr>
        <p:spPr>
          <a:xfrm>
            <a:off x="786384" y="4206240"/>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Medium</a:t>
            </a:r>
            <a:endParaRPr lang="en-US" sz="950" dirty="0"/>
          </a:p>
        </p:txBody>
      </p:sp>
      <p:sp>
        <p:nvSpPr>
          <p:cNvPr id="39" name="Shape 37"/>
          <p:cNvSpPr/>
          <p:nvPr/>
        </p:nvSpPr>
        <p:spPr>
          <a:xfrm>
            <a:off x="1755648" y="4251960"/>
            <a:ext cx="229032" cy="164592"/>
          </a:xfrm>
          <a:prstGeom prst="roundRect">
            <a:avLst>
              <a:gd name="adj" fmla="val 16667"/>
            </a:avLst>
          </a:prstGeom>
          <a:solidFill>
            <a:srgbClr val="165A73"/>
          </a:solidFill>
          <a:ln/>
        </p:spPr>
      </p:sp>
      <p:sp>
        <p:nvSpPr>
          <p:cNvPr id="40" name="Text 38"/>
          <p:cNvSpPr/>
          <p:nvPr/>
        </p:nvSpPr>
        <p:spPr>
          <a:xfrm>
            <a:off x="2798064" y="4206240"/>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4.4%</a:t>
            </a:r>
            <a:endParaRPr lang="en-US" sz="950" dirty="0"/>
          </a:p>
        </p:txBody>
      </p:sp>
      <p:sp>
        <p:nvSpPr>
          <p:cNvPr id="41" name="Shape 39"/>
          <p:cNvSpPr/>
          <p:nvPr/>
        </p:nvSpPr>
        <p:spPr>
          <a:xfrm>
            <a:off x="4114800" y="4251960"/>
            <a:ext cx="27432" cy="164592"/>
          </a:xfrm>
          <a:prstGeom prst="roundRect">
            <a:avLst>
              <a:gd name="adj" fmla="val 100000"/>
            </a:avLst>
          </a:prstGeom>
          <a:solidFill>
            <a:srgbClr val="1E8E86"/>
          </a:solidFill>
          <a:ln/>
        </p:spPr>
      </p:sp>
      <p:sp>
        <p:nvSpPr>
          <p:cNvPr id="42" name="Text 40"/>
          <p:cNvSpPr/>
          <p:nvPr/>
        </p:nvSpPr>
        <p:spPr>
          <a:xfrm>
            <a:off x="4626864" y="4206240"/>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+2.9 (+8.8%)</a:t>
            </a:r>
            <a:endParaRPr lang="en-US" sz="850" dirty="0"/>
          </a:p>
        </p:txBody>
      </p:sp>
      <p:sp>
        <p:nvSpPr>
          <p:cNvPr id="43" name="Text 41"/>
          <p:cNvSpPr/>
          <p:nvPr/>
        </p:nvSpPr>
        <p:spPr>
          <a:xfrm>
            <a:off x="786384" y="4498848"/>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p>
        </p:txBody>
      </p:sp>
      <p:sp>
        <p:nvSpPr>
          <p:cNvPr id="44" name="Shape 42"/>
          <p:cNvSpPr/>
          <p:nvPr/>
        </p:nvSpPr>
        <p:spPr>
          <a:xfrm>
            <a:off x="1755648" y="4544568"/>
            <a:ext cx="140607" cy="164592"/>
          </a:xfrm>
          <a:prstGeom prst="roundRect">
            <a:avLst>
              <a:gd name="adj" fmla="val 19510"/>
            </a:avLst>
          </a:prstGeom>
          <a:solidFill>
            <a:srgbClr val="165A73"/>
          </a:solidFill>
          <a:ln/>
        </p:spPr>
      </p:sp>
      <p:sp>
        <p:nvSpPr>
          <p:cNvPr id="45" name="Text 43"/>
          <p:cNvSpPr/>
          <p:nvPr/>
        </p:nvSpPr>
        <p:spPr>
          <a:xfrm>
            <a:off x="2798064" y="4498848"/>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2.7%</a:t>
            </a:r>
            <a:endParaRPr lang="en-US" sz="950" dirty="0"/>
          </a:p>
        </p:txBody>
      </p:sp>
      <p:sp>
        <p:nvSpPr>
          <p:cNvPr id="46" name="Shape 44"/>
          <p:cNvSpPr/>
          <p:nvPr/>
        </p:nvSpPr>
        <p:spPr>
          <a:xfrm>
            <a:off x="4114800" y="4544568"/>
            <a:ext cx="27432" cy="164592"/>
          </a:xfrm>
          <a:prstGeom prst="roundRect">
            <a:avLst>
              <a:gd name="adj" fmla="val 100000"/>
            </a:avLst>
          </a:prstGeom>
          <a:solidFill>
            <a:srgbClr val="1E8E86"/>
          </a:solidFill>
          <a:ln/>
        </p:spPr>
      </p:sp>
      <p:sp>
        <p:nvSpPr>
          <p:cNvPr id="47" name="Text 45"/>
          <p:cNvSpPr/>
          <p:nvPr/>
        </p:nvSpPr>
        <p:spPr>
          <a:xfrm>
            <a:off x="4626864" y="4498848"/>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+1.6</a:t>
            </a:r>
            <a:endParaRPr lang="en-US" sz="850" dirty="0"/>
          </a:p>
        </p:txBody>
      </p:sp>
      <p:sp>
        <p:nvSpPr>
          <p:cNvPr id="48" name="Text 46"/>
          <p:cNvSpPr/>
          <p:nvPr/>
        </p:nvSpPr>
        <p:spPr>
          <a:xfrm>
            <a:off x="786384" y="4791456"/>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p>
        </p:txBody>
      </p:sp>
      <p:sp>
        <p:nvSpPr>
          <p:cNvPr id="49" name="Shape 47"/>
          <p:cNvSpPr/>
          <p:nvPr/>
        </p:nvSpPr>
        <p:spPr>
          <a:xfrm>
            <a:off x="1755648" y="4837176"/>
            <a:ext cx="100581" cy="164592"/>
          </a:xfrm>
          <a:prstGeom prst="roundRect">
            <a:avLst>
              <a:gd name="adj" fmla="val 27274"/>
            </a:avLst>
          </a:prstGeom>
          <a:solidFill>
            <a:srgbClr val="165A73"/>
          </a:solidFill>
          <a:ln/>
        </p:spPr>
      </p:sp>
      <p:sp>
        <p:nvSpPr>
          <p:cNvPr id="50" name="Text 48"/>
          <p:cNvSpPr/>
          <p:nvPr/>
        </p:nvSpPr>
        <p:spPr>
          <a:xfrm>
            <a:off x="2798064" y="4791456"/>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1.9%</a:t>
            </a:r>
            <a:endParaRPr lang="en-US" sz="950" dirty="0"/>
          </a:p>
        </p:txBody>
      </p:sp>
      <p:sp>
        <p:nvSpPr>
          <p:cNvPr id="51" name="Shape 49"/>
          <p:cNvSpPr/>
          <p:nvPr/>
        </p:nvSpPr>
        <p:spPr>
          <a:xfrm>
            <a:off x="4114800" y="4837176"/>
            <a:ext cx="27432" cy="164592"/>
          </a:xfrm>
          <a:prstGeom prst="roundRect">
            <a:avLst>
              <a:gd name="adj" fmla="val 100000"/>
            </a:avLst>
          </a:prstGeom>
          <a:solidFill>
            <a:srgbClr val="1E8E86"/>
          </a:solidFill>
          <a:ln/>
        </p:spPr>
      </p:sp>
      <p:sp>
        <p:nvSpPr>
          <p:cNvPr id="52" name="Text 50"/>
          <p:cNvSpPr/>
          <p:nvPr/>
        </p:nvSpPr>
        <p:spPr>
          <a:xfrm>
            <a:off x="4626864" y="4791456"/>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+0.5</a:t>
            </a:r>
            <a:endParaRPr lang="en-US" sz="850" dirty="0"/>
          </a:p>
        </p:txBody>
      </p:sp>
      <p:sp>
        <p:nvSpPr>
          <p:cNvPr id="53" name="Shape 51"/>
          <p:cNvSpPr/>
          <p:nvPr/>
        </p:nvSpPr>
        <p:spPr>
          <a:xfrm>
            <a:off x="6281928" y="2798064"/>
            <a:ext cx="5522976" cy="2322576"/>
          </a:xfrm>
          <a:prstGeom prst="roundRect">
            <a:avLst>
              <a:gd name="adj" fmla="val 3543"/>
            </a:avLst>
          </a:prstGeom>
          <a:solidFill>
            <a:srgbClr val="F1F4F9"/>
          </a:solidFill>
          <a:ln/>
        </p:spPr>
      </p:sp>
      <p:sp>
        <p:nvSpPr>
          <p:cNvPr id="54" name="Text 52"/>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Rate sensitivity</a:t>
            </a:r>
            <a:endParaRPr lang="en-US" sz="1400" dirty="0"/>
          </a:p>
        </p:txBody>
      </p:sp>
      <p:sp>
        <p:nvSpPr>
          <p:cNvPr id="55" name="Text 53"/>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The two measures point in opposite directions</a:t>
            </a:r>
            <a:endParaRPr lang="en-US" sz="950" dirty="0"/>
          </a:p>
        </p:txBody>
      </p:sp>
      <p:sp>
        <p:nvSpPr>
          <p:cNvPr id="56" name="Text 54"/>
          <p:cNvSpPr/>
          <p:nvPr/>
        </p:nvSpPr>
        <p:spPr>
          <a:xfrm>
            <a:off x="7507224" y="3383280"/>
            <a:ext cx="1481328" cy="182880"/>
          </a:xfrm>
          <a:prstGeom prst="rect">
            <a:avLst/>
          </a:prstGeom>
          <a:noFill/>
          <a:ln/>
        </p:spPr>
        <p:txBody>
          <a:bodyPr wrap="square" lIns="0" tIns="0" rIns="0" bIns="0" rtlCol="0" anchor="ctr"/>
          <a:lstStyle/>
          <a:p>
            <a:pPr indent="0" marL="0">
              <a:buNone/>
            </a:pPr>
            <a:r>
              <a:rPr lang="en-US" sz="850" b="1" dirty="0">
                <a:solidFill>
                  <a:srgbClr val="6B7A90"/>
                </a:solidFill>
                <a:latin typeface="Graphik TH" pitchFamily="34" charset="0"/>
                <a:ea typeface="Graphik TH" pitchFamily="34" charset="-122"/>
                <a:cs typeface="Graphik TH" pitchFamily="34" charset="-120"/>
              </a:rPr>
              <a:t>Move rate</a:t>
            </a:r>
            <a:endParaRPr lang="en-US" sz="850" dirty="0"/>
          </a:p>
        </p:txBody>
      </p:sp>
      <p:sp>
        <p:nvSpPr>
          <p:cNvPr id="57" name="Text 55"/>
          <p:cNvSpPr/>
          <p:nvPr/>
        </p:nvSpPr>
        <p:spPr>
          <a:xfrm>
            <a:off x="9299448" y="3383280"/>
            <a:ext cx="2249424" cy="182880"/>
          </a:xfrm>
          <a:prstGeom prst="rect">
            <a:avLst/>
          </a:prstGeom>
          <a:noFill/>
          <a:ln/>
        </p:spPr>
        <p:txBody>
          <a:bodyPr wrap="square" lIns="0" tIns="0" rIns="0" bIns="0" rtlCol="0" anchor="ctr"/>
          <a:lstStyle/>
          <a:p>
            <a:pPr algn="ctr" indent="0" marL="0">
              <a:buNone/>
            </a:pPr>
            <a:r>
              <a:rPr lang="en-US" sz="850" b="1" dirty="0">
                <a:solidFill>
                  <a:srgbClr val="6B7A90"/>
                </a:solidFill>
                <a:latin typeface="Graphik TH" pitchFamily="34" charset="0"/>
                <a:ea typeface="Graphik TH" pitchFamily="34" charset="-122"/>
                <a:cs typeface="Graphik TH" pitchFamily="34" charset="-120"/>
              </a:rPr>
              <a:t>Balance change, THB m</a:t>
            </a:r>
            <a:endParaRPr lang="en-US" sz="850" dirty="0"/>
          </a:p>
        </p:txBody>
      </p:sp>
      <p:sp>
        <p:nvSpPr>
          <p:cNvPr id="58" name="Shape 56"/>
          <p:cNvSpPr/>
          <p:nvPr/>
        </p:nvSpPr>
        <p:spPr>
          <a:xfrm>
            <a:off x="9866376" y="3584448"/>
            <a:ext cx="10973" cy="1444752"/>
          </a:xfrm>
          <a:prstGeom prst="rect">
            <a:avLst/>
          </a:prstGeom>
          <a:solidFill>
            <a:srgbClr val="6B7A90"/>
          </a:solidFill>
          <a:ln/>
        </p:spPr>
      </p:sp>
      <p:sp>
        <p:nvSpPr>
          <p:cNvPr id="59" name="Text 57"/>
          <p:cNvSpPr/>
          <p:nvPr/>
        </p:nvSpPr>
        <p:spPr>
          <a:xfrm>
            <a:off x="6537960" y="3621024"/>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Very High</a:t>
            </a:r>
            <a:endParaRPr lang="en-US" sz="950" dirty="0"/>
          </a:p>
        </p:txBody>
      </p:sp>
      <p:sp>
        <p:nvSpPr>
          <p:cNvPr id="60" name="Shape 58"/>
          <p:cNvSpPr/>
          <p:nvPr/>
        </p:nvSpPr>
        <p:spPr>
          <a:xfrm>
            <a:off x="7507224" y="3666744"/>
            <a:ext cx="261280" cy="164592"/>
          </a:xfrm>
          <a:prstGeom prst="roundRect">
            <a:avLst>
              <a:gd name="adj" fmla="val 16667"/>
            </a:avLst>
          </a:prstGeom>
          <a:solidFill>
            <a:srgbClr val="165A73"/>
          </a:solidFill>
          <a:ln/>
        </p:spPr>
      </p:sp>
      <p:sp>
        <p:nvSpPr>
          <p:cNvPr id="61" name="Text 59"/>
          <p:cNvSpPr/>
          <p:nvPr/>
        </p:nvSpPr>
        <p:spPr>
          <a:xfrm>
            <a:off x="8549640" y="3621024"/>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12.9%</a:t>
            </a:r>
            <a:endParaRPr lang="en-US" sz="950" dirty="0"/>
          </a:p>
        </p:txBody>
      </p:sp>
      <p:sp>
        <p:nvSpPr>
          <p:cNvPr id="62" name="Shape 60"/>
          <p:cNvSpPr/>
          <p:nvPr/>
        </p:nvSpPr>
        <p:spPr>
          <a:xfrm>
            <a:off x="9748140" y="3666744"/>
            <a:ext cx="118236" cy="164592"/>
          </a:xfrm>
          <a:prstGeom prst="roundRect">
            <a:avLst>
              <a:gd name="adj" fmla="val 23201"/>
            </a:avLst>
          </a:prstGeom>
          <a:solidFill>
            <a:srgbClr val="C00000"/>
          </a:solidFill>
          <a:ln/>
        </p:spPr>
      </p:sp>
      <p:sp>
        <p:nvSpPr>
          <p:cNvPr id="63" name="Text 61"/>
          <p:cNvSpPr/>
          <p:nvPr/>
        </p:nvSpPr>
        <p:spPr>
          <a:xfrm>
            <a:off x="10378440" y="3621024"/>
            <a:ext cx="1170432" cy="256032"/>
          </a:xfrm>
          <a:prstGeom prst="rect">
            <a:avLst/>
          </a:prstGeom>
          <a:noFill/>
          <a:ln/>
        </p:spPr>
        <p:txBody>
          <a:bodyPr wrap="square" lIns="0" tIns="0" rIns="0" bIns="0" rtlCol="0" anchor="ctr"/>
          <a:lstStyle/>
          <a:p>
            <a:pPr algn="r" indent="0" marL="0">
              <a:buNone/>
            </a:pPr>
            <a:r>
              <a:rPr lang="en-US" sz="850" b="1" dirty="0">
                <a:solidFill>
                  <a:srgbClr val="C00000"/>
                </a:solidFill>
                <a:latin typeface="Graphik TH" pitchFamily="34" charset="0"/>
                <a:ea typeface="Graphik TH" pitchFamily="34" charset="-122"/>
                <a:cs typeface="Graphik TH" pitchFamily="34" charset="-120"/>
              </a:rPr>
              <a:t>−36.0 (−2.5%)</a:t>
            </a:r>
            <a:endParaRPr lang="en-US" sz="850" dirty="0"/>
          </a:p>
        </p:txBody>
      </p:sp>
      <p:sp>
        <p:nvSpPr>
          <p:cNvPr id="64" name="Text 62"/>
          <p:cNvSpPr/>
          <p:nvPr/>
        </p:nvSpPr>
        <p:spPr>
          <a:xfrm>
            <a:off x="6537960" y="3913632"/>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High</a:t>
            </a:r>
            <a:endParaRPr lang="en-US" sz="950" dirty="0"/>
          </a:p>
        </p:txBody>
      </p:sp>
      <p:sp>
        <p:nvSpPr>
          <p:cNvPr id="65" name="Shape 63"/>
          <p:cNvSpPr/>
          <p:nvPr/>
        </p:nvSpPr>
        <p:spPr>
          <a:xfrm>
            <a:off x="7507224" y="3959352"/>
            <a:ext cx="1005840" cy="164592"/>
          </a:xfrm>
          <a:prstGeom prst="roundRect">
            <a:avLst>
              <a:gd name="adj" fmla="val 16667"/>
            </a:avLst>
          </a:prstGeom>
          <a:solidFill>
            <a:srgbClr val="165A73"/>
          </a:solidFill>
          <a:ln/>
        </p:spPr>
      </p:sp>
      <p:sp>
        <p:nvSpPr>
          <p:cNvPr id="66" name="Text 64"/>
          <p:cNvSpPr/>
          <p:nvPr/>
        </p:nvSpPr>
        <p:spPr>
          <a:xfrm>
            <a:off x="8549640" y="3913632"/>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49.5%</a:t>
            </a:r>
            <a:endParaRPr lang="en-US" sz="950" dirty="0"/>
          </a:p>
        </p:txBody>
      </p:sp>
      <p:sp>
        <p:nvSpPr>
          <p:cNvPr id="67" name="Shape 65"/>
          <p:cNvSpPr/>
          <p:nvPr/>
        </p:nvSpPr>
        <p:spPr>
          <a:xfrm>
            <a:off x="9866376" y="3959352"/>
            <a:ext cx="475488" cy="164592"/>
          </a:xfrm>
          <a:prstGeom prst="roundRect">
            <a:avLst>
              <a:gd name="adj" fmla="val 16667"/>
            </a:avLst>
          </a:prstGeom>
          <a:solidFill>
            <a:srgbClr val="1E8E86"/>
          </a:solidFill>
          <a:ln/>
        </p:spPr>
      </p:sp>
      <p:sp>
        <p:nvSpPr>
          <p:cNvPr id="68" name="Text 66"/>
          <p:cNvSpPr/>
          <p:nvPr/>
        </p:nvSpPr>
        <p:spPr>
          <a:xfrm>
            <a:off x="10378440" y="3913632"/>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+144.7 (+12.4%)</a:t>
            </a:r>
            <a:endParaRPr lang="en-US" sz="850" dirty="0"/>
          </a:p>
        </p:txBody>
      </p:sp>
      <p:sp>
        <p:nvSpPr>
          <p:cNvPr id="69" name="Text 67"/>
          <p:cNvSpPr/>
          <p:nvPr/>
        </p:nvSpPr>
        <p:spPr>
          <a:xfrm>
            <a:off x="6537960" y="4206240"/>
            <a:ext cx="914400" cy="256032"/>
          </a:xfrm>
          <a:prstGeom prst="rect">
            <a:avLst/>
          </a:prstGeom>
          <a:noFill/>
          <a:ln/>
        </p:spPr>
        <p:txBody>
          <a:bodyPr wrap="square" lIns="0" tIns="0" rIns="0" bIns="0" rtlCol="0" anchor="ctr"/>
          <a:lstStyle/>
          <a:p>
            <a:pPr indent="0" marL="0">
              <a:buNone/>
            </a:pPr>
            <a:r>
              <a:rPr lang="en-US" sz="950" b="1" dirty="0">
                <a:solidFill>
                  <a:srgbClr val="6B7A90"/>
                </a:solidFill>
                <a:latin typeface="Graphik TH" pitchFamily="34" charset="0"/>
                <a:ea typeface="Graphik TH" pitchFamily="34" charset="-122"/>
                <a:cs typeface="Graphik TH" pitchFamily="34" charset="-120"/>
              </a:rPr>
              <a:t>Medium</a:t>
            </a:r>
            <a:endParaRPr lang="en-US" sz="950" dirty="0"/>
          </a:p>
        </p:txBody>
      </p:sp>
      <p:sp>
        <p:nvSpPr>
          <p:cNvPr id="70" name="Shape 68"/>
          <p:cNvSpPr/>
          <p:nvPr/>
        </p:nvSpPr>
        <p:spPr>
          <a:xfrm>
            <a:off x="7507224" y="4251960"/>
            <a:ext cx="27432" cy="164592"/>
          </a:xfrm>
          <a:prstGeom prst="roundRect">
            <a:avLst>
              <a:gd name="adj" fmla="val 100000"/>
            </a:avLst>
          </a:prstGeom>
          <a:solidFill>
            <a:srgbClr val="D8DFE9"/>
          </a:solidFill>
          <a:ln/>
        </p:spPr>
      </p:sp>
      <p:sp>
        <p:nvSpPr>
          <p:cNvPr id="71" name="Text 69"/>
          <p:cNvSpPr/>
          <p:nvPr/>
        </p:nvSpPr>
        <p:spPr>
          <a:xfrm>
            <a:off x="8549640" y="4206240"/>
            <a:ext cx="512064" cy="256032"/>
          </a:xfrm>
          <a:prstGeom prst="rect">
            <a:avLst/>
          </a:prstGeom>
          <a:noFill/>
          <a:ln/>
        </p:spPr>
        <p:txBody>
          <a:bodyPr wrap="square" lIns="0" tIns="0" rIns="0" bIns="0" rtlCol="0" anchor="ctr"/>
          <a:lstStyle/>
          <a:p>
            <a:pPr algn="r" indent="0" marL="0">
              <a:buNone/>
            </a:pPr>
            <a:r>
              <a:rPr lang="en-US" sz="950" b="1" dirty="0">
                <a:solidFill>
                  <a:srgbClr val="6B7A90"/>
                </a:solidFill>
                <a:latin typeface="Graphik TH" pitchFamily="34" charset="0"/>
                <a:ea typeface="Graphik TH" pitchFamily="34" charset="-122"/>
                <a:cs typeface="Graphik TH" pitchFamily="34" charset="-120"/>
              </a:rPr>
              <a:t>0.0%</a:t>
            </a:r>
            <a:endParaRPr lang="en-US" sz="950" dirty="0"/>
          </a:p>
        </p:txBody>
      </p:sp>
      <p:sp>
        <p:nvSpPr>
          <p:cNvPr id="72" name="Shape 70"/>
          <p:cNvSpPr/>
          <p:nvPr/>
        </p:nvSpPr>
        <p:spPr>
          <a:xfrm>
            <a:off x="9838944" y="4251960"/>
            <a:ext cx="27432" cy="164592"/>
          </a:xfrm>
          <a:prstGeom prst="roundRect">
            <a:avLst>
              <a:gd name="adj" fmla="val 100000"/>
            </a:avLst>
          </a:prstGeom>
          <a:solidFill>
            <a:srgbClr val="D8DFE9"/>
          </a:solidFill>
          <a:ln/>
        </p:spPr>
      </p:sp>
      <p:sp>
        <p:nvSpPr>
          <p:cNvPr id="73" name="Text 71"/>
          <p:cNvSpPr/>
          <p:nvPr/>
        </p:nvSpPr>
        <p:spPr>
          <a:xfrm>
            <a:off x="10378440" y="4206240"/>
            <a:ext cx="1170432" cy="256032"/>
          </a:xfrm>
          <a:prstGeom prst="rect">
            <a:avLst/>
          </a:prstGeom>
          <a:noFill/>
          <a:ln/>
        </p:spPr>
        <p:txBody>
          <a:bodyPr wrap="square" lIns="0" tIns="0" rIns="0" bIns="0" rtlCol="0" anchor="ctr"/>
          <a:lstStyle/>
          <a:p>
            <a:pPr algn="r" indent="0" marL="0">
              <a:buNone/>
            </a:pPr>
            <a:r>
              <a:rPr lang="en-US" sz="850" b="1" dirty="0">
                <a:solidFill>
                  <a:srgbClr val="6B7A90"/>
                </a:solidFill>
                <a:latin typeface="Graphik TH" pitchFamily="34" charset="0"/>
                <a:ea typeface="Graphik TH" pitchFamily="34" charset="-122"/>
                <a:cs typeface="Graphik TH" pitchFamily="34" charset="-120"/>
              </a:rPr>
              <a:t>−1.2 (−19.0%)</a:t>
            </a:r>
            <a:endParaRPr lang="en-US" sz="850" dirty="0"/>
          </a:p>
        </p:txBody>
      </p:sp>
      <p:sp>
        <p:nvSpPr>
          <p:cNvPr id="74" name="Text 72"/>
          <p:cNvSpPr/>
          <p:nvPr/>
        </p:nvSpPr>
        <p:spPr>
          <a:xfrm>
            <a:off x="6537960" y="4498848"/>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Low</a:t>
            </a:r>
            <a:endParaRPr lang="en-US" sz="950" dirty="0"/>
          </a:p>
        </p:txBody>
      </p:sp>
      <p:sp>
        <p:nvSpPr>
          <p:cNvPr id="75" name="Shape 73"/>
          <p:cNvSpPr/>
          <p:nvPr/>
        </p:nvSpPr>
        <p:spPr>
          <a:xfrm>
            <a:off x="7507224" y="4544568"/>
            <a:ext cx="145648" cy="164592"/>
          </a:xfrm>
          <a:prstGeom prst="roundRect">
            <a:avLst>
              <a:gd name="adj" fmla="val 18834"/>
            </a:avLst>
          </a:prstGeom>
          <a:solidFill>
            <a:srgbClr val="165A73"/>
          </a:solidFill>
          <a:ln/>
        </p:spPr>
      </p:sp>
      <p:sp>
        <p:nvSpPr>
          <p:cNvPr id="76" name="Text 74"/>
          <p:cNvSpPr/>
          <p:nvPr/>
        </p:nvSpPr>
        <p:spPr>
          <a:xfrm>
            <a:off x="8549640" y="4498848"/>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7.2%</a:t>
            </a:r>
            <a:endParaRPr lang="en-US" sz="950" dirty="0"/>
          </a:p>
        </p:txBody>
      </p:sp>
      <p:sp>
        <p:nvSpPr>
          <p:cNvPr id="77" name="Shape 75"/>
          <p:cNvSpPr/>
          <p:nvPr/>
        </p:nvSpPr>
        <p:spPr>
          <a:xfrm>
            <a:off x="9866376" y="4544568"/>
            <a:ext cx="48491" cy="164592"/>
          </a:xfrm>
          <a:prstGeom prst="roundRect">
            <a:avLst>
              <a:gd name="adj" fmla="val 56571"/>
            </a:avLst>
          </a:prstGeom>
          <a:solidFill>
            <a:srgbClr val="1E8E86"/>
          </a:solidFill>
          <a:ln/>
        </p:spPr>
      </p:sp>
      <p:sp>
        <p:nvSpPr>
          <p:cNvPr id="78" name="Text 76"/>
          <p:cNvSpPr/>
          <p:nvPr/>
        </p:nvSpPr>
        <p:spPr>
          <a:xfrm>
            <a:off x="10378440" y="4498848"/>
            <a:ext cx="1170432" cy="256032"/>
          </a:xfrm>
          <a:prstGeom prst="rect">
            <a:avLst/>
          </a:prstGeom>
          <a:noFill/>
          <a:ln/>
        </p:spPr>
        <p:txBody>
          <a:bodyPr wrap="square" lIns="0" tIns="0" rIns="0" bIns="0" rtlCol="0" anchor="ct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+14.8 (+11.4%)</a:t>
            </a:r>
            <a:endParaRPr lang="en-US" sz="850" dirty="0"/>
          </a:p>
        </p:txBody>
      </p:sp>
      <p:sp>
        <p:nvSpPr>
          <p:cNvPr id="79" name="Text 77"/>
          <p:cNvSpPr/>
          <p:nvPr/>
        </p:nvSpPr>
        <p:spPr>
          <a:xfrm>
            <a:off x="6537960" y="4791456"/>
            <a:ext cx="914400" cy="256032"/>
          </a:xfrm>
          <a:prstGeom prst="rect">
            <a:avLst/>
          </a:prstGeom>
          <a:noFill/>
          <a:ln/>
        </p:spPr>
        <p:txBody>
          <a:bodyPr wrap="square" lIns="0" tIns="0" rIns="0" bIns="0" rtlCol="0" anchor="ctr"/>
          <a:lstStyle/>
          <a:p>
            <a:pPr indent="0" marL="0">
              <a:buNone/>
            </a:pPr>
            <a:r>
              <a:rPr lang="en-US" sz="950" b="1" dirty="0">
                <a:solidFill>
                  <a:srgbClr val="16233D"/>
                </a:solidFill>
                <a:latin typeface="Graphik TH" pitchFamily="34" charset="0"/>
                <a:ea typeface="Graphik TH" pitchFamily="34" charset="-122"/>
                <a:cs typeface="Graphik TH" pitchFamily="34" charset="-120"/>
              </a:rPr>
              <a:t>Very Low</a:t>
            </a:r>
            <a:endParaRPr lang="en-US" sz="950" dirty="0"/>
          </a:p>
        </p:txBody>
      </p:sp>
      <p:sp>
        <p:nvSpPr>
          <p:cNvPr id="80" name="Shape 78"/>
          <p:cNvSpPr/>
          <p:nvPr/>
        </p:nvSpPr>
        <p:spPr>
          <a:xfrm>
            <a:off x="7507224" y="4837176"/>
            <a:ext cx="195870" cy="164592"/>
          </a:xfrm>
          <a:prstGeom prst="roundRect">
            <a:avLst>
              <a:gd name="adj" fmla="val 16667"/>
            </a:avLst>
          </a:prstGeom>
          <a:solidFill>
            <a:srgbClr val="165A73"/>
          </a:solidFill>
          <a:ln/>
        </p:spPr>
      </p:sp>
      <p:sp>
        <p:nvSpPr>
          <p:cNvPr id="81" name="Text 79"/>
          <p:cNvSpPr/>
          <p:nvPr/>
        </p:nvSpPr>
        <p:spPr>
          <a:xfrm>
            <a:off x="8549640" y="4791456"/>
            <a:ext cx="512064" cy="256032"/>
          </a:xfrm>
          <a:prstGeom prst="rect">
            <a:avLst/>
          </a:prstGeom>
          <a:noFill/>
          <a:ln/>
        </p:spPr>
        <p:txBody>
          <a:bodyPr wrap="square" lIns="0" tIns="0" rIns="0" bIns="0" rtlCol="0" anchor="ctr"/>
          <a:lstStyle/>
          <a:p>
            <a:pPr algn="r" indent="0" marL="0">
              <a:buNone/>
            </a:pPr>
            <a:r>
              <a:rPr lang="en-US" sz="950" b="1" dirty="0">
                <a:solidFill>
                  <a:srgbClr val="165A73"/>
                </a:solidFill>
                <a:latin typeface="Graphik TH" pitchFamily="34" charset="0"/>
                <a:ea typeface="Graphik TH" pitchFamily="34" charset="-122"/>
                <a:cs typeface="Graphik TH" pitchFamily="34" charset="-120"/>
              </a:rPr>
              <a:t>9.6%</a:t>
            </a:r>
            <a:endParaRPr lang="en-US" sz="950" dirty="0"/>
          </a:p>
        </p:txBody>
      </p:sp>
      <p:sp>
        <p:nvSpPr>
          <p:cNvPr id="82" name="Shape 80"/>
          <p:cNvSpPr/>
          <p:nvPr/>
        </p:nvSpPr>
        <p:spPr>
          <a:xfrm>
            <a:off x="9830126" y="4837176"/>
            <a:ext cx="36250" cy="164592"/>
          </a:xfrm>
          <a:prstGeom prst="roundRect">
            <a:avLst>
              <a:gd name="adj" fmla="val 75674"/>
            </a:avLst>
          </a:prstGeom>
          <a:solidFill>
            <a:srgbClr val="C00000"/>
          </a:solidFill>
          <a:ln/>
        </p:spPr>
      </p:sp>
      <p:sp>
        <p:nvSpPr>
          <p:cNvPr id="83" name="Text 81"/>
          <p:cNvSpPr/>
          <p:nvPr/>
        </p:nvSpPr>
        <p:spPr>
          <a:xfrm>
            <a:off x="10378440" y="4791456"/>
            <a:ext cx="1170432" cy="256032"/>
          </a:xfrm>
          <a:prstGeom prst="rect">
            <a:avLst/>
          </a:prstGeom>
          <a:noFill/>
          <a:ln/>
        </p:spPr>
        <p:txBody>
          <a:bodyPr wrap="square" lIns="0" tIns="0" rIns="0" bIns="0" rtlCol="0" anchor="ctr"/>
          <a:lstStyle/>
          <a:p>
            <a:pPr algn="r" indent="0" marL="0">
              <a:buNone/>
            </a:pPr>
            <a:r>
              <a:rPr lang="en-US" sz="850" b="1" dirty="0">
                <a:solidFill>
                  <a:srgbClr val="C00000"/>
                </a:solidFill>
                <a:latin typeface="Graphik TH" pitchFamily="34" charset="0"/>
                <a:ea typeface="Graphik TH" pitchFamily="34" charset="-122"/>
                <a:cs typeface="Graphik TH" pitchFamily="34" charset="-120"/>
              </a:rPr>
              <a:t>−11.0 (−6.9%)</a:t>
            </a:r>
            <a:endParaRPr lang="en-US" sz="850" dirty="0"/>
          </a:p>
        </p:txBody>
      </p:sp>
      <p:sp>
        <p:nvSpPr>
          <p:cNvPr id="84" name="Shape 82"/>
          <p:cNvSpPr/>
          <p:nvPr/>
        </p:nvSpPr>
        <p:spPr>
          <a:xfrm>
            <a:off x="530352" y="5285232"/>
            <a:ext cx="11274552" cy="786384"/>
          </a:xfrm>
          <a:prstGeom prst="roundRect">
            <a:avLst>
              <a:gd name="adj" fmla="val 10465"/>
            </a:avLst>
          </a:prstGeom>
          <a:solidFill>
            <a:srgbClr val="FBF0E6"/>
          </a:solidFill>
          <a:ln/>
        </p:spPr>
      </p:sp>
      <p:sp>
        <p:nvSpPr>
          <p:cNvPr id="85" name="Text 83"/>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Only rate sensitivity needs re-fitting</a:t>
            </a:r>
            <a:pPr indent="0" marL="0">
              <a:buNone/>
            </a:pPr>
            <a:r>
              <a:rPr lang="en-US" sz="1100" dirty="0">
                <a:solidFill>
                  <a:srgbClr val="16233D"/>
                </a:solidFill>
                <a:latin typeface="Graphik TH" pitchFamily="34" charset="0"/>
                <a:ea typeface="Graphik TH" pitchFamily="34" charset="-122"/>
                <a:cs typeface="Graphik TH" pitchFamily="34" charset="-120"/>
              </a:rPr>
              <a:t>  —  stickiness is directionally consistent, though its alignment is partly a size effect: the two top tiers hold 98.8% of the balance. Rate sensitivity genuinely diverges — High gained +144.7m while Very High lost 36.0m.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Balance movement by stickiness and score confidence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*Funded base, balance &gt; 0. Movement is measured against a band of 5% of prior balance or THB 100, whichever is larger. Each bar runs to 100%.</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Base 320,109   ·   Increase 16.4%   ·   Stable 55.5%   ·   Decrease 28.1%   ·   Net +THB 211.1m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Low confidence decreases on 41.5% of customers but only 13.8% of its balance.</a:t>
            </a:r>
            <a:endParaRPr lang="en-US" sz="1400" dirty="0"/>
          </a:p>
        </p:txBody>
      </p:sp>
      <p:sp>
        <p:nvSpPr>
          <p:cNvPr id="6" name="Shape 4"/>
          <p:cNvSpPr/>
          <p:nvPr/>
        </p:nvSpPr>
        <p:spPr>
          <a:xfrm>
            <a:off x="548640" y="1609344"/>
            <a:ext cx="146304" cy="118872"/>
          </a:xfrm>
          <a:prstGeom prst="rect">
            <a:avLst/>
          </a:prstGeom>
          <a:solidFill>
            <a:srgbClr val="1E8E86"/>
          </a:solidFill>
          <a:ln/>
        </p:spPr>
      </p:sp>
      <p:sp>
        <p:nvSpPr>
          <p:cNvPr id="7" name="Text 5"/>
          <p:cNvSpPr/>
          <p:nvPr/>
        </p:nvSpPr>
        <p:spPr>
          <a:xfrm>
            <a:off x="749808" y="1563624"/>
            <a:ext cx="868680" cy="201168"/>
          </a:xfrm>
          <a:prstGeom prst="rect">
            <a:avLst/>
          </a:prstGeom>
          <a:noFill/>
          <a:ln/>
        </p:spPr>
        <p:txBody>
          <a:bodyPr wrap="square" lIns="0" tIns="0" rIns="0" bIns="0" rtlCol="0" anchor="ctr"/>
          <a:lstStyle/>
          <a:p>
            <a:pPr indent="0" marL="0">
              <a:buNone/>
            </a:pPr>
            <a:r>
              <a:rPr lang="en-US" sz="850" dirty="0">
                <a:solidFill>
                  <a:srgbClr val="6B7A90"/>
                </a:solidFill>
                <a:latin typeface="Graphik TH" pitchFamily="34" charset="0"/>
                <a:ea typeface="Graphik TH" pitchFamily="34" charset="-122"/>
                <a:cs typeface="Graphik TH" pitchFamily="34" charset="-120"/>
              </a:rPr>
              <a:t>Increase</a:t>
            </a:r>
            <a:endParaRPr lang="en-US" sz="850" dirty="0"/>
          </a:p>
        </p:txBody>
      </p:sp>
      <p:sp>
        <p:nvSpPr>
          <p:cNvPr id="8" name="Shape 6"/>
          <p:cNvSpPr/>
          <p:nvPr/>
        </p:nvSpPr>
        <p:spPr>
          <a:xfrm>
            <a:off x="1600200" y="1609344"/>
            <a:ext cx="146304" cy="118872"/>
          </a:xfrm>
          <a:prstGeom prst="rect">
            <a:avLst/>
          </a:prstGeom>
          <a:solidFill>
            <a:srgbClr val="8DA0B8"/>
          </a:solidFill>
          <a:ln/>
        </p:spPr>
      </p:sp>
      <p:sp>
        <p:nvSpPr>
          <p:cNvPr id="9" name="Text 7"/>
          <p:cNvSpPr/>
          <p:nvPr/>
        </p:nvSpPr>
        <p:spPr>
          <a:xfrm>
            <a:off x="1801368" y="1563624"/>
            <a:ext cx="868680" cy="201168"/>
          </a:xfrm>
          <a:prstGeom prst="rect">
            <a:avLst/>
          </a:prstGeom>
          <a:noFill/>
          <a:ln/>
        </p:spPr>
        <p:txBody>
          <a:bodyPr wrap="square" lIns="0" tIns="0" rIns="0" bIns="0" rtlCol="0" anchor="ctr"/>
          <a:lstStyle/>
          <a:p>
            <a:pPr indent="0" marL="0">
              <a:buNone/>
            </a:pPr>
            <a:r>
              <a:rPr lang="en-US" sz="850" dirty="0">
                <a:solidFill>
                  <a:srgbClr val="6B7A90"/>
                </a:solidFill>
                <a:latin typeface="Graphik TH" pitchFamily="34" charset="0"/>
                <a:ea typeface="Graphik TH" pitchFamily="34" charset="-122"/>
                <a:cs typeface="Graphik TH" pitchFamily="34" charset="-120"/>
              </a:rPr>
              <a:t>Stable</a:t>
            </a:r>
            <a:endParaRPr lang="en-US" sz="850" dirty="0"/>
          </a:p>
        </p:txBody>
      </p:sp>
      <p:sp>
        <p:nvSpPr>
          <p:cNvPr id="10" name="Shape 8"/>
          <p:cNvSpPr/>
          <p:nvPr/>
        </p:nvSpPr>
        <p:spPr>
          <a:xfrm>
            <a:off x="2651760" y="1609344"/>
            <a:ext cx="146304" cy="118872"/>
          </a:xfrm>
          <a:prstGeom prst="rect">
            <a:avLst/>
          </a:prstGeom>
          <a:solidFill>
            <a:srgbClr val="C00000"/>
          </a:solidFill>
          <a:ln/>
        </p:spPr>
      </p:sp>
      <p:sp>
        <p:nvSpPr>
          <p:cNvPr id="11" name="Text 9"/>
          <p:cNvSpPr/>
          <p:nvPr/>
        </p:nvSpPr>
        <p:spPr>
          <a:xfrm>
            <a:off x="2852928" y="1563624"/>
            <a:ext cx="868680" cy="201168"/>
          </a:xfrm>
          <a:prstGeom prst="rect">
            <a:avLst/>
          </a:prstGeom>
          <a:noFill/>
          <a:ln/>
        </p:spPr>
        <p:txBody>
          <a:bodyPr wrap="square" lIns="0" tIns="0" rIns="0" bIns="0" rtlCol="0" anchor="ctr"/>
          <a:lstStyle/>
          <a:p>
            <a:pPr indent="0" marL="0">
              <a:buNone/>
            </a:pPr>
            <a:r>
              <a:rPr lang="en-US" sz="850" dirty="0">
                <a:solidFill>
                  <a:srgbClr val="6B7A90"/>
                </a:solidFill>
                <a:latin typeface="Graphik TH" pitchFamily="34" charset="0"/>
                <a:ea typeface="Graphik TH" pitchFamily="34" charset="-122"/>
                <a:cs typeface="Graphik TH" pitchFamily="34" charset="-120"/>
              </a:rPr>
              <a:t>Decrease</a:t>
            </a:r>
            <a:endParaRPr lang="en-US" sz="850" dirty="0"/>
          </a:p>
        </p:txBody>
      </p:sp>
      <p:sp>
        <p:nvSpPr>
          <p:cNvPr id="12" name="Shape 10"/>
          <p:cNvSpPr/>
          <p:nvPr/>
        </p:nvSpPr>
        <p:spPr>
          <a:xfrm>
            <a:off x="530352" y="1792224"/>
            <a:ext cx="3621024" cy="2212848"/>
          </a:xfrm>
          <a:prstGeom prst="roundRect">
            <a:avLst>
              <a:gd name="adj" fmla="val 3719"/>
            </a:avLst>
          </a:prstGeom>
          <a:solidFill>
            <a:srgbClr val="F1F4F9"/>
          </a:solidFill>
          <a:ln/>
        </p:spPr>
      </p:sp>
      <p:sp>
        <p:nvSpPr>
          <p:cNvPr id="13" name="Text 11"/>
          <p:cNvSpPr/>
          <p:nvPr/>
        </p:nvSpPr>
        <p:spPr>
          <a:xfrm>
            <a:off x="749808" y="1883664"/>
            <a:ext cx="3182112" cy="219456"/>
          </a:xfrm>
          <a:prstGeom prst="rect">
            <a:avLst/>
          </a:prstGeom>
          <a:noFill/>
          <a:ln/>
        </p:spPr>
        <p:txBody>
          <a:bodyPr wrap="square" lIns="0" tIns="0" rIns="0" bIns="0" rtlCol="0" anchor="ctr"/>
          <a:lstStyle/>
          <a:p>
            <a:pPr indent="0" marL="0">
              <a:buNone/>
            </a:pPr>
            <a:r>
              <a:rPr lang="en-US" sz="1100" b="1" dirty="0">
                <a:solidFill>
                  <a:srgbClr val="1E8E86"/>
                </a:solidFill>
                <a:latin typeface="Graphik TH" pitchFamily="34" charset="0"/>
                <a:ea typeface="Graphik TH" pitchFamily="34" charset="-122"/>
                <a:cs typeface="Graphik TH" pitchFamily="34" charset="-120"/>
              </a:rPr>
              <a:t>High confidence</a:t>
            </a:r>
            <a:endParaRPr lang="en-US" sz="1100" dirty="0"/>
          </a:p>
        </p:txBody>
      </p:sp>
      <p:sp>
        <p:nvSpPr>
          <p:cNvPr id="14" name="Text 12"/>
          <p:cNvSpPr/>
          <p:nvPr/>
        </p:nvSpPr>
        <p:spPr>
          <a:xfrm>
            <a:off x="749808" y="2103120"/>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customers  ·  132,837 customers</a:t>
            </a:r>
            <a:endParaRPr lang="en-US" sz="800" dirty="0"/>
          </a:p>
        </p:txBody>
      </p:sp>
      <p:sp>
        <p:nvSpPr>
          <p:cNvPr id="15" name="Text 13"/>
          <p:cNvSpPr/>
          <p:nvPr/>
        </p:nvSpPr>
        <p:spPr>
          <a:xfrm>
            <a:off x="749808" y="23774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16" name="Shape 14"/>
          <p:cNvSpPr/>
          <p:nvPr/>
        </p:nvSpPr>
        <p:spPr>
          <a:xfrm>
            <a:off x="1572768" y="2418588"/>
            <a:ext cx="718563" cy="155448"/>
          </a:xfrm>
          <a:prstGeom prst="rect">
            <a:avLst/>
          </a:prstGeom>
          <a:solidFill>
            <a:srgbClr val="1E8E86"/>
          </a:solidFill>
          <a:ln/>
        </p:spPr>
      </p:sp>
      <p:sp>
        <p:nvSpPr>
          <p:cNvPr id="17" name="Text 15"/>
          <p:cNvSpPr/>
          <p:nvPr/>
        </p:nvSpPr>
        <p:spPr>
          <a:xfrm>
            <a:off x="1572768" y="2418588"/>
            <a:ext cx="71856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30%</a:t>
            </a:r>
            <a:endParaRPr lang="en-US" sz="750" dirty="0"/>
          </a:p>
        </p:txBody>
      </p:sp>
      <p:sp>
        <p:nvSpPr>
          <p:cNvPr id="18" name="Shape 16"/>
          <p:cNvSpPr/>
          <p:nvPr/>
        </p:nvSpPr>
        <p:spPr>
          <a:xfrm>
            <a:off x="2291331" y="2418588"/>
            <a:ext cx="505336" cy="155448"/>
          </a:xfrm>
          <a:prstGeom prst="rect">
            <a:avLst/>
          </a:prstGeom>
          <a:solidFill>
            <a:srgbClr val="8DA0B8"/>
          </a:solidFill>
          <a:ln/>
        </p:spPr>
      </p:sp>
      <p:sp>
        <p:nvSpPr>
          <p:cNvPr id="19" name="Text 17"/>
          <p:cNvSpPr/>
          <p:nvPr/>
        </p:nvSpPr>
        <p:spPr>
          <a:xfrm>
            <a:off x="2291331" y="2418588"/>
            <a:ext cx="505336"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21%</a:t>
            </a:r>
            <a:endParaRPr lang="en-US" sz="750" dirty="0"/>
          </a:p>
        </p:txBody>
      </p:sp>
      <p:sp>
        <p:nvSpPr>
          <p:cNvPr id="20" name="Shape 18"/>
          <p:cNvSpPr/>
          <p:nvPr/>
        </p:nvSpPr>
        <p:spPr>
          <a:xfrm>
            <a:off x="2796668" y="2418588"/>
            <a:ext cx="1135252" cy="155448"/>
          </a:xfrm>
          <a:prstGeom prst="rect">
            <a:avLst/>
          </a:prstGeom>
          <a:solidFill>
            <a:srgbClr val="C00000"/>
          </a:solidFill>
          <a:ln/>
        </p:spPr>
      </p:sp>
      <p:sp>
        <p:nvSpPr>
          <p:cNvPr id="21" name="Text 19"/>
          <p:cNvSpPr/>
          <p:nvPr/>
        </p:nvSpPr>
        <p:spPr>
          <a:xfrm>
            <a:off x="2796668" y="2418588"/>
            <a:ext cx="113525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48%</a:t>
            </a:r>
            <a:endParaRPr lang="en-US" sz="750" dirty="0"/>
          </a:p>
        </p:txBody>
      </p:sp>
      <p:sp>
        <p:nvSpPr>
          <p:cNvPr id="22" name="Text 20"/>
          <p:cNvSpPr/>
          <p:nvPr/>
        </p:nvSpPr>
        <p:spPr>
          <a:xfrm>
            <a:off x="749808" y="26700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23" name="Shape 21"/>
          <p:cNvSpPr/>
          <p:nvPr/>
        </p:nvSpPr>
        <p:spPr>
          <a:xfrm>
            <a:off x="1572768" y="2711196"/>
            <a:ext cx="346446" cy="155448"/>
          </a:xfrm>
          <a:prstGeom prst="rect">
            <a:avLst/>
          </a:prstGeom>
          <a:solidFill>
            <a:srgbClr val="1E8E86"/>
          </a:solidFill>
          <a:ln/>
        </p:spPr>
      </p:sp>
      <p:sp>
        <p:nvSpPr>
          <p:cNvPr id="24" name="Text 22"/>
          <p:cNvSpPr/>
          <p:nvPr/>
        </p:nvSpPr>
        <p:spPr>
          <a:xfrm>
            <a:off x="1572768" y="2711196"/>
            <a:ext cx="346446"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15%</a:t>
            </a:r>
            <a:endParaRPr lang="en-US" sz="750" dirty="0"/>
          </a:p>
        </p:txBody>
      </p:sp>
      <p:sp>
        <p:nvSpPr>
          <p:cNvPr id="25" name="Shape 23"/>
          <p:cNvSpPr/>
          <p:nvPr/>
        </p:nvSpPr>
        <p:spPr>
          <a:xfrm>
            <a:off x="1919214" y="2711196"/>
            <a:ext cx="1395105" cy="155448"/>
          </a:xfrm>
          <a:prstGeom prst="rect">
            <a:avLst/>
          </a:prstGeom>
          <a:solidFill>
            <a:srgbClr val="8DA0B8"/>
          </a:solidFill>
          <a:ln/>
        </p:spPr>
      </p:sp>
      <p:sp>
        <p:nvSpPr>
          <p:cNvPr id="26" name="Text 24"/>
          <p:cNvSpPr/>
          <p:nvPr/>
        </p:nvSpPr>
        <p:spPr>
          <a:xfrm>
            <a:off x="1919214" y="2711196"/>
            <a:ext cx="139510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59%</a:t>
            </a:r>
            <a:endParaRPr lang="en-US" sz="750" dirty="0"/>
          </a:p>
        </p:txBody>
      </p:sp>
      <p:sp>
        <p:nvSpPr>
          <p:cNvPr id="27" name="Shape 25"/>
          <p:cNvSpPr/>
          <p:nvPr/>
        </p:nvSpPr>
        <p:spPr>
          <a:xfrm>
            <a:off x="3314319" y="2711196"/>
            <a:ext cx="617601" cy="155448"/>
          </a:xfrm>
          <a:prstGeom prst="rect">
            <a:avLst/>
          </a:prstGeom>
          <a:solidFill>
            <a:srgbClr val="C00000"/>
          </a:solidFill>
          <a:ln/>
        </p:spPr>
      </p:sp>
      <p:sp>
        <p:nvSpPr>
          <p:cNvPr id="28" name="Text 26"/>
          <p:cNvSpPr/>
          <p:nvPr/>
        </p:nvSpPr>
        <p:spPr>
          <a:xfrm>
            <a:off x="3314319" y="2711196"/>
            <a:ext cx="61760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26%</a:t>
            </a:r>
            <a:endParaRPr lang="en-US" sz="750" dirty="0"/>
          </a:p>
        </p:txBody>
      </p:sp>
      <p:sp>
        <p:nvSpPr>
          <p:cNvPr id="29" name="Text 27"/>
          <p:cNvSpPr/>
          <p:nvPr/>
        </p:nvSpPr>
        <p:spPr>
          <a:xfrm>
            <a:off x="749808" y="296265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30" name="Shape 28"/>
          <p:cNvSpPr/>
          <p:nvPr/>
        </p:nvSpPr>
        <p:spPr>
          <a:xfrm>
            <a:off x="1572768" y="3003804"/>
            <a:ext cx="330642" cy="155448"/>
          </a:xfrm>
          <a:prstGeom prst="rect">
            <a:avLst/>
          </a:prstGeom>
          <a:solidFill>
            <a:srgbClr val="1E8E86"/>
          </a:solidFill>
          <a:ln/>
        </p:spPr>
      </p:sp>
      <p:sp>
        <p:nvSpPr>
          <p:cNvPr id="31" name="Text 29"/>
          <p:cNvSpPr/>
          <p:nvPr/>
        </p:nvSpPr>
        <p:spPr>
          <a:xfrm>
            <a:off x="1572768" y="3003804"/>
            <a:ext cx="33064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32" name="Shape 30"/>
          <p:cNvSpPr/>
          <p:nvPr/>
        </p:nvSpPr>
        <p:spPr>
          <a:xfrm>
            <a:off x="1903410" y="3003804"/>
            <a:ext cx="1568259" cy="155448"/>
          </a:xfrm>
          <a:prstGeom prst="rect">
            <a:avLst/>
          </a:prstGeom>
          <a:solidFill>
            <a:srgbClr val="8DA0B8"/>
          </a:solidFill>
          <a:ln/>
        </p:spPr>
      </p:sp>
      <p:sp>
        <p:nvSpPr>
          <p:cNvPr id="33" name="Text 31"/>
          <p:cNvSpPr/>
          <p:nvPr/>
        </p:nvSpPr>
        <p:spPr>
          <a:xfrm>
            <a:off x="1903410" y="3003804"/>
            <a:ext cx="156825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66%</a:t>
            </a:r>
            <a:endParaRPr lang="en-US" sz="750" dirty="0"/>
          </a:p>
        </p:txBody>
      </p:sp>
      <p:sp>
        <p:nvSpPr>
          <p:cNvPr id="34" name="Shape 32"/>
          <p:cNvSpPr/>
          <p:nvPr/>
        </p:nvSpPr>
        <p:spPr>
          <a:xfrm>
            <a:off x="3471669" y="3003804"/>
            <a:ext cx="460251" cy="155448"/>
          </a:xfrm>
          <a:prstGeom prst="rect">
            <a:avLst/>
          </a:prstGeom>
          <a:solidFill>
            <a:srgbClr val="C00000"/>
          </a:solidFill>
          <a:ln/>
        </p:spPr>
      </p:sp>
      <p:sp>
        <p:nvSpPr>
          <p:cNvPr id="35" name="Text 33"/>
          <p:cNvSpPr/>
          <p:nvPr/>
        </p:nvSpPr>
        <p:spPr>
          <a:xfrm>
            <a:off x="3471669" y="3003804"/>
            <a:ext cx="46025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20%</a:t>
            </a:r>
            <a:endParaRPr lang="en-US" sz="750" dirty="0"/>
          </a:p>
        </p:txBody>
      </p:sp>
      <p:sp>
        <p:nvSpPr>
          <p:cNvPr id="36" name="Text 34"/>
          <p:cNvSpPr/>
          <p:nvPr/>
        </p:nvSpPr>
        <p:spPr>
          <a:xfrm>
            <a:off x="749808" y="325526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37" name="Shape 35"/>
          <p:cNvSpPr/>
          <p:nvPr/>
        </p:nvSpPr>
        <p:spPr>
          <a:xfrm>
            <a:off x="1572768" y="3296412"/>
            <a:ext cx="349022" cy="155448"/>
          </a:xfrm>
          <a:prstGeom prst="rect">
            <a:avLst/>
          </a:prstGeom>
          <a:solidFill>
            <a:srgbClr val="1E8E86"/>
          </a:solidFill>
          <a:ln/>
        </p:spPr>
      </p:sp>
      <p:sp>
        <p:nvSpPr>
          <p:cNvPr id="38" name="Text 36"/>
          <p:cNvSpPr/>
          <p:nvPr/>
        </p:nvSpPr>
        <p:spPr>
          <a:xfrm>
            <a:off x="1572768" y="3296412"/>
            <a:ext cx="34902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15%</a:t>
            </a:r>
            <a:endParaRPr lang="en-US" sz="750" dirty="0"/>
          </a:p>
        </p:txBody>
      </p:sp>
      <p:sp>
        <p:nvSpPr>
          <p:cNvPr id="39" name="Shape 37"/>
          <p:cNvSpPr/>
          <p:nvPr/>
        </p:nvSpPr>
        <p:spPr>
          <a:xfrm>
            <a:off x="1921790" y="3296412"/>
            <a:ext cx="1668163" cy="155448"/>
          </a:xfrm>
          <a:prstGeom prst="rect">
            <a:avLst/>
          </a:prstGeom>
          <a:solidFill>
            <a:srgbClr val="8DA0B8"/>
          </a:solidFill>
          <a:ln/>
        </p:spPr>
      </p:sp>
      <p:sp>
        <p:nvSpPr>
          <p:cNvPr id="40" name="Text 38"/>
          <p:cNvSpPr/>
          <p:nvPr/>
        </p:nvSpPr>
        <p:spPr>
          <a:xfrm>
            <a:off x="1921790" y="3296412"/>
            <a:ext cx="166816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71%</a:t>
            </a:r>
            <a:endParaRPr lang="en-US" sz="750" dirty="0"/>
          </a:p>
        </p:txBody>
      </p:sp>
      <p:sp>
        <p:nvSpPr>
          <p:cNvPr id="41" name="Shape 39"/>
          <p:cNvSpPr/>
          <p:nvPr/>
        </p:nvSpPr>
        <p:spPr>
          <a:xfrm>
            <a:off x="3589953" y="3296412"/>
            <a:ext cx="341967" cy="155448"/>
          </a:xfrm>
          <a:prstGeom prst="rect">
            <a:avLst/>
          </a:prstGeom>
          <a:solidFill>
            <a:srgbClr val="C00000"/>
          </a:solidFill>
          <a:ln/>
        </p:spPr>
      </p:sp>
      <p:sp>
        <p:nvSpPr>
          <p:cNvPr id="42" name="Text 40"/>
          <p:cNvSpPr/>
          <p:nvPr/>
        </p:nvSpPr>
        <p:spPr>
          <a:xfrm>
            <a:off x="3589953" y="3296412"/>
            <a:ext cx="34196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43" name="Text 41"/>
          <p:cNvSpPr/>
          <p:nvPr/>
        </p:nvSpPr>
        <p:spPr>
          <a:xfrm>
            <a:off x="749808" y="354787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44" name="Shape 42"/>
          <p:cNvSpPr/>
          <p:nvPr/>
        </p:nvSpPr>
        <p:spPr>
          <a:xfrm>
            <a:off x="1572768" y="3589020"/>
            <a:ext cx="214293" cy="155448"/>
          </a:xfrm>
          <a:prstGeom prst="rect">
            <a:avLst/>
          </a:prstGeom>
          <a:solidFill>
            <a:srgbClr val="1E8E86"/>
          </a:solidFill>
          <a:ln/>
        </p:spPr>
      </p:sp>
      <p:sp>
        <p:nvSpPr>
          <p:cNvPr id="45" name="Shape 43"/>
          <p:cNvSpPr/>
          <p:nvPr/>
        </p:nvSpPr>
        <p:spPr>
          <a:xfrm>
            <a:off x="1787061" y="3589020"/>
            <a:ext cx="1995551" cy="155448"/>
          </a:xfrm>
          <a:prstGeom prst="rect">
            <a:avLst/>
          </a:prstGeom>
          <a:solidFill>
            <a:srgbClr val="8DA0B8"/>
          </a:solidFill>
          <a:ln/>
        </p:spPr>
      </p:sp>
      <p:sp>
        <p:nvSpPr>
          <p:cNvPr id="46" name="Text 44"/>
          <p:cNvSpPr/>
          <p:nvPr/>
        </p:nvSpPr>
        <p:spPr>
          <a:xfrm>
            <a:off x="1787061" y="3589020"/>
            <a:ext cx="199555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85%</a:t>
            </a:r>
            <a:endParaRPr lang="en-US" sz="750" dirty="0"/>
          </a:p>
        </p:txBody>
      </p:sp>
      <p:sp>
        <p:nvSpPr>
          <p:cNvPr id="47" name="Shape 45"/>
          <p:cNvSpPr/>
          <p:nvPr/>
        </p:nvSpPr>
        <p:spPr>
          <a:xfrm>
            <a:off x="3782611" y="3589020"/>
            <a:ext cx="149309" cy="155448"/>
          </a:xfrm>
          <a:prstGeom prst="rect">
            <a:avLst/>
          </a:prstGeom>
          <a:solidFill>
            <a:srgbClr val="C00000"/>
          </a:solidFill>
          <a:ln/>
        </p:spPr>
      </p:sp>
      <p:sp>
        <p:nvSpPr>
          <p:cNvPr id="48" name="Shape 46"/>
          <p:cNvSpPr/>
          <p:nvPr/>
        </p:nvSpPr>
        <p:spPr>
          <a:xfrm>
            <a:off x="4352544" y="1792224"/>
            <a:ext cx="3621024" cy="2212848"/>
          </a:xfrm>
          <a:prstGeom prst="roundRect">
            <a:avLst>
              <a:gd name="adj" fmla="val 3719"/>
            </a:avLst>
          </a:prstGeom>
          <a:solidFill>
            <a:srgbClr val="F1F4F9"/>
          </a:solidFill>
          <a:ln/>
        </p:spPr>
      </p:sp>
      <p:sp>
        <p:nvSpPr>
          <p:cNvPr id="49" name="Text 47"/>
          <p:cNvSpPr/>
          <p:nvPr/>
        </p:nvSpPr>
        <p:spPr>
          <a:xfrm>
            <a:off x="4572000" y="1883664"/>
            <a:ext cx="3182112" cy="219456"/>
          </a:xfrm>
          <a:prstGeom prst="rect">
            <a:avLst/>
          </a:prstGeom>
          <a:noFill/>
          <a:ln/>
        </p:spPr>
        <p:txBody>
          <a:bodyPr wrap="square" lIns="0" tIns="0" rIns="0" bIns="0" rtlCol="0" anchor="ctr"/>
          <a:lstStyle/>
          <a:p>
            <a:pPr indent="0" marL="0">
              <a:buNone/>
            </a:pPr>
            <a:r>
              <a:rPr lang="en-US" sz="1100" b="1" dirty="0">
                <a:solidFill>
                  <a:srgbClr val="8DA0B8"/>
                </a:solidFill>
                <a:latin typeface="Graphik TH" pitchFamily="34" charset="0"/>
                <a:ea typeface="Graphik TH" pitchFamily="34" charset="-122"/>
                <a:cs typeface="Graphik TH" pitchFamily="34" charset="-120"/>
              </a:rPr>
              <a:t>Medium confidence</a:t>
            </a:r>
            <a:endParaRPr lang="en-US" sz="1100" dirty="0"/>
          </a:p>
        </p:txBody>
      </p:sp>
      <p:sp>
        <p:nvSpPr>
          <p:cNvPr id="50" name="Text 48"/>
          <p:cNvSpPr/>
          <p:nvPr/>
        </p:nvSpPr>
        <p:spPr>
          <a:xfrm>
            <a:off x="4572000" y="2103120"/>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customers  ·  178,290 customers</a:t>
            </a:r>
            <a:endParaRPr lang="en-US" sz="800" dirty="0"/>
          </a:p>
        </p:txBody>
      </p:sp>
      <p:sp>
        <p:nvSpPr>
          <p:cNvPr id="51" name="Text 49"/>
          <p:cNvSpPr/>
          <p:nvPr/>
        </p:nvSpPr>
        <p:spPr>
          <a:xfrm>
            <a:off x="4572000" y="23774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52" name="Shape 50"/>
          <p:cNvSpPr/>
          <p:nvPr/>
        </p:nvSpPr>
        <p:spPr>
          <a:xfrm>
            <a:off x="5394960" y="2418588"/>
            <a:ext cx="499274" cy="155448"/>
          </a:xfrm>
          <a:prstGeom prst="rect">
            <a:avLst/>
          </a:prstGeom>
          <a:solidFill>
            <a:srgbClr val="1E8E86"/>
          </a:solidFill>
          <a:ln/>
        </p:spPr>
      </p:sp>
      <p:sp>
        <p:nvSpPr>
          <p:cNvPr id="53" name="Text 51"/>
          <p:cNvSpPr/>
          <p:nvPr/>
        </p:nvSpPr>
        <p:spPr>
          <a:xfrm>
            <a:off x="5394960" y="2418588"/>
            <a:ext cx="49927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21%</a:t>
            </a:r>
            <a:endParaRPr lang="en-US" sz="750" dirty="0"/>
          </a:p>
        </p:txBody>
      </p:sp>
      <p:sp>
        <p:nvSpPr>
          <p:cNvPr id="54" name="Shape 52"/>
          <p:cNvSpPr/>
          <p:nvPr/>
        </p:nvSpPr>
        <p:spPr>
          <a:xfrm>
            <a:off x="5894234" y="2418588"/>
            <a:ext cx="834270" cy="155448"/>
          </a:xfrm>
          <a:prstGeom prst="rect">
            <a:avLst/>
          </a:prstGeom>
          <a:solidFill>
            <a:srgbClr val="8DA0B8"/>
          </a:solidFill>
          <a:ln/>
        </p:spPr>
      </p:sp>
      <p:sp>
        <p:nvSpPr>
          <p:cNvPr id="55" name="Text 53"/>
          <p:cNvSpPr/>
          <p:nvPr/>
        </p:nvSpPr>
        <p:spPr>
          <a:xfrm>
            <a:off x="5894234" y="2418588"/>
            <a:ext cx="834270"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35%</a:t>
            </a:r>
            <a:endParaRPr lang="en-US" sz="750" dirty="0"/>
          </a:p>
        </p:txBody>
      </p:sp>
      <p:sp>
        <p:nvSpPr>
          <p:cNvPr id="56" name="Shape 54"/>
          <p:cNvSpPr/>
          <p:nvPr/>
        </p:nvSpPr>
        <p:spPr>
          <a:xfrm>
            <a:off x="6728503" y="2418588"/>
            <a:ext cx="1025609" cy="155448"/>
          </a:xfrm>
          <a:prstGeom prst="rect">
            <a:avLst/>
          </a:prstGeom>
          <a:solidFill>
            <a:srgbClr val="C00000"/>
          </a:solidFill>
          <a:ln/>
        </p:spPr>
      </p:sp>
      <p:sp>
        <p:nvSpPr>
          <p:cNvPr id="57" name="Text 55"/>
          <p:cNvSpPr/>
          <p:nvPr/>
        </p:nvSpPr>
        <p:spPr>
          <a:xfrm>
            <a:off x="6728503" y="2418588"/>
            <a:ext cx="102560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43%</a:t>
            </a:r>
            <a:endParaRPr lang="en-US" sz="750" dirty="0"/>
          </a:p>
        </p:txBody>
      </p:sp>
      <p:sp>
        <p:nvSpPr>
          <p:cNvPr id="58" name="Text 56"/>
          <p:cNvSpPr/>
          <p:nvPr/>
        </p:nvSpPr>
        <p:spPr>
          <a:xfrm>
            <a:off x="4572000" y="26700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59" name="Shape 57"/>
          <p:cNvSpPr/>
          <p:nvPr/>
        </p:nvSpPr>
        <p:spPr>
          <a:xfrm>
            <a:off x="5394960" y="2711196"/>
            <a:ext cx="486955" cy="155448"/>
          </a:xfrm>
          <a:prstGeom prst="rect">
            <a:avLst/>
          </a:prstGeom>
          <a:solidFill>
            <a:srgbClr val="1E8E86"/>
          </a:solidFill>
          <a:ln/>
        </p:spPr>
      </p:sp>
      <p:sp>
        <p:nvSpPr>
          <p:cNvPr id="60" name="Text 58"/>
          <p:cNvSpPr/>
          <p:nvPr/>
        </p:nvSpPr>
        <p:spPr>
          <a:xfrm>
            <a:off x="5394960" y="2711196"/>
            <a:ext cx="48695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21%</a:t>
            </a:r>
            <a:endParaRPr lang="en-US" sz="750" dirty="0"/>
          </a:p>
        </p:txBody>
      </p:sp>
      <p:sp>
        <p:nvSpPr>
          <p:cNvPr id="61" name="Shape 59"/>
          <p:cNvSpPr/>
          <p:nvPr/>
        </p:nvSpPr>
        <p:spPr>
          <a:xfrm>
            <a:off x="5881915" y="2711196"/>
            <a:ext cx="845693" cy="155448"/>
          </a:xfrm>
          <a:prstGeom prst="rect">
            <a:avLst/>
          </a:prstGeom>
          <a:solidFill>
            <a:srgbClr val="8DA0B8"/>
          </a:solidFill>
          <a:ln/>
        </p:spPr>
      </p:sp>
      <p:sp>
        <p:nvSpPr>
          <p:cNvPr id="62" name="Text 60"/>
          <p:cNvSpPr/>
          <p:nvPr/>
        </p:nvSpPr>
        <p:spPr>
          <a:xfrm>
            <a:off x="5881915" y="2711196"/>
            <a:ext cx="84569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36%</a:t>
            </a:r>
            <a:endParaRPr lang="en-US" sz="750" dirty="0"/>
          </a:p>
        </p:txBody>
      </p:sp>
      <p:sp>
        <p:nvSpPr>
          <p:cNvPr id="63" name="Shape 61"/>
          <p:cNvSpPr/>
          <p:nvPr/>
        </p:nvSpPr>
        <p:spPr>
          <a:xfrm>
            <a:off x="6727608" y="2711196"/>
            <a:ext cx="1026504" cy="155448"/>
          </a:xfrm>
          <a:prstGeom prst="rect">
            <a:avLst/>
          </a:prstGeom>
          <a:solidFill>
            <a:srgbClr val="C00000"/>
          </a:solidFill>
          <a:ln/>
        </p:spPr>
      </p:sp>
      <p:sp>
        <p:nvSpPr>
          <p:cNvPr id="64" name="Text 62"/>
          <p:cNvSpPr/>
          <p:nvPr/>
        </p:nvSpPr>
        <p:spPr>
          <a:xfrm>
            <a:off x="6727608" y="2711196"/>
            <a:ext cx="102650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44%</a:t>
            </a:r>
            <a:endParaRPr lang="en-US" sz="750" dirty="0"/>
          </a:p>
        </p:txBody>
      </p:sp>
      <p:sp>
        <p:nvSpPr>
          <p:cNvPr id="65" name="Text 63"/>
          <p:cNvSpPr/>
          <p:nvPr/>
        </p:nvSpPr>
        <p:spPr>
          <a:xfrm>
            <a:off x="4572000" y="296265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66" name="Shape 64"/>
          <p:cNvSpPr/>
          <p:nvPr/>
        </p:nvSpPr>
        <p:spPr>
          <a:xfrm>
            <a:off x="5394960" y="3003804"/>
            <a:ext cx="261697" cy="155448"/>
          </a:xfrm>
          <a:prstGeom prst="rect">
            <a:avLst/>
          </a:prstGeom>
          <a:solidFill>
            <a:srgbClr val="1E8E86"/>
          </a:solidFill>
          <a:ln/>
        </p:spPr>
      </p:sp>
      <p:sp>
        <p:nvSpPr>
          <p:cNvPr id="67" name="Shape 65"/>
          <p:cNvSpPr/>
          <p:nvPr/>
        </p:nvSpPr>
        <p:spPr>
          <a:xfrm>
            <a:off x="5656657" y="3003804"/>
            <a:ext cx="1554031" cy="155448"/>
          </a:xfrm>
          <a:prstGeom prst="rect">
            <a:avLst/>
          </a:prstGeom>
          <a:solidFill>
            <a:srgbClr val="8DA0B8"/>
          </a:solidFill>
          <a:ln/>
        </p:spPr>
      </p:sp>
      <p:sp>
        <p:nvSpPr>
          <p:cNvPr id="68" name="Text 66"/>
          <p:cNvSpPr/>
          <p:nvPr/>
        </p:nvSpPr>
        <p:spPr>
          <a:xfrm>
            <a:off x="5656657" y="3003804"/>
            <a:ext cx="155403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66%</a:t>
            </a:r>
            <a:endParaRPr lang="en-US" sz="750" dirty="0"/>
          </a:p>
        </p:txBody>
      </p:sp>
      <p:sp>
        <p:nvSpPr>
          <p:cNvPr id="69" name="Shape 67"/>
          <p:cNvSpPr/>
          <p:nvPr/>
        </p:nvSpPr>
        <p:spPr>
          <a:xfrm>
            <a:off x="7210689" y="3003804"/>
            <a:ext cx="543423" cy="155448"/>
          </a:xfrm>
          <a:prstGeom prst="rect">
            <a:avLst/>
          </a:prstGeom>
          <a:solidFill>
            <a:srgbClr val="C00000"/>
          </a:solidFill>
          <a:ln/>
        </p:spPr>
      </p:sp>
      <p:sp>
        <p:nvSpPr>
          <p:cNvPr id="70" name="Text 68"/>
          <p:cNvSpPr/>
          <p:nvPr/>
        </p:nvSpPr>
        <p:spPr>
          <a:xfrm>
            <a:off x="7210689" y="3003804"/>
            <a:ext cx="54342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23%</a:t>
            </a:r>
            <a:endParaRPr lang="en-US" sz="750" dirty="0"/>
          </a:p>
        </p:txBody>
      </p:sp>
      <p:sp>
        <p:nvSpPr>
          <p:cNvPr id="71" name="Text 69"/>
          <p:cNvSpPr/>
          <p:nvPr/>
        </p:nvSpPr>
        <p:spPr>
          <a:xfrm>
            <a:off x="4572000" y="325526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72" name="Shape 70"/>
          <p:cNvSpPr/>
          <p:nvPr/>
        </p:nvSpPr>
        <p:spPr>
          <a:xfrm>
            <a:off x="5394960" y="3296412"/>
            <a:ext cx="492967" cy="155448"/>
          </a:xfrm>
          <a:prstGeom prst="rect">
            <a:avLst/>
          </a:prstGeom>
          <a:solidFill>
            <a:srgbClr val="1E8E86"/>
          </a:solidFill>
          <a:ln/>
        </p:spPr>
      </p:sp>
      <p:sp>
        <p:nvSpPr>
          <p:cNvPr id="73" name="Text 71"/>
          <p:cNvSpPr/>
          <p:nvPr/>
        </p:nvSpPr>
        <p:spPr>
          <a:xfrm>
            <a:off x="5394960" y="3296412"/>
            <a:ext cx="49296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21%</a:t>
            </a:r>
            <a:endParaRPr lang="en-US" sz="750" dirty="0"/>
          </a:p>
        </p:txBody>
      </p:sp>
      <p:sp>
        <p:nvSpPr>
          <p:cNvPr id="74" name="Shape 72"/>
          <p:cNvSpPr/>
          <p:nvPr/>
        </p:nvSpPr>
        <p:spPr>
          <a:xfrm>
            <a:off x="5887927" y="3296412"/>
            <a:ext cx="1260224" cy="155448"/>
          </a:xfrm>
          <a:prstGeom prst="rect">
            <a:avLst/>
          </a:prstGeom>
          <a:solidFill>
            <a:srgbClr val="8DA0B8"/>
          </a:solidFill>
          <a:ln/>
        </p:spPr>
      </p:sp>
      <p:sp>
        <p:nvSpPr>
          <p:cNvPr id="75" name="Text 73"/>
          <p:cNvSpPr/>
          <p:nvPr/>
        </p:nvSpPr>
        <p:spPr>
          <a:xfrm>
            <a:off x="5887927" y="3296412"/>
            <a:ext cx="126022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53%</a:t>
            </a:r>
            <a:endParaRPr lang="en-US" sz="750" dirty="0"/>
          </a:p>
        </p:txBody>
      </p:sp>
      <p:sp>
        <p:nvSpPr>
          <p:cNvPr id="76" name="Shape 74"/>
          <p:cNvSpPr/>
          <p:nvPr/>
        </p:nvSpPr>
        <p:spPr>
          <a:xfrm>
            <a:off x="7148150" y="3296412"/>
            <a:ext cx="605962" cy="155448"/>
          </a:xfrm>
          <a:prstGeom prst="rect">
            <a:avLst/>
          </a:prstGeom>
          <a:solidFill>
            <a:srgbClr val="C00000"/>
          </a:solidFill>
          <a:ln/>
        </p:spPr>
      </p:sp>
      <p:sp>
        <p:nvSpPr>
          <p:cNvPr id="77" name="Text 75"/>
          <p:cNvSpPr/>
          <p:nvPr/>
        </p:nvSpPr>
        <p:spPr>
          <a:xfrm>
            <a:off x="7148150" y="3296412"/>
            <a:ext cx="60596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26%</a:t>
            </a:r>
            <a:endParaRPr lang="en-US" sz="750" dirty="0"/>
          </a:p>
        </p:txBody>
      </p:sp>
      <p:sp>
        <p:nvSpPr>
          <p:cNvPr id="78" name="Text 76"/>
          <p:cNvSpPr/>
          <p:nvPr/>
        </p:nvSpPr>
        <p:spPr>
          <a:xfrm>
            <a:off x="4572000" y="354787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79" name="Shape 77"/>
          <p:cNvSpPr/>
          <p:nvPr/>
        </p:nvSpPr>
        <p:spPr>
          <a:xfrm>
            <a:off x="5394960" y="3589020"/>
            <a:ext cx="239230" cy="155448"/>
          </a:xfrm>
          <a:prstGeom prst="rect">
            <a:avLst/>
          </a:prstGeom>
          <a:solidFill>
            <a:srgbClr val="1E8E86"/>
          </a:solidFill>
          <a:ln/>
        </p:spPr>
      </p:sp>
      <p:sp>
        <p:nvSpPr>
          <p:cNvPr id="80" name="Shape 78"/>
          <p:cNvSpPr/>
          <p:nvPr/>
        </p:nvSpPr>
        <p:spPr>
          <a:xfrm>
            <a:off x="5634190" y="3589020"/>
            <a:ext cx="1952850" cy="155448"/>
          </a:xfrm>
          <a:prstGeom prst="rect">
            <a:avLst/>
          </a:prstGeom>
          <a:solidFill>
            <a:srgbClr val="8DA0B8"/>
          </a:solidFill>
          <a:ln/>
        </p:spPr>
      </p:sp>
      <p:sp>
        <p:nvSpPr>
          <p:cNvPr id="81" name="Text 79"/>
          <p:cNvSpPr/>
          <p:nvPr/>
        </p:nvSpPr>
        <p:spPr>
          <a:xfrm>
            <a:off x="5634190" y="3589020"/>
            <a:ext cx="1952850"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83%</a:t>
            </a:r>
            <a:endParaRPr lang="en-US" sz="750" dirty="0"/>
          </a:p>
        </p:txBody>
      </p:sp>
      <p:sp>
        <p:nvSpPr>
          <p:cNvPr id="82" name="Shape 80"/>
          <p:cNvSpPr/>
          <p:nvPr/>
        </p:nvSpPr>
        <p:spPr>
          <a:xfrm>
            <a:off x="7587040" y="3589020"/>
            <a:ext cx="167072" cy="155448"/>
          </a:xfrm>
          <a:prstGeom prst="rect">
            <a:avLst/>
          </a:prstGeom>
          <a:solidFill>
            <a:srgbClr val="C00000"/>
          </a:solidFill>
          <a:ln/>
        </p:spPr>
      </p:sp>
      <p:sp>
        <p:nvSpPr>
          <p:cNvPr id="83" name="Shape 81"/>
          <p:cNvSpPr/>
          <p:nvPr/>
        </p:nvSpPr>
        <p:spPr>
          <a:xfrm>
            <a:off x="8174736" y="1792224"/>
            <a:ext cx="3621024" cy="2212848"/>
          </a:xfrm>
          <a:prstGeom prst="roundRect">
            <a:avLst>
              <a:gd name="adj" fmla="val 3719"/>
            </a:avLst>
          </a:prstGeom>
          <a:solidFill>
            <a:srgbClr val="F1F4F9"/>
          </a:solidFill>
          <a:ln/>
        </p:spPr>
      </p:sp>
      <p:sp>
        <p:nvSpPr>
          <p:cNvPr id="84" name="Text 82"/>
          <p:cNvSpPr/>
          <p:nvPr/>
        </p:nvSpPr>
        <p:spPr>
          <a:xfrm>
            <a:off x="8394192" y="1883664"/>
            <a:ext cx="3182112" cy="219456"/>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Low confidence</a:t>
            </a:r>
            <a:endParaRPr lang="en-US" sz="1100" dirty="0"/>
          </a:p>
        </p:txBody>
      </p:sp>
      <p:sp>
        <p:nvSpPr>
          <p:cNvPr id="85" name="Text 83"/>
          <p:cNvSpPr/>
          <p:nvPr/>
        </p:nvSpPr>
        <p:spPr>
          <a:xfrm>
            <a:off x="8394192" y="2103120"/>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customers  ·  8,982 customers</a:t>
            </a:r>
            <a:endParaRPr lang="en-US" sz="800" dirty="0"/>
          </a:p>
        </p:txBody>
      </p:sp>
      <p:sp>
        <p:nvSpPr>
          <p:cNvPr id="86" name="Text 84"/>
          <p:cNvSpPr/>
          <p:nvPr/>
        </p:nvSpPr>
        <p:spPr>
          <a:xfrm>
            <a:off x="8394192" y="23774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87" name="Shape 85"/>
          <p:cNvSpPr/>
          <p:nvPr/>
        </p:nvSpPr>
        <p:spPr>
          <a:xfrm>
            <a:off x="9217152" y="2418588"/>
            <a:ext cx="525429" cy="155448"/>
          </a:xfrm>
          <a:prstGeom prst="rect">
            <a:avLst/>
          </a:prstGeom>
          <a:solidFill>
            <a:srgbClr val="1E8E86"/>
          </a:solidFill>
          <a:ln/>
        </p:spPr>
      </p:sp>
      <p:sp>
        <p:nvSpPr>
          <p:cNvPr id="88" name="Text 86"/>
          <p:cNvSpPr/>
          <p:nvPr/>
        </p:nvSpPr>
        <p:spPr>
          <a:xfrm>
            <a:off x="9217152" y="2418588"/>
            <a:ext cx="52542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22%</a:t>
            </a:r>
            <a:endParaRPr lang="en-US" sz="750" dirty="0"/>
          </a:p>
        </p:txBody>
      </p:sp>
      <p:sp>
        <p:nvSpPr>
          <p:cNvPr id="89" name="Shape 87"/>
          <p:cNvSpPr/>
          <p:nvPr/>
        </p:nvSpPr>
        <p:spPr>
          <a:xfrm>
            <a:off x="9742581" y="2418588"/>
            <a:ext cx="291759" cy="155448"/>
          </a:xfrm>
          <a:prstGeom prst="rect">
            <a:avLst/>
          </a:prstGeom>
          <a:solidFill>
            <a:srgbClr val="8DA0B8"/>
          </a:solidFill>
          <a:ln/>
        </p:spPr>
      </p:sp>
      <p:sp>
        <p:nvSpPr>
          <p:cNvPr id="90" name="Shape 88"/>
          <p:cNvSpPr/>
          <p:nvPr/>
        </p:nvSpPr>
        <p:spPr>
          <a:xfrm>
            <a:off x="10034340" y="2418588"/>
            <a:ext cx="1541964" cy="155448"/>
          </a:xfrm>
          <a:prstGeom prst="rect">
            <a:avLst/>
          </a:prstGeom>
          <a:solidFill>
            <a:srgbClr val="C00000"/>
          </a:solidFill>
          <a:ln/>
        </p:spPr>
      </p:sp>
      <p:sp>
        <p:nvSpPr>
          <p:cNvPr id="91" name="Text 89"/>
          <p:cNvSpPr/>
          <p:nvPr/>
        </p:nvSpPr>
        <p:spPr>
          <a:xfrm>
            <a:off x="10034340" y="2418588"/>
            <a:ext cx="154196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65%</a:t>
            </a:r>
            <a:endParaRPr lang="en-US" sz="750" dirty="0"/>
          </a:p>
        </p:txBody>
      </p:sp>
      <p:sp>
        <p:nvSpPr>
          <p:cNvPr id="92" name="Text 90"/>
          <p:cNvSpPr/>
          <p:nvPr/>
        </p:nvSpPr>
        <p:spPr>
          <a:xfrm>
            <a:off x="8394192" y="26700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93" name="Shape 91"/>
          <p:cNvSpPr/>
          <p:nvPr/>
        </p:nvSpPr>
        <p:spPr>
          <a:xfrm>
            <a:off x="9217152" y="2711196"/>
            <a:ext cx="536835" cy="155448"/>
          </a:xfrm>
          <a:prstGeom prst="rect">
            <a:avLst/>
          </a:prstGeom>
          <a:solidFill>
            <a:srgbClr val="1E8E86"/>
          </a:solidFill>
          <a:ln/>
        </p:spPr>
      </p:sp>
      <p:sp>
        <p:nvSpPr>
          <p:cNvPr id="94" name="Text 92"/>
          <p:cNvSpPr/>
          <p:nvPr/>
        </p:nvSpPr>
        <p:spPr>
          <a:xfrm>
            <a:off x="9217152" y="2711196"/>
            <a:ext cx="53683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23%</a:t>
            </a:r>
            <a:endParaRPr lang="en-US" sz="750" dirty="0"/>
          </a:p>
        </p:txBody>
      </p:sp>
      <p:sp>
        <p:nvSpPr>
          <p:cNvPr id="95" name="Shape 93"/>
          <p:cNvSpPr/>
          <p:nvPr/>
        </p:nvSpPr>
        <p:spPr>
          <a:xfrm>
            <a:off x="9753987" y="2711196"/>
            <a:ext cx="966303" cy="155448"/>
          </a:xfrm>
          <a:prstGeom prst="rect">
            <a:avLst/>
          </a:prstGeom>
          <a:solidFill>
            <a:srgbClr val="8DA0B8"/>
          </a:solidFill>
          <a:ln/>
        </p:spPr>
      </p:sp>
      <p:sp>
        <p:nvSpPr>
          <p:cNvPr id="96" name="Text 94"/>
          <p:cNvSpPr/>
          <p:nvPr/>
        </p:nvSpPr>
        <p:spPr>
          <a:xfrm>
            <a:off x="9753987" y="2711196"/>
            <a:ext cx="96630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41%</a:t>
            </a:r>
            <a:endParaRPr lang="en-US" sz="750" dirty="0"/>
          </a:p>
        </p:txBody>
      </p:sp>
      <p:sp>
        <p:nvSpPr>
          <p:cNvPr id="97" name="Shape 95"/>
          <p:cNvSpPr/>
          <p:nvPr/>
        </p:nvSpPr>
        <p:spPr>
          <a:xfrm>
            <a:off x="10720290" y="2711196"/>
            <a:ext cx="856014" cy="155448"/>
          </a:xfrm>
          <a:prstGeom prst="rect">
            <a:avLst/>
          </a:prstGeom>
          <a:solidFill>
            <a:srgbClr val="C00000"/>
          </a:solidFill>
          <a:ln/>
        </p:spPr>
      </p:sp>
      <p:sp>
        <p:nvSpPr>
          <p:cNvPr id="98" name="Text 96"/>
          <p:cNvSpPr/>
          <p:nvPr/>
        </p:nvSpPr>
        <p:spPr>
          <a:xfrm>
            <a:off x="10720290" y="2711196"/>
            <a:ext cx="85601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36%</a:t>
            </a:r>
            <a:endParaRPr lang="en-US" sz="750" dirty="0"/>
          </a:p>
        </p:txBody>
      </p:sp>
      <p:sp>
        <p:nvSpPr>
          <p:cNvPr id="99" name="Text 97"/>
          <p:cNvSpPr/>
          <p:nvPr/>
        </p:nvSpPr>
        <p:spPr>
          <a:xfrm>
            <a:off x="8394192" y="296265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100" name="Shape 98"/>
          <p:cNvSpPr/>
          <p:nvPr/>
        </p:nvSpPr>
        <p:spPr>
          <a:xfrm>
            <a:off x="9217152" y="3003804"/>
            <a:ext cx="538270" cy="155448"/>
          </a:xfrm>
          <a:prstGeom prst="rect">
            <a:avLst/>
          </a:prstGeom>
          <a:solidFill>
            <a:srgbClr val="1E8E86"/>
          </a:solidFill>
          <a:ln/>
        </p:spPr>
      </p:sp>
      <p:sp>
        <p:nvSpPr>
          <p:cNvPr id="101" name="Text 99"/>
          <p:cNvSpPr/>
          <p:nvPr/>
        </p:nvSpPr>
        <p:spPr>
          <a:xfrm>
            <a:off x="9217152" y="3003804"/>
            <a:ext cx="538270"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23%</a:t>
            </a:r>
            <a:endParaRPr lang="en-US" sz="750" dirty="0"/>
          </a:p>
        </p:txBody>
      </p:sp>
      <p:sp>
        <p:nvSpPr>
          <p:cNvPr id="102" name="Shape 100"/>
          <p:cNvSpPr/>
          <p:nvPr/>
        </p:nvSpPr>
        <p:spPr>
          <a:xfrm>
            <a:off x="9755422" y="3003804"/>
            <a:ext cx="831388" cy="155448"/>
          </a:xfrm>
          <a:prstGeom prst="rect">
            <a:avLst/>
          </a:prstGeom>
          <a:solidFill>
            <a:srgbClr val="8DA0B8"/>
          </a:solidFill>
          <a:ln/>
        </p:spPr>
      </p:sp>
      <p:sp>
        <p:nvSpPr>
          <p:cNvPr id="103" name="Text 101"/>
          <p:cNvSpPr/>
          <p:nvPr/>
        </p:nvSpPr>
        <p:spPr>
          <a:xfrm>
            <a:off x="9755422" y="3003804"/>
            <a:ext cx="83138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35%</a:t>
            </a:r>
            <a:endParaRPr lang="en-US" sz="750" dirty="0"/>
          </a:p>
        </p:txBody>
      </p:sp>
      <p:sp>
        <p:nvSpPr>
          <p:cNvPr id="104" name="Shape 102"/>
          <p:cNvSpPr/>
          <p:nvPr/>
        </p:nvSpPr>
        <p:spPr>
          <a:xfrm>
            <a:off x="10586810" y="3003804"/>
            <a:ext cx="989494" cy="155448"/>
          </a:xfrm>
          <a:prstGeom prst="rect">
            <a:avLst/>
          </a:prstGeom>
          <a:solidFill>
            <a:srgbClr val="C00000"/>
          </a:solidFill>
          <a:ln/>
        </p:spPr>
      </p:sp>
      <p:sp>
        <p:nvSpPr>
          <p:cNvPr id="105" name="Text 103"/>
          <p:cNvSpPr/>
          <p:nvPr/>
        </p:nvSpPr>
        <p:spPr>
          <a:xfrm>
            <a:off x="10586810" y="3003804"/>
            <a:ext cx="98949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42%</a:t>
            </a:r>
            <a:endParaRPr lang="en-US" sz="750" dirty="0"/>
          </a:p>
        </p:txBody>
      </p:sp>
      <p:sp>
        <p:nvSpPr>
          <p:cNvPr id="106" name="Text 104"/>
          <p:cNvSpPr/>
          <p:nvPr/>
        </p:nvSpPr>
        <p:spPr>
          <a:xfrm>
            <a:off x="8394192" y="325526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107" name="Shape 105"/>
          <p:cNvSpPr/>
          <p:nvPr/>
        </p:nvSpPr>
        <p:spPr>
          <a:xfrm>
            <a:off x="9217152" y="3296412"/>
            <a:ext cx="449931" cy="155448"/>
          </a:xfrm>
          <a:prstGeom prst="rect">
            <a:avLst/>
          </a:prstGeom>
          <a:solidFill>
            <a:srgbClr val="1E8E86"/>
          </a:solidFill>
          <a:ln/>
        </p:spPr>
      </p:sp>
      <p:sp>
        <p:nvSpPr>
          <p:cNvPr id="108" name="Text 106"/>
          <p:cNvSpPr/>
          <p:nvPr/>
        </p:nvSpPr>
        <p:spPr>
          <a:xfrm>
            <a:off x="9217152" y="3296412"/>
            <a:ext cx="44993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19%</a:t>
            </a:r>
            <a:endParaRPr lang="en-US" sz="750" dirty="0"/>
          </a:p>
        </p:txBody>
      </p:sp>
      <p:sp>
        <p:nvSpPr>
          <p:cNvPr id="109" name="Shape 107"/>
          <p:cNvSpPr/>
          <p:nvPr/>
        </p:nvSpPr>
        <p:spPr>
          <a:xfrm>
            <a:off x="9667083" y="3296412"/>
            <a:ext cx="1043203" cy="155448"/>
          </a:xfrm>
          <a:prstGeom prst="rect">
            <a:avLst/>
          </a:prstGeom>
          <a:solidFill>
            <a:srgbClr val="8DA0B8"/>
          </a:solidFill>
          <a:ln/>
        </p:spPr>
      </p:sp>
      <p:sp>
        <p:nvSpPr>
          <p:cNvPr id="110" name="Text 108"/>
          <p:cNvSpPr/>
          <p:nvPr/>
        </p:nvSpPr>
        <p:spPr>
          <a:xfrm>
            <a:off x="9667083" y="3296412"/>
            <a:ext cx="104320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44%</a:t>
            </a:r>
            <a:endParaRPr lang="en-US" sz="750" dirty="0"/>
          </a:p>
        </p:txBody>
      </p:sp>
      <p:sp>
        <p:nvSpPr>
          <p:cNvPr id="111" name="Shape 109"/>
          <p:cNvSpPr/>
          <p:nvPr/>
        </p:nvSpPr>
        <p:spPr>
          <a:xfrm>
            <a:off x="10710286" y="3296412"/>
            <a:ext cx="866018" cy="155448"/>
          </a:xfrm>
          <a:prstGeom prst="rect">
            <a:avLst/>
          </a:prstGeom>
          <a:solidFill>
            <a:srgbClr val="C00000"/>
          </a:solidFill>
          <a:ln/>
        </p:spPr>
      </p:sp>
      <p:sp>
        <p:nvSpPr>
          <p:cNvPr id="112" name="Text 110"/>
          <p:cNvSpPr/>
          <p:nvPr/>
        </p:nvSpPr>
        <p:spPr>
          <a:xfrm>
            <a:off x="10710286" y="3296412"/>
            <a:ext cx="86601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37%</a:t>
            </a:r>
            <a:endParaRPr lang="en-US" sz="750" dirty="0"/>
          </a:p>
        </p:txBody>
      </p:sp>
      <p:sp>
        <p:nvSpPr>
          <p:cNvPr id="113" name="Text 111"/>
          <p:cNvSpPr/>
          <p:nvPr/>
        </p:nvSpPr>
        <p:spPr>
          <a:xfrm>
            <a:off x="8394192" y="354787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114" name="Shape 112"/>
          <p:cNvSpPr/>
          <p:nvPr/>
        </p:nvSpPr>
        <p:spPr>
          <a:xfrm>
            <a:off x="9217152" y="3589020"/>
            <a:ext cx="359072" cy="155448"/>
          </a:xfrm>
          <a:prstGeom prst="rect">
            <a:avLst/>
          </a:prstGeom>
          <a:solidFill>
            <a:srgbClr val="1E8E86"/>
          </a:solidFill>
          <a:ln/>
        </p:spPr>
      </p:sp>
      <p:sp>
        <p:nvSpPr>
          <p:cNvPr id="115" name="Text 113"/>
          <p:cNvSpPr/>
          <p:nvPr/>
        </p:nvSpPr>
        <p:spPr>
          <a:xfrm>
            <a:off x="9217152" y="3589020"/>
            <a:ext cx="35907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15%</a:t>
            </a:r>
            <a:endParaRPr lang="en-US" sz="750" dirty="0"/>
          </a:p>
        </p:txBody>
      </p:sp>
      <p:sp>
        <p:nvSpPr>
          <p:cNvPr id="116" name="Shape 114"/>
          <p:cNvSpPr/>
          <p:nvPr/>
        </p:nvSpPr>
        <p:spPr>
          <a:xfrm>
            <a:off x="9576224" y="3589020"/>
            <a:ext cx="1361549" cy="155448"/>
          </a:xfrm>
          <a:prstGeom prst="rect">
            <a:avLst/>
          </a:prstGeom>
          <a:solidFill>
            <a:srgbClr val="8DA0B8"/>
          </a:solidFill>
          <a:ln/>
        </p:spPr>
      </p:sp>
      <p:sp>
        <p:nvSpPr>
          <p:cNvPr id="117" name="Text 115"/>
          <p:cNvSpPr/>
          <p:nvPr/>
        </p:nvSpPr>
        <p:spPr>
          <a:xfrm>
            <a:off x="9576224" y="3589020"/>
            <a:ext cx="136154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58%</a:t>
            </a:r>
            <a:endParaRPr lang="en-US" sz="750" dirty="0"/>
          </a:p>
        </p:txBody>
      </p:sp>
      <p:sp>
        <p:nvSpPr>
          <p:cNvPr id="118" name="Shape 116"/>
          <p:cNvSpPr/>
          <p:nvPr/>
        </p:nvSpPr>
        <p:spPr>
          <a:xfrm>
            <a:off x="10937773" y="3589020"/>
            <a:ext cx="638531" cy="155448"/>
          </a:xfrm>
          <a:prstGeom prst="rect">
            <a:avLst/>
          </a:prstGeom>
          <a:solidFill>
            <a:srgbClr val="C00000"/>
          </a:solidFill>
          <a:ln/>
        </p:spPr>
      </p:sp>
      <p:sp>
        <p:nvSpPr>
          <p:cNvPr id="119" name="Text 117"/>
          <p:cNvSpPr/>
          <p:nvPr/>
        </p:nvSpPr>
        <p:spPr>
          <a:xfrm>
            <a:off x="10937773" y="3589020"/>
            <a:ext cx="63853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27%</a:t>
            </a:r>
            <a:endParaRPr lang="en-US" sz="750" dirty="0"/>
          </a:p>
        </p:txBody>
      </p:sp>
      <p:sp>
        <p:nvSpPr>
          <p:cNvPr id="120" name="Shape 118"/>
          <p:cNvSpPr/>
          <p:nvPr/>
        </p:nvSpPr>
        <p:spPr>
          <a:xfrm>
            <a:off x="530352" y="4114800"/>
            <a:ext cx="3621024" cy="2212848"/>
          </a:xfrm>
          <a:prstGeom prst="roundRect">
            <a:avLst>
              <a:gd name="adj" fmla="val 3719"/>
            </a:avLst>
          </a:prstGeom>
          <a:solidFill>
            <a:srgbClr val="F1F4F9"/>
          </a:solidFill>
          <a:ln/>
        </p:spPr>
      </p:sp>
      <p:sp>
        <p:nvSpPr>
          <p:cNvPr id="121" name="Text 119"/>
          <p:cNvSpPr/>
          <p:nvPr/>
        </p:nvSpPr>
        <p:spPr>
          <a:xfrm>
            <a:off x="749808" y="4206240"/>
            <a:ext cx="3182112" cy="219456"/>
          </a:xfrm>
          <a:prstGeom prst="rect">
            <a:avLst/>
          </a:prstGeom>
          <a:noFill/>
          <a:ln/>
        </p:spPr>
        <p:txBody>
          <a:bodyPr wrap="square" lIns="0" tIns="0" rIns="0" bIns="0" rtlCol="0" anchor="ctr"/>
          <a:lstStyle/>
          <a:p>
            <a:pPr indent="0" marL="0">
              <a:buNone/>
            </a:pPr>
            <a:r>
              <a:rPr lang="en-US" sz="1100" b="1" dirty="0">
                <a:solidFill>
                  <a:srgbClr val="1E8E86"/>
                </a:solidFill>
                <a:latin typeface="Graphik TH" pitchFamily="34" charset="0"/>
                <a:ea typeface="Graphik TH" pitchFamily="34" charset="-122"/>
                <a:cs typeface="Graphik TH" pitchFamily="34" charset="-120"/>
              </a:rPr>
              <a:t>High confidence</a:t>
            </a:r>
            <a:endParaRPr lang="en-US" sz="1100" dirty="0"/>
          </a:p>
        </p:txBody>
      </p:sp>
      <p:sp>
        <p:nvSpPr>
          <p:cNvPr id="122" name="Text 120"/>
          <p:cNvSpPr/>
          <p:nvPr/>
        </p:nvSpPr>
        <p:spPr>
          <a:xfrm>
            <a:off x="749808" y="4425696"/>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prior balance  ·  THB 3376.0m</a:t>
            </a:r>
            <a:endParaRPr lang="en-US" sz="800" dirty="0"/>
          </a:p>
        </p:txBody>
      </p:sp>
      <p:sp>
        <p:nvSpPr>
          <p:cNvPr id="123" name="Text 121"/>
          <p:cNvSpPr/>
          <p:nvPr/>
        </p:nvSpPr>
        <p:spPr>
          <a:xfrm>
            <a:off x="749808" y="470001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124" name="Shape 122"/>
          <p:cNvSpPr/>
          <p:nvPr/>
        </p:nvSpPr>
        <p:spPr>
          <a:xfrm>
            <a:off x="1572768" y="4741164"/>
            <a:ext cx="599280" cy="155448"/>
          </a:xfrm>
          <a:prstGeom prst="rect">
            <a:avLst/>
          </a:prstGeom>
          <a:solidFill>
            <a:srgbClr val="1E8E86"/>
          </a:solidFill>
          <a:ln/>
        </p:spPr>
      </p:sp>
      <p:sp>
        <p:nvSpPr>
          <p:cNvPr id="125" name="Text 123"/>
          <p:cNvSpPr/>
          <p:nvPr/>
        </p:nvSpPr>
        <p:spPr>
          <a:xfrm>
            <a:off x="1572768" y="4741164"/>
            <a:ext cx="599280"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25%</a:t>
            </a:r>
            <a:endParaRPr lang="en-US" sz="750" dirty="0"/>
          </a:p>
        </p:txBody>
      </p:sp>
      <p:sp>
        <p:nvSpPr>
          <p:cNvPr id="126" name="Shape 124"/>
          <p:cNvSpPr/>
          <p:nvPr/>
        </p:nvSpPr>
        <p:spPr>
          <a:xfrm>
            <a:off x="2172048" y="4741164"/>
            <a:ext cx="992277" cy="155448"/>
          </a:xfrm>
          <a:prstGeom prst="rect">
            <a:avLst/>
          </a:prstGeom>
          <a:solidFill>
            <a:srgbClr val="8DA0B8"/>
          </a:solidFill>
          <a:ln/>
        </p:spPr>
      </p:sp>
      <p:sp>
        <p:nvSpPr>
          <p:cNvPr id="127" name="Text 125"/>
          <p:cNvSpPr/>
          <p:nvPr/>
        </p:nvSpPr>
        <p:spPr>
          <a:xfrm>
            <a:off x="2172048" y="4741164"/>
            <a:ext cx="99227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42%</a:t>
            </a:r>
            <a:endParaRPr lang="en-US" sz="750" dirty="0"/>
          </a:p>
        </p:txBody>
      </p:sp>
      <p:sp>
        <p:nvSpPr>
          <p:cNvPr id="128" name="Shape 126"/>
          <p:cNvSpPr/>
          <p:nvPr/>
        </p:nvSpPr>
        <p:spPr>
          <a:xfrm>
            <a:off x="3164325" y="4741164"/>
            <a:ext cx="767595" cy="155448"/>
          </a:xfrm>
          <a:prstGeom prst="rect">
            <a:avLst/>
          </a:prstGeom>
          <a:solidFill>
            <a:srgbClr val="C00000"/>
          </a:solidFill>
          <a:ln/>
        </p:spPr>
      </p:sp>
      <p:sp>
        <p:nvSpPr>
          <p:cNvPr id="129" name="Text 127"/>
          <p:cNvSpPr/>
          <p:nvPr/>
        </p:nvSpPr>
        <p:spPr>
          <a:xfrm>
            <a:off x="3164325" y="4741164"/>
            <a:ext cx="76759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33%</a:t>
            </a:r>
            <a:endParaRPr lang="en-US" sz="750" dirty="0"/>
          </a:p>
        </p:txBody>
      </p:sp>
      <p:sp>
        <p:nvSpPr>
          <p:cNvPr id="130" name="Text 128"/>
          <p:cNvSpPr/>
          <p:nvPr/>
        </p:nvSpPr>
        <p:spPr>
          <a:xfrm>
            <a:off x="749808" y="499262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131" name="Shape 129"/>
          <p:cNvSpPr/>
          <p:nvPr/>
        </p:nvSpPr>
        <p:spPr>
          <a:xfrm>
            <a:off x="1572768" y="5033772"/>
            <a:ext cx="395395" cy="155448"/>
          </a:xfrm>
          <a:prstGeom prst="rect">
            <a:avLst/>
          </a:prstGeom>
          <a:solidFill>
            <a:srgbClr val="1E8E86"/>
          </a:solidFill>
          <a:ln/>
        </p:spPr>
      </p:sp>
      <p:sp>
        <p:nvSpPr>
          <p:cNvPr id="132" name="Text 130"/>
          <p:cNvSpPr/>
          <p:nvPr/>
        </p:nvSpPr>
        <p:spPr>
          <a:xfrm>
            <a:off x="1572768" y="5033772"/>
            <a:ext cx="39539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17%</a:t>
            </a:r>
            <a:endParaRPr lang="en-US" sz="750" dirty="0"/>
          </a:p>
        </p:txBody>
      </p:sp>
      <p:sp>
        <p:nvSpPr>
          <p:cNvPr id="133" name="Shape 131"/>
          <p:cNvSpPr/>
          <p:nvPr/>
        </p:nvSpPr>
        <p:spPr>
          <a:xfrm>
            <a:off x="1968163" y="5033772"/>
            <a:ext cx="1309848" cy="155448"/>
          </a:xfrm>
          <a:prstGeom prst="rect">
            <a:avLst/>
          </a:prstGeom>
          <a:solidFill>
            <a:srgbClr val="8DA0B8"/>
          </a:solidFill>
          <a:ln/>
        </p:spPr>
      </p:sp>
      <p:sp>
        <p:nvSpPr>
          <p:cNvPr id="134" name="Text 132"/>
          <p:cNvSpPr/>
          <p:nvPr/>
        </p:nvSpPr>
        <p:spPr>
          <a:xfrm>
            <a:off x="1968163" y="5033772"/>
            <a:ext cx="130984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56%</a:t>
            </a:r>
            <a:endParaRPr lang="en-US" sz="750" dirty="0"/>
          </a:p>
        </p:txBody>
      </p:sp>
      <p:sp>
        <p:nvSpPr>
          <p:cNvPr id="135" name="Shape 133"/>
          <p:cNvSpPr/>
          <p:nvPr/>
        </p:nvSpPr>
        <p:spPr>
          <a:xfrm>
            <a:off x="3278011" y="5033772"/>
            <a:ext cx="653909" cy="155448"/>
          </a:xfrm>
          <a:prstGeom prst="rect">
            <a:avLst/>
          </a:prstGeom>
          <a:solidFill>
            <a:srgbClr val="C00000"/>
          </a:solidFill>
          <a:ln/>
        </p:spPr>
      </p:sp>
      <p:sp>
        <p:nvSpPr>
          <p:cNvPr id="136" name="Text 134"/>
          <p:cNvSpPr/>
          <p:nvPr/>
        </p:nvSpPr>
        <p:spPr>
          <a:xfrm>
            <a:off x="3278011" y="5033772"/>
            <a:ext cx="65390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28%</a:t>
            </a:r>
            <a:endParaRPr lang="en-US" sz="750" dirty="0"/>
          </a:p>
        </p:txBody>
      </p:sp>
      <p:sp>
        <p:nvSpPr>
          <p:cNvPr id="137" name="Text 135"/>
          <p:cNvSpPr/>
          <p:nvPr/>
        </p:nvSpPr>
        <p:spPr>
          <a:xfrm>
            <a:off x="749808" y="528523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138" name="Shape 136"/>
          <p:cNvSpPr/>
          <p:nvPr/>
        </p:nvSpPr>
        <p:spPr>
          <a:xfrm>
            <a:off x="1572768" y="5326380"/>
            <a:ext cx="337769" cy="155448"/>
          </a:xfrm>
          <a:prstGeom prst="rect">
            <a:avLst/>
          </a:prstGeom>
          <a:solidFill>
            <a:srgbClr val="1E8E86"/>
          </a:solidFill>
          <a:ln/>
        </p:spPr>
      </p:sp>
      <p:sp>
        <p:nvSpPr>
          <p:cNvPr id="139" name="Text 137"/>
          <p:cNvSpPr/>
          <p:nvPr/>
        </p:nvSpPr>
        <p:spPr>
          <a:xfrm>
            <a:off x="1572768" y="5326380"/>
            <a:ext cx="33776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140" name="Shape 138"/>
          <p:cNvSpPr/>
          <p:nvPr/>
        </p:nvSpPr>
        <p:spPr>
          <a:xfrm>
            <a:off x="1910537" y="5326380"/>
            <a:ext cx="1536187" cy="155448"/>
          </a:xfrm>
          <a:prstGeom prst="rect">
            <a:avLst/>
          </a:prstGeom>
          <a:solidFill>
            <a:srgbClr val="8DA0B8"/>
          </a:solidFill>
          <a:ln/>
        </p:spPr>
      </p:sp>
      <p:sp>
        <p:nvSpPr>
          <p:cNvPr id="141" name="Text 139"/>
          <p:cNvSpPr/>
          <p:nvPr/>
        </p:nvSpPr>
        <p:spPr>
          <a:xfrm>
            <a:off x="1910537" y="5326380"/>
            <a:ext cx="153618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65%</a:t>
            </a:r>
            <a:endParaRPr lang="en-US" sz="750" dirty="0"/>
          </a:p>
        </p:txBody>
      </p:sp>
      <p:sp>
        <p:nvSpPr>
          <p:cNvPr id="142" name="Shape 140"/>
          <p:cNvSpPr/>
          <p:nvPr/>
        </p:nvSpPr>
        <p:spPr>
          <a:xfrm>
            <a:off x="3446724" y="5326380"/>
            <a:ext cx="485196" cy="155448"/>
          </a:xfrm>
          <a:prstGeom prst="rect">
            <a:avLst/>
          </a:prstGeom>
          <a:solidFill>
            <a:srgbClr val="C00000"/>
          </a:solidFill>
          <a:ln/>
        </p:spPr>
      </p:sp>
      <p:sp>
        <p:nvSpPr>
          <p:cNvPr id="143" name="Text 141"/>
          <p:cNvSpPr/>
          <p:nvPr/>
        </p:nvSpPr>
        <p:spPr>
          <a:xfrm>
            <a:off x="3446724" y="5326380"/>
            <a:ext cx="485196"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21%</a:t>
            </a:r>
            <a:endParaRPr lang="en-US" sz="750" dirty="0"/>
          </a:p>
        </p:txBody>
      </p:sp>
      <p:sp>
        <p:nvSpPr>
          <p:cNvPr id="144" name="Text 142"/>
          <p:cNvSpPr/>
          <p:nvPr/>
        </p:nvSpPr>
        <p:spPr>
          <a:xfrm>
            <a:off x="749808" y="55778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145" name="Shape 143"/>
          <p:cNvSpPr/>
          <p:nvPr/>
        </p:nvSpPr>
        <p:spPr>
          <a:xfrm>
            <a:off x="1572768" y="5618988"/>
            <a:ext cx="221091" cy="155448"/>
          </a:xfrm>
          <a:prstGeom prst="rect">
            <a:avLst/>
          </a:prstGeom>
          <a:solidFill>
            <a:srgbClr val="1E8E86"/>
          </a:solidFill>
          <a:ln/>
        </p:spPr>
      </p:sp>
      <p:sp>
        <p:nvSpPr>
          <p:cNvPr id="146" name="Shape 144"/>
          <p:cNvSpPr/>
          <p:nvPr/>
        </p:nvSpPr>
        <p:spPr>
          <a:xfrm>
            <a:off x="1793859" y="5618988"/>
            <a:ext cx="977388" cy="155448"/>
          </a:xfrm>
          <a:prstGeom prst="rect">
            <a:avLst/>
          </a:prstGeom>
          <a:solidFill>
            <a:srgbClr val="8DA0B8"/>
          </a:solidFill>
          <a:ln/>
        </p:spPr>
      </p:sp>
      <p:sp>
        <p:nvSpPr>
          <p:cNvPr id="147" name="Text 145"/>
          <p:cNvSpPr/>
          <p:nvPr/>
        </p:nvSpPr>
        <p:spPr>
          <a:xfrm>
            <a:off x="1793859" y="5618988"/>
            <a:ext cx="97738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41%</a:t>
            </a:r>
            <a:endParaRPr lang="en-US" sz="750" dirty="0"/>
          </a:p>
        </p:txBody>
      </p:sp>
      <p:sp>
        <p:nvSpPr>
          <p:cNvPr id="148" name="Shape 146"/>
          <p:cNvSpPr/>
          <p:nvPr/>
        </p:nvSpPr>
        <p:spPr>
          <a:xfrm>
            <a:off x="2771247" y="5618988"/>
            <a:ext cx="1160673" cy="155448"/>
          </a:xfrm>
          <a:prstGeom prst="rect">
            <a:avLst/>
          </a:prstGeom>
          <a:solidFill>
            <a:srgbClr val="C00000"/>
          </a:solidFill>
          <a:ln/>
        </p:spPr>
      </p:sp>
      <p:sp>
        <p:nvSpPr>
          <p:cNvPr id="149" name="Text 147"/>
          <p:cNvSpPr/>
          <p:nvPr/>
        </p:nvSpPr>
        <p:spPr>
          <a:xfrm>
            <a:off x="2771247" y="5618988"/>
            <a:ext cx="116067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49%</a:t>
            </a:r>
            <a:endParaRPr lang="en-US" sz="750" dirty="0"/>
          </a:p>
        </p:txBody>
      </p:sp>
      <p:sp>
        <p:nvSpPr>
          <p:cNvPr id="150" name="Text 148"/>
          <p:cNvSpPr/>
          <p:nvPr/>
        </p:nvSpPr>
        <p:spPr>
          <a:xfrm>
            <a:off x="749808" y="58704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151" name="Shape 149"/>
          <p:cNvSpPr/>
          <p:nvPr/>
        </p:nvSpPr>
        <p:spPr>
          <a:xfrm>
            <a:off x="1572768" y="5911596"/>
            <a:ext cx="159454" cy="155448"/>
          </a:xfrm>
          <a:prstGeom prst="rect">
            <a:avLst/>
          </a:prstGeom>
          <a:solidFill>
            <a:srgbClr val="1E8E86"/>
          </a:solidFill>
          <a:ln/>
        </p:spPr>
      </p:sp>
      <p:sp>
        <p:nvSpPr>
          <p:cNvPr id="152" name="Shape 150"/>
          <p:cNvSpPr/>
          <p:nvPr/>
        </p:nvSpPr>
        <p:spPr>
          <a:xfrm>
            <a:off x="1732222" y="5911596"/>
            <a:ext cx="1374496" cy="155448"/>
          </a:xfrm>
          <a:prstGeom prst="rect">
            <a:avLst/>
          </a:prstGeom>
          <a:solidFill>
            <a:srgbClr val="8DA0B8"/>
          </a:solidFill>
          <a:ln/>
        </p:spPr>
      </p:sp>
      <p:sp>
        <p:nvSpPr>
          <p:cNvPr id="153" name="Text 151"/>
          <p:cNvSpPr/>
          <p:nvPr/>
        </p:nvSpPr>
        <p:spPr>
          <a:xfrm>
            <a:off x="1732222" y="5911596"/>
            <a:ext cx="1374496"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58%</a:t>
            </a:r>
            <a:endParaRPr lang="en-US" sz="750" dirty="0"/>
          </a:p>
        </p:txBody>
      </p:sp>
      <p:sp>
        <p:nvSpPr>
          <p:cNvPr id="154" name="Shape 152"/>
          <p:cNvSpPr/>
          <p:nvPr/>
        </p:nvSpPr>
        <p:spPr>
          <a:xfrm>
            <a:off x="3106718" y="5911596"/>
            <a:ext cx="825202" cy="155448"/>
          </a:xfrm>
          <a:prstGeom prst="rect">
            <a:avLst/>
          </a:prstGeom>
          <a:solidFill>
            <a:srgbClr val="C00000"/>
          </a:solidFill>
          <a:ln/>
        </p:spPr>
      </p:sp>
      <p:sp>
        <p:nvSpPr>
          <p:cNvPr id="155" name="Text 153"/>
          <p:cNvSpPr/>
          <p:nvPr/>
        </p:nvSpPr>
        <p:spPr>
          <a:xfrm>
            <a:off x="3106718" y="5911596"/>
            <a:ext cx="82520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35%</a:t>
            </a:r>
            <a:endParaRPr lang="en-US" sz="750" dirty="0"/>
          </a:p>
        </p:txBody>
      </p:sp>
      <p:sp>
        <p:nvSpPr>
          <p:cNvPr id="156" name="Shape 154"/>
          <p:cNvSpPr/>
          <p:nvPr/>
        </p:nvSpPr>
        <p:spPr>
          <a:xfrm>
            <a:off x="4352544" y="4114800"/>
            <a:ext cx="3621024" cy="2212848"/>
          </a:xfrm>
          <a:prstGeom prst="roundRect">
            <a:avLst>
              <a:gd name="adj" fmla="val 3719"/>
            </a:avLst>
          </a:prstGeom>
          <a:solidFill>
            <a:srgbClr val="F1F4F9"/>
          </a:solidFill>
          <a:ln/>
        </p:spPr>
      </p:sp>
      <p:sp>
        <p:nvSpPr>
          <p:cNvPr id="157" name="Text 155"/>
          <p:cNvSpPr/>
          <p:nvPr/>
        </p:nvSpPr>
        <p:spPr>
          <a:xfrm>
            <a:off x="4572000" y="4206240"/>
            <a:ext cx="3182112" cy="219456"/>
          </a:xfrm>
          <a:prstGeom prst="rect">
            <a:avLst/>
          </a:prstGeom>
          <a:noFill/>
          <a:ln/>
        </p:spPr>
        <p:txBody>
          <a:bodyPr wrap="square" lIns="0" tIns="0" rIns="0" bIns="0" rtlCol="0" anchor="ctr"/>
          <a:lstStyle/>
          <a:p>
            <a:pPr indent="0" marL="0">
              <a:buNone/>
            </a:pPr>
            <a:r>
              <a:rPr lang="en-US" sz="1100" b="1" dirty="0">
                <a:solidFill>
                  <a:srgbClr val="8DA0B8"/>
                </a:solidFill>
                <a:latin typeface="Graphik TH" pitchFamily="34" charset="0"/>
                <a:ea typeface="Graphik TH" pitchFamily="34" charset="-122"/>
                <a:cs typeface="Graphik TH" pitchFamily="34" charset="-120"/>
              </a:rPr>
              <a:t>Medium confidence</a:t>
            </a:r>
            <a:endParaRPr lang="en-US" sz="1100" dirty="0"/>
          </a:p>
        </p:txBody>
      </p:sp>
      <p:sp>
        <p:nvSpPr>
          <p:cNvPr id="158" name="Text 156"/>
          <p:cNvSpPr/>
          <p:nvPr/>
        </p:nvSpPr>
        <p:spPr>
          <a:xfrm>
            <a:off x="4572000" y="4425696"/>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prior balance  ·  THB 1611.7m</a:t>
            </a:r>
            <a:endParaRPr lang="en-US" sz="800" dirty="0"/>
          </a:p>
        </p:txBody>
      </p:sp>
      <p:sp>
        <p:nvSpPr>
          <p:cNvPr id="159" name="Text 157"/>
          <p:cNvSpPr/>
          <p:nvPr/>
        </p:nvSpPr>
        <p:spPr>
          <a:xfrm>
            <a:off x="4572000" y="470001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160" name="Shape 158"/>
          <p:cNvSpPr/>
          <p:nvPr/>
        </p:nvSpPr>
        <p:spPr>
          <a:xfrm>
            <a:off x="5394960" y="4741164"/>
            <a:ext cx="408508" cy="155448"/>
          </a:xfrm>
          <a:prstGeom prst="rect">
            <a:avLst/>
          </a:prstGeom>
          <a:solidFill>
            <a:srgbClr val="1E8E86"/>
          </a:solidFill>
          <a:ln/>
        </p:spPr>
      </p:sp>
      <p:sp>
        <p:nvSpPr>
          <p:cNvPr id="161" name="Text 159"/>
          <p:cNvSpPr/>
          <p:nvPr/>
        </p:nvSpPr>
        <p:spPr>
          <a:xfrm>
            <a:off x="5394960" y="4741164"/>
            <a:ext cx="40850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17%</a:t>
            </a:r>
            <a:endParaRPr lang="en-US" sz="750" dirty="0"/>
          </a:p>
        </p:txBody>
      </p:sp>
      <p:sp>
        <p:nvSpPr>
          <p:cNvPr id="162" name="Shape 160"/>
          <p:cNvSpPr/>
          <p:nvPr/>
        </p:nvSpPr>
        <p:spPr>
          <a:xfrm>
            <a:off x="5803468" y="4741164"/>
            <a:ext cx="1620112" cy="155448"/>
          </a:xfrm>
          <a:prstGeom prst="rect">
            <a:avLst/>
          </a:prstGeom>
          <a:solidFill>
            <a:srgbClr val="8DA0B8"/>
          </a:solidFill>
          <a:ln/>
        </p:spPr>
      </p:sp>
      <p:sp>
        <p:nvSpPr>
          <p:cNvPr id="163" name="Text 161"/>
          <p:cNvSpPr/>
          <p:nvPr/>
        </p:nvSpPr>
        <p:spPr>
          <a:xfrm>
            <a:off x="5803468" y="4741164"/>
            <a:ext cx="162011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69%</a:t>
            </a:r>
            <a:endParaRPr lang="en-US" sz="750" dirty="0"/>
          </a:p>
        </p:txBody>
      </p:sp>
      <p:sp>
        <p:nvSpPr>
          <p:cNvPr id="164" name="Shape 162"/>
          <p:cNvSpPr/>
          <p:nvPr/>
        </p:nvSpPr>
        <p:spPr>
          <a:xfrm>
            <a:off x="7423580" y="4741164"/>
            <a:ext cx="330532" cy="155448"/>
          </a:xfrm>
          <a:prstGeom prst="rect">
            <a:avLst/>
          </a:prstGeom>
          <a:solidFill>
            <a:srgbClr val="C00000"/>
          </a:solidFill>
          <a:ln/>
        </p:spPr>
      </p:sp>
      <p:sp>
        <p:nvSpPr>
          <p:cNvPr id="165" name="Text 163"/>
          <p:cNvSpPr/>
          <p:nvPr/>
        </p:nvSpPr>
        <p:spPr>
          <a:xfrm>
            <a:off x="7423580" y="4741164"/>
            <a:ext cx="33053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166" name="Text 164"/>
          <p:cNvSpPr/>
          <p:nvPr/>
        </p:nvSpPr>
        <p:spPr>
          <a:xfrm>
            <a:off x="4572000" y="499262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167" name="Shape 165"/>
          <p:cNvSpPr/>
          <p:nvPr/>
        </p:nvSpPr>
        <p:spPr>
          <a:xfrm>
            <a:off x="5394960" y="5033772"/>
            <a:ext cx="308683" cy="155448"/>
          </a:xfrm>
          <a:prstGeom prst="rect">
            <a:avLst/>
          </a:prstGeom>
          <a:solidFill>
            <a:srgbClr val="1E8E86"/>
          </a:solidFill>
          <a:ln/>
        </p:spPr>
      </p:sp>
      <p:sp>
        <p:nvSpPr>
          <p:cNvPr id="168" name="Shape 166"/>
          <p:cNvSpPr/>
          <p:nvPr/>
        </p:nvSpPr>
        <p:spPr>
          <a:xfrm>
            <a:off x="5703643" y="5033772"/>
            <a:ext cx="1429077" cy="155448"/>
          </a:xfrm>
          <a:prstGeom prst="rect">
            <a:avLst/>
          </a:prstGeom>
          <a:solidFill>
            <a:srgbClr val="8DA0B8"/>
          </a:solidFill>
          <a:ln/>
        </p:spPr>
      </p:sp>
      <p:sp>
        <p:nvSpPr>
          <p:cNvPr id="169" name="Text 167"/>
          <p:cNvSpPr/>
          <p:nvPr/>
        </p:nvSpPr>
        <p:spPr>
          <a:xfrm>
            <a:off x="5703643" y="5033772"/>
            <a:ext cx="142907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61%</a:t>
            </a:r>
            <a:endParaRPr lang="en-US" sz="750" dirty="0"/>
          </a:p>
        </p:txBody>
      </p:sp>
      <p:sp>
        <p:nvSpPr>
          <p:cNvPr id="170" name="Shape 168"/>
          <p:cNvSpPr/>
          <p:nvPr/>
        </p:nvSpPr>
        <p:spPr>
          <a:xfrm>
            <a:off x="7132720" y="5033772"/>
            <a:ext cx="621392" cy="155448"/>
          </a:xfrm>
          <a:prstGeom prst="rect">
            <a:avLst/>
          </a:prstGeom>
          <a:solidFill>
            <a:srgbClr val="C00000"/>
          </a:solidFill>
          <a:ln/>
        </p:spPr>
      </p:sp>
      <p:sp>
        <p:nvSpPr>
          <p:cNvPr id="171" name="Text 169"/>
          <p:cNvSpPr/>
          <p:nvPr/>
        </p:nvSpPr>
        <p:spPr>
          <a:xfrm>
            <a:off x="7132720" y="5033772"/>
            <a:ext cx="62139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26%</a:t>
            </a:r>
            <a:endParaRPr lang="en-US" sz="750" dirty="0"/>
          </a:p>
        </p:txBody>
      </p:sp>
      <p:sp>
        <p:nvSpPr>
          <p:cNvPr id="172" name="Text 170"/>
          <p:cNvSpPr/>
          <p:nvPr/>
        </p:nvSpPr>
        <p:spPr>
          <a:xfrm>
            <a:off x="4572000" y="528523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173" name="Shape 171"/>
          <p:cNvSpPr/>
          <p:nvPr/>
        </p:nvSpPr>
        <p:spPr>
          <a:xfrm>
            <a:off x="5394960" y="5326380"/>
            <a:ext cx="341717" cy="155448"/>
          </a:xfrm>
          <a:prstGeom prst="rect">
            <a:avLst/>
          </a:prstGeom>
          <a:solidFill>
            <a:srgbClr val="1E8E86"/>
          </a:solidFill>
          <a:ln/>
        </p:spPr>
      </p:sp>
      <p:sp>
        <p:nvSpPr>
          <p:cNvPr id="174" name="Text 172"/>
          <p:cNvSpPr/>
          <p:nvPr/>
        </p:nvSpPr>
        <p:spPr>
          <a:xfrm>
            <a:off x="5394960" y="5326380"/>
            <a:ext cx="34171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175" name="Shape 173"/>
          <p:cNvSpPr/>
          <p:nvPr/>
        </p:nvSpPr>
        <p:spPr>
          <a:xfrm>
            <a:off x="5736677" y="5326380"/>
            <a:ext cx="1026781" cy="155448"/>
          </a:xfrm>
          <a:prstGeom prst="rect">
            <a:avLst/>
          </a:prstGeom>
          <a:solidFill>
            <a:srgbClr val="8DA0B8"/>
          </a:solidFill>
          <a:ln/>
        </p:spPr>
      </p:sp>
      <p:sp>
        <p:nvSpPr>
          <p:cNvPr id="176" name="Text 174"/>
          <p:cNvSpPr/>
          <p:nvPr/>
        </p:nvSpPr>
        <p:spPr>
          <a:xfrm>
            <a:off x="5736677" y="5326380"/>
            <a:ext cx="102678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44%</a:t>
            </a:r>
            <a:endParaRPr lang="en-US" sz="750" dirty="0"/>
          </a:p>
        </p:txBody>
      </p:sp>
      <p:sp>
        <p:nvSpPr>
          <p:cNvPr id="177" name="Shape 175"/>
          <p:cNvSpPr/>
          <p:nvPr/>
        </p:nvSpPr>
        <p:spPr>
          <a:xfrm>
            <a:off x="6763459" y="5326380"/>
            <a:ext cx="990653" cy="155448"/>
          </a:xfrm>
          <a:prstGeom prst="rect">
            <a:avLst/>
          </a:prstGeom>
          <a:solidFill>
            <a:srgbClr val="C00000"/>
          </a:solidFill>
          <a:ln/>
        </p:spPr>
      </p:sp>
      <p:sp>
        <p:nvSpPr>
          <p:cNvPr id="178" name="Text 176"/>
          <p:cNvSpPr/>
          <p:nvPr/>
        </p:nvSpPr>
        <p:spPr>
          <a:xfrm>
            <a:off x="6763459" y="5326380"/>
            <a:ext cx="99065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42%</a:t>
            </a:r>
            <a:endParaRPr lang="en-US" sz="750" dirty="0"/>
          </a:p>
        </p:txBody>
      </p:sp>
      <p:sp>
        <p:nvSpPr>
          <p:cNvPr id="179" name="Text 177"/>
          <p:cNvSpPr/>
          <p:nvPr/>
        </p:nvSpPr>
        <p:spPr>
          <a:xfrm>
            <a:off x="4572000" y="55778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180" name="Shape 178"/>
          <p:cNvSpPr/>
          <p:nvPr/>
        </p:nvSpPr>
        <p:spPr>
          <a:xfrm>
            <a:off x="5394960" y="5618988"/>
            <a:ext cx="284835" cy="155448"/>
          </a:xfrm>
          <a:prstGeom prst="rect">
            <a:avLst/>
          </a:prstGeom>
          <a:solidFill>
            <a:srgbClr val="1E8E86"/>
          </a:solidFill>
          <a:ln/>
        </p:spPr>
      </p:sp>
      <p:sp>
        <p:nvSpPr>
          <p:cNvPr id="181" name="Shape 179"/>
          <p:cNvSpPr/>
          <p:nvPr/>
        </p:nvSpPr>
        <p:spPr>
          <a:xfrm>
            <a:off x="5679795" y="5618988"/>
            <a:ext cx="246484" cy="155448"/>
          </a:xfrm>
          <a:prstGeom prst="rect">
            <a:avLst/>
          </a:prstGeom>
          <a:solidFill>
            <a:srgbClr val="8DA0B8"/>
          </a:solidFill>
          <a:ln/>
        </p:spPr>
      </p:sp>
      <p:sp>
        <p:nvSpPr>
          <p:cNvPr id="182" name="Shape 180"/>
          <p:cNvSpPr/>
          <p:nvPr/>
        </p:nvSpPr>
        <p:spPr>
          <a:xfrm>
            <a:off x="5926279" y="5618988"/>
            <a:ext cx="1827833" cy="155448"/>
          </a:xfrm>
          <a:prstGeom prst="rect">
            <a:avLst/>
          </a:prstGeom>
          <a:solidFill>
            <a:srgbClr val="C00000"/>
          </a:solidFill>
          <a:ln/>
        </p:spPr>
      </p:sp>
      <p:sp>
        <p:nvSpPr>
          <p:cNvPr id="183" name="Text 181"/>
          <p:cNvSpPr/>
          <p:nvPr/>
        </p:nvSpPr>
        <p:spPr>
          <a:xfrm>
            <a:off x="5926279" y="5618988"/>
            <a:ext cx="182783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77%</a:t>
            </a:r>
            <a:endParaRPr lang="en-US" sz="750" dirty="0"/>
          </a:p>
        </p:txBody>
      </p:sp>
      <p:sp>
        <p:nvSpPr>
          <p:cNvPr id="184" name="Text 182"/>
          <p:cNvSpPr/>
          <p:nvPr/>
        </p:nvSpPr>
        <p:spPr>
          <a:xfrm>
            <a:off x="4572000" y="58704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185" name="Shape 183"/>
          <p:cNvSpPr/>
          <p:nvPr/>
        </p:nvSpPr>
        <p:spPr>
          <a:xfrm>
            <a:off x="5394960" y="5911596"/>
            <a:ext cx="309161" cy="155448"/>
          </a:xfrm>
          <a:prstGeom prst="rect">
            <a:avLst/>
          </a:prstGeom>
          <a:solidFill>
            <a:srgbClr val="1E8E86"/>
          </a:solidFill>
          <a:ln/>
        </p:spPr>
      </p:sp>
      <p:sp>
        <p:nvSpPr>
          <p:cNvPr id="186" name="Shape 184"/>
          <p:cNvSpPr/>
          <p:nvPr/>
        </p:nvSpPr>
        <p:spPr>
          <a:xfrm>
            <a:off x="5704121" y="5911596"/>
            <a:ext cx="547753" cy="155448"/>
          </a:xfrm>
          <a:prstGeom prst="rect">
            <a:avLst/>
          </a:prstGeom>
          <a:solidFill>
            <a:srgbClr val="8DA0B8"/>
          </a:solidFill>
          <a:ln/>
        </p:spPr>
      </p:sp>
      <p:sp>
        <p:nvSpPr>
          <p:cNvPr id="187" name="Text 185"/>
          <p:cNvSpPr/>
          <p:nvPr/>
        </p:nvSpPr>
        <p:spPr>
          <a:xfrm>
            <a:off x="5704121" y="5911596"/>
            <a:ext cx="54775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23%</a:t>
            </a:r>
            <a:endParaRPr lang="en-US" sz="750" dirty="0"/>
          </a:p>
        </p:txBody>
      </p:sp>
      <p:sp>
        <p:nvSpPr>
          <p:cNvPr id="188" name="Shape 186"/>
          <p:cNvSpPr/>
          <p:nvPr/>
        </p:nvSpPr>
        <p:spPr>
          <a:xfrm>
            <a:off x="6251874" y="5911596"/>
            <a:ext cx="1502238" cy="155448"/>
          </a:xfrm>
          <a:prstGeom prst="rect">
            <a:avLst/>
          </a:prstGeom>
          <a:solidFill>
            <a:srgbClr val="C00000"/>
          </a:solidFill>
          <a:ln/>
        </p:spPr>
      </p:sp>
      <p:sp>
        <p:nvSpPr>
          <p:cNvPr id="189" name="Text 187"/>
          <p:cNvSpPr/>
          <p:nvPr/>
        </p:nvSpPr>
        <p:spPr>
          <a:xfrm>
            <a:off x="6251874" y="5911596"/>
            <a:ext cx="1502238"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64%</a:t>
            </a:r>
            <a:endParaRPr lang="en-US" sz="750" dirty="0"/>
          </a:p>
        </p:txBody>
      </p:sp>
      <p:sp>
        <p:nvSpPr>
          <p:cNvPr id="190" name="Shape 188"/>
          <p:cNvSpPr/>
          <p:nvPr/>
        </p:nvSpPr>
        <p:spPr>
          <a:xfrm>
            <a:off x="8174736" y="4114800"/>
            <a:ext cx="3621024" cy="2212848"/>
          </a:xfrm>
          <a:prstGeom prst="roundRect">
            <a:avLst>
              <a:gd name="adj" fmla="val 3719"/>
            </a:avLst>
          </a:prstGeom>
          <a:solidFill>
            <a:srgbClr val="F1F4F9"/>
          </a:solidFill>
          <a:ln/>
        </p:spPr>
      </p:sp>
      <p:sp>
        <p:nvSpPr>
          <p:cNvPr id="191" name="Text 189"/>
          <p:cNvSpPr/>
          <p:nvPr/>
        </p:nvSpPr>
        <p:spPr>
          <a:xfrm>
            <a:off x="8394192" y="4206240"/>
            <a:ext cx="3182112" cy="219456"/>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Low confidence</a:t>
            </a:r>
            <a:endParaRPr lang="en-US" sz="1100" dirty="0"/>
          </a:p>
        </p:txBody>
      </p:sp>
      <p:sp>
        <p:nvSpPr>
          <p:cNvPr id="192" name="Text 190"/>
          <p:cNvSpPr/>
          <p:nvPr/>
        </p:nvSpPr>
        <p:spPr>
          <a:xfrm>
            <a:off x="8394192" y="4425696"/>
            <a:ext cx="3182112" cy="182880"/>
          </a:xfrm>
          <a:prstGeom prst="rect">
            <a:avLst/>
          </a:prstGeom>
          <a:noFill/>
          <a:ln/>
        </p:spPr>
        <p:txBody>
          <a:bodyPr wrap="square" lIns="0" tIns="0" rIns="0" bIns="0" rtlCol="0" anchor="ctr"/>
          <a:lstStyle/>
          <a:p>
            <a:pPr indent="0" marL="0">
              <a:buNone/>
            </a:pPr>
            <a:r>
              <a:rPr lang="en-US" sz="800" dirty="0">
                <a:solidFill>
                  <a:srgbClr val="6B7A90"/>
                </a:solidFill>
                <a:latin typeface="Graphik TH" pitchFamily="34" charset="0"/>
                <a:ea typeface="Graphik TH" pitchFamily="34" charset="-122"/>
                <a:cs typeface="Graphik TH" pitchFamily="34" charset="-120"/>
              </a:rPr>
              <a:t>Share of prior balance  ·  THB 489.9m</a:t>
            </a:r>
            <a:endParaRPr lang="en-US" sz="800" dirty="0"/>
          </a:p>
        </p:txBody>
      </p:sp>
      <p:sp>
        <p:nvSpPr>
          <p:cNvPr id="193" name="Text 191"/>
          <p:cNvSpPr/>
          <p:nvPr/>
        </p:nvSpPr>
        <p:spPr>
          <a:xfrm>
            <a:off x="8394192" y="4700016"/>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High</a:t>
            </a:r>
            <a:endParaRPr lang="en-US" sz="850" dirty="0"/>
          </a:p>
        </p:txBody>
      </p:sp>
      <p:sp>
        <p:nvSpPr>
          <p:cNvPr id="194" name="Shape 192"/>
          <p:cNvSpPr/>
          <p:nvPr/>
        </p:nvSpPr>
        <p:spPr>
          <a:xfrm>
            <a:off x="9217152" y="4741164"/>
            <a:ext cx="589269" cy="155448"/>
          </a:xfrm>
          <a:prstGeom prst="rect">
            <a:avLst/>
          </a:prstGeom>
          <a:solidFill>
            <a:srgbClr val="1E8E86"/>
          </a:solidFill>
          <a:ln/>
        </p:spPr>
      </p:sp>
      <p:sp>
        <p:nvSpPr>
          <p:cNvPr id="195" name="Text 193"/>
          <p:cNvSpPr/>
          <p:nvPr/>
        </p:nvSpPr>
        <p:spPr>
          <a:xfrm>
            <a:off x="9217152" y="4741164"/>
            <a:ext cx="58926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25%</a:t>
            </a:r>
            <a:endParaRPr lang="en-US" sz="750" dirty="0"/>
          </a:p>
        </p:txBody>
      </p:sp>
      <p:sp>
        <p:nvSpPr>
          <p:cNvPr id="196" name="Shape 194"/>
          <p:cNvSpPr/>
          <p:nvPr/>
        </p:nvSpPr>
        <p:spPr>
          <a:xfrm>
            <a:off x="9806421" y="4741164"/>
            <a:ext cx="901960" cy="155448"/>
          </a:xfrm>
          <a:prstGeom prst="rect">
            <a:avLst/>
          </a:prstGeom>
          <a:solidFill>
            <a:srgbClr val="8DA0B8"/>
          </a:solidFill>
          <a:ln/>
        </p:spPr>
      </p:sp>
      <p:sp>
        <p:nvSpPr>
          <p:cNvPr id="197" name="Text 195"/>
          <p:cNvSpPr/>
          <p:nvPr/>
        </p:nvSpPr>
        <p:spPr>
          <a:xfrm>
            <a:off x="9806421" y="4741164"/>
            <a:ext cx="901960"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38%</a:t>
            </a:r>
            <a:endParaRPr lang="en-US" sz="750" dirty="0"/>
          </a:p>
        </p:txBody>
      </p:sp>
      <p:sp>
        <p:nvSpPr>
          <p:cNvPr id="198" name="Shape 196"/>
          <p:cNvSpPr/>
          <p:nvPr/>
        </p:nvSpPr>
        <p:spPr>
          <a:xfrm>
            <a:off x="10708381" y="4741164"/>
            <a:ext cx="867923" cy="155448"/>
          </a:xfrm>
          <a:prstGeom prst="rect">
            <a:avLst/>
          </a:prstGeom>
          <a:solidFill>
            <a:srgbClr val="C00000"/>
          </a:solidFill>
          <a:ln/>
        </p:spPr>
      </p:sp>
      <p:sp>
        <p:nvSpPr>
          <p:cNvPr id="199" name="Text 197"/>
          <p:cNvSpPr/>
          <p:nvPr/>
        </p:nvSpPr>
        <p:spPr>
          <a:xfrm>
            <a:off x="10708381" y="4741164"/>
            <a:ext cx="86792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37%</a:t>
            </a:r>
            <a:endParaRPr lang="en-US" sz="750" dirty="0"/>
          </a:p>
        </p:txBody>
      </p:sp>
      <p:sp>
        <p:nvSpPr>
          <p:cNvPr id="200" name="Text 198"/>
          <p:cNvSpPr/>
          <p:nvPr/>
        </p:nvSpPr>
        <p:spPr>
          <a:xfrm>
            <a:off x="8394192" y="4992624"/>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p>
        </p:txBody>
      </p:sp>
      <p:sp>
        <p:nvSpPr>
          <p:cNvPr id="201" name="Shape 199"/>
          <p:cNvSpPr/>
          <p:nvPr/>
        </p:nvSpPr>
        <p:spPr>
          <a:xfrm>
            <a:off x="9217152" y="5033772"/>
            <a:ext cx="392722" cy="155448"/>
          </a:xfrm>
          <a:prstGeom prst="rect">
            <a:avLst/>
          </a:prstGeom>
          <a:solidFill>
            <a:srgbClr val="1E8E86"/>
          </a:solidFill>
          <a:ln/>
        </p:spPr>
      </p:sp>
      <p:sp>
        <p:nvSpPr>
          <p:cNvPr id="202" name="Text 200"/>
          <p:cNvSpPr/>
          <p:nvPr/>
        </p:nvSpPr>
        <p:spPr>
          <a:xfrm>
            <a:off x="9217152" y="5033772"/>
            <a:ext cx="392722"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17%</a:t>
            </a:r>
            <a:endParaRPr lang="en-US" sz="750" dirty="0"/>
          </a:p>
        </p:txBody>
      </p:sp>
      <p:sp>
        <p:nvSpPr>
          <p:cNvPr id="203" name="Shape 201"/>
          <p:cNvSpPr/>
          <p:nvPr/>
        </p:nvSpPr>
        <p:spPr>
          <a:xfrm>
            <a:off x="9609874" y="5033772"/>
            <a:ext cx="1764556" cy="155448"/>
          </a:xfrm>
          <a:prstGeom prst="rect">
            <a:avLst/>
          </a:prstGeom>
          <a:solidFill>
            <a:srgbClr val="8DA0B8"/>
          </a:solidFill>
          <a:ln/>
        </p:spPr>
      </p:sp>
      <p:sp>
        <p:nvSpPr>
          <p:cNvPr id="204" name="Text 202"/>
          <p:cNvSpPr/>
          <p:nvPr/>
        </p:nvSpPr>
        <p:spPr>
          <a:xfrm>
            <a:off x="9609874" y="5033772"/>
            <a:ext cx="1764556"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75%</a:t>
            </a:r>
            <a:endParaRPr lang="en-US" sz="750" dirty="0"/>
          </a:p>
        </p:txBody>
      </p:sp>
      <p:sp>
        <p:nvSpPr>
          <p:cNvPr id="205" name="Shape 203"/>
          <p:cNvSpPr/>
          <p:nvPr/>
        </p:nvSpPr>
        <p:spPr>
          <a:xfrm>
            <a:off x="11374430" y="5033772"/>
            <a:ext cx="201874" cy="155448"/>
          </a:xfrm>
          <a:prstGeom prst="rect">
            <a:avLst/>
          </a:prstGeom>
          <a:solidFill>
            <a:srgbClr val="C00000"/>
          </a:solidFill>
          <a:ln/>
        </p:spPr>
      </p:sp>
      <p:sp>
        <p:nvSpPr>
          <p:cNvPr id="206" name="Text 204"/>
          <p:cNvSpPr/>
          <p:nvPr/>
        </p:nvSpPr>
        <p:spPr>
          <a:xfrm>
            <a:off x="8394192" y="5285232"/>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p>
        </p:txBody>
      </p:sp>
      <p:sp>
        <p:nvSpPr>
          <p:cNvPr id="207" name="Shape 205"/>
          <p:cNvSpPr/>
          <p:nvPr/>
        </p:nvSpPr>
        <p:spPr>
          <a:xfrm>
            <a:off x="9217152" y="5326380"/>
            <a:ext cx="710371" cy="155448"/>
          </a:xfrm>
          <a:prstGeom prst="rect">
            <a:avLst/>
          </a:prstGeom>
          <a:solidFill>
            <a:srgbClr val="1E8E86"/>
          </a:solidFill>
          <a:ln/>
        </p:spPr>
      </p:sp>
      <p:sp>
        <p:nvSpPr>
          <p:cNvPr id="208" name="Text 206"/>
          <p:cNvSpPr/>
          <p:nvPr/>
        </p:nvSpPr>
        <p:spPr>
          <a:xfrm>
            <a:off x="9217152" y="5326380"/>
            <a:ext cx="71037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30%</a:t>
            </a:r>
            <a:endParaRPr lang="en-US" sz="750" dirty="0"/>
          </a:p>
        </p:txBody>
      </p:sp>
      <p:sp>
        <p:nvSpPr>
          <p:cNvPr id="209" name="Shape 207"/>
          <p:cNvSpPr/>
          <p:nvPr/>
        </p:nvSpPr>
        <p:spPr>
          <a:xfrm>
            <a:off x="9927523" y="5326380"/>
            <a:ext cx="1309714" cy="155448"/>
          </a:xfrm>
          <a:prstGeom prst="rect">
            <a:avLst/>
          </a:prstGeom>
          <a:solidFill>
            <a:srgbClr val="8DA0B8"/>
          </a:solidFill>
          <a:ln/>
        </p:spPr>
      </p:sp>
      <p:sp>
        <p:nvSpPr>
          <p:cNvPr id="210" name="Text 208"/>
          <p:cNvSpPr/>
          <p:nvPr/>
        </p:nvSpPr>
        <p:spPr>
          <a:xfrm>
            <a:off x="9927523" y="5326380"/>
            <a:ext cx="130971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56%</a:t>
            </a:r>
            <a:endParaRPr lang="en-US" sz="750" dirty="0"/>
          </a:p>
        </p:txBody>
      </p:sp>
      <p:sp>
        <p:nvSpPr>
          <p:cNvPr id="211" name="Shape 209"/>
          <p:cNvSpPr/>
          <p:nvPr/>
        </p:nvSpPr>
        <p:spPr>
          <a:xfrm>
            <a:off x="11237237" y="5326380"/>
            <a:ext cx="339067" cy="155448"/>
          </a:xfrm>
          <a:prstGeom prst="rect">
            <a:avLst/>
          </a:prstGeom>
          <a:solidFill>
            <a:srgbClr val="C00000"/>
          </a:solidFill>
          <a:ln/>
        </p:spPr>
      </p:sp>
      <p:sp>
        <p:nvSpPr>
          <p:cNvPr id="212" name="Text 210"/>
          <p:cNvSpPr/>
          <p:nvPr/>
        </p:nvSpPr>
        <p:spPr>
          <a:xfrm>
            <a:off x="11237237" y="5326380"/>
            <a:ext cx="339067"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213" name="Text 211"/>
          <p:cNvSpPr/>
          <p:nvPr/>
        </p:nvSpPr>
        <p:spPr>
          <a:xfrm>
            <a:off x="8394192" y="5577840"/>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p>
        </p:txBody>
      </p:sp>
      <p:sp>
        <p:nvSpPr>
          <p:cNvPr id="214" name="Shape 212"/>
          <p:cNvSpPr/>
          <p:nvPr/>
        </p:nvSpPr>
        <p:spPr>
          <a:xfrm>
            <a:off x="9217152" y="5618988"/>
            <a:ext cx="330115" cy="155448"/>
          </a:xfrm>
          <a:prstGeom prst="rect">
            <a:avLst/>
          </a:prstGeom>
          <a:solidFill>
            <a:srgbClr val="1E8E86"/>
          </a:solidFill>
          <a:ln/>
        </p:spPr>
      </p:sp>
      <p:sp>
        <p:nvSpPr>
          <p:cNvPr id="215" name="Text 213"/>
          <p:cNvSpPr/>
          <p:nvPr/>
        </p:nvSpPr>
        <p:spPr>
          <a:xfrm>
            <a:off x="9217152" y="5618988"/>
            <a:ext cx="33011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14%</a:t>
            </a:r>
            <a:endParaRPr lang="en-US" sz="750" dirty="0"/>
          </a:p>
        </p:txBody>
      </p:sp>
      <p:sp>
        <p:nvSpPr>
          <p:cNvPr id="216" name="Shape 214"/>
          <p:cNvSpPr/>
          <p:nvPr/>
        </p:nvSpPr>
        <p:spPr>
          <a:xfrm>
            <a:off x="9547267" y="5618988"/>
            <a:ext cx="1202781" cy="155448"/>
          </a:xfrm>
          <a:prstGeom prst="rect">
            <a:avLst/>
          </a:prstGeom>
          <a:solidFill>
            <a:srgbClr val="8DA0B8"/>
          </a:solidFill>
          <a:ln/>
        </p:spPr>
      </p:sp>
      <p:sp>
        <p:nvSpPr>
          <p:cNvPr id="217" name="Text 215"/>
          <p:cNvSpPr/>
          <p:nvPr/>
        </p:nvSpPr>
        <p:spPr>
          <a:xfrm>
            <a:off x="9547267" y="5618988"/>
            <a:ext cx="1202781"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51%</a:t>
            </a:r>
            <a:endParaRPr lang="en-US" sz="750" dirty="0"/>
          </a:p>
        </p:txBody>
      </p:sp>
      <p:sp>
        <p:nvSpPr>
          <p:cNvPr id="218" name="Shape 216"/>
          <p:cNvSpPr/>
          <p:nvPr/>
        </p:nvSpPr>
        <p:spPr>
          <a:xfrm>
            <a:off x="10750049" y="5618988"/>
            <a:ext cx="826255" cy="155448"/>
          </a:xfrm>
          <a:prstGeom prst="rect">
            <a:avLst/>
          </a:prstGeom>
          <a:solidFill>
            <a:srgbClr val="C00000"/>
          </a:solidFill>
          <a:ln/>
        </p:spPr>
      </p:sp>
      <p:sp>
        <p:nvSpPr>
          <p:cNvPr id="219" name="Text 217"/>
          <p:cNvSpPr/>
          <p:nvPr/>
        </p:nvSpPr>
        <p:spPr>
          <a:xfrm>
            <a:off x="10750049" y="5618988"/>
            <a:ext cx="826255"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35%</a:t>
            </a:r>
            <a:endParaRPr lang="en-US" sz="750" dirty="0"/>
          </a:p>
        </p:txBody>
      </p:sp>
      <p:sp>
        <p:nvSpPr>
          <p:cNvPr id="220" name="Text 218"/>
          <p:cNvSpPr/>
          <p:nvPr/>
        </p:nvSpPr>
        <p:spPr>
          <a:xfrm>
            <a:off x="8394192" y="5870448"/>
            <a:ext cx="768096"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Very Low</a:t>
            </a:r>
            <a:endParaRPr lang="en-US" sz="850" dirty="0"/>
          </a:p>
        </p:txBody>
      </p:sp>
      <p:sp>
        <p:nvSpPr>
          <p:cNvPr id="221" name="Shape 219"/>
          <p:cNvSpPr/>
          <p:nvPr/>
        </p:nvSpPr>
        <p:spPr>
          <a:xfrm>
            <a:off x="9217152" y="5911596"/>
            <a:ext cx="367869" cy="155448"/>
          </a:xfrm>
          <a:prstGeom prst="rect">
            <a:avLst/>
          </a:prstGeom>
          <a:solidFill>
            <a:srgbClr val="1E8E86"/>
          </a:solidFill>
          <a:ln/>
        </p:spPr>
      </p:sp>
      <p:sp>
        <p:nvSpPr>
          <p:cNvPr id="222" name="Text 220"/>
          <p:cNvSpPr/>
          <p:nvPr/>
        </p:nvSpPr>
        <p:spPr>
          <a:xfrm>
            <a:off x="9217152" y="5911596"/>
            <a:ext cx="367869"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16%</a:t>
            </a:r>
            <a:endParaRPr lang="en-US" sz="750" dirty="0"/>
          </a:p>
        </p:txBody>
      </p:sp>
      <p:sp>
        <p:nvSpPr>
          <p:cNvPr id="223" name="Shape 221"/>
          <p:cNvSpPr/>
          <p:nvPr/>
        </p:nvSpPr>
        <p:spPr>
          <a:xfrm>
            <a:off x="9585021" y="5911596"/>
            <a:ext cx="1824323" cy="155448"/>
          </a:xfrm>
          <a:prstGeom prst="rect">
            <a:avLst/>
          </a:prstGeom>
          <a:solidFill>
            <a:srgbClr val="8DA0B8"/>
          </a:solidFill>
          <a:ln/>
        </p:spPr>
      </p:sp>
      <p:sp>
        <p:nvSpPr>
          <p:cNvPr id="224" name="Text 222"/>
          <p:cNvSpPr/>
          <p:nvPr/>
        </p:nvSpPr>
        <p:spPr>
          <a:xfrm>
            <a:off x="9585021" y="5911596"/>
            <a:ext cx="1824323"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Graphik TH" pitchFamily="34" charset="0"/>
                <a:ea typeface="Graphik TH" pitchFamily="34" charset="-122"/>
                <a:cs typeface="Graphik TH" pitchFamily="34" charset="-120"/>
              </a:rPr>
              <a:t>77%</a:t>
            </a:r>
            <a:endParaRPr lang="en-US" sz="750" dirty="0"/>
          </a:p>
        </p:txBody>
      </p:sp>
      <p:sp>
        <p:nvSpPr>
          <p:cNvPr id="225" name="Shape 223"/>
          <p:cNvSpPr/>
          <p:nvPr/>
        </p:nvSpPr>
        <p:spPr>
          <a:xfrm>
            <a:off x="11409344" y="5911596"/>
            <a:ext cx="166960" cy="155448"/>
          </a:xfrm>
          <a:prstGeom prst="rect">
            <a:avLst/>
          </a:prstGeom>
          <a:solidFill>
            <a:srgbClr val="C00000"/>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Score confidence : least reliable scores, largest balances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*Every Medium and Low Confidence cell here has no Save Max feed, so confidence appears to track data availability.</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Base 320,109   ·   High 41.5% of customers / 61.6% of balance   ·   Medium 55.7% / 29.4%   ·   Low 2.8% / 8.9%</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Low Confidence is 2.8% of customers but THB 489.9m — an average of THB 54,539, twice the High Confidence average.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1E8E86"/>
                </a:solidFill>
                <a:latin typeface="Graphik TH" pitchFamily="34" charset="0"/>
                <a:ea typeface="Graphik TH" pitchFamily="34" charset="-122"/>
                <a:cs typeface="Graphik TH" pitchFamily="34" charset="-120"/>
              </a:rPr>
              <a:t>41.5%</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High confidence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61.6% of balance · avg THB 25,414</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8DA0B8"/>
                </a:solidFill>
                <a:latin typeface="Graphik TH" pitchFamily="34" charset="0"/>
                <a:ea typeface="Graphik TH" pitchFamily="34" charset="-122"/>
                <a:cs typeface="Graphik TH" pitchFamily="34" charset="-120"/>
              </a:rPr>
              <a:t>55.7%</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Medium confidence</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29.4% of balance · avg THB 9,040</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2.8%</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Low confidence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8.9% of balance · avg THB 54,539</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489.9m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on Low Confidence scores</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the largest average balance</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Coverage and balance by confidence</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in THB m · average balance per customer in THB</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9808" y="3529584"/>
          <a:ext cx="6281928" cy="914400"/>
        </p:xfrm>
        <a:graphic>
          <a:graphicData uri="http://schemas.openxmlformats.org/drawingml/2006/table">
            <a:tbl>
              <a:tblPr/>
              <a:tblGrid>
                <a:gridCol w="1051560"/>
                <a:gridCol w="896112"/>
                <a:gridCol w="713232"/>
                <a:gridCol w="868680"/>
                <a:gridCol w="713232"/>
                <a:gridCol w="1005840"/>
                <a:gridCol w="1033272"/>
              </a:tblGrid>
              <a:tr h="237744">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Confidence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Customers</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 base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Prior</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 book</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Avg bal</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Change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7432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High</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132,837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41.5%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3376.0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61.6%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25,414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+124.9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Medium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178,290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55.7%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1611.7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29.4%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8DA0B8"/>
                          </a:solidFill>
                          <a:latin typeface="Graphik TH" pitchFamily="34" charset="0"/>
                          <a:ea typeface="Graphik TH" pitchFamily="34" charset="-122"/>
                          <a:cs typeface="Graphik TH" pitchFamily="34" charset="-120"/>
                        </a:rPr>
                        <a:t>9,040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+62.7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Low</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8,982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489.9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8.9%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C00000"/>
                          </a:solidFill>
                          <a:latin typeface="Graphik TH" pitchFamily="34" charset="0"/>
                          <a:ea typeface="Graphik TH" pitchFamily="34" charset="-122"/>
                          <a:cs typeface="Graphik TH" pitchFamily="34" charset="-120"/>
                        </a:rPr>
                        <a:t>54,539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+23.5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All</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320,109</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100.0%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5477.5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100.0%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17,111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+211.1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26" name="Text 23"/>
          <p:cNvSpPr/>
          <p:nvPr/>
        </p:nvSpPr>
        <p:spPr>
          <a:xfrm>
            <a:off x="786384" y="4864608"/>
            <a:ext cx="6217920" cy="201168"/>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Low Confidence holds the largest accounts, not the smallest.</a:t>
            </a:r>
            <a:endParaRPr lang="en-US" sz="900" dirty="0"/>
          </a:p>
        </p:txBody>
      </p:sp>
      <p:sp>
        <p:nvSpPr>
          <p:cNvPr id="27" name="Shape 24"/>
          <p:cNvSpPr/>
          <p:nvPr/>
        </p:nvSpPr>
        <p:spPr>
          <a:xfrm>
            <a:off x="7479792" y="2798064"/>
            <a:ext cx="4325112" cy="2322576"/>
          </a:xfrm>
          <a:prstGeom prst="roundRect">
            <a:avLst>
              <a:gd name="adj" fmla="val 3543"/>
            </a:avLst>
          </a:prstGeom>
          <a:solidFill>
            <a:srgbClr val="F1F4F9"/>
          </a:solidFill>
          <a:ln/>
        </p:spPr>
      </p:sp>
      <p:sp>
        <p:nvSpPr>
          <p:cNvPr id="28" name="Text 25"/>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Average balance per customer</a:t>
            </a:r>
            <a:endParaRPr lang="en-US" sz="1400" dirty="0"/>
          </a:p>
        </p:txBody>
      </p:sp>
      <p:sp>
        <p:nvSpPr>
          <p:cNvPr id="29" name="Text 26"/>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THB, prior period</a:t>
            </a:r>
            <a:endParaRPr lang="en-US" sz="950" dirty="0"/>
          </a:p>
        </p:txBody>
      </p:sp>
      <p:sp>
        <p:nvSpPr>
          <p:cNvPr id="30" name="Text 27"/>
          <p:cNvSpPr/>
          <p:nvPr/>
        </p:nvSpPr>
        <p:spPr>
          <a:xfrm>
            <a:off x="7735824" y="3511296"/>
            <a:ext cx="105156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High</a:t>
            </a:r>
            <a:endParaRPr lang="en-US" sz="1050" dirty="0"/>
          </a:p>
        </p:txBody>
      </p:sp>
      <p:sp>
        <p:nvSpPr>
          <p:cNvPr id="31" name="Shape 28"/>
          <p:cNvSpPr/>
          <p:nvPr/>
        </p:nvSpPr>
        <p:spPr>
          <a:xfrm>
            <a:off x="8833104" y="3557016"/>
            <a:ext cx="660446" cy="182880"/>
          </a:xfrm>
          <a:prstGeom prst="roundRect">
            <a:avLst>
              <a:gd name="adj" fmla="val 15000"/>
            </a:avLst>
          </a:prstGeom>
          <a:solidFill>
            <a:srgbClr val="1E8E86"/>
          </a:solidFill>
          <a:ln/>
        </p:spPr>
      </p:sp>
      <p:sp>
        <p:nvSpPr>
          <p:cNvPr id="32" name="Text 29"/>
          <p:cNvSpPr/>
          <p:nvPr/>
        </p:nvSpPr>
        <p:spPr>
          <a:xfrm>
            <a:off x="10296144" y="3511296"/>
            <a:ext cx="1252728" cy="274320"/>
          </a:xfrm>
          <a:prstGeom prst="rect">
            <a:avLst/>
          </a:prstGeom>
          <a:noFill/>
          <a:ln/>
        </p:spPr>
        <p:txBody>
          <a:bodyPr wrap="square" lIns="0" tIns="0" rIns="0" bIns="0" rtlCol="0" anchor="ctr"/>
          <a:lstStyle/>
          <a:p>
            <a:pPr algn="r" indent="0" marL="0">
              <a:buNone/>
            </a:pPr>
            <a:r>
              <a:rPr lang="en-US" sz="1050" b="1" dirty="0">
                <a:solidFill>
                  <a:srgbClr val="1E8E86"/>
                </a:solidFill>
                <a:latin typeface="Graphik TH" pitchFamily="34" charset="0"/>
                <a:ea typeface="Graphik TH" pitchFamily="34" charset="-122"/>
                <a:cs typeface="Graphik TH" pitchFamily="34" charset="-120"/>
              </a:rPr>
              <a:t>THB 25,414</a:t>
            </a:r>
            <a:endParaRPr lang="en-US" sz="1050" dirty="0"/>
          </a:p>
        </p:txBody>
      </p:sp>
      <p:sp>
        <p:nvSpPr>
          <p:cNvPr id="33" name="Text 30"/>
          <p:cNvSpPr/>
          <p:nvPr/>
        </p:nvSpPr>
        <p:spPr>
          <a:xfrm>
            <a:off x="7735824" y="3840480"/>
            <a:ext cx="105156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Medium</a:t>
            </a:r>
            <a:endParaRPr lang="en-US" sz="1050" dirty="0"/>
          </a:p>
        </p:txBody>
      </p:sp>
      <p:sp>
        <p:nvSpPr>
          <p:cNvPr id="34" name="Shape 31"/>
          <p:cNvSpPr/>
          <p:nvPr/>
        </p:nvSpPr>
        <p:spPr>
          <a:xfrm>
            <a:off x="8833104" y="3886200"/>
            <a:ext cx="234911" cy="182880"/>
          </a:xfrm>
          <a:prstGeom prst="roundRect">
            <a:avLst>
              <a:gd name="adj" fmla="val 15000"/>
            </a:avLst>
          </a:prstGeom>
          <a:solidFill>
            <a:srgbClr val="8DA0B8"/>
          </a:solidFill>
          <a:ln/>
        </p:spPr>
      </p:sp>
      <p:sp>
        <p:nvSpPr>
          <p:cNvPr id="35" name="Text 32"/>
          <p:cNvSpPr/>
          <p:nvPr/>
        </p:nvSpPr>
        <p:spPr>
          <a:xfrm>
            <a:off x="10296144" y="3840480"/>
            <a:ext cx="1252728" cy="274320"/>
          </a:xfrm>
          <a:prstGeom prst="rect">
            <a:avLst/>
          </a:prstGeom>
          <a:noFill/>
          <a:ln/>
        </p:spPr>
        <p:txBody>
          <a:bodyPr wrap="square" lIns="0" tIns="0" rIns="0" bIns="0" rtlCol="0" anchor="ctr"/>
          <a:lstStyle/>
          <a:p>
            <a:pPr algn="r" indent="0" marL="0">
              <a:buNone/>
            </a:pPr>
            <a:r>
              <a:rPr lang="en-US" sz="1050" b="1" dirty="0">
                <a:solidFill>
                  <a:srgbClr val="8DA0B8"/>
                </a:solidFill>
                <a:latin typeface="Graphik TH" pitchFamily="34" charset="0"/>
                <a:ea typeface="Graphik TH" pitchFamily="34" charset="-122"/>
                <a:cs typeface="Graphik TH" pitchFamily="34" charset="-120"/>
              </a:rPr>
              <a:t>THB 9,040</a:t>
            </a:r>
            <a:endParaRPr lang="en-US" sz="1050" dirty="0"/>
          </a:p>
        </p:txBody>
      </p:sp>
      <p:sp>
        <p:nvSpPr>
          <p:cNvPr id="36" name="Text 33"/>
          <p:cNvSpPr/>
          <p:nvPr/>
        </p:nvSpPr>
        <p:spPr>
          <a:xfrm>
            <a:off x="7735824" y="4169664"/>
            <a:ext cx="105156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Low</a:t>
            </a:r>
            <a:endParaRPr lang="en-US" sz="1050" dirty="0"/>
          </a:p>
        </p:txBody>
      </p:sp>
      <p:sp>
        <p:nvSpPr>
          <p:cNvPr id="37" name="Shape 34"/>
          <p:cNvSpPr/>
          <p:nvPr/>
        </p:nvSpPr>
        <p:spPr>
          <a:xfrm>
            <a:off x="8833104" y="4215384"/>
            <a:ext cx="1417320" cy="182880"/>
          </a:xfrm>
          <a:prstGeom prst="roundRect">
            <a:avLst>
              <a:gd name="adj" fmla="val 15000"/>
            </a:avLst>
          </a:prstGeom>
          <a:solidFill>
            <a:srgbClr val="C00000"/>
          </a:solidFill>
          <a:ln/>
        </p:spPr>
      </p:sp>
      <p:sp>
        <p:nvSpPr>
          <p:cNvPr id="38" name="Text 35"/>
          <p:cNvSpPr/>
          <p:nvPr/>
        </p:nvSpPr>
        <p:spPr>
          <a:xfrm>
            <a:off x="10296144" y="4169664"/>
            <a:ext cx="1252728" cy="274320"/>
          </a:xfrm>
          <a:prstGeom prst="rect">
            <a:avLst/>
          </a:prstGeom>
          <a:noFill/>
          <a:ln/>
        </p:spPr>
        <p:txBody>
          <a:bodyPr wrap="square" lIns="0" tIns="0" rIns="0" bIns="0" rtlCol="0" anchor="ctr"/>
          <a:lstStyle/>
          <a:p>
            <a:pPr algn="r" indent="0" marL="0">
              <a:buNone/>
            </a:pPr>
            <a:r>
              <a:rPr lang="en-US" sz="1050" b="1" dirty="0">
                <a:solidFill>
                  <a:srgbClr val="C00000"/>
                </a:solidFill>
                <a:latin typeface="Graphik TH" pitchFamily="34" charset="0"/>
                <a:ea typeface="Graphik TH" pitchFamily="34" charset="-122"/>
                <a:cs typeface="Graphik TH" pitchFamily="34" charset="-120"/>
              </a:rPr>
              <a:t>THB 54,539</a:t>
            </a:r>
            <a:endParaRPr lang="en-US" sz="1050" dirty="0"/>
          </a:p>
        </p:txBody>
      </p:sp>
      <p:sp>
        <p:nvSpPr>
          <p:cNvPr id="39" name="Shape 36"/>
          <p:cNvSpPr/>
          <p:nvPr/>
        </p:nvSpPr>
        <p:spPr>
          <a:xfrm>
            <a:off x="7735824" y="4553712"/>
            <a:ext cx="3813048" cy="512064"/>
          </a:xfrm>
          <a:prstGeom prst="roundRect">
            <a:avLst>
              <a:gd name="adj" fmla="val 16071"/>
            </a:avLst>
          </a:prstGeom>
          <a:solidFill>
            <a:srgbClr val="FBF0E6"/>
          </a:solidFill>
          <a:ln/>
        </p:spPr>
      </p:sp>
      <p:sp>
        <p:nvSpPr>
          <p:cNvPr id="40" name="Text 37"/>
          <p:cNvSpPr/>
          <p:nvPr/>
        </p:nvSpPr>
        <p:spPr>
          <a:xfrm>
            <a:off x="7882128" y="4553712"/>
            <a:ext cx="3520440" cy="51206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Low Confidence decreases on 41.5% of customers but only 13.8% of its balance — the big accounts sit still.</a:t>
            </a:r>
            <a:endParaRPr lang="en-US" sz="950" dirty="0"/>
          </a:p>
        </p:txBody>
      </p:sp>
      <p:sp>
        <p:nvSpPr>
          <p:cNvPr id="41" name="Shape 38"/>
          <p:cNvSpPr/>
          <p:nvPr/>
        </p:nvSpPr>
        <p:spPr>
          <a:xfrm>
            <a:off x="530352" y="5285232"/>
            <a:ext cx="11274552" cy="786384"/>
          </a:xfrm>
          <a:prstGeom prst="roundRect">
            <a:avLst>
              <a:gd name="adj" fmla="val 10465"/>
            </a:avLst>
          </a:prstGeom>
          <a:solidFill>
            <a:srgbClr val="FBF0E6"/>
          </a:solidFill>
          <a:ln/>
        </p:spPr>
      </p:sp>
      <p:sp>
        <p:nvSpPr>
          <p:cNvPr id="42" name="Text 39"/>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THB 489.9m sits on the scores the framework trusts least</a:t>
            </a:r>
            <a:pPr indent="0" marL="0">
              <a:buNone/>
            </a:pPr>
            <a:r>
              <a:rPr lang="en-US" sz="1100" dirty="0">
                <a:solidFill>
                  <a:srgbClr val="16233D"/>
                </a:solidFill>
                <a:latin typeface="Graphik TH" pitchFamily="34" charset="0"/>
                <a:ea typeface="Graphik TH" pitchFamily="34" charset="-122"/>
                <a:cs typeface="Graphik TH" pitchFamily="34" charset="-120"/>
              </a:rPr>
              <a:t>  —  Low Confidence averages THB 54,539 per customer against THB 25,414 for High. Confidence and balance run in opposite directions, so a score-quality gate applied on headcount would leave the largest exposures unreviewed.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Deposit Stickiness Framework</dc:title>
  <dc:subject>PptxGenJS Presentation</dc:subject>
  <dc:creator>Deposit Analytics</dc:creator>
  <cp:lastModifiedBy>Deposit Analytics</cp:lastModifiedBy>
  <cp:revision>1</cp:revision>
  <dcterms:created xsi:type="dcterms:W3CDTF">2026-09-28T10:49:48Z</dcterms:created>
  <dcterms:modified xsi:type="dcterms:W3CDTF">2026-09-28T10:49:48Z</dcterms:modified>
</cp:coreProperties>
</file>
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Stickiness is a behavioural score built from four components and is deliberately independent of deposit size. Unavailable components are re-weighted so scores stay comparable. Rate sensitivity is kept as a separate score until post-maturity runoff validates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Rate sensitivity is a psychographic proxy inferred from where customers park balance relative to the promotional caps. Promo dependency is an exposure overlay, not a driver of the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At-risk is a heuristic definition before maturity. Validate against actual post-maturity runoff and recalibrate the cut-offs.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scores run 0-100 and share the same five cut-off bands, so they can be crossed directly in the decision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examples, illustrative. Example 1 parks exactly at both caps: 20k in Save Max and 1.0m in Save More, so cap precision is 2/2 and nothing sits above the caps - rate sensitivity 100, Very High. Example 2 holds 100k in Save Max and 1.5m in Save More, so neither pocket is near its cap and 580k of the 1.6m promotional balance is above cap (36%) - rate sensitivity 19, Very Low. Stickiness scores 86 and 91 respectively, both Very High, so the stickiness score alone would not separate these two customers. This is the argument for keeping rate sensitivity as a second, independent lens rather than folding it into the stickiness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Cohort totals: 47,184 customers and THB 685,023,126 of balance; 477,654,816 at risk. Amber column headers mark the High and Very High rate-sensitivity segments. Balance matrix is shown in THB millions.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base 1,382,875; 320,109 hold a balance (23%). Low + Very Low stickiness is 1,122,866 of the full base (81%) but only 67,895 of the funded base (21%). Funded share by tier: Very High 99%, Very Low 3%. High + Very High rate sensitivity is 24,971 in both grids - every rate-sensitive customer holds a balance, which follows from the score being computed off balance placement. The balance&gt;0 grid fills the TBD left open in the source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Total funded balance THB 5,477,500,353 across 320,109 customers, average THB 17,111. Rate-sensitive balance THB 3,830,436,985 (70%) held by only 24,971 customers (8% of the funded base). Save Max is THB 685,023,126, just 13% of the book, so rate-sensitivity exposure extends well beyond the maturing product. Balance concentrates hard: High and Very High stickiness hold 96% of balance on 49% of funded customers. Only 4 customers land in the Medium rate-sensitivity band, so the score is effectively binary - worth revisiting when the cut-offs are recalibrated after maturity.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Funded base 320,109 customers holding THB 5,477,500,353. Low stickiness (Low + Very Low) is 67,895 customers, 21.2% of the funded base, but only THB 16,672,796 - 0.3% of the book. High rate sensitivity (High + Very High) is 24,971 customers, 7.8%, holding THB 3,830,436,985 - 70% of the book. Widening the stickiness lens to score &lt; 60 adds the Medium band: 164,321 customers (51.3%) and THB 228,061,333 (4.2%). The overlap of the two lenses - stickiness &lt; 60 and rate sensitivity &gt;= 60 - is 370 customers and THB 99,437,034, the priority watchlist. The remaining 97% of rate-sensitive balance sits with customers who currently score High or Very High stickiness, which is exactly the stickiness maturity will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Cohort: 72,874 customers holding Save Max in the prior period. 6,781 of them (9.3%) now show zero Save Max balance. Save Max fell from THB 992,865,806 to THB 784,226,953, down 21.0%, of which THB 128,954,934 came from movers zeroing out and THB 79,683,919 from non-movers trimming. Total deposit balance nevertheless rose from THB 4,128,011,139 to THB 4,282,985,037, up 3.8%. Save Max fell from 24.1% to 18.3% of the book. Move rate is not monotonic in rate sensitivity: the High band moves at 49.5% against 12.8% for Very High, so the current cut-offs do not rank runoff risk correctly and should be recalibrated on this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Movers split sharply on the Save More flag. With Save More: 3,955 customers, THB 978,749,019 → THB 1,065,459,593, 108.9% retained. Without: 2,826 customers, THB 55,956,197 → THB 14,769,378, only 26.4% retained. Non-movers are stable either way: 105.8% with Save More and 98.2% without. Caveat on causality: Save More holders are also much larger balances, so part of the gap is cohort composition rather than the product itself. The actionable read is still that a second promotional pocket gives maturing Save Max money somewhere to go inside the bank - worth testing as a deliberate retention offer before the next maturity wave.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Deposit Stickiness : customer-level framework</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*Pre-maturity view · behavioural stickiness score, independent of deposit size.</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Deposit Stickiness Score  =  40% BP  +  25% FC  +  20% RI  +  15% DE</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Each component scores 0–100 and unavailable components are re-weighted, so every customer gets a comparable score.</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40%</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persistence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Avg balance: latest ÷ prior period</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25%</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Funding continuity</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 eligible days with balance ≥ THB100</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20%</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Recurring inflow</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 eligible months with inflow ≥ THB100</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15%</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Daily engagement</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Active txn days ÷ 20-day / 90-day target*</a:t>
            </a:r>
            <a:endParaRPr lang="en-US" sz="950" dirty="0"/>
          </a:p>
        </p:txBody>
      </p:sp>
      <p:sp>
        <p:nvSpPr>
          <p:cNvPr id="22" name="Shape 20"/>
          <p:cNvSpPr/>
          <p:nvPr/>
        </p:nvSpPr>
        <p:spPr>
          <a:xfrm>
            <a:off x="530352" y="2798064"/>
            <a:ext cx="6720840" cy="3017520"/>
          </a:xfrm>
          <a:prstGeom prst="roundRect">
            <a:avLst>
              <a:gd name="adj" fmla="val 2727"/>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How the score works</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Component weights, and how balance persistence adapts to tenure</a:t>
            </a:r>
            <a:endParaRPr lang="en-US" sz="950" dirty="0"/>
          </a:p>
        </p:txBody>
      </p:sp>
      <p:sp>
        <p:nvSpPr>
          <p:cNvPr id="25" name="Shape 23"/>
          <p:cNvSpPr/>
          <p:nvPr/>
        </p:nvSpPr>
        <p:spPr>
          <a:xfrm>
            <a:off x="786384" y="3474720"/>
            <a:ext cx="2587752" cy="365760"/>
          </a:xfrm>
          <a:prstGeom prst="roundRect">
            <a:avLst>
              <a:gd name="adj" fmla="val 12500"/>
            </a:avLst>
          </a:prstGeom>
          <a:solidFill>
            <a:srgbClr val="165A73"/>
          </a:solidFill>
          <a:ln/>
        </p:spPr>
      </p:sp>
      <p:sp>
        <p:nvSpPr>
          <p:cNvPr id="26" name="Text 24"/>
          <p:cNvSpPr/>
          <p:nvPr/>
        </p:nvSpPr>
        <p:spPr>
          <a:xfrm>
            <a:off x="786384" y="3474720"/>
            <a:ext cx="2587752"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Graphik TH" pitchFamily="34" charset="0"/>
                <a:ea typeface="Graphik TH" pitchFamily="34" charset="-122"/>
                <a:cs typeface="Graphik TH" pitchFamily="34" charset="-120"/>
              </a:rPr>
              <a:t>40%</a:t>
            </a:r>
            <a:endParaRPr lang="en-US" sz="1100" dirty="0"/>
          </a:p>
        </p:txBody>
      </p:sp>
      <p:sp>
        <p:nvSpPr>
          <p:cNvPr id="27" name="Shape 25"/>
          <p:cNvSpPr/>
          <p:nvPr/>
        </p:nvSpPr>
        <p:spPr>
          <a:xfrm>
            <a:off x="3410712" y="3474720"/>
            <a:ext cx="1618488" cy="365760"/>
          </a:xfrm>
          <a:prstGeom prst="roundRect">
            <a:avLst>
              <a:gd name="adj" fmla="val 12500"/>
            </a:avLst>
          </a:prstGeom>
          <a:solidFill>
            <a:srgbClr val="1E8E86"/>
          </a:solidFill>
          <a:ln/>
        </p:spPr>
      </p:sp>
      <p:sp>
        <p:nvSpPr>
          <p:cNvPr id="28" name="Text 26"/>
          <p:cNvSpPr/>
          <p:nvPr/>
        </p:nvSpPr>
        <p:spPr>
          <a:xfrm>
            <a:off x="3410712" y="3474720"/>
            <a:ext cx="1618488"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Graphik TH" pitchFamily="34" charset="0"/>
                <a:ea typeface="Graphik TH" pitchFamily="34" charset="-122"/>
                <a:cs typeface="Graphik TH" pitchFamily="34" charset="-120"/>
              </a:rPr>
              <a:t>25%</a:t>
            </a:r>
            <a:endParaRPr lang="en-US" sz="1100" dirty="0"/>
          </a:p>
        </p:txBody>
      </p:sp>
      <p:sp>
        <p:nvSpPr>
          <p:cNvPr id="29" name="Shape 27"/>
          <p:cNvSpPr/>
          <p:nvPr/>
        </p:nvSpPr>
        <p:spPr>
          <a:xfrm>
            <a:off x="5065776" y="3474720"/>
            <a:ext cx="1298448" cy="365760"/>
          </a:xfrm>
          <a:prstGeom prst="roundRect">
            <a:avLst>
              <a:gd name="adj" fmla="val 12500"/>
            </a:avLst>
          </a:prstGeom>
          <a:solidFill>
            <a:srgbClr val="3FB89F"/>
          </a:solidFill>
          <a:ln/>
        </p:spPr>
      </p:sp>
      <p:sp>
        <p:nvSpPr>
          <p:cNvPr id="30" name="Text 28"/>
          <p:cNvSpPr/>
          <p:nvPr/>
        </p:nvSpPr>
        <p:spPr>
          <a:xfrm>
            <a:off x="5065776" y="3474720"/>
            <a:ext cx="1298448"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Graphik TH" pitchFamily="34" charset="0"/>
                <a:ea typeface="Graphik TH" pitchFamily="34" charset="-122"/>
                <a:cs typeface="Graphik TH" pitchFamily="34" charset="-120"/>
              </a:rPr>
              <a:t>20%</a:t>
            </a:r>
            <a:endParaRPr lang="en-US" sz="1100" dirty="0"/>
          </a:p>
        </p:txBody>
      </p:sp>
      <p:sp>
        <p:nvSpPr>
          <p:cNvPr id="31" name="Shape 29"/>
          <p:cNvSpPr/>
          <p:nvPr/>
        </p:nvSpPr>
        <p:spPr>
          <a:xfrm>
            <a:off x="6400800" y="3474720"/>
            <a:ext cx="969264" cy="365760"/>
          </a:xfrm>
          <a:prstGeom prst="roundRect">
            <a:avLst>
              <a:gd name="adj" fmla="val 12500"/>
            </a:avLst>
          </a:prstGeom>
          <a:solidFill>
            <a:srgbClr val="E9A03B"/>
          </a:solidFill>
          <a:ln/>
        </p:spPr>
      </p:sp>
      <p:sp>
        <p:nvSpPr>
          <p:cNvPr id="32" name="Text 30"/>
          <p:cNvSpPr/>
          <p:nvPr/>
        </p:nvSpPr>
        <p:spPr>
          <a:xfrm>
            <a:off x="6400800" y="3474720"/>
            <a:ext cx="969264"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Graphik TH" pitchFamily="34" charset="0"/>
                <a:ea typeface="Graphik TH" pitchFamily="34" charset="-122"/>
                <a:cs typeface="Graphik TH" pitchFamily="34" charset="-120"/>
              </a:rPr>
              <a:t>15%</a:t>
            </a:r>
            <a:endParaRPr lang="en-US" sz="1100" dirty="0"/>
          </a:p>
        </p:txBody>
      </p:sp>
      <p:sp>
        <p:nvSpPr>
          <p:cNvPr id="33" name="Text 31"/>
          <p:cNvSpPr/>
          <p:nvPr/>
        </p:nvSpPr>
        <p:spPr>
          <a:xfrm>
            <a:off x="786384" y="4023360"/>
            <a:ext cx="6217920" cy="256032"/>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Balance persistence adapts to tenure</a:t>
            </a:r>
            <a:endParaRPr lang="en-US" sz="1100" dirty="0"/>
          </a:p>
        </p:txBody>
      </p:sp>
      <p:sp>
        <p:nvSpPr>
          <p:cNvPr id="34" name="Shape 32"/>
          <p:cNvSpPr/>
          <p:nvPr/>
        </p:nvSpPr>
        <p:spPr>
          <a:xfrm>
            <a:off x="786384" y="4334256"/>
            <a:ext cx="2011680" cy="658368"/>
          </a:xfrm>
          <a:prstGeom prst="roundRect">
            <a:avLst>
              <a:gd name="adj" fmla="val 12500"/>
            </a:avLst>
          </a:prstGeom>
          <a:solidFill>
            <a:srgbClr val="FFFFFF"/>
          </a:solidFill>
          <a:ln/>
        </p:spPr>
      </p:sp>
      <p:sp>
        <p:nvSpPr>
          <p:cNvPr id="35" name="Text 33"/>
          <p:cNvSpPr/>
          <p:nvPr/>
        </p:nvSpPr>
        <p:spPr>
          <a:xfrm>
            <a:off x="950976" y="4407408"/>
            <a:ext cx="1737360"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 60 days</a:t>
            </a:r>
            <a:endParaRPr lang="en-US" sz="1100" dirty="0"/>
          </a:p>
        </p:txBody>
      </p:sp>
      <p:sp>
        <p:nvSpPr>
          <p:cNvPr id="36" name="Text 34"/>
          <p:cNvSpPr/>
          <p:nvPr/>
        </p:nvSpPr>
        <p:spPr>
          <a:xfrm>
            <a:off x="950976" y="4626864"/>
            <a:ext cx="1737360" cy="237744"/>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30D vs 30D</a:t>
            </a:r>
            <a:endParaRPr lang="en-US" sz="1000" dirty="0"/>
          </a:p>
        </p:txBody>
      </p:sp>
      <p:sp>
        <p:nvSpPr>
          <p:cNvPr id="37" name="Shape 35"/>
          <p:cNvSpPr/>
          <p:nvPr/>
        </p:nvSpPr>
        <p:spPr>
          <a:xfrm>
            <a:off x="2935224" y="4334256"/>
            <a:ext cx="2011680" cy="658368"/>
          </a:xfrm>
          <a:prstGeom prst="roundRect">
            <a:avLst>
              <a:gd name="adj" fmla="val 12500"/>
            </a:avLst>
          </a:prstGeom>
          <a:solidFill>
            <a:srgbClr val="FFFFFF"/>
          </a:solidFill>
          <a:ln/>
        </p:spPr>
      </p:sp>
      <p:sp>
        <p:nvSpPr>
          <p:cNvPr id="38" name="Text 36"/>
          <p:cNvSpPr/>
          <p:nvPr/>
        </p:nvSpPr>
        <p:spPr>
          <a:xfrm>
            <a:off x="3099816" y="4407408"/>
            <a:ext cx="1737360"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30–59 days</a:t>
            </a:r>
            <a:endParaRPr lang="en-US" sz="1100" dirty="0"/>
          </a:p>
        </p:txBody>
      </p:sp>
      <p:sp>
        <p:nvSpPr>
          <p:cNvPr id="39" name="Text 37"/>
          <p:cNvSpPr/>
          <p:nvPr/>
        </p:nvSpPr>
        <p:spPr>
          <a:xfrm>
            <a:off x="3099816" y="4626864"/>
            <a:ext cx="1737360" cy="237744"/>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15D vs 15D</a:t>
            </a:r>
            <a:endParaRPr lang="en-US" sz="1000" dirty="0"/>
          </a:p>
        </p:txBody>
      </p:sp>
      <p:sp>
        <p:nvSpPr>
          <p:cNvPr id="40" name="Shape 38"/>
          <p:cNvSpPr/>
          <p:nvPr/>
        </p:nvSpPr>
        <p:spPr>
          <a:xfrm>
            <a:off x="5084064" y="4334256"/>
            <a:ext cx="2011680" cy="658368"/>
          </a:xfrm>
          <a:prstGeom prst="roundRect">
            <a:avLst>
              <a:gd name="adj" fmla="val 12500"/>
            </a:avLst>
          </a:prstGeom>
          <a:solidFill>
            <a:srgbClr val="FFFFFF"/>
          </a:solidFill>
          <a:ln/>
        </p:spPr>
      </p:sp>
      <p:sp>
        <p:nvSpPr>
          <p:cNvPr id="41" name="Text 39"/>
          <p:cNvSpPr/>
          <p:nvPr/>
        </p:nvSpPr>
        <p:spPr>
          <a:xfrm>
            <a:off x="5248656" y="4407408"/>
            <a:ext cx="1737360"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14–29 days</a:t>
            </a:r>
            <a:endParaRPr lang="en-US" sz="1100" dirty="0"/>
          </a:p>
        </p:txBody>
      </p:sp>
      <p:sp>
        <p:nvSpPr>
          <p:cNvPr id="42" name="Text 40"/>
          <p:cNvSpPr/>
          <p:nvPr/>
        </p:nvSpPr>
        <p:spPr>
          <a:xfrm>
            <a:off x="5248656" y="4626864"/>
            <a:ext cx="1737360" cy="237744"/>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7D vs 7D</a:t>
            </a:r>
            <a:endParaRPr lang="en-US" sz="1000" dirty="0"/>
          </a:p>
        </p:txBody>
      </p:sp>
      <p:sp>
        <p:nvSpPr>
          <p:cNvPr id="43" name="Text 41"/>
          <p:cNvSpPr/>
          <p:nvPr/>
        </p:nvSpPr>
        <p:spPr>
          <a:xfrm>
            <a:off x="786384" y="5138928"/>
            <a:ext cx="6217920" cy="457200"/>
          </a:xfrm>
          <a:prstGeom prst="rect">
            <a:avLst/>
          </a:prstGeom>
          <a:noFill/>
          <a:ln/>
        </p:spPr>
        <p:txBody>
          <a:bodyPr wrap="square" lIns="0" tIns="0" rIns="0" bIns="0" rtlCol="0" anchor="ctr"/>
          <a:lstStyle/>
          <a:p>
            <a:pPr indent="0" marL="0">
              <a:buNone/>
            </a:pPr>
            <a:r>
              <a:rPr lang="en-US" sz="950" i="1" dirty="0">
                <a:solidFill>
                  <a:srgbClr val="6B7A90"/>
                </a:solidFill>
                <a:latin typeface="Graphik TH" pitchFamily="34" charset="0"/>
                <a:ea typeface="Graphik TH" pitchFamily="34" charset="-122"/>
                <a:cs typeface="Graphik TH" pitchFamily="34" charset="-120"/>
              </a:rPr>
              <a:t>BP = balance persistence · FC = funding continuity · RI = recurring inflow · DE = daily engagement</a:t>
            </a:r>
            <a:endParaRPr lang="en-US" sz="950" dirty="0"/>
          </a:p>
        </p:txBody>
      </p:sp>
      <p:sp>
        <p:nvSpPr>
          <p:cNvPr id="44" name="Shape 42"/>
          <p:cNvSpPr/>
          <p:nvPr/>
        </p:nvSpPr>
        <p:spPr>
          <a:xfrm>
            <a:off x="7479792" y="2798064"/>
            <a:ext cx="4325112" cy="3017520"/>
          </a:xfrm>
          <a:prstGeom prst="roundRect">
            <a:avLst>
              <a:gd name="adj" fmla="val 2727"/>
            </a:avLst>
          </a:prstGeom>
          <a:solidFill>
            <a:srgbClr val="F1F4F9"/>
          </a:solidFill>
          <a:ln/>
        </p:spPr>
      </p:sp>
      <p:sp>
        <p:nvSpPr>
          <p:cNvPr id="45" name="Text 43"/>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Score cut-offs</a:t>
            </a:r>
            <a:endParaRPr lang="en-US" sz="1400" dirty="0"/>
          </a:p>
        </p:txBody>
      </p:sp>
      <p:sp>
        <p:nvSpPr>
          <p:cNvPr id="46" name="Text 44"/>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Initial score bands (0–100)</a:t>
            </a:r>
            <a:endParaRPr lang="en-US" sz="950" dirty="0"/>
          </a:p>
        </p:txBody>
      </p:sp>
      <p:sp>
        <p:nvSpPr>
          <p:cNvPr id="47" name="Shape 45"/>
          <p:cNvSpPr/>
          <p:nvPr/>
        </p:nvSpPr>
        <p:spPr>
          <a:xfrm>
            <a:off x="7735824" y="3493008"/>
            <a:ext cx="384048" cy="201168"/>
          </a:xfrm>
          <a:prstGeom prst="roundRect">
            <a:avLst>
              <a:gd name="adj" fmla="val 18182"/>
            </a:avLst>
          </a:prstGeom>
          <a:solidFill>
            <a:srgbClr val="165A73"/>
          </a:solidFill>
          <a:ln/>
        </p:spPr>
      </p:sp>
      <p:sp>
        <p:nvSpPr>
          <p:cNvPr id="48" name="Text 46"/>
          <p:cNvSpPr/>
          <p:nvPr/>
        </p:nvSpPr>
        <p:spPr>
          <a:xfrm>
            <a:off x="8247888" y="3456432"/>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80–100</a:t>
            </a:r>
            <a:endParaRPr lang="en-US" sz="1100" dirty="0"/>
          </a:p>
        </p:txBody>
      </p:sp>
      <p:sp>
        <p:nvSpPr>
          <p:cNvPr id="49" name="Text 47"/>
          <p:cNvSpPr/>
          <p:nvPr/>
        </p:nvSpPr>
        <p:spPr>
          <a:xfrm>
            <a:off x="9290304" y="3456432"/>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Very High</a:t>
            </a:r>
            <a:endParaRPr lang="en-US" sz="1100" dirty="0"/>
          </a:p>
        </p:txBody>
      </p:sp>
      <p:sp>
        <p:nvSpPr>
          <p:cNvPr id="50" name="Shape 48"/>
          <p:cNvSpPr/>
          <p:nvPr/>
        </p:nvSpPr>
        <p:spPr>
          <a:xfrm>
            <a:off x="7735824" y="3877056"/>
            <a:ext cx="384048" cy="201168"/>
          </a:xfrm>
          <a:prstGeom prst="roundRect">
            <a:avLst>
              <a:gd name="adj" fmla="val 18182"/>
            </a:avLst>
          </a:prstGeom>
          <a:solidFill>
            <a:srgbClr val="1E8E86"/>
          </a:solidFill>
          <a:ln/>
        </p:spPr>
      </p:sp>
      <p:sp>
        <p:nvSpPr>
          <p:cNvPr id="51" name="Text 49"/>
          <p:cNvSpPr/>
          <p:nvPr/>
        </p:nvSpPr>
        <p:spPr>
          <a:xfrm>
            <a:off x="8247888" y="3840480"/>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60–79</a:t>
            </a:r>
            <a:endParaRPr lang="en-US" sz="1100" dirty="0"/>
          </a:p>
        </p:txBody>
      </p:sp>
      <p:sp>
        <p:nvSpPr>
          <p:cNvPr id="52" name="Text 50"/>
          <p:cNvSpPr/>
          <p:nvPr/>
        </p:nvSpPr>
        <p:spPr>
          <a:xfrm>
            <a:off x="9290304" y="3840480"/>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High</a:t>
            </a:r>
            <a:endParaRPr lang="en-US" sz="1100" dirty="0"/>
          </a:p>
        </p:txBody>
      </p:sp>
      <p:sp>
        <p:nvSpPr>
          <p:cNvPr id="53" name="Shape 51"/>
          <p:cNvSpPr/>
          <p:nvPr/>
        </p:nvSpPr>
        <p:spPr>
          <a:xfrm>
            <a:off x="7735824" y="4261104"/>
            <a:ext cx="384048" cy="201168"/>
          </a:xfrm>
          <a:prstGeom prst="roundRect">
            <a:avLst>
              <a:gd name="adj" fmla="val 18182"/>
            </a:avLst>
          </a:prstGeom>
          <a:solidFill>
            <a:srgbClr val="3FB89F"/>
          </a:solidFill>
          <a:ln/>
        </p:spPr>
      </p:sp>
      <p:sp>
        <p:nvSpPr>
          <p:cNvPr id="54" name="Text 52"/>
          <p:cNvSpPr/>
          <p:nvPr/>
        </p:nvSpPr>
        <p:spPr>
          <a:xfrm>
            <a:off x="8247888" y="4224528"/>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40–59</a:t>
            </a:r>
            <a:endParaRPr lang="en-US" sz="1100" dirty="0"/>
          </a:p>
        </p:txBody>
      </p:sp>
      <p:sp>
        <p:nvSpPr>
          <p:cNvPr id="55" name="Text 53"/>
          <p:cNvSpPr/>
          <p:nvPr/>
        </p:nvSpPr>
        <p:spPr>
          <a:xfrm>
            <a:off x="9290304" y="4224528"/>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Medium</a:t>
            </a:r>
            <a:endParaRPr lang="en-US" sz="1100" dirty="0"/>
          </a:p>
        </p:txBody>
      </p:sp>
      <p:sp>
        <p:nvSpPr>
          <p:cNvPr id="56" name="Shape 54"/>
          <p:cNvSpPr/>
          <p:nvPr/>
        </p:nvSpPr>
        <p:spPr>
          <a:xfrm>
            <a:off x="7735824" y="4645152"/>
            <a:ext cx="384048" cy="201168"/>
          </a:xfrm>
          <a:prstGeom prst="roundRect">
            <a:avLst>
              <a:gd name="adj" fmla="val 18182"/>
            </a:avLst>
          </a:prstGeom>
          <a:solidFill>
            <a:srgbClr val="E9A03B"/>
          </a:solidFill>
          <a:ln/>
        </p:spPr>
      </p:sp>
      <p:sp>
        <p:nvSpPr>
          <p:cNvPr id="57" name="Text 55"/>
          <p:cNvSpPr/>
          <p:nvPr/>
        </p:nvSpPr>
        <p:spPr>
          <a:xfrm>
            <a:off x="8247888" y="4608576"/>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20–39</a:t>
            </a:r>
            <a:endParaRPr lang="en-US" sz="1100" dirty="0"/>
          </a:p>
        </p:txBody>
      </p:sp>
      <p:sp>
        <p:nvSpPr>
          <p:cNvPr id="58" name="Text 56"/>
          <p:cNvSpPr/>
          <p:nvPr/>
        </p:nvSpPr>
        <p:spPr>
          <a:xfrm>
            <a:off x="9290304" y="4608576"/>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Low</a:t>
            </a:r>
            <a:endParaRPr lang="en-US" sz="1100" dirty="0"/>
          </a:p>
        </p:txBody>
      </p:sp>
      <p:sp>
        <p:nvSpPr>
          <p:cNvPr id="59" name="Shape 57"/>
          <p:cNvSpPr/>
          <p:nvPr/>
        </p:nvSpPr>
        <p:spPr>
          <a:xfrm>
            <a:off x="7735824" y="5029200"/>
            <a:ext cx="384048" cy="201168"/>
          </a:xfrm>
          <a:prstGeom prst="roundRect">
            <a:avLst>
              <a:gd name="adj" fmla="val 18182"/>
            </a:avLst>
          </a:prstGeom>
          <a:solidFill>
            <a:srgbClr val="8DA0B8"/>
          </a:solidFill>
          <a:ln/>
        </p:spPr>
      </p:sp>
      <p:sp>
        <p:nvSpPr>
          <p:cNvPr id="60" name="Text 58"/>
          <p:cNvSpPr/>
          <p:nvPr/>
        </p:nvSpPr>
        <p:spPr>
          <a:xfrm>
            <a:off x="8247888" y="4992624"/>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&lt;20</a:t>
            </a:r>
            <a:endParaRPr lang="en-US" sz="1100" dirty="0"/>
          </a:p>
        </p:txBody>
      </p:sp>
      <p:sp>
        <p:nvSpPr>
          <p:cNvPr id="61" name="Text 59"/>
          <p:cNvSpPr/>
          <p:nvPr/>
        </p:nvSpPr>
        <p:spPr>
          <a:xfrm>
            <a:off x="9290304" y="4992624"/>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Very Low</a:t>
            </a:r>
            <a:endParaRPr lang="en-US" sz="1100" dirty="0"/>
          </a:p>
        </p:txBody>
      </p:sp>
      <p:sp>
        <p:nvSpPr>
          <p:cNvPr id="62" name="Shape 60"/>
          <p:cNvSpPr/>
          <p:nvPr/>
        </p:nvSpPr>
        <p:spPr>
          <a:xfrm>
            <a:off x="7735824" y="5413248"/>
            <a:ext cx="3813048" cy="310896"/>
          </a:xfrm>
          <a:prstGeom prst="roundRect">
            <a:avLst>
              <a:gd name="adj" fmla="val 26471"/>
            </a:avLst>
          </a:prstGeom>
          <a:solidFill>
            <a:srgbClr val="FBF0E6"/>
          </a:solidFill>
          <a:ln/>
        </p:spPr>
      </p:sp>
      <p:sp>
        <p:nvSpPr>
          <p:cNvPr id="63" name="Text 61"/>
          <p:cNvSpPr/>
          <p:nvPr/>
        </p:nvSpPr>
        <p:spPr>
          <a:xfrm>
            <a:off x="7827264" y="5413248"/>
            <a:ext cx="3630168" cy="310896"/>
          </a:xfrm>
          <a:prstGeom prst="rect">
            <a:avLst/>
          </a:prstGeom>
          <a:noFill/>
          <a:ln/>
        </p:spPr>
        <p:txBody>
          <a:bodyPr wrap="square" lIns="0" tIns="0" rIns="0" bIns="0" rtlCol="0" anchor="ctr"/>
          <a:lstStyle/>
          <a:p>
            <a:pPr indent="0" marL="0">
              <a:buNone/>
            </a:pPr>
            <a:r>
              <a:rPr lang="en-US" sz="900" i="1" dirty="0">
                <a:solidFill>
                  <a:srgbClr val="6B6B6B"/>
                </a:solidFill>
                <a:latin typeface="Graphik TH" pitchFamily="34" charset="0"/>
                <a:ea typeface="Graphik TH" pitchFamily="34" charset="-122"/>
                <a:cs typeface="Graphik TH" pitchFamily="34" charset="-120"/>
              </a:rPr>
              <a:t>Rate sensitivity stays outside this score until validated against post-maturity runoff.</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Promo behaviour reveals rate sensitivity</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*Balance placement around the promotional caps is a behavioural signal, not a statement of customer intent.</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Rate Sensitivity  =  70% Cap Precision  +  30% (1 − Above-Cap Balance Ratio)</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Customers who stop near a promotional cap look rate-optimising; balance above the cap suggests lower rate sensitivity.</a:t>
            </a:r>
            <a:endParaRPr lang="en-US" sz="1400" dirty="0"/>
          </a:p>
        </p:txBody>
      </p:sp>
      <p:sp>
        <p:nvSpPr>
          <p:cNvPr id="6" name="Shape 4"/>
          <p:cNvSpPr/>
          <p:nvPr/>
        </p:nvSpPr>
        <p:spPr>
          <a:xfrm>
            <a:off x="530352" y="1645920"/>
            <a:ext cx="3605784" cy="987552"/>
          </a:xfrm>
          <a:prstGeom prst="roundRect">
            <a:avLst>
              <a:gd name="adj" fmla="val 8333"/>
            </a:avLst>
          </a:prstGeom>
          <a:solidFill>
            <a:srgbClr val="F1F4F9"/>
          </a:solidFill>
          <a:ln/>
        </p:spPr>
      </p:sp>
      <p:sp>
        <p:nvSpPr>
          <p:cNvPr id="7" name="Text 5"/>
          <p:cNvSpPr/>
          <p:nvPr/>
        </p:nvSpPr>
        <p:spPr>
          <a:xfrm>
            <a:off x="749808" y="1719072"/>
            <a:ext cx="3166872"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THB 20k</a:t>
            </a:r>
            <a:endParaRPr lang="en-US" sz="2400" dirty="0"/>
          </a:p>
        </p:txBody>
      </p:sp>
      <p:sp>
        <p:nvSpPr>
          <p:cNvPr id="8" name="Text 6"/>
          <p:cNvSpPr/>
          <p:nvPr/>
        </p:nvSpPr>
        <p:spPr>
          <a:xfrm>
            <a:off x="749808" y="2121408"/>
            <a:ext cx="3166872"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Save Max 4% cap</a:t>
            </a:r>
            <a:endParaRPr lang="en-US" sz="1150" dirty="0"/>
          </a:p>
        </p:txBody>
      </p:sp>
      <p:sp>
        <p:nvSpPr>
          <p:cNvPr id="9" name="Text 7"/>
          <p:cNvSpPr/>
          <p:nvPr/>
        </p:nvSpPr>
        <p:spPr>
          <a:xfrm>
            <a:off x="749808" y="2350008"/>
            <a:ext cx="3166872"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Only the first 20k earns the high rate</a:t>
            </a:r>
            <a:endParaRPr lang="en-US" sz="950" dirty="0"/>
          </a:p>
        </p:txBody>
      </p:sp>
      <p:sp>
        <p:nvSpPr>
          <p:cNvPr id="10" name="Shape 8"/>
          <p:cNvSpPr/>
          <p:nvPr/>
        </p:nvSpPr>
        <p:spPr>
          <a:xfrm>
            <a:off x="4364736" y="1645920"/>
            <a:ext cx="3605784" cy="987552"/>
          </a:xfrm>
          <a:prstGeom prst="roundRect">
            <a:avLst>
              <a:gd name="adj" fmla="val 8333"/>
            </a:avLst>
          </a:prstGeom>
          <a:solidFill>
            <a:srgbClr val="F1F4F9"/>
          </a:solidFill>
          <a:ln/>
        </p:spPr>
      </p:sp>
      <p:sp>
        <p:nvSpPr>
          <p:cNvPr id="11" name="Text 9"/>
          <p:cNvSpPr/>
          <p:nvPr/>
        </p:nvSpPr>
        <p:spPr>
          <a:xfrm>
            <a:off x="4584192" y="1719072"/>
            <a:ext cx="3166872"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THB 1m</a:t>
            </a:r>
            <a:endParaRPr lang="en-US" sz="2400" dirty="0"/>
          </a:p>
        </p:txBody>
      </p:sp>
      <p:sp>
        <p:nvSpPr>
          <p:cNvPr id="12" name="Text 10"/>
          <p:cNvSpPr/>
          <p:nvPr/>
        </p:nvSpPr>
        <p:spPr>
          <a:xfrm>
            <a:off x="4584192" y="2121408"/>
            <a:ext cx="3166872"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Save More 2% cap</a:t>
            </a:r>
            <a:endParaRPr lang="en-US" sz="1150" dirty="0"/>
          </a:p>
        </p:txBody>
      </p:sp>
      <p:sp>
        <p:nvSpPr>
          <p:cNvPr id="13" name="Text 11"/>
          <p:cNvSpPr/>
          <p:nvPr/>
        </p:nvSpPr>
        <p:spPr>
          <a:xfrm>
            <a:off x="4584192" y="2350008"/>
            <a:ext cx="3166872"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Only the first 1m earns the high rate</a:t>
            </a:r>
            <a:endParaRPr lang="en-US" sz="950" dirty="0"/>
          </a:p>
        </p:txBody>
      </p:sp>
      <p:sp>
        <p:nvSpPr>
          <p:cNvPr id="14" name="Shape 12"/>
          <p:cNvSpPr/>
          <p:nvPr/>
        </p:nvSpPr>
        <p:spPr>
          <a:xfrm>
            <a:off x="8199120" y="1645920"/>
            <a:ext cx="3605784" cy="987552"/>
          </a:xfrm>
          <a:prstGeom prst="roundRect">
            <a:avLst>
              <a:gd name="adj" fmla="val 8333"/>
            </a:avLst>
          </a:prstGeom>
          <a:solidFill>
            <a:srgbClr val="F1F4F9"/>
          </a:solidFill>
          <a:ln/>
        </p:spPr>
      </p:sp>
      <p:sp>
        <p:nvSpPr>
          <p:cNvPr id="15" name="Text 13"/>
          <p:cNvSpPr/>
          <p:nvPr/>
        </p:nvSpPr>
        <p:spPr>
          <a:xfrm>
            <a:off x="8418576" y="1719072"/>
            <a:ext cx="3166872" cy="402336"/>
          </a:xfrm>
          <a:prstGeom prst="rect">
            <a:avLst/>
          </a:prstGeom>
          <a:noFill/>
          <a:ln/>
        </p:spPr>
        <p:txBody>
          <a:bodyPr wrap="square" lIns="0" tIns="0" rIns="0" bIns="0" rtlCol="0" anchor="ctr"/>
          <a:lstStyle/>
          <a:p>
            <a:pPr indent="0" marL="0">
              <a:buNone/>
            </a:pPr>
            <a:r>
              <a:rPr lang="en-US" sz="1600" b="1" dirty="0">
                <a:solidFill>
                  <a:srgbClr val="045D66"/>
                </a:solidFill>
                <a:latin typeface="Graphik TH" pitchFamily="34" charset="0"/>
                <a:ea typeface="Graphik TH" pitchFamily="34" charset="-122"/>
                <a:cs typeface="Graphik TH" pitchFamily="34" charset="-120"/>
              </a:rPr>
              <a:t>Promo dependency</a:t>
            </a:r>
            <a:endParaRPr lang="en-US" sz="1600" dirty="0"/>
          </a:p>
        </p:txBody>
      </p:sp>
      <p:sp>
        <p:nvSpPr>
          <p:cNvPr id="16" name="Text 14"/>
          <p:cNvSpPr/>
          <p:nvPr/>
        </p:nvSpPr>
        <p:spPr>
          <a:xfrm>
            <a:off x="8418576" y="2121408"/>
            <a:ext cx="3166872"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Promo-exposed ÷ total deposit</a:t>
            </a:r>
            <a:endParaRPr lang="en-US" sz="1150" dirty="0"/>
          </a:p>
        </p:txBody>
      </p:sp>
      <p:sp>
        <p:nvSpPr>
          <p:cNvPr id="17" name="Text 15"/>
          <p:cNvSpPr/>
          <p:nvPr/>
        </p:nvSpPr>
        <p:spPr>
          <a:xfrm>
            <a:off x="8418576" y="2350008"/>
            <a:ext cx="3166872"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Measures exposure, not intent</a:t>
            </a:r>
            <a:endParaRPr lang="en-US" sz="950" dirty="0"/>
          </a:p>
        </p:txBody>
      </p:sp>
      <p:sp>
        <p:nvSpPr>
          <p:cNvPr id="18" name="Shape 16"/>
          <p:cNvSpPr/>
          <p:nvPr/>
        </p:nvSpPr>
        <p:spPr>
          <a:xfrm>
            <a:off x="530352" y="2798064"/>
            <a:ext cx="6720840" cy="3017520"/>
          </a:xfrm>
          <a:prstGeom prst="roundRect">
            <a:avLst>
              <a:gd name="adj" fmla="val 2727"/>
            </a:avLst>
          </a:prstGeom>
          <a:solidFill>
            <a:srgbClr val="F1F4F9"/>
          </a:solidFill>
          <a:ln/>
        </p:spPr>
      </p:sp>
      <p:sp>
        <p:nvSpPr>
          <p:cNvPr id="19" name="Text 17"/>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Three behaviour patterns</a:t>
            </a:r>
            <a:endParaRPr lang="en-US" sz="1400" dirty="0"/>
          </a:p>
        </p:txBody>
      </p:sp>
      <p:sp>
        <p:nvSpPr>
          <p:cNvPr id="20" name="Text 18"/>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Orange = balance within the promotional cap · teal = balance above the cap</a:t>
            </a:r>
            <a:endParaRPr lang="en-US" sz="950" dirty="0"/>
          </a:p>
        </p:txBody>
      </p:sp>
      <p:sp>
        <p:nvSpPr>
          <p:cNvPr id="21" name="Text 19"/>
          <p:cNvSpPr/>
          <p:nvPr/>
        </p:nvSpPr>
        <p:spPr>
          <a:xfrm>
            <a:off x="786384" y="3529584"/>
            <a:ext cx="1325880" cy="256032"/>
          </a:xfrm>
          <a:prstGeom prst="rect">
            <a:avLst/>
          </a:prstGeom>
          <a:noFill/>
          <a:ln/>
        </p:spPr>
        <p:txBody>
          <a:bodyPr wrap="square" lIns="0" tIns="0" rIns="0" bIns="0" rtlCol="0" anchor="ctr"/>
          <a:lstStyle/>
          <a:p>
            <a:pPr indent="0" marL="0">
              <a:buNone/>
            </a:pPr>
            <a:r>
              <a:rPr lang="en-US" sz="1150" b="1" dirty="0">
                <a:solidFill>
                  <a:srgbClr val="16233D"/>
                </a:solidFill>
                <a:latin typeface="Graphik TH" pitchFamily="34" charset="0"/>
                <a:ea typeface="Graphik TH" pitchFamily="34" charset="-122"/>
                <a:cs typeface="Graphik TH" pitchFamily="34" charset="-120"/>
              </a:rPr>
              <a:t>Cap optimizer</a:t>
            </a:r>
            <a:endParaRPr lang="en-US" sz="1150" dirty="0"/>
          </a:p>
        </p:txBody>
      </p:sp>
      <p:sp>
        <p:nvSpPr>
          <p:cNvPr id="22" name="Text 20"/>
          <p:cNvSpPr/>
          <p:nvPr/>
        </p:nvSpPr>
        <p:spPr>
          <a:xfrm>
            <a:off x="786384" y="3767328"/>
            <a:ext cx="2788920" cy="402336"/>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~20k in Save Max + ~1m in Save More</a:t>
            </a:r>
            <a:endParaRPr lang="en-US" sz="950" dirty="0"/>
          </a:p>
        </p:txBody>
      </p:sp>
      <p:sp>
        <p:nvSpPr>
          <p:cNvPr id="23" name="Shape 21"/>
          <p:cNvSpPr/>
          <p:nvPr/>
        </p:nvSpPr>
        <p:spPr>
          <a:xfrm>
            <a:off x="3703320" y="3584448"/>
            <a:ext cx="2148840" cy="237744"/>
          </a:xfrm>
          <a:prstGeom prst="roundRect">
            <a:avLst>
              <a:gd name="adj" fmla="val 15385"/>
            </a:avLst>
          </a:prstGeom>
          <a:solidFill>
            <a:srgbClr val="E9A03B"/>
          </a:solidFill>
          <a:ln/>
        </p:spPr>
      </p:sp>
      <p:sp>
        <p:nvSpPr>
          <p:cNvPr id="24" name="Shape 22"/>
          <p:cNvSpPr/>
          <p:nvPr/>
        </p:nvSpPr>
        <p:spPr>
          <a:xfrm>
            <a:off x="5989320" y="3547872"/>
            <a:ext cx="1005840" cy="310896"/>
          </a:xfrm>
          <a:prstGeom prst="roundRect">
            <a:avLst>
              <a:gd name="adj" fmla="val 26471"/>
            </a:avLst>
          </a:prstGeom>
          <a:solidFill>
            <a:srgbClr val="FFFFFF"/>
          </a:solidFill>
          <a:ln/>
        </p:spPr>
      </p:sp>
      <p:sp>
        <p:nvSpPr>
          <p:cNvPr id="25" name="Text 23"/>
          <p:cNvSpPr/>
          <p:nvPr/>
        </p:nvSpPr>
        <p:spPr>
          <a:xfrm>
            <a:off x="5989320" y="3547872"/>
            <a:ext cx="1005840" cy="310896"/>
          </a:xfrm>
          <a:prstGeom prst="rect">
            <a:avLst/>
          </a:prstGeom>
          <a:noFill/>
          <a:ln/>
        </p:spPr>
        <p:txBody>
          <a:bodyPr wrap="square" lIns="0" tIns="0" rIns="0" bIns="0" rtlCol="0" anchor="ctr"/>
          <a:lstStyle/>
          <a:p>
            <a:pPr algn="ctr" indent="0" marL="0">
              <a:buNone/>
            </a:pPr>
            <a:r>
              <a:rPr lang="en-US" sz="900" b="1" dirty="0">
                <a:solidFill>
                  <a:srgbClr val="C00000"/>
                </a:solidFill>
                <a:latin typeface="Graphik TH" pitchFamily="34" charset="0"/>
                <a:ea typeface="Graphik TH" pitchFamily="34" charset="-122"/>
                <a:cs typeface="Graphik TH" pitchFamily="34" charset="-120"/>
              </a:rPr>
              <a:t>VERY HIGH</a:t>
            </a:r>
            <a:endParaRPr lang="en-US" sz="900" dirty="0"/>
          </a:p>
        </p:txBody>
      </p:sp>
      <p:sp>
        <p:nvSpPr>
          <p:cNvPr id="26" name="Text 24"/>
          <p:cNvSpPr/>
          <p:nvPr/>
        </p:nvSpPr>
        <p:spPr>
          <a:xfrm>
            <a:off x="786384" y="4242816"/>
            <a:ext cx="1325880" cy="256032"/>
          </a:xfrm>
          <a:prstGeom prst="rect">
            <a:avLst/>
          </a:prstGeom>
          <a:noFill/>
          <a:ln/>
        </p:spPr>
        <p:txBody>
          <a:bodyPr wrap="square" lIns="0" tIns="0" rIns="0" bIns="0" rtlCol="0" anchor="ctr"/>
          <a:lstStyle/>
          <a:p>
            <a:pPr indent="0" marL="0">
              <a:buNone/>
            </a:pPr>
            <a:r>
              <a:rPr lang="en-US" sz="1150" b="1" dirty="0">
                <a:solidFill>
                  <a:srgbClr val="16233D"/>
                </a:solidFill>
                <a:latin typeface="Graphik TH" pitchFamily="34" charset="0"/>
                <a:ea typeface="Graphik TH" pitchFamily="34" charset="-122"/>
                <a:cs typeface="Graphik TH" pitchFamily="34" charset="-120"/>
              </a:rPr>
              <a:t>Mixed saver</a:t>
            </a:r>
            <a:endParaRPr lang="en-US" sz="1150" dirty="0"/>
          </a:p>
        </p:txBody>
      </p:sp>
      <p:sp>
        <p:nvSpPr>
          <p:cNvPr id="27" name="Text 25"/>
          <p:cNvSpPr/>
          <p:nvPr/>
        </p:nvSpPr>
        <p:spPr>
          <a:xfrm>
            <a:off x="786384" y="4480560"/>
            <a:ext cx="2788920" cy="402336"/>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Uses promo pockets but also holds balance above cap</a:t>
            </a:r>
            <a:endParaRPr lang="en-US" sz="950" dirty="0"/>
          </a:p>
        </p:txBody>
      </p:sp>
      <p:sp>
        <p:nvSpPr>
          <p:cNvPr id="28" name="Shape 26"/>
          <p:cNvSpPr/>
          <p:nvPr/>
        </p:nvSpPr>
        <p:spPr>
          <a:xfrm>
            <a:off x="3703320" y="4297680"/>
            <a:ext cx="1332281" cy="237744"/>
          </a:xfrm>
          <a:prstGeom prst="roundRect">
            <a:avLst>
              <a:gd name="adj" fmla="val 15385"/>
            </a:avLst>
          </a:prstGeom>
          <a:solidFill>
            <a:srgbClr val="E9A03B"/>
          </a:solidFill>
          <a:ln/>
        </p:spPr>
      </p:sp>
      <p:sp>
        <p:nvSpPr>
          <p:cNvPr id="29" name="Shape 27"/>
          <p:cNvSpPr/>
          <p:nvPr/>
        </p:nvSpPr>
        <p:spPr>
          <a:xfrm>
            <a:off x="5035601" y="4297680"/>
            <a:ext cx="816559" cy="237744"/>
          </a:xfrm>
          <a:prstGeom prst="roundRect">
            <a:avLst>
              <a:gd name="adj" fmla="val 15385"/>
            </a:avLst>
          </a:prstGeom>
          <a:solidFill>
            <a:srgbClr val="1E8E86"/>
          </a:solidFill>
          <a:ln/>
        </p:spPr>
      </p:sp>
      <p:sp>
        <p:nvSpPr>
          <p:cNvPr id="30" name="Shape 28"/>
          <p:cNvSpPr/>
          <p:nvPr/>
        </p:nvSpPr>
        <p:spPr>
          <a:xfrm>
            <a:off x="5989320" y="4261104"/>
            <a:ext cx="1005840" cy="310896"/>
          </a:xfrm>
          <a:prstGeom prst="roundRect">
            <a:avLst>
              <a:gd name="adj" fmla="val 26471"/>
            </a:avLst>
          </a:prstGeom>
          <a:solidFill>
            <a:srgbClr val="FFFFFF"/>
          </a:solidFill>
          <a:ln/>
        </p:spPr>
      </p:sp>
      <p:sp>
        <p:nvSpPr>
          <p:cNvPr id="31" name="Text 29"/>
          <p:cNvSpPr/>
          <p:nvPr/>
        </p:nvSpPr>
        <p:spPr>
          <a:xfrm>
            <a:off x="5989320" y="4261104"/>
            <a:ext cx="1005840" cy="310896"/>
          </a:xfrm>
          <a:prstGeom prst="rect">
            <a:avLst/>
          </a:prstGeom>
          <a:noFill/>
          <a:ln/>
        </p:spPr>
        <p:txBody>
          <a:bodyPr wrap="square" lIns="0" tIns="0" rIns="0" bIns="0" rtlCol="0" anchor="ctr"/>
          <a:lstStyle/>
          <a:p>
            <a:pPr algn="ctr" indent="0" marL="0">
              <a:buNone/>
            </a:pPr>
            <a:r>
              <a:rPr lang="en-US" sz="900" b="1" dirty="0">
                <a:solidFill>
                  <a:srgbClr val="E9A03B"/>
                </a:solidFill>
                <a:latin typeface="Graphik TH" pitchFamily="34" charset="0"/>
                <a:ea typeface="Graphik TH" pitchFamily="34" charset="-122"/>
                <a:cs typeface="Graphik TH" pitchFamily="34" charset="-120"/>
              </a:rPr>
              <a:t>MEDIUM</a:t>
            </a:r>
            <a:endParaRPr lang="en-US" sz="900" dirty="0"/>
          </a:p>
        </p:txBody>
      </p:sp>
      <p:sp>
        <p:nvSpPr>
          <p:cNvPr id="32" name="Text 30"/>
          <p:cNvSpPr/>
          <p:nvPr/>
        </p:nvSpPr>
        <p:spPr>
          <a:xfrm>
            <a:off x="786384" y="4956048"/>
            <a:ext cx="1325880" cy="256032"/>
          </a:xfrm>
          <a:prstGeom prst="rect">
            <a:avLst/>
          </a:prstGeom>
          <a:noFill/>
          <a:ln/>
        </p:spPr>
        <p:txBody>
          <a:bodyPr wrap="square" lIns="0" tIns="0" rIns="0" bIns="0" rtlCol="0" anchor="ctr"/>
          <a:lstStyle/>
          <a:p>
            <a:pPr indent="0" marL="0">
              <a:buNone/>
            </a:pPr>
            <a:r>
              <a:rPr lang="en-US" sz="1150" b="1" dirty="0">
                <a:solidFill>
                  <a:srgbClr val="16233D"/>
                </a:solidFill>
                <a:latin typeface="Graphik TH" pitchFamily="34" charset="0"/>
                <a:ea typeface="Graphik TH" pitchFamily="34" charset="-122"/>
                <a:cs typeface="Graphik TH" pitchFamily="34" charset="-120"/>
              </a:rPr>
              <a:t>Core depositor</a:t>
            </a:r>
            <a:endParaRPr lang="en-US" sz="1150" dirty="0"/>
          </a:p>
        </p:txBody>
      </p:sp>
      <p:sp>
        <p:nvSpPr>
          <p:cNvPr id="33" name="Text 31"/>
          <p:cNvSpPr/>
          <p:nvPr/>
        </p:nvSpPr>
        <p:spPr>
          <a:xfrm>
            <a:off x="786384" y="5193792"/>
            <a:ext cx="2788920" cy="402336"/>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Material balance above cap or in Main Pocket</a:t>
            </a:r>
            <a:endParaRPr lang="en-US" sz="950" dirty="0"/>
          </a:p>
        </p:txBody>
      </p:sp>
      <p:sp>
        <p:nvSpPr>
          <p:cNvPr id="34" name="Shape 32"/>
          <p:cNvSpPr/>
          <p:nvPr/>
        </p:nvSpPr>
        <p:spPr>
          <a:xfrm>
            <a:off x="3703320" y="5010912"/>
            <a:ext cx="730606" cy="237744"/>
          </a:xfrm>
          <a:prstGeom prst="roundRect">
            <a:avLst>
              <a:gd name="adj" fmla="val 15385"/>
            </a:avLst>
          </a:prstGeom>
          <a:solidFill>
            <a:srgbClr val="E9A03B"/>
          </a:solidFill>
          <a:ln/>
        </p:spPr>
      </p:sp>
      <p:sp>
        <p:nvSpPr>
          <p:cNvPr id="35" name="Shape 33"/>
          <p:cNvSpPr/>
          <p:nvPr/>
        </p:nvSpPr>
        <p:spPr>
          <a:xfrm>
            <a:off x="4433926" y="5010912"/>
            <a:ext cx="1418234" cy="237744"/>
          </a:xfrm>
          <a:prstGeom prst="roundRect">
            <a:avLst>
              <a:gd name="adj" fmla="val 15385"/>
            </a:avLst>
          </a:prstGeom>
          <a:solidFill>
            <a:srgbClr val="1E8E86"/>
          </a:solidFill>
          <a:ln/>
        </p:spPr>
      </p:sp>
      <p:sp>
        <p:nvSpPr>
          <p:cNvPr id="36" name="Shape 34"/>
          <p:cNvSpPr/>
          <p:nvPr/>
        </p:nvSpPr>
        <p:spPr>
          <a:xfrm>
            <a:off x="5989320" y="4974336"/>
            <a:ext cx="1005840" cy="310896"/>
          </a:xfrm>
          <a:prstGeom prst="roundRect">
            <a:avLst>
              <a:gd name="adj" fmla="val 26471"/>
            </a:avLst>
          </a:prstGeom>
          <a:solidFill>
            <a:srgbClr val="FFFFFF"/>
          </a:solidFill>
          <a:ln/>
        </p:spPr>
      </p:sp>
      <p:sp>
        <p:nvSpPr>
          <p:cNvPr id="37" name="Text 35"/>
          <p:cNvSpPr/>
          <p:nvPr/>
        </p:nvSpPr>
        <p:spPr>
          <a:xfrm>
            <a:off x="5989320" y="4974336"/>
            <a:ext cx="1005840" cy="310896"/>
          </a:xfrm>
          <a:prstGeom prst="rect">
            <a:avLst/>
          </a:prstGeom>
          <a:noFill/>
          <a:ln/>
        </p:spPr>
        <p:txBody>
          <a:bodyPr wrap="square" lIns="0" tIns="0" rIns="0" bIns="0" rtlCol="0" anchor="ctr"/>
          <a:lstStyle/>
          <a:p>
            <a:pPr algn="ctr" indent="0" marL="0">
              <a:buNone/>
            </a:pPr>
            <a:r>
              <a:rPr lang="en-US" sz="900" b="1" dirty="0">
                <a:solidFill>
                  <a:srgbClr val="1E8E86"/>
                </a:solidFill>
                <a:latin typeface="Graphik TH" pitchFamily="34" charset="0"/>
                <a:ea typeface="Graphik TH" pitchFamily="34" charset="-122"/>
                <a:cs typeface="Graphik TH" pitchFamily="34" charset="-120"/>
              </a:rPr>
              <a:t>LOW</a:t>
            </a:r>
            <a:endParaRPr lang="en-US" sz="900" dirty="0"/>
          </a:p>
        </p:txBody>
      </p:sp>
      <p:sp>
        <p:nvSpPr>
          <p:cNvPr id="38" name="Text 36"/>
          <p:cNvSpPr/>
          <p:nvPr/>
        </p:nvSpPr>
        <p:spPr>
          <a:xfrm>
            <a:off x="786384" y="5504688"/>
            <a:ext cx="6217920" cy="256032"/>
          </a:xfrm>
          <a:prstGeom prst="rect">
            <a:avLst/>
          </a:prstGeom>
          <a:noFill/>
          <a:ln/>
        </p:spPr>
        <p:txBody>
          <a:bodyPr wrap="square" lIns="0" tIns="0" rIns="0" bIns="0" rtlCol="0" anchor="ctr"/>
          <a:lstStyle/>
          <a:p>
            <a:pPr indent="0" marL="0">
              <a:buNone/>
            </a:pPr>
            <a:r>
              <a:rPr lang="en-US" sz="900" i="1" dirty="0">
                <a:solidFill>
                  <a:srgbClr val="6B7A90"/>
                </a:solidFill>
                <a:latin typeface="Graphik TH" pitchFamily="34" charset="0"/>
                <a:ea typeface="Graphik TH" pitchFamily="34" charset="-122"/>
                <a:cs typeface="Graphik TH" pitchFamily="34" charset="-120"/>
              </a:rPr>
              <a:t>Cap precision = near-cap promo products ÷ active promo products, where near-cap is within ±5% of the cap.</a:t>
            </a:r>
            <a:endParaRPr lang="en-US" sz="900" dirty="0"/>
          </a:p>
        </p:txBody>
      </p:sp>
      <p:sp>
        <p:nvSpPr>
          <p:cNvPr id="39" name="Shape 37"/>
          <p:cNvSpPr/>
          <p:nvPr/>
        </p:nvSpPr>
        <p:spPr>
          <a:xfrm>
            <a:off x="7479792" y="2798064"/>
            <a:ext cx="4325112" cy="3017520"/>
          </a:xfrm>
          <a:prstGeom prst="roundRect">
            <a:avLst>
              <a:gd name="adj" fmla="val 2727"/>
            </a:avLst>
          </a:prstGeom>
          <a:solidFill>
            <a:srgbClr val="F1F4F9"/>
          </a:solidFill>
          <a:ln/>
        </p:spPr>
      </p:sp>
      <p:sp>
        <p:nvSpPr>
          <p:cNvPr id="40" name="Text 38"/>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Decision view</a:t>
            </a:r>
            <a:endParaRPr lang="en-US" sz="1400" dirty="0"/>
          </a:p>
        </p:txBody>
      </p:sp>
      <p:sp>
        <p:nvSpPr>
          <p:cNvPr id="41" name="Text 39"/>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Stickiness against rate sensitivity</a:t>
            </a:r>
            <a:endParaRPr lang="en-US" sz="950" dirty="0"/>
          </a:p>
        </p:txBody>
      </p:sp>
      <p:sp>
        <p:nvSpPr>
          <p:cNvPr id="42" name="Shape 40"/>
          <p:cNvSpPr/>
          <p:nvPr/>
        </p:nvSpPr>
        <p:spPr>
          <a:xfrm>
            <a:off x="8522208" y="3493008"/>
            <a:ext cx="1481328" cy="822960"/>
          </a:xfrm>
          <a:prstGeom prst="roundRect">
            <a:avLst>
              <a:gd name="adj" fmla="val 10000"/>
            </a:avLst>
          </a:prstGeom>
          <a:solidFill>
            <a:srgbClr val="E8F6F3"/>
          </a:solidFill>
          <a:ln/>
        </p:spPr>
      </p:sp>
      <p:sp>
        <p:nvSpPr>
          <p:cNvPr id="43" name="Text 41"/>
          <p:cNvSpPr/>
          <p:nvPr/>
        </p:nvSpPr>
        <p:spPr>
          <a:xfrm>
            <a:off x="8522208" y="3602736"/>
            <a:ext cx="1481328" cy="256032"/>
          </a:xfrm>
          <a:prstGeom prst="rect">
            <a:avLst/>
          </a:prstGeom>
          <a:noFill/>
          <a:ln/>
        </p:spPr>
        <p:txBody>
          <a:bodyPr wrap="square" lIns="0" tIns="0" rIns="0" bIns="0" rtlCol="0" anchor="ctr"/>
          <a:lstStyle/>
          <a:p>
            <a:pPr algn="ctr" indent="0" marL="0">
              <a:buNone/>
            </a:pPr>
            <a:r>
              <a:rPr lang="en-US" sz="1100" b="1" dirty="0">
                <a:solidFill>
                  <a:srgbClr val="045D66"/>
                </a:solidFill>
                <a:latin typeface="Graphik TH" pitchFamily="34" charset="0"/>
                <a:ea typeface="Graphik TH" pitchFamily="34" charset="-122"/>
                <a:cs typeface="Graphik TH" pitchFamily="34" charset="-120"/>
              </a:rPr>
              <a:t>Core sticky</a:t>
            </a:r>
            <a:endParaRPr lang="en-US" sz="1100" dirty="0"/>
          </a:p>
        </p:txBody>
      </p:sp>
      <p:sp>
        <p:nvSpPr>
          <p:cNvPr id="44" name="Text 42"/>
          <p:cNvSpPr/>
          <p:nvPr/>
        </p:nvSpPr>
        <p:spPr>
          <a:xfrm>
            <a:off x="8522208" y="3877056"/>
            <a:ext cx="1481328" cy="237744"/>
          </a:xfrm>
          <a:prstGeom prst="rect">
            <a:avLst/>
          </a:prstGeom>
          <a:noFill/>
          <a:ln/>
        </p:spPr>
        <p:txBody>
          <a:bodyPr wrap="square" lIns="0" tIns="0" rIns="0" bIns="0" rtlCol="0" anchor="ctr"/>
          <a:lstStyle/>
          <a:p>
            <a:pPr algn="ctr" indent="0" marL="0">
              <a:buNone/>
            </a:pPr>
            <a:r>
              <a:rPr lang="en-US" sz="950" dirty="0">
                <a:solidFill>
                  <a:srgbClr val="6B7A90"/>
                </a:solidFill>
                <a:latin typeface="Graphik TH" pitchFamily="34" charset="0"/>
                <a:ea typeface="Graphik TH" pitchFamily="34" charset="-122"/>
                <a:cs typeface="Graphik TH" pitchFamily="34" charset="-120"/>
              </a:rPr>
              <a:t>Protect &amp; grow</a:t>
            </a:r>
            <a:endParaRPr lang="en-US" sz="950" dirty="0"/>
          </a:p>
        </p:txBody>
      </p:sp>
      <p:sp>
        <p:nvSpPr>
          <p:cNvPr id="45" name="Shape 43"/>
          <p:cNvSpPr/>
          <p:nvPr/>
        </p:nvSpPr>
        <p:spPr>
          <a:xfrm>
            <a:off x="10094976" y="3493008"/>
            <a:ext cx="1481328" cy="822960"/>
          </a:xfrm>
          <a:prstGeom prst="roundRect">
            <a:avLst>
              <a:gd name="adj" fmla="val 10000"/>
            </a:avLst>
          </a:prstGeom>
          <a:solidFill>
            <a:srgbClr val="FBF0E6"/>
          </a:solidFill>
          <a:ln/>
        </p:spPr>
      </p:sp>
      <p:sp>
        <p:nvSpPr>
          <p:cNvPr id="46" name="Text 44"/>
          <p:cNvSpPr/>
          <p:nvPr/>
        </p:nvSpPr>
        <p:spPr>
          <a:xfrm>
            <a:off x="10094976" y="3602736"/>
            <a:ext cx="1481328" cy="256032"/>
          </a:xfrm>
          <a:prstGeom prst="rect">
            <a:avLst/>
          </a:prstGeom>
          <a:noFill/>
          <a:ln/>
        </p:spPr>
        <p:txBody>
          <a:bodyPr wrap="square" lIns="0" tIns="0" rIns="0" bIns="0" rtlCol="0" anchor="ctr"/>
          <a:lstStyle/>
          <a:p>
            <a:pPr algn="ctr" indent="0" marL="0">
              <a:buNone/>
            </a:pPr>
            <a:r>
              <a:rPr lang="en-US" sz="1100" b="1" dirty="0">
                <a:solidFill>
                  <a:srgbClr val="E9A03B"/>
                </a:solidFill>
                <a:latin typeface="Graphik TH" pitchFamily="34" charset="0"/>
                <a:ea typeface="Graphik TH" pitchFamily="34" charset="-122"/>
                <a:cs typeface="Graphik TH" pitchFamily="34" charset="-120"/>
              </a:rPr>
              <a:t>Sticky today</a:t>
            </a:r>
            <a:endParaRPr lang="en-US" sz="1100" dirty="0"/>
          </a:p>
        </p:txBody>
      </p:sp>
      <p:sp>
        <p:nvSpPr>
          <p:cNvPr id="47" name="Text 45"/>
          <p:cNvSpPr/>
          <p:nvPr/>
        </p:nvSpPr>
        <p:spPr>
          <a:xfrm>
            <a:off x="10094976" y="3877056"/>
            <a:ext cx="1481328" cy="237744"/>
          </a:xfrm>
          <a:prstGeom prst="rect">
            <a:avLst/>
          </a:prstGeom>
          <a:noFill/>
          <a:ln/>
        </p:spPr>
        <p:txBody>
          <a:bodyPr wrap="square" lIns="0" tIns="0" rIns="0" bIns="0" rtlCol="0" anchor="ctr"/>
          <a:lstStyle/>
          <a:p>
            <a:pPr algn="ctr" indent="0" marL="0">
              <a:buNone/>
            </a:pPr>
            <a:r>
              <a:rPr lang="en-US" sz="950" dirty="0">
                <a:solidFill>
                  <a:srgbClr val="6B7A90"/>
                </a:solidFill>
                <a:latin typeface="Graphik TH" pitchFamily="34" charset="0"/>
                <a:ea typeface="Graphik TH" pitchFamily="34" charset="-122"/>
                <a:cs typeface="Graphik TH" pitchFamily="34" charset="-120"/>
              </a:rPr>
              <a:t>Maturity risk</a:t>
            </a:r>
            <a:endParaRPr lang="en-US" sz="950" dirty="0"/>
          </a:p>
        </p:txBody>
      </p:sp>
      <p:sp>
        <p:nvSpPr>
          <p:cNvPr id="48" name="Shape 46"/>
          <p:cNvSpPr/>
          <p:nvPr/>
        </p:nvSpPr>
        <p:spPr>
          <a:xfrm>
            <a:off x="8522208" y="4425696"/>
            <a:ext cx="1481328" cy="822960"/>
          </a:xfrm>
          <a:prstGeom prst="roundRect">
            <a:avLst>
              <a:gd name="adj" fmla="val 10000"/>
            </a:avLst>
          </a:prstGeom>
          <a:solidFill>
            <a:srgbClr val="FFFFFF"/>
          </a:solidFill>
          <a:ln/>
        </p:spPr>
      </p:sp>
      <p:sp>
        <p:nvSpPr>
          <p:cNvPr id="49" name="Text 47"/>
          <p:cNvSpPr/>
          <p:nvPr/>
        </p:nvSpPr>
        <p:spPr>
          <a:xfrm>
            <a:off x="8522208" y="4535424"/>
            <a:ext cx="1481328" cy="256032"/>
          </a:xfrm>
          <a:prstGeom prst="rect">
            <a:avLst/>
          </a:prstGeom>
          <a:noFill/>
          <a:ln/>
        </p:spPr>
        <p:txBody>
          <a:bodyPr wrap="square" lIns="0" tIns="0" rIns="0" bIns="0" rtlCol="0" anchor="ctr"/>
          <a:lstStyle/>
          <a:p>
            <a:pPr algn="ctr" indent="0" marL="0">
              <a:buNone/>
            </a:pPr>
            <a:r>
              <a:rPr lang="en-US" sz="1100" b="1" dirty="0">
                <a:solidFill>
                  <a:srgbClr val="6B7A90"/>
                </a:solidFill>
                <a:latin typeface="Graphik TH" pitchFamily="34" charset="0"/>
                <a:ea typeface="Graphik TH" pitchFamily="34" charset="-122"/>
                <a:cs typeface="Graphik TH" pitchFamily="34" charset="-120"/>
              </a:rPr>
              <a:t>Weak relation</a:t>
            </a:r>
            <a:endParaRPr lang="en-US" sz="1100" dirty="0"/>
          </a:p>
        </p:txBody>
      </p:sp>
      <p:sp>
        <p:nvSpPr>
          <p:cNvPr id="50" name="Text 48"/>
          <p:cNvSpPr/>
          <p:nvPr/>
        </p:nvSpPr>
        <p:spPr>
          <a:xfrm>
            <a:off x="8522208" y="4809744"/>
            <a:ext cx="1481328" cy="237744"/>
          </a:xfrm>
          <a:prstGeom prst="rect">
            <a:avLst/>
          </a:prstGeom>
          <a:noFill/>
          <a:ln/>
        </p:spPr>
        <p:txBody>
          <a:bodyPr wrap="square" lIns="0" tIns="0" rIns="0" bIns="0" rtlCol="0" anchor="ctr"/>
          <a:lstStyle/>
          <a:p>
            <a:pPr algn="ctr" indent="0" marL="0">
              <a:buNone/>
            </a:pPr>
            <a:r>
              <a:rPr lang="en-US" sz="950" dirty="0">
                <a:solidFill>
                  <a:srgbClr val="6B7A90"/>
                </a:solidFill>
                <a:latin typeface="Graphik TH" pitchFamily="34" charset="0"/>
                <a:ea typeface="Graphik TH" pitchFamily="34" charset="-122"/>
                <a:cs typeface="Graphik TH" pitchFamily="34" charset="-120"/>
              </a:rPr>
              <a:t>Build usage</a:t>
            </a:r>
            <a:endParaRPr lang="en-US" sz="950" dirty="0"/>
          </a:p>
        </p:txBody>
      </p:sp>
      <p:sp>
        <p:nvSpPr>
          <p:cNvPr id="51" name="Shape 49"/>
          <p:cNvSpPr/>
          <p:nvPr/>
        </p:nvSpPr>
        <p:spPr>
          <a:xfrm>
            <a:off x="10094976" y="4425696"/>
            <a:ext cx="1481328" cy="822960"/>
          </a:xfrm>
          <a:prstGeom prst="roundRect">
            <a:avLst>
              <a:gd name="adj" fmla="val 10000"/>
            </a:avLst>
          </a:prstGeom>
          <a:solidFill>
            <a:srgbClr val="FBF0E6"/>
          </a:solidFill>
          <a:ln/>
        </p:spPr>
      </p:sp>
      <p:sp>
        <p:nvSpPr>
          <p:cNvPr id="52" name="Text 50"/>
          <p:cNvSpPr/>
          <p:nvPr/>
        </p:nvSpPr>
        <p:spPr>
          <a:xfrm>
            <a:off x="10094976" y="4535424"/>
            <a:ext cx="1481328" cy="256032"/>
          </a:xfrm>
          <a:prstGeom prst="rect">
            <a:avLst/>
          </a:prstGeom>
          <a:noFill/>
          <a:ln/>
        </p:spPr>
        <p:txBody>
          <a:bodyPr wrap="square" lIns="0" tIns="0" rIns="0" bIns="0" rtlCol="0" anchor="ctr"/>
          <a:lstStyle/>
          <a:p>
            <a:pPr algn="ctr" indent="0" marL="0">
              <a:buNone/>
            </a:pPr>
            <a:r>
              <a:rPr lang="en-US" sz="1100" b="1" dirty="0">
                <a:solidFill>
                  <a:srgbClr val="C00000"/>
                </a:solidFill>
                <a:latin typeface="Graphik TH" pitchFamily="34" charset="0"/>
                <a:ea typeface="Graphik TH" pitchFamily="34" charset="-122"/>
                <a:cs typeface="Graphik TH" pitchFamily="34" charset="-120"/>
              </a:rPr>
              <a:t>Rate driven</a:t>
            </a:r>
            <a:endParaRPr lang="en-US" sz="1100" dirty="0"/>
          </a:p>
        </p:txBody>
      </p:sp>
      <p:sp>
        <p:nvSpPr>
          <p:cNvPr id="53" name="Text 51"/>
          <p:cNvSpPr/>
          <p:nvPr/>
        </p:nvSpPr>
        <p:spPr>
          <a:xfrm>
            <a:off x="10094976" y="4809744"/>
            <a:ext cx="1481328" cy="237744"/>
          </a:xfrm>
          <a:prstGeom prst="rect">
            <a:avLst/>
          </a:prstGeom>
          <a:noFill/>
          <a:ln/>
        </p:spPr>
        <p:txBody>
          <a:bodyPr wrap="square" lIns="0" tIns="0" rIns="0" bIns="0" rtlCol="0" anchor="ctr"/>
          <a:lstStyle/>
          <a:p>
            <a:pPr algn="ctr" indent="0" marL="0">
              <a:buNone/>
            </a:pPr>
            <a:r>
              <a:rPr lang="en-US" sz="950" dirty="0">
                <a:solidFill>
                  <a:srgbClr val="6B7A90"/>
                </a:solidFill>
                <a:latin typeface="Graphik TH" pitchFamily="34" charset="0"/>
                <a:ea typeface="Graphik TH" pitchFamily="34" charset="-122"/>
                <a:cs typeface="Graphik TH" pitchFamily="34" charset="-120"/>
              </a:rPr>
              <a:t>Runoff risk</a:t>
            </a:r>
            <a:endParaRPr lang="en-US" sz="950" dirty="0"/>
          </a:p>
        </p:txBody>
      </p:sp>
      <p:sp>
        <p:nvSpPr>
          <p:cNvPr id="54" name="Text 52"/>
          <p:cNvSpPr/>
          <p:nvPr/>
        </p:nvSpPr>
        <p:spPr>
          <a:xfrm>
            <a:off x="7699248" y="3493008"/>
            <a:ext cx="777240" cy="822960"/>
          </a:xfrm>
          <a:prstGeom prst="rect">
            <a:avLst/>
          </a:prstGeom>
          <a:noFill/>
          <a:ln/>
        </p:spPr>
        <p:txBody>
          <a:bodyPr wrap="square" lIns="0" tIns="0" rIns="0" bIns="0" rtlCol="0" anchor="ctr"/>
          <a:lstStyle/>
          <a:p>
            <a:pPr algn="ctr" indent="0" marL="0">
              <a:buNone/>
            </a:pPr>
            <a:r>
              <a:rPr lang="en-US" sz="900" b="1" dirty="0">
                <a:solidFill>
                  <a:srgbClr val="6B7A90"/>
                </a:solidFill>
                <a:latin typeface="Graphik TH" pitchFamily="34" charset="0"/>
                <a:ea typeface="Graphik TH" pitchFamily="34" charset="-122"/>
                <a:cs typeface="Graphik TH" pitchFamily="34" charset="-120"/>
              </a:rPr>
              <a:t>HIGH</a:t>
            </a:r>
            <a:endParaRPr lang="en-US" sz="900" dirty="0"/>
          </a:p>
          <a:p>
            <a:pPr algn="ctr" indent="0" marL="0">
              <a:buNone/>
            </a:pPr>
            <a:r>
              <a:rPr lang="en-US" sz="900" b="1" dirty="0">
                <a:solidFill>
                  <a:srgbClr val="6B7A90"/>
                </a:solidFill>
                <a:latin typeface="Graphik TH" pitchFamily="34" charset="0"/>
                <a:ea typeface="Graphik TH" pitchFamily="34" charset="-122"/>
                <a:cs typeface="Graphik TH" pitchFamily="34" charset="-120"/>
              </a:rPr>
              <a:t>stickiness</a:t>
            </a:r>
            <a:endParaRPr lang="en-US" sz="900" dirty="0"/>
          </a:p>
        </p:txBody>
      </p:sp>
      <p:sp>
        <p:nvSpPr>
          <p:cNvPr id="55" name="Text 53"/>
          <p:cNvSpPr/>
          <p:nvPr/>
        </p:nvSpPr>
        <p:spPr>
          <a:xfrm>
            <a:off x="7699248" y="4425696"/>
            <a:ext cx="777240" cy="822960"/>
          </a:xfrm>
          <a:prstGeom prst="rect">
            <a:avLst/>
          </a:prstGeom>
          <a:noFill/>
          <a:ln/>
        </p:spPr>
        <p:txBody>
          <a:bodyPr wrap="square" lIns="0" tIns="0" rIns="0" bIns="0" rtlCol="0" anchor="ctr"/>
          <a:lstStyle/>
          <a:p>
            <a:pPr algn="ctr" indent="0" marL="0">
              <a:buNone/>
            </a:pPr>
            <a:r>
              <a:rPr lang="en-US" sz="900" b="1" dirty="0">
                <a:solidFill>
                  <a:srgbClr val="6B7A90"/>
                </a:solidFill>
                <a:latin typeface="Graphik TH" pitchFamily="34" charset="0"/>
                <a:ea typeface="Graphik TH" pitchFamily="34" charset="-122"/>
                <a:cs typeface="Graphik TH" pitchFamily="34" charset="-120"/>
              </a:rPr>
              <a:t>LOW</a:t>
            </a:r>
            <a:endParaRPr lang="en-US" sz="900" dirty="0"/>
          </a:p>
          <a:p>
            <a:pPr algn="ctr" indent="0" marL="0">
              <a:buNone/>
            </a:pPr>
            <a:r>
              <a:rPr lang="en-US" sz="900" b="1" dirty="0">
                <a:solidFill>
                  <a:srgbClr val="6B7A90"/>
                </a:solidFill>
                <a:latin typeface="Graphik TH" pitchFamily="34" charset="0"/>
                <a:ea typeface="Graphik TH" pitchFamily="34" charset="-122"/>
                <a:cs typeface="Graphik TH" pitchFamily="34" charset="-120"/>
              </a:rPr>
              <a:t>stickiness</a:t>
            </a:r>
            <a:endParaRPr lang="en-US" sz="900" dirty="0"/>
          </a:p>
        </p:txBody>
      </p:sp>
      <p:sp>
        <p:nvSpPr>
          <p:cNvPr id="56" name="Text 54"/>
          <p:cNvSpPr/>
          <p:nvPr/>
        </p:nvSpPr>
        <p:spPr>
          <a:xfrm>
            <a:off x="8522208" y="5303520"/>
            <a:ext cx="1481328" cy="219456"/>
          </a:xfrm>
          <a:prstGeom prst="rect">
            <a:avLst/>
          </a:prstGeom>
          <a:noFill/>
          <a:ln/>
        </p:spPr>
        <p:txBody>
          <a:bodyPr wrap="square" lIns="0" tIns="0" rIns="0" bIns="0" rtlCol="0" anchor="ctr"/>
          <a:lstStyle/>
          <a:p>
            <a:pPr algn="ctr" indent="0" marL="0">
              <a:buNone/>
            </a:pPr>
            <a:r>
              <a:rPr lang="en-US" sz="850" dirty="0">
                <a:solidFill>
                  <a:srgbClr val="6B7A90"/>
                </a:solidFill>
                <a:latin typeface="Graphik TH" pitchFamily="34" charset="0"/>
                <a:ea typeface="Graphik TH" pitchFamily="34" charset="-122"/>
                <a:cs typeface="Graphik TH" pitchFamily="34" charset="-120"/>
              </a:rPr>
              <a:t>Low sensitivity (&lt;60)</a:t>
            </a:r>
            <a:endParaRPr lang="en-US" sz="850" dirty="0"/>
          </a:p>
        </p:txBody>
      </p:sp>
      <p:sp>
        <p:nvSpPr>
          <p:cNvPr id="57" name="Text 55"/>
          <p:cNvSpPr/>
          <p:nvPr/>
        </p:nvSpPr>
        <p:spPr>
          <a:xfrm>
            <a:off x="10094976" y="5303520"/>
            <a:ext cx="1481328" cy="219456"/>
          </a:xfrm>
          <a:prstGeom prst="rect">
            <a:avLst/>
          </a:prstGeom>
          <a:noFill/>
          <a:ln/>
        </p:spPr>
        <p:txBody>
          <a:bodyPr wrap="square" lIns="0" tIns="0" rIns="0" bIns="0" rtlCol="0" anchor="ctr"/>
          <a:lstStyle/>
          <a:p>
            <a:pPr algn="ctr" indent="0" marL="0">
              <a:buNone/>
            </a:pPr>
            <a:r>
              <a:rPr lang="en-US" sz="850" dirty="0">
                <a:solidFill>
                  <a:srgbClr val="6B7A90"/>
                </a:solidFill>
                <a:latin typeface="Graphik TH" pitchFamily="34" charset="0"/>
                <a:ea typeface="Graphik TH" pitchFamily="34" charset="-122"/>
                <a:cs typeface="Graphik TH" pitchFamily="34" charset="-120"/>
              </a:rPr>
              <a:t>High sensitivity (≥60)</a:t>
            </a:r>
            <a:endParaRPr lang="en-US" sz="850" dirty="0"/>
          </a:p>
        </p:txBody>
      </p:sp>
      <p:sp>
        <p:nvSpPr>
          <p:cNvPr id="58" name="Text 56"/>
          <p:cNvSpPr/>
          <p:nvPr/>
        </p:nvSpPr>
        <p:spPr>
          <a:xfrm>
            <a:off x="7735824" y="5504688"/>
            <a:ext cx="3813048" cy="256032"/>
          </a:xfrm>
          <a:prstGeom prst="rect">
            <a:avLst/>
          </a:prstGeom>
          <a:noFill/>
          <a:ln/>
        </p:spPr>
        <p:txBody>
          <a:bodyPr wrap="square" lIns="0" tIns="0" rIns="0" bIns="0" rtlCol="0" anchor="ctr"/>
          <a:lstStyle/>
          <a:p>
            <a:pPr indent="0" marL="0">
              <a:buNone/>
            </a:pPr>
            <a:r>
              <a:rPr lang="en-US" sz="850" i="1" dirty="0">
                <a:solidFill>
                  <a:srgbClr val="6B6B6B"/>
                </a:solidFill>
                <a:latin typeface="Graphik TH" pitchFamily="34" charset="0"/>
                <a:ea typeface="Graphik TH" pitchFamily="34" charset="-122"/>
                <a:cs typeface="Graphik TH" pitchFamily="34" charset="-120"/>
              </a:rPr>
              <a:t>Initial cut-offs are heuristic; maturity will recalibrate them.</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Rate-sensitive balances sit in the promotional pockets</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*Balance at risk = customers scoring High or Very High rate sensitivity (≥60) · pre-maturity view.</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Save Max at risk THB 478m   ·   Save More at risk THB 3.27bn   ·   Highest-runoff subset THB 6m + THB 92m</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Almost all rate-sensitive balance sits with customers who look sticky today — which is why maturity is the real test.</a:t>
            </a:r>
            <a:endParaRPr lang="en-US" sz="1400" dirty="0"/>
          </a:p>
        </p:txBody>
      </p:sp>
      <p:sp>
        <p:nvSpPr>
          <p:cNvPr id="6" name="Shape 4"/>
          <p:cNvSpPr/>
          <p:nvPr/>
        </p:nvSpPr>
        <p:spPr>
          <a:xfrm>
            <a:off x="530352" y="1645920"/>
            <a:ext cx="5522976" cy="1810512"/>
          </a:xfrm>
          <a:prstGeom prst="roundRect">
            <a:avLst>
              <a:gd name="adj" fmla="val 4545"/>
            </a:avLst>
          </a:prstGeom>
          <a:solidFill>
            <a:srgbClr val="F1F4F9"/>
          </a:solidFill>
          <a:ln/>
        </p:spPr>
      </p:sp>
      <p:sp>
        <p:nvSpPr>
          <p:cNvPr id="7" name="Text 5"/>
          <p:cNvSpPr/>
          <p:nvPr/>
        </p:nvSpPr>
        <p:spPr>
          <a:xfrm>
            <a:off x="786384" y="1792224"/>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Save Max 4% — maturity exposure</a:t>
            </a:r>
            <a:endParaRPr lang="en-US" sz="1400" dirty="0"/>
          </a:p>
        </p:txBody>
      </p:sp>
      <p:sp>
        <p:nvSpPr>
          <p:cNvPr id="8" name="Text 6"/>
          <p:cNvSpPr/>
          <p:nvPr/>
        </p:nvSpPr>
        <p:spPr>
          <a:xfrm>
            <a:off x="786384" y="2066544"/>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Total balance THB 685m</a:t>
            </a:r>
            <a:endParaRPr lang="en-US" sz="950" dirty="0"/>
          </a:p>
        </p:txBody>
      </p:sp>
      <p:sp>
        <p:nvSpPr>
          <p:cNvPr id="9" name="Text 7"/>
          <p:cNvSpPr/>
          <p:nvPr/>
        </p:nvSpPr>
        <p:spPr>
          <a:xfrm>
            <a:off x="786384" y="2212848"/>
            <a:ext cx="2377440" cy="420624"/>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THB 478m</a:t>
            </a:r>
            <a:endParaRPr lang="en-US" sz="2400" dirty="0"/>
          </a:p>
        </p:txBody>
      </p:sp>
      <p:sp>
        <p:nvSpPr>
          <p:cNvPr id="10" name="Text 8"/>
          <p:cNvSpPr/>
          <p:nvPr/>
        </p:nvSpPr>
        <p:spPr>
          <a:xfrm>
            <a:off x="3227832" y="2286000"/>
            <a:ext cx="2560320" cy="274320"/>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70% of pocket balance</a:t>
            </a:r>
            <a:endParaRPr lang="en-US" sz="1000" dirty="0"/>
          </a:p>
        </p:txBody>
      </p:sp>
      <p:sp>
        <p:nvSpPr>
          <p:cNvPr id="11" name="Shape 9"/>
          <p:cNvSpPr/>
          <p:nvPr/>
        </p:nvSpPr>
        <p:spPr>
          <a:xfrm>
            <a:off x="786384" y="2724912"/>
            <a:ext cx="2735885" cy="237744"/>
          </a:xfrm>
          <a:prstGeom prst="roundRect">
            <a:avLst>
              <a:gd name="adj" fmla="val 15385"/>
            </a:avLst>
          </a:prstGeom>
          <a:solidFill>
            <a:srgbClr val="165A73"/>
          </a:solidFill>
          <a:ln/>
        </p:spPr>
      </p:sp>
      <p:sp>
        <p:nvSpPr>
          <p:cNvPr id="12" name="Shape 10"/>
          <p:cNvSpPr/>
          <p:nvPr/>
        </p:nvSpPr>
        <p:spPr>
          <a:xfrm>
            <a:off x="3522269" y="2724912"/>
            <a:ext cx="760781" cy="237744"/>
          </a:xfrm>
          <a:prstGeom prst="roundRect">
            <a:avLst>
              <a:gd name="adj" fmla="val 15385"/>
            </a:avLst>
          </a:prstGeom>
          <a:solidFill>
            <a:srgbClr val="E9A03B"/>
          </a:solidFill>
          <a:ln/>
        </p:spPr>
      </p:sp>
      <p:sp>
        <p:nvSpPr>
          <p:cNvPr id="13" name="Shape 11"/>
          <p:cNvSpPr/>
          <p:nvPr/>
        </p:nvSpPr>
        <p:spPr>
          <a:xfrm>
            <a:off x="4283050" y="2724912"/>
            <a:ext cx="1514246" cy="237744"/>
          </a:xfrm>
          <a:prstGeom prst="roundRect">
            <a:avLst>
              <a:gd name="adj" fmla="val 15385"/>
            </a:avLst>
          </a:prstGeom>
          <a:solidFill>
            <a:srgbClr val="8DA0B8"/>
          </a:solidFill>
          <a:ln/>
        </p:spPr>
      </p:sp>
      <p:sp>
        <p:nvSpPr>
          <p:cNvPr id="14" name="Text 12"/>
          <p:cNvSpPr/>
          <p:nvPr/>
        </p:nvSpPr>
        <p:spPr>
          <a:xfrm>
            <a:off x="786384" y="3017520"/>
            <a:ext cx="5010912" cy="237744"/>
          </a:xfrm>
          <a:prstGeom prst="rect">
            <a:avLst/>
          </a:prstGeom>
          <a:noFill/>
          <a:ln/>
        </p:spPr>
        <p:txBody>
          <a:bodyPr wrap="square" lIns="0" tIns="0" rIns="0" bIns="0" rtlCol="0" anchor="ctr"/>
          <a:lstStyle/>
          <a:p>
            <a:pPr indent="0" marL="0">
              <a:buNone/>
            </a:pPr>
            <a:r>
              <a:rPr lang="en-US" sz="850" dirty="0">
                <a:solidFill>
                  <a:srgbClr val="6B7A90"/>
                </a:solidFill>
                <a:latin typeface="Graphik TH" pitchFamily="34" charset="0"/>
                <a:ea typeface="Graphik TH" pitchFamily="34" charset="-122"/>
                <a:cs typeface="Graphik TH" pitchFamily="34" charset="-120"/>
              </a:rPr>
              <a:t>Very High RS        High RS        RS &lt; 60</a:t>
            </a:r>
            <a:endParaRPr lang="en-US" sz="850" dirty="0"/>
          </a:p>
        </p:txBody>
      </p:sp>
      <p:sp>
        <p:nvSpPr>
          <p:cNvPr id="15" name="Shape 13"/>
          <p:cNvSpPr/>
          <p:nvPr/>
        </p:nvSpPr>
        <p:spPr>
          <a:xfrm>
            <a:off x="6281928" y="1645920"/>
            <a:ext cx="5522976" cy="1810512"/>
          </a:xfrm>
          <a:prstGeom prst="roundRect">
            <a:avLst>
              <a:gd name="adj" fmla="val 4545"/>
            </a:avLst>
          </a:prstGeom>
          <a:solidFill>
            <a:srgbClr val="F1F4F9"/>
          </a:solidFill>
          <a:ln/>
        </p:spPr>
      </p:sp>
      <p:sp>
        <p:nvSpPr>
          <p:cNvPr id="16" name="Text 14"/>
          <p:cNvSpPr/>
          <p:nvPr/>
        </p:nvSpPr>
        <p:spPr>
          <a:xfrm>
            <a:off x="6537960" y="1792224"/>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Save More 2% — promotional exposure</a:t>
            </a:r>
            <a:endParaRPr lang="en-US" sz="1400" dirty="0"/>
          </a:p>
        </p:txBody>
      </p:sp>
      <p:sp>
        <p:nvSpPr>
          <p:cNvPr id="17" name="Text 15"/>
          <p:cNvSpPr/>
          <p:nvPr/>
        </p:nvSpPr>
        <p:spPr>
          <a:xfrm>
            <a:off x="6537960" y="2066544"/>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Total balance THB 4.16bn</a:t>
            </a:r>
            <a:endParaRPr lang="en-US" sz="950" dirty="0"/>
          </a:p>
        </p:txBody>
      </p:sp>
      <p:sp>
        <p:nvSpPr>
          <p:cNvPr id="18" name="Text 16"/>
          <p:cNvSpPr/>
          <p:nvPr/>
        </p:nvSpPr>
        <p:spPr>
          <a:xfrm>
            <a:off x="6537960" y="2212848"/>
            <a:ext cx="2377440" cy="420624"/>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THB 3.27bn</a:t>
            </a:r>
            <a:endParaRPr lang="en-US" sz="2400" dirty="0"/>
          </a:p>
        </p:txBody>
      </p:sp>
      <p:sp>
        <p:nvSpPr>
          <p:cNvPr id="19" name="Text 17"/>
          <p:cNvSpPr/>
          <p:nvPr/>
        </p:nvSpPr>
        <p:spPr>
          <a:xfrm>
            <a:off x="8979408" y="2286000"/>
            <a:ext cx="2560320" cy="274320"/>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78% of pocket balance</a:t>
            </a:r>
            <a:endParaRPr lang="en-US" sz="1000" dirty="0"/>
          </a:p>
        </p:txBody>
      </p:sp>
      <p:sp>
        <p:nvSpPr>
          <p:cNvPr id="20" name="Shape 18"/>
          <p:cNvSpPr/>
          <p:nvPr/>
        </p:nvSpPr>
        <p:spPr>
          <a:xfrm>
            <a:off x="6537960" y="2724912"/>
            <a:ext cx="2662047" cy="237744"/>
          </a:xfrm>
          <a:prstGeom prst="roundRect">
            <a:avLst>
              <a:gd name="adj" fmla="val 15385"/>
            </a:avLst>
          </a:prstGeom>
          <a:solidFill>
            <a:srgbClr val="165A73"/>
          </a:solidFill>
          <a:ln/>
        </p:spPr>
      </p:sp>
      <p:sp>
        <p:nvSpPr>
          <p:cNvPr id="21" name="Shape 19"/>
          <p:cNvSpPr/>
          <p:nvPr/>
        </p:nvSpPr>
        <p:spPr>
          <a:xfrm>
            <a:off x="9200007" y="2724912"/>
            <a:ext cx="1276819" cy="237744"/>
          </a:xfrm>
          <a:prstGeom prst="roundRect">
            <a:avLst>
              <a:gd name="adj" fmla="val 15385"/>
            </a:avLst>
          </a:prstGeom>
          <a:solidFill>
            <a:srgbClr val="E9A03B"/>
          </a:solidFill>
          <a:ln/>
        </p:spPr>
      </p:sp>
      <p:sp>
        <p:nvSpPr>
          <p:cNvPr id="22" name="Shape 20"/>
          <p:cNvSpPr/>
          <p:nvPr/>
        </p:nvSpPr>
        <p:spPr>
          <a:xfrm>
            <a:off x="10476826" y="2724912"/>
            <a:ext cx="1072046" cy="237744"/>
          </a:xfrm>
          <a:prstGeom prst="roundRect">
            <a:avLst>
              <a:gd name="adj" fmla="val 15385"/>
            </a:avLst>
          </a:prstGeom>
          <a:solidFill>
            <a:srgbClr val="8DA0B8"/>
          </a:solidFill>
          <a:ln/>
        </p:spPr>
      </p:sp>
      <p:sp>
        <p:nvSpPr>
          <p:cNvPr id="23" name="Text 21"/>
          <p:cNvSpPr/>
          <p:nvPr/>
        </p:nvSpPr>
        <p:spPr>
          <a:xfrm>
            <a:off x="6537960" y="3017520"/>
            <a:ext cx="5010912" cy="237744"/>
          </a:xfrm>
          <a:prstGeom prst="rect">
            <a:avLst/>
          </a:prstGeom>
          <a:noFill/>
          <a:ln/>
        </p:spPr>
        <p:txBody>
          <a:bodyPr wrap="square" lIns="0" tIns="0" rIns="0" bIns="0" rtlCol="0" anchor="ctr"/>
          <a:lstStyle/>
          <a:p>
            <a:pPr indent="0" marL="0">
              <a:buNone/>
            </a:pPr>
            <a:r>
              <a:rPr lang="en-US" sz="850" dirty="0">
                <a:solidFill>
                  <a:srgbClr val="6B7A90"/>
                </a:solidFill>
                <a:latin typeface="Graphik TH" pitchFamily="34" charset="0"/>
                <a:ea typeface="Graphik TH" pitchFamily="34" charset="-122"/>
                <a:cs typeface="Graphik TH" pitchFamily="34" charset="-120"/>
              </a:rPr>
              <a:t>Very High RS        High RS        RS &lt; 60</a:t>
            </a:r>
            <a:endParaRPr lang="en-US" sz="850" dirty="0"/>
          </a:p>
        </p:txBody>
      </p:sp>
      <p:sp>
        <p:nvSpPr>
          <p:cNvPr id="24" name="Shape 22"/>
          <p:cNvSpPr/>
          <p:nvPr/>
        </p:nvSpPr>
        <p:spPr>
          <a:xfrm>
            <a:off x="530352" y="3621024"/>
            <a:ext cx="6720840" cy="2212848"/>
          </a:xfrm>
          <a:prstGeom prst="roundRect">
            <a:avLst>
              <a:gd name="adj" fmla="val 3719"/>
            </a:avLst>
          </a:prstGeom>
          <a:solidFill>
            <a:srgbClr val="F1F4F9"/>
          </a:solidFill>
          <a:ln/>
        </p:spPr>
      </p:sp>
      <p:sp>
        <p:nvSpPr>
          <p:cNvPr id="25" name="Text 23"/>
          <p:cNvSpPr/>
          <p:nvPr/>
        </p:nvSpPr>
        <p:spPr>
          <a:xfrm>
            <a:off x="786384" y="376732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What is actually at risk?</a:t>
            </a:r>
            <a:endParaRPr lang="en-US" sz="1400" dirty="0"/>
          </a:p>
        </p:txBody>
      </p:sp>
      <p:sp>
        <p:nvSpPr>
          <p:cNvPr id="26" name="Text 24"/>
          <p:cNvSpPr/>
          <p:nvPr/>
        </p:nvSpPr>
        <p:spPr>
          <a:xfrm>
            <a:off x="786384" y="404164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Most rate-sensitive balance still looks sticky today</a:t>
            </a:r>
            <a:endParaRPr lang="en-US" sz="950" dirty="0"/>
          </a:p>
        </p:txBody>
      </p:sp>
      <p:sp>
        <p:nvSpPr>
          <p:cNvPr id="27" name="Text 25"/>
          <p:cNvSpPr/>
          <p:nvPr/>
        </p:nvSpPr>
        <p:spPr>
          <a:xfrm>
            <a:off x="786384" y="4261104"/>
            <a:ext cx="6217920" cy="347472"/>
          </a:xfrm>
          <a:prstGeom prst="rect">
            <a:avLst/>
          </a:prstGeom>
          <a:noFill/>
          <a:ln/>
        </p:spPr>
        <p:txBody>
          <a:bodyPr wrap="square" lIns="0" tIns="0" rIns="0" bIns="0" rtlCol="0" anchor="t"/>
          <a:lstStyle/>
          <a:p>
            <a:pPr indent="0" marL="0">
              <a:buNone/>
            </a:pPr>
            <a:r>
              <a:rPr lang="en-US" sz="1100" dirty="0">
                <a:solidFill>
                  <a:srgbClr val="16233D"/>
                </a:solidFill>
                <a:latin typeface="Graphik TH" pitchFamily="34" charset="0"/>
                <a:ea typeface="Graphik TH" pitchFamily="34" charset="-122"/>
                <a:cs typeface="Graphik TH" pitchFamily="34" charset="-120"/>
              </a:rPr>
              <a:t>Save Max: THB 472m (99%) of rate-sensitive balance sits with High / Very High stickiness customers.</a:t>
            </a:r>
            <a:endParaRPr lang="en-US" sz="1100" dirty="0"/>
          </a:p>
        </p:txBody>
      </p:sp>
      <p:sp>
        <p:nvSpPr>
          <p:cNvPr id="28" name="Text 26"/>
          <p:cNvSpPr/>
          <p:nvPr/>
        </p:nvSpPr>
        <p:spPr>
          <a:xfrm>
            <a:off x="786384" y="4645152"/>
            <a:ext cx="6217920" cy="347472"/>
          </a:xfrm>
          <a:prstGeom prst="rect">
            <a:avLst/>
          </a:prstGeom>
          <a:noFill/>
          <a:ln/>
        </p:spPr>
        <p:txBody>
          <a:bodyPr wrap="square" lIns="0" tIns="0" rIns="0" bIns="0" rtlCol="0" anchor="t"/>
          <a:lstStyle/>
          <a:p>
            <a:pPr indent="0" marL="0">
              <a:buNone/>
            </a:pPr>
            <a:r>
              <a:rPr lang="en-US" sz="1100" dirty="0">
                <a:solidFill>
                  <a:srgbClr val="16233D"/>
                </a:solidFill>
                <a:latin typeface="Graphik TH" pitchFamily="34" charset="0"/>
                <a:ea typeface="Graphik TH" pitchFamily="34" charset="-122"/>
                <a:cs typeface="Graphik TH" pitchFamily="34" charset="-120"/>
              </a:rPr>
              <a:t>Save More: THB 3.18bn (97%) of rate-sensitive balance sits with High / Very High stickiness customers.</a:t>
            </a:r>
            <a:endParaRPr lang="en-US" sz="1100" dirty="0"/>
          </a:p>
        </p:txBody>
      </p:sp>
      <p:sp>
        <p:nvSpPr>
          <p:cNvPr id="29" name="Shape 27"/>
          <p:cNvSpPr/>
          <p:nvPr/>
        </p:nvSpPr>
        <p:spPr>
          <a:xfrm>
            <a:off x="786384" y="5084064"/>
            <a:ext cx="6208776" cy="566928"/>
          </a:xfrm>
          <a:prstGeom prst="roundRect">
            <a:avLst>
              <a:gd name="adj" fmla="val 14516"/>
            </a:avLst>
          </a:prstGeom>
          <a:solidFill>
            <a:srgbClr val="FBF0E6"/>
          </a:solidFill>
          <a:ln/>
        </p:spPr>
      </p:sp>
      <p:sp>
        <p:nvSpPr>
          <p:cNvPr id="30" name="Text 28"/>
          <p:cNvSpPr/>
          <p:nvPr/>
        </p:nvSpPr>
        <p:spPr>
          <a:xfrm>
            <a:off x="969264" y="5084064"/>
            <a:ext cx="5852160" cy="566928"/>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Current stickiness may be propped up by promotional pricing — maturity is the real retention test.</a:t>
            </a:r>
            <a:endParaRPr lang="en-US" sz="1100" dirty="0"/>
          </a:p>
        </p:txBody>
      </p:sp>
      <p:sp>
        <p:nvSpPr>
          <p:cNvPr id="31" name="Shape 29"/>
          <p:cNvSpPr/>
          <p:nvPr/>
        </p:nvSpPr>
        <p:spPr>
          <a:xfrm>
            <a:off x="7479792" y="3621024"/>
            <a:ext cx="4325112" cy="2212848"/>
          </a:xfrm>
          <a:prstGeom prst="roundRect">
            <a:avLst>
              <a:gd name="adj" fmla="val 3719"/>
            </a:avLst>
          </a:prstGeom>
          <a:solidFill>
            <a:srgbClr val="FBF0E6"/>
          </a:solidFill>
          <a:ln/>
        </p:spPr>
      </p:sp>
      <p:sp>
        <p:nvSpPr>
          <p:cNvPr id="32" name="Text 30"/>
          <p:cNvSpPr/>
          <p:nvPr/>
        </p:nvSpPr>
        <p:spPr>
          <a:xfrm>
            <a:off x="7735824" y="376732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Highest runoff-risk subset</a:t>
            </a:r>
            <a:endParaRPr lang="en-US" sz="1400" dirty="0"/>
          </a:p>
        </p:txBody>
      </p:sp>
      <p:sp>
        <p:nvSpPr>
          <p:cNvPr id="33" name="Text 31"/>
          <p:cNvSpPr/>
          <p:nvPr/>
        </p:nvSpPr>
        <p:spPr>
          <a:xfrm>
            <a:off x="7735824" y="404164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Stickiness &lt; 60 and rate sensitivity ≥ 60</a:t>
            </a:r>
            <a:endParaRPr lang="en-US" sz="950" dirty="0"/>
          </a:p>
        </p:txBody>
      </p:sp>
      <p:sp>
        <p:nvSpPr>
          <p:cNvPr id="34" name="Text 32"/>
          <p:cNvSpPr/>
          <p:nvPr/>
        </p:nvSpPr>
        <p:spPr>
          <a:xfrm>
            <a:off x="7735824" y="4261104"/>
            <a:ext cx="1645920" cy="384048"/>
          </a:xfrm>
          <a:prstGeom prst="rect">
            <a:avLst/>
          </a:prstGeom>
          <a:noFill/>
          <a:ln/>
        </p:spPr>
        <p:txBody>
          <a:bodyPr wrap="square" lIns="0" tIns="0" rIns="0" bIns="0" rtlCol="0" anchor="ctr"/>
          <a:lstStyle/>
          <a:p>
            <a:pPr indent="0" marL="0">
              <a:buNone/>
            </a:pPr>
            <a:r>
              <a:rPr lang="en-US" sz="1900" b="1" dirty="0">
                <a:solidFill>
                  <a:srgbClr val="C00000"/>
                </a:solidFill>
                <a:latin typeface="Graphik TH" pitchFamily="34" charset="0"/>
                <a:ea typeface="Graphik TH" pitchFamily="34" charset="-122"/>
                <a:cs typeface="Graphik TH" pitchFamily="34" charset="-120"/>
              </a:rPr>
              <a:t>THB 6m</a:t>
            </a:r>
            <a:endParaRPr lang="en-US" sz="1900" dirty="0"/>
          </a:p>
        </p:txBody>
      </p:sp>
      <p:sp>
        <p:nvSpPr>
          <p:cNvPr id="35" name="Text 33"/>
          <p:cNvSpPr/>
          <p:nvPr/>
        </p:nvSpPr>
        <p:spPr>
          <a:xfrm>
            <a:off x="9418320" y="4261104"/>
            <a:ext cx="2103120" cy="384048"/>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Save Max</a:t>
            </a:r>
            <a:endParaRPr lang="en-US" sz="1100" dirty="0"/>
          </a:p>
        </p:txBody>
      </p:sp>
      <p:sp>
        <p:nvSpPr>
          <p:cNvPr id="36" name="Text 34"/>
          <p:cNvSpPr/>
          <p:nvPr/>
        </p:nvSpPr>
        <p:spPr>
          <a:xfrm>
            <a:off x="7735824" y="4736592"/>
            <a:ext cx="1645920" cy="384048"/>
          </a:xfrm>
          <a:prstGeom prst="rect">
            <a:avLst/>
          </a:prstGeom>
          <a:noFill/>
          <a:ln/>
        </p:spPr>
        <p:txBody>
          <a:bodyPr wrap="square" lIns="0" tIns="0" rIns="0" bIns="0" rtlCol="0" anchor="ctr"/>
          <a:lstStyle/>
          <a:p>
            <a:pPr indent="0" marL="0">
              <a:buNone/>
            </a:pPr>
            <a:r>
              <a:rPr lang="en-US" sz="1900" b="1" dirty="0">
                <a:solidFill>
                  <a:srgbClr val="C00000"/>
                </a:solidFill>
                <a:latin typeface="Graphik TH" pitchFamily="34" charset="0"/>
                <a:ea typeface="Graphik TH" pitchFamily="34" charset="-122"/>
                <a:cs typeface="Graphik TH" pitchFamily="34" charset="-120"/>
              </a:rPr>
              <a:t>THB 92m</a:t>
            </a:r>
            <a:endParaRPr lang="en-US" sz="1900" dirty="0"/>
          </a:p>
        </p:txBody>
      </p:sp>
      <p:sp>
        <p:nvSpPr>
          <p:cNvPr id="37" name="Text 35"/>
          <p:cNvSpPr/>
          <p:nvPr/>
        </p:nvSpPr>
        <p:spPr>
          <a:xfrm>
            <a:off x="9418320" y="4736592"/>
            <a:ext cx="2103120" cy="384048"/>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Save More</a:t>
            </a:r>
            <a:endParaRPr lang="en-US" sz="1100" dirty="0"/>
          </a:p>
        </p:txBody>
      </p:sp>
      <p:sp>
        <p:nvSpPr>
          <p:cNvPr id="38" name="Text 36"/>
          <p:cNvSpPr/>
          <p:nvPr/>
        </p:nvSpPr>
        <p:spPr>
          <a:xfrm>
            <a:off x="7735824" y="5285232"/>
            <a:ext cx="3813048" cy="274320"/>
          </a:xfrm>
          <a:prstGeom prst="rect">
            <a:avLst/>
          </a:prstGeom>
          <a:noFill/>
          <a:ln/>
        </p:spPr>
        <p:txBody>
          <a:bodyPr wrap="square" lIns="0" tIns="0" rIns="0" bIns="0" rtlCol="0" anchor="ctr"/>
          <a:lstStyle/>
          <a:p>
            <a:pPr indent="0" marL="0">
              <a:buNone/>
            </a:pPr>
            <a:r>
              <a:rPr lang="en-US" sz="1050" b="1" dirty="0">
                <a:solidFill>
                  <a:srgbClr val="045D66"/>
                </a:solidFill>
                <a:latin typeface="Graphik TH" pitchFamily="34" charset="0"/>
                <a:ea typeface="Graphik TH" pitchFamily="34" charset="-122"/>
                <a:cs typeface="Graphik TH" pitchFamily="34" charset="-120"/>
              </a:rPr>
              <a:t>Prioritise for maturity and repricing retention actions.</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The two scores, side by side</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*20-day engagement target is prorated by tenure. Rate-sensitivity cut-offs are initial heuristics, to be validated after maturity.</a:t>
            </a:r>
            <a:endParaRPr lang="en-US" sz="1150" dirty="0"/>
          </a:p>
        </p:txBody>
      </p:sp>
      <p:sp>
        <p:nvSpPr>
          <p:cNvPr id="4" name="Text 2"/>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Stickiness measures retention behaviour; rate sensitivity measures behaviour around the promotional rate caps.</a:t>
            </a:r>
            <a:endParaRPr lang="en-US" sz="1400" dirty="0"/>
          </a:p>
        </p:txBody>
      </p:sp>
      <p:sp>
        <p:nvSpPr>
          <p:cNvPr id="5" name="Shape 3"/>
          <p:cNvSpPr/>
          <p:nvPr/>
        </p:nvSpPr>
        <p:spPr>
          <a:xfrm>
            <a:off x="530352" y="1645920"/>
            <a:ext cx="5522976" cy="4187952"/>
          </a:xfrm>
          <a:prstGeom prst="roundRect">
            <a:avLst>
              <a:gd name="adj" fmla="val 1965"/>
            </a:avLst>
          </a:prstGeom>
          <a:solidFill>
            <a:srgbClr val="F1F4F9"/>
          </a:solidFill>
          <a:ln/>
        </p:spPr>
      </p:sp>
      <p:sp>
        <p:nvSpPr>
          <p:cNvPr id="6" name="Text 4"/>
          <p:cNvSpPr/>
          <p:nvPr/>
        </p:nvSpPr>
        <p:spPr>
          <a:xfrm>
            <a:off x="786384" y="1773936"/>
            <a:ext cx="5010912" cy="310896"/>
          </a:xfrm>
          <a:prstGeom prst="rect">
            <a:avLst/>
          </a:prstGeom>
          <a:noFill/>
          <a:ln/>
        </p:spPr>
        <p:txBody>
          <a:bodyPr wrap="square" lIns="0" tIns="0" rIns="0" bIns="0" rtlCol="0" anchor="ctr"/>
          <a:lstStyle/>
          <a:p>
            <a:pPr indent="0" marL="0">
              <a:buNone/>
            </a:pPr>
            <a:r>
              <a:rPr lang="en-US" sz="1500" b="1" dirty="0">
                <a:solidFill>
                  <a:srgbClr val="045D66"/>
                </a:solidFill>
                <a:latin typeface="Cambria" pitchFamily="34" charset="0"/>
                <a:ea typeface="Cambria" pitchFamily="34" charset="-122"/>
                <a:cs typeface="Cambria" pitchFamily="34" charset="-120"/>
              </a:rPr>
              <a:t>1)  Deposit stickiness</a:t>
            </a:r>
            <a:endParaRPr lang="en-US" sz="1500" dirty="0"/>
          </a:p>
        </p:txBody>
      </p:sp>
      <p:sp>
        <p:nvSpPr>
          <p:cNvPr id="7" name="Shape 5"/>
          <p:cNvSpPr/>
          <p:nvPr/>
        </p:nvSpPr>
        <p:spPr>
          <a:xfrm>
            <a:off x="786384" y="2139696"/>
            <a:ext cx="5010912" cy="420624"/>
          </a:xfrm>
          <a:prstGeom prst="roundRect">
            <a:avLst>
              <a:gd name="adj" fmla="val 19565"/>
            </a:avLst>
          </a:prstGeom>
          <a:solidFill>
            <a:srgbClr val="E8F6F3"/>
          </a:solidFill>
          <a:ln/>
        </p:spPr>
      </p:sp>
      <p:sp>
        <p:nvSpPr>
          <p:cNvPr id="8" name="Text 6"/>
          <p:cNvSpPr/>
          <p:nvPr/>
        </p:nvSpPr>
        <p:spPr>
          <a:xfrm>
            <a:off x="786384" y="2139696"/>
            <a:ext cx="5010912" cy="420624"/>
          </a:xfrm>
          <a:prstGeom prst="rect">
            <a:avLst/>
          </a:prstGeom>
          <a:noFill/>
          <a:ln/>
        </p:spPr>
        <p:txBody>
          <a:bodyPr wrap="square" lIns="0" tIns="0" rIns="0" bIns="0" rtlCol="0" anchor="ctr"/>
          <a:lstStyle/>
          <a:p>
            <a:pPr algn="ctr" indent="0" marL="0">
              <a:buNone/>
            </a:pPr>
            <a:r>
              <a:rPr lang="en-US" sz="1100" b="1" dirty="0">
                <a:solidFill>
                  <a:srgbClr val="16233D"/>
                </a:solidFill>
                <a:latin typeface="Graphik TH" pitchFamily="34" charset="0"/>
                <a:ea typeface="Graphik TH" pitchFamily="34" charset="-122"/>
                <a:cs typeface="Graphik TH" pitchFamily="34" charset="-120"/>
              </a:rPr>
              <a:t>Score = 40% BP + 25% FC + 20% RI + 15% DE</a:t>
            </a:r>
            <a:endParaRPr lang="en-US" sz="1100" dirty="0"/>
          </a:p>
        </p:txBody>
      </p:sp>
      <p:sp>
        <p:nvSpPr>
          <p:cNvPr id="9" name="Text 7"/>
          <p:cNvSpPr/>
          <p:nvPr/>
        </p:nvSpPr>
        <p:spPr>
          <a:xfrm>
            <a:off x="786384" y="2706624"/>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BP · Balance persistence</a:t>
            </a:r>
            <a:endParaRPr lang="en-US" sz="1000" dirty="0"/>
          </a:p>
        </p:txBody>
      </p:sp>
      <p:sp>
        <p:nvSpPr>
          <p:cNvPr id="10" name="Text 8"/>
          <p:cNvSpPr/>
          <p:nvPr/>
        </p:nvSpPr>
        <p:spPr>
          <a:xfrm>
            <a:off x="2752344" y="2706624"/>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Latest avg balance ÷ prior avg balance</a:t>
            </a:r>
            <a:endParaRPr lang="en-US" sz="1000" dirty="0"/>
          </a:p>
        </p:txBody>
      </p:sp>
      <p:sp>
        <p:nvSpPr>
          <p:cNvPr id="11" name="Text 9"/>
          <p:cNvSpPr/>
          <p:nvPr/>
        </p:nvSpPr>
        <p:spPr>
          <a:xfrm>
            <a:off x="786384" y="3054096"/>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FC · Funding continuity</a:t>
            </a:r>
            <a:endParaRPr lang="en-US" sz="1000" dirty="0"/>
          </a:p>
        </p:txBody>
      </p:sp>
      <p:sp>
        <p:nvSpPr>
          <p:cNvPr id="12" name="Text 10"/>
          <p:cNvSpPr/>
          <p:nvPr/>
        </p:nvSpPr>
        <p:spPr>
          <a:xfrm>
            <a:off x="2752344" y="3054096"/>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 eligible days with balance ≥ THB100</a:t>
            </a:r>
            <a:endParaRPr lang="en-US" sz="1000" dirty="0"/>
          </a:p>
        </p:txBody>
      </p:sp>
      <p:sp>
        <p:nvSpPr>
          <p:cNvPr id="13" name="Text 11"/>
          <p:cNvSpPr/>
          <p:nvPr/>
        </p:nvSpPr>
        <p:spPr>
          <a:xfrm>
            <a:off x="786384" y="3401568"/>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RI · Recurring inflow</a:t>
            </a:r>
            <a:endParaRPr lang="en-US" sz="1000" dirty="0"/>
          </a:p>
        </p:txBody>
      </p:sp>
      <p:sp>
        <p:nvSpPr>
          <p:cNvPr id="14" name="Text 12"/>
          <p:cNvSpPr/>
          <p:nvPr/>
        </p:nvSpPr>
        <p:spPr>
          <a:xfrm>
            <a:off x="2752344" y="3401568"/>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 eligible months with transfer-in ≥ THB100</a:t>
            </a:r>
            <a:endParaRPr lang="en-US" sz="1000" dirty="0"/>
          </a:p>
        </p:txBody>
      </p:sp>
      <p:sp>
        <p:nvSpPr>
          <p:cNvPr id="15" name="Text 13"/>
          <p:cNvSpPr/>
          <p:nvPr/>
        </p:nvSpPr>
        <p:spPr>
          <a:xfrm>
            <a:off x="786384" y="3749040"/>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DE · Daily engagement</a:t>
            </a:r>
            <a:endParaRPr lang="en-US" sz="1000" dirty="0"/>
          </a:p>
        </p:txBody>
      </p:sp>
      <p:sp>
        <p:nvSpPr>
          <p:cNvPr id="16" name="Text 14"/>
          <p:cNvSpPr/>
          <p:nvPr/>
        </p:nvSpPr>
        <p:spPr>
          <a:xfrm>
            <a:off x="2752344" y="3749040"/>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Active txn days ÷ 20-day / 90-day target*</a:t>
            </a:r>
            <a:endParaRPr lang="en-US" sz="1000" dirty="0"/>
          </a:p>
        </p:txBody>
      </p:sp>
      <p:sp>
        <p:nvSpPr>
          <p:cNvPr id="17" name="Shape 15"/>
          <p:cNvSpPr/>
          <p:nvPr/>
        </p:nvSpPr>
        <p:spPr>
          <a:xfrm>
            <a:off x="786384" y="4151376"/>
            <a:ext cx="5010912" cy="10973"/>
          </a:xfrm>
          <a:prstGeom prst="rect">
            <a:avLst/>
          </a:prstGeom>
          <a:solidFill>
            <a:srgbClr val="D8DFE9"/>
          </a:solidFill>
          <a:ln/>
        </p:spPr>
      </p:sp>
      <p:sp>
        <p:nvSpPr>
          <p:cNvPr id="18" name="Text 16"/>
          <p:cNvSpPr/>
          <p:nvPr/>
        </p:nvSpPr>
        <p:spPr>
          <a:xfrm>
            <a:off x="786384" y="4261104"/>
            <a:ext cx="5010912" cy="256032"/>
          </a:xfrm>
          <a:prstGeom prst="rect">
            <a:avLst/>
          </a:prstGeom>
          <a:noFill/>
          <a:ln/>
        </p:spPr>
        <p:txBody>
          <a:bodyPr wrap="square" lIns="0" tIns="0" rIns="0" bIns="0" rtlCol="0" anchor="ctr"/>
          <a:lstStyle/>
          <a:p>
            <a:pPr indent="0" marL="0">
              <a:buNone/>
            </a:pPr>
            <a:r>
              <a:rPr lang="en-US" sz="1150" b="1" dirty="0">
                <a:solidFill>
                  <a:srgbClr val="045D66"/>
                </a:solidFill>
                <a:latin typeface="Graphik TH" pitchFamily="34" charset="0"/>
                <a:ea typeface="Graphik TH" pitchFamily="34" charset="-122"/>
                <a:cs typeface="Graphik TH" pitchFamily="34" charset="-120"/>
              </a:rPr>
              <a:t>In plain terms</a:t>
            </a:r>
            <a:endParaRPr lang="en-US" sz="1150" dirty="0"/>
          </a:p>
        </p:txBody>
      </p:sp>
      <p:sp>
        <p:nvSpPr>
          <p:cNvPr id="19" name="Text 17"/>
          <p:cNvSpPr/>
          <p:nvPr/>
        </p:nvSpPr>
        <p:spPr>
          <a:xfrm>
            <a:off x="786384" y="4517136"/>
            <a:ext cx="5010912" cy="566928"/>
          </a:xfrm>
          <a:prstGeom prst="rect">
            <a:avLst/>
          </a:prstGeom>
          <a:noFill/>
          <a:ln/>
        </p:spPr>
        <p:txBody>
          <a:bodyPr wrap="square" lIns="0" tIns="0" rIns="0" bIns="0" rtlCol="0" anchor="t"/>
          <a:lstStyle/>
          <a:p>
            <a:pPr indent="0" marL="0">
              <a:buNone/>
            </a:pPr>
            <a:r>
              <a:rPr lang="en-US" sz="1050" dirty="0">
                <a:solidFill>
                  <a:srgbClr val="16233D"/>
                </a:solidFill>
                <a:latin typeface="Graphik TH" pitchFamily="34" charset="0"/>
                <a:ea typeface="Graphik TH" pitchFamily="34" charset="-122"/>
                <a:cs typeface="Graphik TH" pitchFamily="34" charset="-120"/>
              </a:rPr>
              <a:t>Higher score = money stays longer, the account stays funded, fresh money keeps arriving, and the customer uses the account regularly.</a:t>
            </a:r>
            <a:endParaRPr lang="en-US" sz="1050" dirty="0"/>
          </a:p>
        </p:txBody>
      </p:sp>
      <p:sp>
        <p:nvSpPr>
          <p:cNvPr id="20" name="Text 18"/>
          <p:cNvSpPr/>
          <p:nvPr/>
        </p:nvSpPr>
        <p:spPr>
          <a:xfrm>
            <a:off x="786384" y="5138928"/>
            <a:ext cx="5010912"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Score cut-offs</a:t>
            </a:r>
            <a:endParaRPr lang="en-US" sz="1100" dirty="0"/>
          </a:p>
        </p:txBody>
      </p:sp>
      <p:sp>
        <p:nvSpPr>
          <p:cNvPr id="21" name="Shape 19"/>
          <p:cNvSpPr/>
          <p:nvPr/>
        </p:nvSpPr>
        <p:spPr>
          <a:xfrm>
            <a:off x="786384" y="5449824"/>
            <a:ext cx="310896" cy="173736"/>
          </a:xfrm>
          <a:prstGeom prst="roundRect">
            <a:avLst>
              <a:gd name="adj" fmla="val 21053"/>
            </a:avLst>
          </a:prstGeom>
          <a:solidFill>
            <a:srgbClr val="165A73"/>
          </a:solidFill>
          <a:ln/>
        </p:spPr>
      </p:sp>
      <p:sp>
        <p:nvSpPr>
          <p:cNvPr id="22" name="Text 20"/>
          <p:cNvSpPr/>
          <p:nvPr/>
        </p:nvSpPr>
        <p:spPr>
          <a:xfrm>
            <a:off x="1170432"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80–100</a:t>
            </a:r>
            <a:endParaRPr lang="en-US" sz="850" dirty="0"/>
          </a:p>
        </p:txBody>
      </p:sp>
      <p:sp>
        <p:nvSpPr>
          <p:cNvPr id="23" name="Text 21"/>
          <p:cNvSpPr/>
          <p:nvPr/>
        </p:nvSpPr>
        <p:spPr>
          <a:xfrm>
            <a:off x="1170432"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Very High</a:t>
            </a:r>
            <a:endParaRPr lang="en-US" sz="750" dirty="0"/>
          </a:p>
        </p:txBody>
      </p:sp>
      <p:sp>
        <p:nvSpPr>
          <p:cNvPr id="24" name="Shape 22"/>
          <p:cNvSpPr/>
          <p:nvPr/>
        </p:nvSpPr>
        <p:spPr>
          <a:xfrm>
            <a:off x="1788566" y="5449824"/>
            <a:ext cx="310896" cy="173736"/>
          </a:xfrm>
          <a:prstGeom prst="roundRect">
            <a:avLst>
              <a:gd name="adj" fmla="val 21053"/>
            </a:avLst>
          </a:prstGeom>
          <a:solidFill>
            <a:srgbClr val="1E8E86"/>
          </a:solidFill>
          <a:ln/>
        </p:spPr>
      </p:sp>
      <p:sp>
        <p:nvSpPr>
          <p:cNvPr id="25" name="Text 23"/>
          <p:cNvSpPr/>
          <p:nvPr/>
        </p:nvSpPr>
        <p:spPr>
          <a:xfrm>
            <a:off x="2172614"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60–79</a:t>
            </a:r>
            <a:endParaRPr lang="en-US" sz="850" dirty="0"/>
          </a:p>
        </p:txBody>
      </p:sp>
      <p:sp>
        <p:nvSpPr>
          <p:cNvPr id="26" name="Text 24"/>
          <p:cNvSpPr/>
          <p:nvPr/>
        </p:nvSpPr>
        <p:spPr>
          <a:xfrm>
            <a:off x="2172614"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High</a:t>
            </a:r>
            <a:endParaRPr lang="en-US" sz="750" dirty="0"/>
          </a:p>
        </p:txBody>
      </p:sp>
      <p:sp>
        <p:nvSpPr>
          <p:cNvPr id="27" name="Shape 25"/>
          <p:cNvSpPr/>
          <p:nvPr/>
        </p:nvSpPr>
        <p:spPr>
          <a:xfrm>
            <a:off x="2790749" y="5449824"/>
            <a:ext cx="310896" cy="173736"/>
          </a:xfrm>
          <a:prstGeom prst="roundRect">
            <a:avLst>
              <a:gd name="adj" fmla="val 21053"/>
            </a:avLst>
          </a:prstGeom>
          <a:solidFill>
            <a:srgbClr val="3FB89F"/>
          </a:solidFill>
          <a:ln/>
        </p:spPr>
      </p:sp>
      <p:sp>
        <p:nvSpPr>
          <p:cNvPr id="28" name="Text 26"/>
          <p:cNvSpPr/>
          <p:nvPr/>
        </p:nvSpPr>
        <p:spPr>
          <a:xfrm>
            <a:off x="3174797"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40–59</a:t>
            </a:r>
            <a:endParaRPr lang="en-US" sz="850" dirty="0"/>
          </a:p>
        </p:txBody>
      </p:sp>
      <p:sp>
        <p:nvSpPr>
          <p:cNvPr id="29" name="Text 27"/>
          <p:cNvSpPr/>
          <p:nvPr/>
        </p:nvSpPr>
        <p:spPr>
          <a:xfrm>
            <a:off x="3174797"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Medium</a:t>
            </a:r>
            <a:endParaRPr lang="en-US" sz="750" dirty="0"/>
          </a:p>
        </p:txBody>
      </p:sp>
      <p:sp>
        <p:nvSpPr>
          <p:cNvPr id="30" name="Shape 28"/>
          <p:cNvSpPr/>
          <p:nvPr/>
        </p:nvSpPr>
        <p:spPr>
          <a:xfrm>
            <a:off x="3792931" y="5449824"/>
            <a:ext cx="310896" cy="173736"/>
          </a:xfrm>
          <a:prstGeom prst="roundRect">
            <a:avLst>
              <a:gd name="adj" fmla="val 21053"/>
            </a:avLst>
          </a:prstGeom>
          <a:solidFill>
            <a:srgbClr val="E9A03B"/>
          </a:solidFill>
          <a:ln/>
        </p:spPr>
      </p:sp>
      <p:sp>
        <p:nvSpPr>
          <p:cNvPr id="31" name="Text 29"/>
          <p:cNvSpPr/>
          <p:nvPr/>
        </p:nvSpPr>
        <p:spPr>
          <a:xfrm>
            <a:off x="4176979"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20–39</a:t>
            </a:r>
            <a:endParaRPr lang="en-US" sz="850" dirty="0"/>
          </a:p>
        </p:txBody>
      </p:sp>
      <p:sp>
        <p:nvSpPr>
          <p:cNvPr id="32" name="Text 30"/>
          <p:cNvSpPr/>
          <p:nvPr/>
        </p:nvSpPr>
        <p:spPr>
          <a:xfrm>
            <a:off x="4176979"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Low</a:t>
            </a:r>
            <a:endParaRPr lang="en-US" sz="750" dirty="0"/>
          </a:p>
        </p:txBody>
      </p:sp>
      <p:sp>
        <p:nvSpPr>
          <p:cNvPr id="33" name="Shape 31"/>
          <p:cNvSpPr/>
          <p:nvPr/>
        </p:nvSpPr>
        <p:spPr>
          <a:xfrm>
            <a:off x="4795114" y="5449824"/>
            <a:ext cx="310896" cy="173736"/>
          </a:xfrm>
          <a:prstGeom prst="roundRect">
            <a:avLst>
              <a:gd name="adj" fmla="val 21053"/>
            </a:avLst>
          </a:prstGeom>
          <a:solidFill>
            <a:srgbClr val="8DA0B8"/>
          </a:solidFill>
          <a:ln/>
        </p:spPr>
      </p:sp>
      <p:sp>
        <p:nvSpPr>
          <p:cNvPr id="34" name="Text 32"/>
          <p:cNvSpPr/>
          <p:nvPr/>
        </p:nvSpPr>
        <p:spPr>
          <a:xfrm>
            <a:off x="5179162"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&lt;20</a:t>
            </a:r>
            <a:endParaRPr lang="en-US" sz="850" dirty="0"/>
          </a:p>
        </p:txBody>
      </p:sp>
      <p:sp>
        <p:nvSpPr>
          <p:cNvPr id="35" name="Text 33"/>
          <p:cNvSpPr/>
          <p:nvPr/>
        </p:nvSpPr>
        <p:spPr>
          <a:xfrm>
            <a:off x="5179162"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Very Low</a:t>
            </a:r>
            <a:endParaRPr lang="en-US" sz="750" dirty="0"/>
          </a:p>
        </p:txBody>
      </p:sp>
      <p:sp>
        <p:nvSpPr>
          <p:cNvPr id="36" name="Shape 34"/>
          <p:cNvSpPr/>
          <p:nvPr/>
        </p:nvSpPr>
        <p:spPr>
          <a:xfrm>
            <a:off x="6281928" y="1645920"/>
            <a:ext cx="5522976" cy="4187952"/>
          </a:xfrm>
          <a:prstGeom prst="roundRect">
            <a:avLst>
              <a:gd name="adj" fmla="val 1965"/>
            </a:avLst>
          </a:prstGeom>
          <a:solidFill>
            <a:srgbClr val="F1F4F9"/>
          </a:solidFill>
          <a:ln/>
        </p:spPr>
      </p:sp>
      <p:sp>
        <p:nvSpPr>
          <p:cNvPr id="37" name="Text 35"/>
          <p:cNvSpPr/>
          <p:nvPr/>
        </p:nvSpPr>
        <p:spPr>
          <a:xfrm>
            <a:off x="6537960" y="1773936"/>
            <a:ext cx="5010912" cy="310896"/>
          </a:xfrm>
          <a:prstGeom prst="rect">
            <a:avLst/>
          </a:prstGeom>
          <a:noFill/>
          <a:ln/>
        </p:spPr>
        <p:txBody>
          <a:bodyPr wrap="square" lIns="0" tIns="0" rIns="0" bIns="0" rtlCol="0" anchor="ctr"/>
          <a:lstStyle/>
          <a:p>
            <a:pPr indent="0" marL="0">
              <a:buNone/>
            </a:pPr>
            <a:r>
              <a:rPr lang="en-US" sz="1500" b="1" dirty="0">
                <a:solidFill>
                  <a:srgbClr val="045D66"/>
                </a:solidFill>
                <a:latin typeface="Cambria" pitchFamily="34" charset="0"/>
                <a:ea typeface="Cambria" pitchFamily="34" charset="-122"/>
                <a:cs typeface="Cambria" pitchFamily="34" charset="-120"/>
              </a:rPr>
              <a:t>2)  Rate sensitivity</a:t>
            </a:r>
            <a:endParaRPr lang="en-US" sz="1500" dirty="0"/>
          </a:p>
        </p:txBody>
      </p:sp>
      <p:sp>
        <p:nvSpPr>
          <p:cNvPr id="38" name="Shape 36"/>
          <p:cNvSpPr/>
          <p:nvPr/>
        </p:nvSpPr>
        <p:spPr>
          <a:xfrm>
            <a:off x="6537960" y="2139696"/>
            <a:ext cx="5010912" cy="420624"/>
          </a:xfrm>
          <a:prstGeom prst="roundRect">
            <a:avLst>
              <a:gd name="adj" fmla="val 19565"/>
            </a:avLst>
          </a:prstGeom>
          <a:solidFill>
            <a:srgbClr val="E8F6F3"/>
          </a:solidFill>
          <a:ln/>
        </p:spPr>
      </p:sp>
      <p:sp>
        <p:nvSpPr>
          <p:cNvPr id="39" name="Text 37"/>
          <p:cNvSpPr/>
          <p:nvPr/>
        </p:nvSpPr>
        <p:spPr>
          <a:xfrm>
            <a:off x="6537960" y="2139696"/>
            <a:ext cx="5010912" cy="420624"/>
          </a:xfrm>
          <a:prstGeom prst="rect">
            <a:avLst/>
          </a:prstGeom>
          <a:noFill/>
          <a:ln/>
        </p:spPr>
        <p:txBody>
          <a:bodyPr wrap="square" lIns="0" tIns="0" rIns="0" bIns="0" rtlCol="0" anchor="ctr"/>
          <a:lstStyle/>
          <a:p>
            <a:pPr algn="ctr" indent="0" marL="0">
              <a:buNone/>
            </a:pPr>
            <a:r>
              <a:rPr lang="en-US" sz="1100" b="1" dirty="0">
                <a:solidFill>
                  <a:srgbClr val="16233D"/>
                </a:solidFill>
                <a:latin typeface="Graphik TH" pitchFamily="34" charset="0"/>
                <a:ea typeface="Graphik TH" pitchFamily="34" charset="-122"/>
                <a:cs typeface="Graphik TH" pitchFamily="34" charset="-120"/>
              </a:rPr>
              <a:t>Score = 70% Cap Precision + 30% (1 − Above-Cap Ratio)</a:t>
            </a:r>
            <a:endParaRPr lang="en-US" sz="1100" dirty="0"/>
          </a:p>
        </p:txBody>
      </p:sp>
      <p:sp>
        <p:nvSpPr>
          <p:cNvPr id="40" name="Text 38"/>
          <p:cNvSpPr/>
          <p:nvPr/>
        </p:nvSpPr>
        <p:spPr>
          <a:xfrm>
            <a:off x="6537960" y="2706624"/>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Cap precision</a:t>
            </a:r>
            <a:endParaRPr lang="en-US" sz="1000" dirty="0"/>
          </a:p>
        </p:txBody>
      </p:sp>
      <p:sp>
        <p:nvSpPr>
          <p:cNvPr id="41" name="Text 39"/>
          <p:cNvSpPr/>
          <p:nvPr/>
        </p:nvSpPr>
        <p:spPr>
          <a:xfrm>
            <a:off x="8503920" y="2706624"/>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Near-cap promo products ÷ active promo products</a:t>
            </a:r>
            <a:endParaRPr lang="en-US" sz="1000" dirty="0"/>
          </a:p>
        </p:txBody>
      </p:sp>
      <p:sp>
        <p:nvSpPr>
          <p:cNvPr id="42" name="Text 40"/>
          <p:cNvSpPr/>
          <p:nvPr/>
        </p:nvSpPr>
        <p:spPr>
          <a:xfrm>
            <a:off x="6537960" y="3054096"/>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Above-cap balance ratio</a:t>
            </a:r>
            <a:endParaRPr lang="en-US" sz="1000" dirty="0"/>
          </a:p>
        </p:txBody>
      </p:sp>
      <p:sp>
        <p:nvSpPr>
          <p:cNvPr id="43" name="Text 41"/>
          <p:cNvSpPr/>
          <p:nvPr/>
        </p:nvSpPr>
        <p:spPr>
          <a:xfrm>
            <a:off x="8503920" y="3054096"/>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Balance above caps ÷ total promo-pocket balance</a:t>
            </a:r>
            <a:endParaRPr lang="en-US" sz="1000" dirty="0"/>
          </a:p>
        </p:txBody>
      </p:sp>
      <p:sp>
        <p:nvSpPr>
          <p:cNvPr id="44" name="Text 42"/>
          <p:cNvSpPr/>
          <p:nvPr/>
        </p:nvSpPr>
        <p:spPr>
          <a:xfrm>
            <a:off x="6537960" y="3401568"/>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Promo caps</a:t>
            </a:r>
            <a:endParaRPr lang="en-US" sz="1000" dirty="0"/>
          </a:p>
        </p:txBody>
      </p:sp>
      <p:sp>
        <p:nvSpPr>
          <p:cNvPr id="45" name="Text 43"/>
          <p:cNvSpPr/>
          <p:nvPr/>
        </p:nvSpPr>
        <p:spPr>
          <a:xfrm>
            <a:off x="8503920" y="3401568"/>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Save Max 4%: THB 20k · Save More 2%: THB 1m</a:t>
            </a:r>
            <a:endParaRPr lang="en-US" sz="1000" dirty="0"/>
          </a:p>
        </p:txBody>
      </p:sp>
      <p:sp>
        <p:nvSpPr>
          <p:cNvPr id="46" name="Text 44"/>
          <p:cNvSpPr/>
          <p:nvPr/>
        </p:nvSpPr>
        <p:spPr>
          <a:xfrm>
            <a:off x="6537960" y="3749040"/>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Near-cap</a:t>
            </a:r>
            <a:endParaRPr lang="en-US" sz="1000" dirty="0"/>
          </a:p>
        </p:txBody>
      </p:sp>
      <p:sp>
        <p:nvSpPr>
          <p:cNvPr id="47" name="Text 45"/>
          <p:cNvSpPr/>
          <p:nvPr/>
        </p:nvSpPr>
        <p:spPr>
          <a:xfrm>
            <a:off x="8503920" y="3749040"/>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Within ±5% of the promotional cap</a:t>
            </a:r>
            <a:endParaRPr lang="en-US" sz="1000" dirty="0"/>
          </a:p>
        </p:txBody>
      </p:sp>
      <p:sp>
        <p:nvSpPr>
          <p:cNvPr id="48" name="Shape 46"/>
          <p:cNvSpPr/>
          <p:nvPr/>
        </p:nvSpPr>
        <p:spPr>
          <a:xfrm>
            <a:off x="6537960" y="4151376"/>
            <a:ext cx="5010912" cy="10973"/>
          </a:xfrm>
          <a:prstGeom prst="rect">
            <a:avLst/>
          </a:prstGeom>
          <a:solidFill>
            <a:srgbClr val="D8DFE9"/>
          </a:solidFill>
          <a:ln/>
        </p:spPr>
      </p:sp>
      <p:sp>
        <p:nvSpPr>
          <p:cNvPr id="49" name="Text 47"/>
          <p:cNvSpPr/>
          <p:nvPr/>
        </p:nvSpPr>
        <p:spPr>
          <a:xfrm>
            <a:off x="6537960" y="4261104"/>
            <a:ext cx="5010912" cy="256032"/>
          </a:xfrm>
          <a:prstGeom prst="rect">
            <a:avLst/>
          </a:prstGeom>
          <a:noFill/>
          <a:ln/>
        </p:spPr>
        <p:txBody>
          <a:bodyPr wrap="square" lIns="0" tIns="0" rIns="0" bIns="0" rtlCol="0" anchor="ctr"/>
          <a:lstStyle/>
          <a:p>
            <a:pPr indent="0" marL="0">
              <a:buNone/>
            </a:pPr>
            <a:r>
              <a:rPr lang="en-US" sz="1150" b="1" dirty="0">
                <a:solidFill>
                  <a:srgbClr val="045D66"/>
                </a:solidFill>
                <a:latin typeface="Graphik TH" pitchFamily="34" charset="0"/>
                <a:ea typeface="Graphik TH" pitchFamily="34" charset="-122"/>
                <a:cs typeface="Graphik TH" pitchFamily="34" charset="-120"/>
              </a:rPr>
              <a:t>In plain terms</a:t>
            </a:r>
            <a:endParaRPr lang="en-US" sz="1150" dirty="0"/>
          </a:p>
        </p:txBody>
      </p:sp>
      <p:sp>
        <p:nvSpPr>
          <p:cNvPr id="50" name="Text 48"/>
          <p:cNvSpPr/>
          <p:nvPr/>
        </p:nvSpPr>
        <p:spPr>
          <a:xfrm>
            <a:off x="6537960" y="4517136"/>
            <a:ext cx="5010912" cy="566928"/>
          </a:xfrm>
          <a:prstGeom prst="rect">
            <a:avLst/>
          </a:prstGeom>
          <a:noFill/>
          <a:ln/>
        </p:spPr>
        <p:txBody>
          <a:bodyPr wrap="square" lIns="0" tIns="0" rIns="0" bIns="0" rtlCol="0" anchor="t"/>
          <a:lstStyle/>
          <a:p>
            <a:pPr indent="0" marL="0">
              <a:buNone/>
            </a:pPr>
            <a:r>
              <a:rPr lang="en-US" sz="1050" dirty="0">
                <a:solidFill>
                  <a:srgbClr val="16233D"/>
                </a:solidFill>
                <a:latin typeface="Graphik TH" pitchFamily="34" charset="0"/>
                <a:ea typeface="Graphik TH" pitchFamily="34" charset="-122"/>
                <a:cs typeface="Graphik TH" pitchFamily="34" charset="-120"/>
              </a:rPr>
              <a:t>Higher score = the customer behaves like a rate optimiser, keeping balances close to the promo caps and little money above them.</a:t>
            </a:r>
            <a:endParaRPr lang="en-US" sz="1050" dirty="0"/>
          </a:p>
        </p:txBody>
      </p:sp>
      <p:sp>
        <p:nvSpPr>
          <p:cNvPr id="51" name="Text 49"/>
          <p:cNvSpPr/>
          <p:nvPr/>
        </p:nvSpPr>
        <p:spPr>
          <a:xfrm>
            <a:off x="6537960" y="5138928"/>
            <a:ext cx="5010912"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Score cut-offs</a:t>
            </a:r>
            <a:endParaRPr lang="en-US" sz="1100" dirty="0"/>
          </a:p>
        </p:txBody>
      </p:sp>
      <p:sp>
        <p:nvSpPr>
          <p:cNvPr id="52" name="Shape 50"/>
          <p:cNvSpPr/>
          <p:nvPr/>
        </p:nvSpPr>
        <p:spPr>
          <a:xfrm>
            <a:off x="6537960" y="5449824"/>
            <a:ext cx="310896" cy="173736"/>
          </a:xfrm>
          <a:prstGeom prst="roundRect">
            <a:avLst>
              <a:gd name="adj" fmla="val 21053"/>
            </a:avLst>
          </a:prstGeom>
          <a:solidFill>
            <a:srgbClr val="165A73"/>
          </a:solidFill>
          <a:ln/>
        </p:spPr>
      </p:sp>
      <p:sp>
        <p:nvSpPr>
          <p:cNvPr id="53" name="Text 51"/>
          <p:cNvSpPr/>
          <p:nvPr/>
        </p:nvSpPr>
        <p:spPr>
          <a:xfrm>
            <a:off x="6922008"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80–100</a:t>
            </a:r>
            <a:endParaRPr lang="en-US" sz="850" dirty="0"/>
          </a:p>
        </p:txBody>
      </p:sp>
      <p:sp>
        <p:nvSpPr>
          <p:cNvPr id="54" name="Text 52"/>
          <p:cNvSpPr/>
          <p:nvPr/>
        </p:nvSpPr>
        <p:spPr>
          <a:xfrm>
            <a:off x="6922008"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Very High</a:t>
            </a:r>
            <a:endParaRPr lang="en-US" sz="750" dirty="0"/>
          </a:p>
        </p:txBody>
      </p:sp>
      <p:sp>
        <p:nvSpPr>
          <p:cNvPr id="55" name="Shape 53"/>
          <p:cNvSpPr/>
          <p:nvPr/>
        </p:nvSpPr>
        <p:spPr>
          <a:xfrm>
            <a:off x="7540142" y="5449824"/>
            <a:ext cx="310896" cy="173736"/>
          </a:xfrm>
          <a:prstGeom prst="roundRect">
            <a:avLst>
              <a:gd name="adj" fmla="val 21053"/>
            </a:avLst>
          </a:prstGeom>
          <a:solidFill>
            <a:srgbClr val="1E8E86"/>
          </a:solidFill>
          <a:ln/>
        </p:spPr>
      </p:sp>
      <p:sp>
        <p:nvSpPr>
          <p:cNvPr id="56" name="Text 54"/>
          <p:cNvSpPr/>
          <p:nvPr/>
        </p:nvSpPr>
        <p:spPr>
          <a:xfrm>
            <a:off x="7924190"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60–79</a:t>
            </a:r>
            <a:endParaRPr lang="en-US" sz="850" dirty="0"/>
          </a:p>
        </p:txBody>
      </p:sp>
      <p:sp>
        <p:nvSpPr>
          <p:cNvPr id="57" name="Text 55"/>
          <p:cNvSpPr/>
          <p:nvPr/>
        </p:nvSpPr>
        <p:spPr>
          <a:xfrm>
            <a:off x="7924190"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High</a:t>
            </a:r>
            <a:endParaRPr lang="en-US" sz="750" dirty="0"/>
          </a:p>
        </p:txBody>
      </p:sp>
      <p:sp>
        <p:nvSpPr>
          <p:cNvPr id="58" name="Shape 56"/>
          <p:cNvSpPr/>
          <p:nvPr/>
        </p:nvSpPr>
        <p:spPr>
          <a:xfrm>
            <a:off x="8542325" y="5449824"/>
            <a:ext cx="310896" cy="173736"/>
          </a:xfrm>
          <a:prstGeom prst="roundRect">
            <a:avLst>
              <a:gd name="adj" fmla="val 21053"/>
            </a:avLst>
          </a:prstGeom>
          <a:solidFill>
            <a:srgbClr val="3FB89F"/>
          </a:solidFill>
          <a:ln/>
        </p:spPr>
      </p:sp>
      <p:sp>
        <p:nvSpPr>
          <p:cNvPr id="59" name="Text 57"/>
          <p:cNvSpPr/>
          <p:nvPr/>
        </p:nvSpPr>
        <p:spPr>
          <a:xfrm>
            <a:off x="8926373"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40–59</a:t>
            </a:r>
            <a:endParaRPr lang="en-US" sz="850" dirty="0"/>
          </a:p>
        </p:txBody>
      </p:sp>
      <p:sp>
        <p:nvSpPr>
          <p:cNvPr id="60" name="Text 58"/>
          <p:cNvSpPr/>
          <p:nvPr/>
        </p:nvSpPr>
        <p:spPr>
          <a:xfrm>
            <a:off x="8926373"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Medium</a:t>
            </a:r>
            <a:endParaRPr lang="en-US" sz="750" dirty="0"/>
          </a:p>
        </p:txBody>
      </p:sp>
      <p:sp>
        <p:nvSpPr>
          <p:cNvPr id="61" name="Shape 59"/>
          <p:cNvSpPr/>
          <p:nvPr/>
        </p:nvSpPr>
        <p:spPr>
          <a:xfrm>
            <a:off x="9544507" y="5449824"/>
            <a:ext cx="310896" cy="173736"/>
          </a:xfrm>
          <a:prstGeom prst="roundRect">
            <a:avLst>
              <a:gd name="adj" fmla="val 21053"/>
            </a:avLst>
          </a:prstGeom>
          <a:solidFill>
            <a:srgbClr val="E9A03B"/>
          </a:solidFill>
          <a:ln/>
        </p:spPr>
      </p:sp>
      <p:sp>
        <p:nvSpPr>
          <p:cNvPr id="62" name="Text 60"/>
          <p:cNvSpPr/>
          <p:nvPr/>
        </p:nvSpPr>
        <p:spPr>
          <a:xfrm>
            <a:off x="9928555"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20–39</a:t>
            </a:r>
            <a:endParaRPr lang="en-US" sz="850" dirty="0"/>
          </a:p>
        </p:txBody>
      </p:sp>
      <p:sp>
        <p:nvSpPr>
          <p:cNvPr id="63" name="Text 61"/>
          <p:cNvSpPr/>
          <p:nvPr/>
        </p:nvSpPr>
        <p:spPr>
          <a:xfrm>
            <a:off x="9928555"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Low</a:t>
            </a:r>
            <a:endParaRPr lang="en-US" sz="750" dirty="0"/>
          </a:p>
        </p:txBody>
      </p:sp>
      <p:sp>
        <p:nvSpPr>
          <p:cNvPr id="64" name="Shape 62"/>
          <p:cNvSpPr/>
          <p:nvPr/>
        </p:nvSpPr>
        <p:spPr>
          <a:xfrm>
            <a:off x="10546690" y="5449824"/>
            <a:ext cx="310896" cy="173736"/>
          </a:xfrm>
          <a:prstGeom prst="roundRect">
            <a:avLst>
              <a:gd name="adj" fmla="val 21053"/>
            </a:avLst>
          </a:prstGeom>
          <a:solidFill>
            <a:srgbClr val="8DA0B8"/>
          </a:solidFill>
          <a:ln/>
        </p:spPr>
      </p:sp>
      <p:sp>
        <p:nvSpPr>
          <p:cNvPr id="65" name="Text 63"/>
          <p:cNvSpPr/>
          <p:nvPr/>
        </p:nvSpPr>
        <p:spPr>
          <a:xfrm>
            <a:off x="10930738"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&lt;20</a:t>
            </a:r>
            <a:endParaRPr lang="en-US" sz="850" dirty="0"/>
          </a:p>
        </p:txBody>
      </p:sp>
      <p:sp>
        <p:nvSpPr>
          <p:cNvPr id="66" name="Text 64"/>
          <p:cNvSpPr/>
          <p:nvPr/>
        </p:nvSpPr>
        <p:spPr>
          <a:xfrm>
            <a:off x="10930738"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Very Low</a:t>
            </a:r>
            <a:endParaRPr lang="en-US" sz="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Two customers, equally sticky today — very different repricing risk</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*Illustrative examples. Stickiness measures observed retention behaviour; rate sensitivity measures how balances sit around the promotional caps.</a:t>
            </a:r>
            <a:endParaRPr lang="en-US" sz="1150" dirty="0"/>
          </a:p>
        </p:txBody>
      </p:sp>
      <p:sp>
        <p:nvSpPr>
          <p:cNvPr id="4" name="Text 2"/>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Both examples score Very High stickiness — they differ only in where balance sits relative to the caps.</a:t>
            </a:r>
            <a:endParaRPr lang="en-US" sz="1400" dirty="0"/>
          </a:p>
        </p:txBody>
      </p:sp>
      <p:sp>
        <p:nvSpPr>
          <p:cNvPr id="5" name="Shape 3"/>
          <p:cNvSpPr/>
          <p:nvPr/>
        </p:nvSpPr>
        <p:spPr>
          <a:xfrm>
            <a:off x="530352" y="1645920"/>
            <a:ext cx="5522976" cy="4169664"/>
          </a:xfrm>
          <a:prstGeom prst="roundRect">
            <a:avLst>
              <a:gd name="adj" fmla="val 1974"/>
            </a:avLst>
          </a:prstGeom>
          <a:solidFill>
            <a:srgbClr val="F1F4F9"/>
          </a:solidFill>
          <a:ln/>
        </p:spPr>
      </p:sp>
      <p:sp>
        <p:nvSpPr>
          <p:cNvPr id="6" name="Text 4"/>
          <p:cNvSpPr/>
          <p:nvPr/>
        </p:nvSpPr>
        <p:spPr>
          <a:xfrm>
            <a:off x="786384" y="1755648"/>
            <a:ext cx="3703320"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Example 1 · Sticky but rate-sensitive</a:t>
            </a:r>
            <a:endParaRPr lang="en-US" sz="1400" dirty="0"/>
          </a:p>
        </p:txBody>
      </p:sp>
      <p:sp>
        <p:nvSpPr>
          <p:cNvPr id="7" name="Shape 5"/>
          <p:cNvSpPr/>
          <p:nvPr/>
        </p:nvSpPr>
        <p:spPr>
          <a:xfrm>
            <a:off x="4562856" y="1737360"/>
            <a:ext cx="1234440" cy="310896"/>
          </a:xfrm>
          <a:prstGeom prst="roundRect">
            <a:avLst>
              <a:gd name="adj" fmla="val 14706"/>
            </a:avLst>
          </a:prstGeom>
          <a:solidFill>
            <a:srgbClr val="E9A03B"/>
          </a:solidFill>
          <a:ln/>
        </p:spPr>
      </p:sp>
      <p:sp>
        <p:nvSpPr>
          <p:cNvPr id="8" name="Text 6"/>
          <p:cNvSpPr/>
          <p:nvPr/>
        </p:nvSpPr>
        <p:spPr>
          <a:xfrm>
            <a:off x="4562856" y="1737360"/>
            <a:ext cx="1234440"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Maturity risk</a:t>
            </a:r>
            <a:endParaRPr lang="en-US" sz="950" dirty="0"/>
          </a:p>
        </p:txBody>
      </p:sp>
      <p:sp>
        <p:nvSpPr>
          <p:cNvPr id="9" name="Text 7"/>
          <p:cNvSpPr/>
          <p:nvPr/>
        </p:nvSpPr>
        <p:spPr>
          <a:xfrm>
            <a:off x="786384" y="2048256"/>
            <a:ext cx="5010912" cy="219456"/>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Balances sit exactly at the promotional caps.</a:t>
            </a:r>
            <a:endParaRPr lang="en-US" sz="950" dirty="0"/>
          </a:p>
        </p:txBody>
      </p:sp>
      <p:sp>
        <p:nvSpPr>
          <p:cNvPr id="10" name="Shape 8"/>
          <p:cNvSpPr/>
          <p:nvPr/>
        </p:nvSpPr>
        <p:spPr>
          <a:xfrm>
            <a:off x="786384" y="2267712"/>
            <a:ext cx="1572768" cy="603504"/>
          </a:xfrm>
          <a:prstGeom prst="roundRect">
            <a:avLst>
              <a:gd name="adj" fmla="val 13636"/>
            </a:avLst>
          </a:prstGeom>
          <a:solidFill>
            <a:srgbClr val="FFFFFF"/>
          </a:solidFill>
          <a:ln/>
        </p:spPr>
      </p:sp>
      <p:sp>
        <p:nvSpPr>
          <p:cNvPr id="11" name="Text 9"/>
          <p:cNvSpPr/>
          <p:nvPr/>
        </p:nvSpPr>
        <p:spPr>
          <a:xfrm>
            <a:off x="932688" y="2331720"/>
            <a:ext cx="128016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Main Pocket</a:t>
            </a:r>
            <a:endParaRPr lang="en-US" sz="900" dirty="0"/>
          </a:p>
        </p:txBody>
      </p:sp>
      <p:sp>
        <p:nvSpPr>
          <p:cNvPr id="12" name="Text 10"/>
          <p:cNvSpPr/>
          <p:nvPr/>
        </p:nvSpPr>
        <p:spPr>
          <a:xfrm>
            <a:off x="932688" y="2514600"/>
            <a:ext cx="1280160" cy="292608"/>
          </a:xfrm>
          <a:prstGeom prst="rect">
            <a:avLst/>
          </a:prstGeom>
          <a:noFill/>
          <a:ln/>
        </p:spPr>
        <p:txBody>
          <a:bodyPr wrap="square" lIns="0" tIns="0" rIns="0" bIns="0" rtlCol="0" anchor="ctr"/>
          <a:lstStyle/>
          <a:p>
            <a:pPr indent="0" marL="0">
              <a:buNone/>
            </a:pPr>
            <a:r>
              <a:rPr lang="en-US" sz="1500" b="1" dirty="0">
                <a:solidFill>
                  <a:srgbClr val="16233D"/>
                </a:solidFill>
                <a:latin typeface="Graphik TH" pitchFamily="34" charset="0"/>
                <a:ea typeface="Graphik TH" pitchFamily="34" charset="-122"/>
                <a:cs typeface="Graphik TH" pitchFamily="34" charset="-120"/>
              </a:rPr>
              <a:t>THB 50k</a:t>
            </a:r>
            <a:endParaRPr lang="en-US" sz="1500" dirty="0"/>
          </a:p>
        </p:txBody>
      </p:sp>
      <p:sp>
        <p:nvSpPr>
          <p:cNvPr id="13" name="Shape 11"/>
          <p:cNvSpPr/>
          <p:nvPr/>
        </p:nvSpPr>
        <p:spPr>
          <a:xfrm>
            <a:off x="2505456" y="2267712"/>
            <a:ext cx="1572768" cy="603504"/>
          </a:xfrm>
          <a:prstGeom prst="roundRect">
            <a:avLst>
              <a:gd name="adj" fmla="val 13636"/>
            </a:avLst>
          </a:prstGeom>
          <a:solidFill>
            <a:srgbClr val="FFFFFF"/>
          </a:solidFill>
          <a:ln/>
        </p:spPr>
      </p:sp>
      <p:sp>
        <p:nvSpPr>
          <p:cNvPr id="14" name="Text 12"/>
          <p:cNvSpPr/>
          <p:nvPr/>
        </p:nvSpPr>
        <p:spPr>
          <a:xfrm>
            <a:off x="2651760" y="2331720"/>
            <a:ext cx="91440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Save Max</a:t>
            </a:r>
            <a:endParaRPr lang="en-US" sz="900" dirty="0"/>
          </a:p>
        </p:txBody>
      </p:sp>
      <p:sp>
        <p:nvSpPr>
          <p:cNvPr id="15" name="Shape 13"/>
          <p:cNvSpPr/>
          <p:nvPr/>
        </p:nvSpPr>
        <p:spPr>
          <a:xfrm>
            <a:off x="3456432" y="2327148"/>
            <a:ext cx="475488" cy="192024"/>
          </a:xfrm>
          <a:prstGeom prst="roundRect">
            <a:avLst>
              <a:gd name="adj" fmla="val 23810"/>
            </a:avLst>
          </a:prstGeom>
          <a:solidFill>
            <a:srgbClr val="1E8E86"/>
          </a:solidFill>
          <a:ln/>
        </p:spPr>
      </p:sp>
      <p:sp>
        <p:nvSpPr>
          <p:cNvPr id="16" name="Text 14"/>
          <p:cNvSpPr/>
          <p:nvPr/>
        </p:nvSpPr>
        <p:spPr>
          <a:xfrm>
            <a:off x="3456432" y="2327148"/>
            <a:ext cx="475488" cy="192024"/>
          </a:xfrm>
          <a:prstGeom prst="rect">
            <a:avLst/>
          </a:prstGeom>
          <a:noFill/>
          <a:ln/>
        </p:spPr>
        <p:txBody>
          <a:bodyPr wrap="square" lIns="0" tIns="0" rIns="0" bIns="0" rtlCol="0" anchor="ctr"/>
          <a:lstStyle/>
          <a:p>
            <a:pPr algn="ctr" indent="0" marL="0">
              <a:buNone/>
            </a:pPr>
            <a:r>
              <a:rPr lang="en-US" sz="700" b="1" dirty="0">
                <a:solidFill>
                  <a:srgbClr val="FFFFFF"/>
                </a:solidFill>
                <a:latin typeface="Graphik TH" pitchFamily="34" charset="0"/>
                <a:ea typeface="Graphik TH" pitchFamily="34" charset="-122"/>
                <a:cs typeface="Graphik TH" pitchFamily="34" charset="-120"/>
              </a:rPr>
              <a:t>FLAG Y</a:t>
            </a:r>
            <a:endParaRPr lang="en-US" sz="700" dirty="0"/>
          </a:p>
        </p:txBody>
      </p:sp>
      <p:sp>
        <p:nvSpPr>
          <p:cNvPr id="17" name="Text 15"/>
          <p:cNvSpPr/>
          <p:nvPr/>
        </p:nvSpPr>
        <p:spPr>
          <a:xfrm>
            <a:off x="2651760" y="2514600"/>
            <a:ext cx="1280160" cy="292608"/>
          </a:xfrm>
          <a:prstGeom prst="rect">
            <a:avLst/>
          </a:prstGeom>
          <a:noFill/>
          <a:ln/>
        </p:spPr>
        <p:txBody>
          <a:bodyPr wrap="square" lIns="0" tIns="0" rIns="0" bIns="0" rtlCol="0" anchor="ctr"/>
          <a:lstStyle/>
          <a:p>
            <a:pPr indent="0" marL="0">
              <a:buNone/>
            </a:pPr>
            <a:r>
              <a:rPr lang="en-US" sz="1500" b="1" dirty="0">
                <a:solidFill>
                  <a:srgbClr val="E9A03B"/>
                </a:solidFill>
                <a:latin typeface="Graphik TH" pitchFamily="34" charset="0"/>
                <a:ea typeface="Graphik TH" pitchFamily="34" charset="-122"/>
                <a:cs typeface="Graphik TH" pitchFamily="34" charset="-120"/>
              </a:rPr>
              <a:t>THB 20k</a:t>
            </a:r>
            <a:endParaRPr lang="en-US" sz="1500" dirty="0"/>
          </a:p>
        </p:txBody>
      </p:sp>
      <p:sp>
        <p:nvSpPr>
          <p:cNvPr id="18" name="Shape 16"/>
          <p:cNvSpPr/>
          <p:nvPr/>
        </p:nvSpPr>
        <p:spPr>
          <a:xfrm>
            <a:off x="4224528" y="2267712"/>
            <a:ext cx="1572768" cy="603504"/>
          </a:xfrm>
          <a:prstGeom prst="roundRect">
            <a:avLst>
              <a:gd name="adj" fmla="val 13636"/>
            </a:avLst>
          </a:prstGeom>
          <a:solidFill>
            <a:srgbClr val="FFFFFF"/>
          </a:solidFill>
          <a:ln/>
        </p:spPr>
      </p:sp>
      <p:sp>
        <p:nvSpPr>
          <p:cNvPr id="19" name="Text 17"/>
          <p:cNvSpPr/>
          <p:nvPr/>
        </p:nvSpPr>
        <p:spPr>
          <a:xfrm>
            <a:off x="4370832" y="2331720"/>
            <a:ext cx="91440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Save More</a:t>
            </a:r>
            <a:endParaRPr lang="en-US" sz="900" dirty="0"/>
          </a:p>
        </p:txBody>
      </p:sp>
      <p:sp>
        <p:nvSpPr>
          <p:cNvPr id="20" name="Shape 18"/>
          <p:cNvSpPr/>
          <p:nvPr/>
        </p:nvSpPr>
        <p:spPr>
          <a:xfrm>
            <a:off x="5175504" y="2327148"/>
            <a:ext cx="475488" cy="192024"/>
          </a:xfrm>
          <a:prstGeom prst="roundRect">
            <a:avLst>
              <a:gd name="adj" fmla="val 23810"/>
            </a:avLst>
          </a:prstGeom>
          <a:solidFill>
            <a:srgbClr val="1E8E86"/>
          </a:solidFill>
          <a:ln/>
        </p:spPr>
      </p:sp>
      <p:sp>
        <p:nvSpPr>
          <p:cNvPr id="21" name="Text 19"/>
          <p:cNvSpPr/>
          <p:nvPr/>
        </p:nvSpPr>
        <p:spPr>
          <a:xfrm>
            <a:off x="5175504" y="2327148"/>
            <a:ext cx="475488" cy="192024"/>
          </a:xfrm>
          <a:prstGeom prst="rect">
            <a:avLst/>
          </a:prstGeom>
          <a:noFill/>
          <a:ln/>
        </p:spPr>
        <p:txBody>
          <a:bodyPr wrap="square" lIns="0" tIns="0" rIns="0" bIns="0" rtlCol="0" anchor="ctr"/>
          <a:lstStyle/>
          <a:p>
            <a:pPr algn="ctr" indent="0" marL="0">
              <a:buNone/>
            </a:pPr>
            <a:r>
              <a:rPr lang="en-US" sz="700" b="1" dirty="0">
                <a:solidFill>
                  <a:srgbClr val="FFFFFF"/>
                </a:solidFill>
                <a:latin typeface="Graphik TH" pitchFamily="34" charset="0"/>
                <a:ea typeface="Graphik TH" pitchFamily="34" charset="-122"/>
                <a:cs typeface="Graphik TH" pitchFamily="34" charset="-120"/>
              </a:rPr>
              <a:t>FLAG Y</a:t>
            </a:r>
            <a:endParaRPr lang="en-US" sz="700" dirty="0"/>
          </a:p>
        </p:txBody>
      </p:sp>
      <p:sp>
        <p:nvSpPr>
          <p:cNvPr id="22" name="Text 20"/>
          <p:cNvSpPr/>
          <p:nvPr/>
        </p:nvSpPr>
        <p:spPr>
          <a:xfrm>
            <a:off x="4370832" y="2514600"/>
            <a:ext cx="1280160" cy="292608"/>
          </a:xfrm>
          <a:prstGeom prst="rect">
            <a:avLst/>
          </a:prstGeom>
          <a:noFill/>
          <a:ln/>
        </p:spPr>
        <p:txBody>
          <a:bodyPr wrap="square" lIns="0" tIns="0" rIns="0" bIns="0" rtlCol="0" anchor="ctr"/>
          <a:lstStyle/>
          <a:p>
            <a:pPr indent="0" marL="0">
              <a:buNone/>
            </a:pPr>
            <a:r>
              <a:rPr lang="en-US" sz="1500" b="1" dirty="0">
                <a:solidFill>
                  <a:srgbClr val="E9A03B"/>
                </a:solidFill>
                <a:latin typeface="Graphik TH" pitchFamily="34" charset="0"/>
                <a:ea typeface="Graphik TH" pitchFamily="34" charset="-122"/>
                <a:cs typeface="Graphik TH" pitchFamily="34" charset="-120"/>
              </a:rPr>
              <a:t>THB 1.0m</a:t>
            </a:r>
            <a:endParaRPr lang="en-US" sz="1500" dirty="0"/>
          </a:p>
        </p:txBody>
      </p:sp>
      <p:sp>
        <p:nvSpPr>
          <p:cNvPr id="23" name="Text 21"/>
          <p:cNvSpPr/>
          <p:nvPr/>
        </p:nvSpPr>
        <p:spPr>
          <a:xfrm>
            <a:off x="786384" y="2962656"/>
            <a:ext cx="5010912"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Deposit stickiness components</a:t>
            </a:r>
            <a:endParaRPr lang="en-US" sz="1100" dirty="0"/>
          </a:p>
        </p:txBody>
      </p:sp>
      <p:sp>
        <p:nvSpPr>
          <p:cNvPr id="24" name="Text 22"/>
          <p:cNvSpPr/>
          <p:nvPr/>
        </p:nvSpPr>
        <p:spPr>
          <a:xfrm>
            <a:off x="786384" y="3218688"/>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Balance persistence</a:t>
            </a:r>
            <a:endParaRPr lang="en-US" sz="1000" dirty="0"/>
          </a:p>
        </p:txBody>
      </p:sp>
      <p:sp>
        <p:nvSpPr>
          <p:cNvPr id="25" name="Text 23"/>
          <p:cNvSpPr/>
          <p:nvPr/>
        </p:nvSpPr>
        <p:spPr>
          <a:xfrm>
            <a:off x="2377440" y="3218688"/>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latest ÷ prior avg. balance   ·   40%</a:t>
            </a:r>
            <a:endParaRPr lang="en-US" sz="900" dirty="0"/>
          </a:p>
        </p:txBody>
      </p:sp>
      <p:sp>
        <p:nvSpPr>
          <p:cNvPr id="26" name="Shape 24"/>
          <p:cNvSpPr/>
          <p:nvPr/>
        </p:nvSpPr>
        <p:spPr>
          <a:xfrm>
            <a:off x="5065776" y="3227832"/>
            <a:ext cx="731520" cy="237744"/>
          </a:xfrm>
          <a:prstGeom prst="roundRect">
            <a:avLst>
              <a:gd name="adj" fmla="val 19231"/>
            </a:avLst>
          </a:prstGeom>
          <a:solidFill>
            <a:srgbClr val="165A73"/>
          </a:solidFill>
          <a:ln/>
        </p:spPr>
      </p:sp>
      <p:sp>
        <p:nvSpPr>
          <p:cNvPr id="27" name="Text 25"/>
          <p:cNvSpPr/>
          <p:nvPr/>
        </p:nvSpPr>
        <p:spPr>
          <a:xfrm>
            <a:off x="5065776" y="3227832"/>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95</a:t>
            </a:r>
            <a:endParaRPr lang="en-US" sz="950" dirty="0"/>
          </a:p>
        </p:txBody>
      </p:sp>
      <p:sp>
        <p:nvSpPr>
          <p:cNvPr id="28" name="Text 26"/>
          <p:cNvSpPr/>
          <p:nvPr/>
        </p:nvSpPr>
        <p:spPr>
          <a:xfrm>
            <a:off x="786384" y="3511296"/>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Funding continuity</a:t>
            </a:r>
            <a:endParaRPr lang="en-US" sz="1000" dirty="0"/>
          </a:p>
        </p:txBody>
      </p:sp>
      <p:sp>
        <p:nvSpPr>
          <p:cNvPr id="29" name="Text 27"/>
          <p:cNvSpPr/>
          <p:nvPr/>
        </p:nvSpPr>
        <p:spPr>
          <a:xfrm>
            <a:off x="2377440" y="3511296"/>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 eligible days funded   ·   25%</a:t>
            </a:r>
            <a:endParaRPr lang="en-US" sz="900" dirty="0"/>
          </a:p>
        </p:txBody>
      </p:sp>
      <p:sp>
        <p:nvSpPr>
          <p:cNvPr id="30" name="Shape 28"/>
          <p:cNvSpPr/>
          <p:nvPr/>
        </p:nvSpPr>
        <p:spPr>
          <a:xfrm>
            <a:off x="5065776" y="3520440"/>
            <a:ext cx="731520" cy="237744"/>
          </a:xfrm>
          <a:prstGeom prst="roundRect">
            <a:avLst>
              <a:gd name="adj" fmla="val 19231"/>
            </a:avLst>
          </a:prstGeom>
          <a:solidFill>
            <a:srgbClr val="165A73"/>
          </a:solidFill>
          <a:ln/>
        </p:spPr>
      </p:sp>
      <p:sp>
        <p:nvSpPr>
          <p:cNvPr id="31" name="Text 29"/>
          <p:cNvSpPr/>
          <p:nvPr/>
        </p:nvSpPr>
        <p:spPr>
          <a:xfrm>
            <a:off x="5065776" y="3520440"/>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100</a:t>
            </a:r>
            <a:endParaRPr lang="en-US" sz="950" dirty="0"/>
          </a:p>
        </p:txBody>
      </p:sp>
      <p:sp>
        <p:nvSpPr>
          <p:cNvPr id="32" name="Text 30"/>
          <p:cNvSpPr/>
          <p:nvPr/>
        </p:nvSpPr>
        <p:spPr>
          <a:xfrm>
            <a:off x="786384" y="3803904"/>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Recurring inflow</a:t>
            </a:r>
            <a:endParaRPr lang="en-US" sz="1000" dirty="0"/>
          </a:p>
        </p:txBody>
      </p:sp>
      <p:sp>
        <p:nvSpPr>
          <p:cNvPr id="33" name="Text 31"/>
          <p:cNvSpPr/>
          <p:nvPr/>
        </p:nvSpPr>
        <p:spPr>
          <a:xfrm>
            <a:off x="2377440" y="3803904"/>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 months with inflow   ·   20%</a:t>
            </a:r>
            <a:endParaRPr lang="en-US" sz="900" dirty="0"/>
          </a:p>
        </p:txBody>
      </p:sp>
      <p:sp>
        <p:nvSpPr>
          <p:cNvPr id="34" name="Shape 32"/>
          <p:cNvSpPr/>
          <p:nvPr/>
        </p:nvSpPr>
        <p:spPr>
          <a:xfrm>
            <a:off x="5065776" y="3813048"/>
            <a:ext cx="731520" cy="237744"/>
          </a:xfrm>
          <a:prstGeom prst="roundRect">
            <a:avLst>
              <a:gd name="adj" fmla="val 19231"/>
            </a:avLst>
          </a:prstGeom>
          <a:solidFill>
            <a:srgbClr val="1E8E86"/>
          </a:solidFill>
          <a:ln/>
        </p:spPr>
      </p:sp>
      <p:sp>
        <p:nvSpPr>
          <p:cNvPr id="35" name="Text 33"/>
          <p:cNvSpPr/>
          <p:nvPr/>
        </p:nvSpPr>
        <p:spPr>
          <a:xfrm>
            <a:off x="5065776" y="3813048"/>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75</a:t>
            </a:r>
            <a:endParaRPr lang="en-US" sz="950" dirty="0"/>
          </a:p>
        </p:txBody>
      </p:sp>
      <p:sp>
        <p:nvSpPr>
          <p:cNvPr id="36" name="Text 34"/>
          <p:cNvSpPr/>
          <p:nvPr/>
        </p:nvSpPr>
        <p:spPr>
          <a:xfrm>
            <a:off x="786384" y="4096512"/>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Daily engagement</a:t>
            </a:r>
            <a:endParaRPr lang="en-US" sz="1000" dirty="0"/>
          </a:p>
        </p:txBody>
      </p:sp>
      <p:sp>
        <p:nvSpPr>
          <p:cNvPr id="37" name="Text 35"/>
          <p:cNvSpPr/>
          <p:nvPr/>
        </p:nvSpPr>
        <p:spPr>
          <a:xfrm>
            <a:off x="2377440" y="4096512"/>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active days vs target   ·   15%</a:t>
            </a:r>
            <a:endParaRPr lang="en-US" sz="900" dirty="0"/>
          </a:p>
        </p:txBody>
      </p:sp>
      <p:sp>
        <p:nvSpPr>
          <p:cNvPr id="38" name="Shape 36"/>
          <p:cNvSpPr/>
          <p:nvPr/>
        </p:nvSpPr>
        <p:spPr>
          <a:xfrm>
            <a:off x="5065776" y="4105656"/>
            <a:ext cx="731520" cy="237744"/>
          </a:xfrm>
          <a:prstGeom prst="roundRect">
            <a:avLst>
              <a:gd name="adj" fmla="val 19231"/>
            </a:avLst>
          </a:prstGeom>
          <a:solidFill>
            <a:srgbClr val="3FB89F"/>
          </a:solidFill>
          <a:ln/>
        </p:spPr>
      </p:sp>
      <p:sp>
        <p:nvSpPr>
          <p:cNvPr id="39" name="Text 37"/>
          <p:cNvSpPr/>
          <p:nvPr/>
        </p:nvSpPr>
        <p:spPr>
          <a:xfrm>
            <a:off x="5065776" y="4105656"/>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50</a:t>
            </a:r>
            <a:endParaRPr lang="en-US" sz="950" dirty="0"/>
          </a:p>
        </p:txBody>
      </p:sp>
      <p:sp>
        <p:nvSpPr>
          <p:cNvPr id="40" name="Shape 38"/>
          <p:cNvSpPr/>
          <p:nvPr/>
        </p:nvSpPr>
        <p:spPr>
          <a:xfrm>
            <a:off x="786384" y="4443984"/>
            <a:ext cx="5010912" cy="10973"/>
          </a:xfrm>
          <a:prstGeom prst="rect">
            <a:avLst/>
          </a:prstGeom>
          <a:solidFill>
            <a:srgbClr val="D8DFE9"/>
          </a:solidFill>
          <a:ln/>
        </p:spPr>
      </p:sp>
      <p:sp>
        <p:nvSpPr>
          <p:cNvPr id="41" name="Text 39"/>
          <p:cNvSpPr/>
          <p:nvPr/>
        </p:nvSpPr>
        <p:spPr>
          <a:xfrm>
            <a:off x="786384" y="4553712"/>
            <a:ext cx="155448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Stickiness score</a:t>
            </a:r>
            <a:endParaRPr lang="en-US" sz="1050" dirty="0"/>
          </a:p>
        </p:txBody>
      </p:sp>
      <p:sp>
        <p:nvSpPr>
          <p:cNvPr id="42" name="Text 40"/>
          <p:cNvSpPr/>
          <p:nvPr/>
        </p:nvSpPr>
        <p:spPr>
          <a:xfrm>
            <a:off x="2377440" y="4553712"/>
            <a:ext cx="1956816" cy="274320"/>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40/25/20/15 weighted</a:t>
            </a:r>
            <a:endParaRPr lang="en-US" sz="900" dirty="0"/>
          </a:p>
        </p:txBody>
      </p:sp>
      <p:sp>
        <p:nvSpPr>
          <p:cNvPr id="43" name="Shape 41"/>
          <p:cNvSpPr/>
          <p:nvPr/>
        </p:nvSpPr>
        <p:spPr>
          <a:xfrm>
            <a:off x="4389120" y="4562856"/>
            <a:ext cx="1408176" cy="256032"/>
          </a:xfrm>
          <a:prstGeom prst="roundRect">
            <a:avLst>
              <a:gd name="adj" fmla="val 17857"/>
            </a:avLst>
          </a:prstGeom>
          <a:solidFill>
            <a:srgbClr val="165A73"/>
          </a:solidFill>
          <a:ln/>
        </p:spPr>
      </p:sp>
      <p:sp>
        <p:nvSpPr>
          <p:cNvPr id="44" name="Text 42"/>
          <p:cNvSpPr/>
          <p:nvPr/>
        </p:nvSpPr>
        <p:spPr>
          <a:xfrm>
            <a:off x="4389120" y="4562856"/>
            <a:ext cx="1408176"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86  ·  Very High</a:t>
            </a:r>
            <a:endParaRPr lang="en-US" sz="950" dirty="0"/>
          </a:p>
        </p:txBody>
      </p:sp>
      <p:sp>
        <p:nvSpPr>
          <p:cNvPr id="45" name="Text 43"/>
          <p:cNvSpPr/>
          <p:nvPr/>
        </p:nvSpPr>
        <p:spPr>
          <a:xfrm>
            <a:off x="786384" y="4882896"/>
            <a:ext cx="155448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Rate sensitivity</a:t>
            </a:r>
            <a:endParaRPr lang="en-US" sz="1050" dirty="0"/>
          </a:p>
        </p:txBody>
      </p:sp>
      <p:sp>
        <p:nvSpPr>
          <p:cNvPr id="46" name="Text 44"/>
          <p:cNvSpPr/>
          <p:nvPr/>
        </p:nvSpPr>
        <p:spPr>
          <a:xfrm>
            <a:off x="2377440" y="4882896"/>
            <a:ext cx="1956816" cy="274320"/>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2/2 near cap  ·  0% above cap</a:t>
            </a:r>
            <a:endParaRPr lang="en-US" sz="900" dirty="0"/>
          </a:p>
        </p:txBody>
      </p:sp>
      <p:sp>
        <p:nvSpPr>
          <p:cNvPr id="47" name="Shape 45"/>
          <p:cNvSpPr/>
          <p:nvPr/>
        </p:nvSpPr>
        <p:spPr>
          <a:xfrm>
            <a:off x="4389120" y="4892040"/>
            <a:ext cx="1408176" cy="256032"/>
          </a:xfrm>
          <a:prstGeom prst="roundRect">
            <a:avLst>
              <a:gd name="adj" fmla="val 17857"/>
            </a:avLst>
          </a:prstGeom>
          <a:solidFill>
            <a:srgbClr val="C00000"/>
          </a:solidFill>
          <a:ln/>
        </p:spPr>
      </p:sp>
      <p:sp>
        <p:nvSpPr>
          <p:cNvPr id="48" name="Text 46"/>
          <p:cNvSpPr/>
          <p:nvPr/>
        </p:nvSpPr>
        <p:spPr>
          <a:xfrm>
            <a:off x="4389120" y="4892040"/>
            <a:ext cx="1408176"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100  ·  Very High</a:t>
            </a:r>
            <a:endParaRPr lang="en-US" sz="950" dirty="0"/>
          </a:p>
        </p:txBody>
      </p:sp>
      <p:sp>
        <p:nvSpPr>
          <p:cNvPr id="49" name="Shape 47"/>
          <p:cNvSpPr/>
          <p:nvPr/>
        </p:nvSpPr>
        <p:spPr>
          <a:xfrm>
            <a:off x="786384" y="5248656"/>
            <a:ext cx="5010912" cy="512064"/>
          </a:xfrm>
          <a:prstGeom prst="roundRect">
            <a:avLst>
              <a:gd name="adj" fmla="val 16071"/>
            </a:avLst>
          </a:prstGeom>
          <a:solidFill>
            <a:srgbClr val="FBF0E6"/>
          </a:solidFill>
          <a:ln/>
        </p:spPr>
      </p:sp>
      <p:sp>
        <p:nvSpPr>
          <p:cNvPr id="50" name="Text 48"/>
          <p:cNvSpPr/>
          <p:nvPr/>
        </p:nvSpPr>
        <p:spPr>
          <a:xfrm>
            <a:off x="932688" y="5248656"/>
            <a:ext cx="4718304" cy="512064"/>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Layman view: the money has stayed so far, but the customer behaves like a rate optimiser — retest retention when the promo rate reprices.</a:t>
            </a:r>
            <a:endParaRPr lang="en-US" sz="950" dirty="0"/>
          </a:p>
        </p:txBody>
      </p:sp>
      <p:sp>
        <p:nvSpPr>
          <p:cNvPr id="51" name="Shape 49"/>
          <p:cNvSpPr/>
          <p:nvPr/>
        </p:nvSpPr>
        <p:spPr>
          <a:xfrm>
            <a:off x="6281928" y="1645920"/>
            <a:ext cx="5522976" cy="4169664"/>
          </a:xfrm>
          <a:prstGeom prst="roundRect">
            <a:avLst>
              <a:gd name="adj" fmla="val 1974"/>
            </a:avLst>
          </a:prstGeom>
          <a:solidFill>
            <a:srgbClr val="F1F4F9"/>
          </a:solidFill>
          <a:ln/>
        </p:spPr>
      </p:sp>
      <p:sp>
        <p:nvSpPr>
          <p:cNvPr id="52" name="Text 50"/>
          <p:cNvSpPr/>
          <p:nvPr/>
        </p:nvSpPr>
        <p:spPr>
          <a:xfrm>
            <a:off x="6537960" y="1755648"/>
            <a:ext cx="3703320"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Example 2 · Core sticky depositor</a:t>
            </a:r>
            <a:endParaRPr lang="en-US" sz="1400" dirty="0"/>
          </a:p>
        </p:txBody>
      </p:sp>
      <p:sp>
        <p:nvSpPr>
          <p:cNvPr id="53" name="Shape 51"/>
          <p:cNvSpPr/>
          <p:nvPr/>
        </p:nvSpPr>
        <p:spPr>
          <a:xfrm>
            <a:off x="10314432" y="1737360"/>
            <a:ext cx="1234440" cy="310896"/>
          </a:xfrm>
          <a:prstGeom prst="roundRect">
            <a:avLst>
              <a:gd name="adj" fmla="val 14706"/>
            </a:avLst>
          </a:prstGeom>
          <a:solidFill>
            <a:srgbClr val="1E8E86"/>
          </a:solidFill>
          <a:ln/>
        </p:spPr>
      </p:sp>
      <p:sp>
        <p:nvSpPr>
          <p:cNvPr id="54" name="Text 52"/>
          <p:cNvSpPr/>
          <p:nvPr/>
        </p:nvSpPr>
        <p:spPr>
          <a:xfrm>
            <a:off x="10314432" y="1737360"/>
            <a:ext cx="1234440"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Lower risk</a:t>
            </a:r>
            <a:endParaRPr lang="en-US" sz="950" dirty="0"/>
          </a:p>
        </p:txBody>
      </p:sp>
      <p:sp>
        <p:nvSpPr>
          <p:cNvPr id="55" name="Text 53"/>
          <p:cNvSpPr/>
          <p:nvPr/>
        </p:nvSpPr>
        <p:spPr>
          <a:xfrm>
            <a:off x="6537960" y="2048256"/>
            <a:ext cx="5010912" cy="219456"/>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Holds meaningful balance above both promotional caps.</a:t>
            </a:r>
            <a:endParaRPr lang="en-US" sz="950" dirty="0"/>
          </a:p>
        </p:txBody>
      </p:sp>
      <p:sp>
        <p:nvSpPr>
          <p:cNvPr id="56" name="Shape 54"/>
          <p:cNvSpPr/>
          <p:nvPr/>
        </p:nvSpPr>
        <p:spPr>
          <a:xfrm>
            <a:off x="6537960" y="2267712"/>
            <a:ext cx="1572768" cy="603504"/>
          </a:xfrm>
          <a:prstGeom prst="roundRect">
            <a:avLst>
              <a:gd name="adj" fmla="val 13636"/>
            </a:avLst>
          </a:prstGeom>
          <a:solidFill>
            <a:srgbClr val="FFFFFF"/>
          </a:solidFill>
          <a:ln/>
        </p:spPr>
      </p:sp>
      <p:sp>
        <p:nvSpPr>
          <p:cNvPr id="57" name="Text 55"/>
          <p:cNvSpPr/>
          <p:nvPr/>
        </p:nvSpPr>
        <p:spPr>
          <a:xfrm>
            <a:off x="6684264" y="2331720"/>
            <a:ext cx="128016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Main Pocket</a:t>
            </a:r>
            <a:endParaRPr lang="en-US" sz="900" dirty="0"/>
          </a:p>
        </p:txBody>
      </p:sp>
      <p:sp>
        <p:nvSpPr>
          <p:cNvPr id="58" name="Text 56"/>
          <p:cNvSpPr/>
          <p:nvPr/>
        </p:nvSpPr>
        <p:spPr>
          <a:xfrm>
            <a:off x="6684264" y="2514600"/>
            <a:ext cx="1280160" cy="292608"/>
          </a:xfrm>
          <a:prstGeom prst="rect">
            <a:avLst/>
          </a:prstGeom>
          <a:noFill/>
          <a:ln/>
        </p:spPr>
        <p:txBody>
          <a:bodyPr wrap="square" lIns="0" tIns="0" rIns="0" bIns="0" rtlCol="0" anchor="ctr"/>
          <a:lstStyle/>
          <a:p>
            <a:pPr indent="0" marL="0">
              <a:buNone/>
            </a:pPr>
            <a:r>
              <a:rPr lang="en-US" sz="1500" b="1" dirty="0">
                <a:solidFill>
                  <a:srgbClr val="16233D"/>
                </a:solidFill>
                <a:latin typeface="Graphik TH" pitchFamily="34" charset="0"/>
                <a:ea typeface="Graphik TH" pitchFamily="34" charset="-122"/>
                <a:cs typeface="Graphik TH" pitchFamily="34" charset="-120"/>
              </a:rPr>
              <a:t>THB 300k</a:t>
            </a:r>
            <a:endParaRPr lang="en-US" sz="1500" dirty="0"/>
          </a:p>
        </p:txBody>
      </p:sp>
      <p:sp>
        <p:nvSpPr>
          <p:cNvPr id="59" name="Shape 57"/>
          <p:cNvSpPr/>
          <p:nvPr/>
        </p:nvSpPr>
        <p:spPr>
          <a:xfrm>
            <a:off x="8257032" y="2267712"/>
            <a:ext cx="1572768" cy="603504"/>
          </a:xfrm>
          <a:prstGeom prst="roundRect">
            <a:avLst>
              <a:gd name="adj" fmla="val 13636"/>
            </a:avLst>
          </a:prstGeom>
          <a:solidFill>
            <a:srgbClr val="FFFFFF"/>
          </a:solidFill>
          <a:ln/>
        </p:spPr>
      </p:sp>
      <p:sp>
        <p:nvSpPr>
          <p:cNvPr id="60" name="Text 58"/>
          <p:cNvSpPr/>
          <p:nvPr/>
        </p:nvSpPr>
        <p:spPr>
          <a:xfrm>
            <a:off x="8403336" y="2331720"/>
            <a:ext cx="91440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Save Max</a:t>
            </a:r>
            <a:endParaRPr lang="en-US" sz="900" dirty="0"/>
          </a:p>
        </p:txBody>
      </p:sp>
      <p:sp>
        <p:nvSpPr>
          <p:cNvPr id="61" name="Shape 59"/>
          <p:cNvSpPr/>
          <p:nvPr/>
        </p:nvSpPr>
        <p:spPr>
          <a:xfrm>
            <a:off x="9208008" y="2327148"/>
            <a:ext cx="475488" cy="192024"/>
          </a:xfrm>
          <a:prstGeom prst="roundRect">
            <a:avLst>
              <a:gd name="adj" fmla="val 23810"/>
            </a:avLst>
          </a:prstGeom>
          <a:solidFill>
            <a:srgbClr val="1E8E86"/>
          </a:solidFill>
          <a:ln/>
        </p:spPr>
      </p:sp>
      <p:sp>
        <p:nvSpPr>
          <p:cNvPr id="62" name="Text 60"/>
          <p:cNvSpPr/>
          <p:nvPr/>
        </p:nvSpPr>
        <p:spPr>
          <a:xfrm>
            <a:off x="9208008" y="2327148"/>
            <a:ext cx="475488" cy="192024"/>
          </a:xfrm>
          <a:prstGeom prst="rect">
            <a:avLst/>
          </a:prstGeom>
          <a:noFill/>
          <a:ln/>
        </p:spPr>
        <p:txBody>
          <a:bodyPr wrap="square" lIns="0" tIns="0" rIns="0" bIns="0" rtlCol="0" anchor="ctr"/>
          <a:lstStyle/>
          <a:p>
            <a:pPr algn="ctr" indent="0" marL="0">
              <a:buNone/>
            </a:pPr>
            <a:r>
              <a:rPr lang="en-US" sz="700" b="1" dirty="0">
                <a:solidFill>
                  <a:srgbClr val="FFFFFF"/>
                </a:solidFill>
                <a:latin typeface="Graphik TH" pitchFamily="34" charset="0"/>
                <a:ea typeface="Graphik TH" pitchFamily="34" charset="-122"/>
                <a:cs typeface="Graphik TH" pitchFamily="34" charset="-120"/>
              </a:rPr>
              <a:t>FLAG Y</a:t>
            </a:r>
            <a:endParaRPr lang="en-US" sz="700" dirty="0"/>
          </a:p>
        </p:txBody>
      </p:sp>
      <p:sp>
        <p:nvSpPr>
          <p:cNvPr id="63" name="Text 61"/>
          <p:cNvSpPr/>
          <p:nvPr/>
        </p:nvSpPr>
        <p:spPr>
          <a:xfrm>
            <a:off x="8403336" y="2514600"/>
            <a:ext cx="1280160" cy="292608"/>
          </a:xfrm>
          <a:prstGeom prst="rect">
            <a:avLst/>
          </a:prstGeom>
          <a:noFill/>
          <a:ln/>
        </p:spPr>
        <p:txBody>
          <a:bodyPr wrap="square" lIns="0" tIns="0" rIns="0" bIns="0" rtlCol="0" anchor="ctr"/>
          <a:lstStyle/>
          <a:p>
            <a:pPr indent="0" marL="0">
              <a:buNone/>
            </a:pPr>
            <a:r>
              <a:rPr lang="en-US" sz="1500" b="1" dirty="0">
                <a:solidFill>
                  <a:srgbClr val="1E8E86"/>
                </a:solidFill>
                <a:latin typeface="Graphik TH" pitchFamily="34" charset="0"/>
                <a:ea typeface="Graphik TH" pitchFamily="34" charset="-122"/>
                <a:cs typeface="Graphik TH" pitchFamily="34" charset="-120"/>
              </a:rPr>
              <a:t>THB 100k</a:t>
            </a:r>
            <a:endParaRPr lang="en-US" sz="1500" dirty="0"/>
          </a:p>
        </p:txBody>
      </p:sp>
      <p:sp>
        <p:nvSpPr>
          <p:cNvPr id="64" name="Shape 62"/>
          <p:cNvSpPr/>
          <p:nvPr/>
        </p:nvSpPr>
        <p:spPr>
          <a:xfrm>
            <a:off x="9976104" y="2267712"/>
            <a:ext cx="1572768" cy="603504"/>
          </a:xfrm>
          <a:prstGeom prst="roundRect">
            <a:avLst>
              <a:gd name="adj" fmla="val 13636"/>
            </a:avLst>
          </a:prstGeom>
          <a:solidFill>
            <a:srgbClr val="FFFFFF"/>
          </a:solidFill>
          <a:ln/>
        </p:spPr>
      </p:sp>
      <p:sp>
        <p:nvSpPr>
          <p:cNvPr id="65" name="Text 63"/>
          <p:cNvSpPr/>
          <p:nvPr/>
        </p:nvSpPr>
        <p:spPr>
          <a:xfrm>
            <a:off x="10122408" y="2331720"/>
            <a:ext cx="91440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Save More</a:t>
            </a:r>
            <a:endParaRPr lang="en-US" sz="900" dirty="0"/>
          </a:p>
        </p:txBody>
      </p:sp>
      <p:sp>
        <p:nvSpPr>
          <p:cNvPr id="66" name="Shape 64"/>
          <p:cNvSpPr/>
          <p:nvPr/>
        </p:nvSpPr>
        <p:spPr>
          <a:xfrm>
            <a:off x="10927080" y="2327148"/>
            <a:ext cx="475488" cy="192024"/>
          </a:xfrm>
          <a:prstGeom prst="roundRect">
            <a:avLst>
              <a:gd name="adj" fmla="val 23810"/>
            </a:avLst>
          </a:prstGeom>
          <a:solidFill>
            <a:srgbClr val="1E8E86"/>
          </a:solidFill>
          <a:ln/>
        </p:spPr>
      </p:sp>
      <p:sp>
        <p:nvSpPr>
          <p:cNvPr id="67" name="Text 65"/>
          <p:cNvSpPr/>
          <p:nvPr/>
        </p:nvSpPr>
        <p:spPr>
          <a:xfrm>
            <a:off x="10927080" y="2327148"/>
            <a:ext cx="475488" cy="192024"/>
          </a:xfrm>
          <a:prstGeom prst="rect">
            <a:avLst/>
          </a:prstGeom>
          <a:noFill/>
          <a:ln/>
        </p:spPr>
        <p:txBody>
          <a:bodyPr wrap="square" lIns="0" tIns="0" rIns="0" bIns="0" rtlCol="0" anchor="ctr"/>
          <a:lstStyle/>
          <a:p>
            <a:pPr algn="ctr" indent="0" marL="0">
              <a:buNone/>
            </a:pPr>
            <a:r>
              <a:rPr lang="en-US" sz="700" b="1" dirty="0">
                <a:solidFill>
                  <a:srgbClr val="FFFFFF"/>
                </a:solidFill>
                <a:latin typeface="Graphik TH" pitchFamily="34" charset="0"/>
                <a:ea typeface="Graphik TH" pitchFamily="34" charset="-122"/>
                <a:cs typeface="Graphik TH" pitchFamily="34" charset="-120"/>
              </a:rPr>
              <a:t>FLAG Y</a:t>
            </a:r>
            <a:endParaRPr lang="en-US" sz="700" dirty="0"/>
          </a:p>
        </p:txBody>
      </p:sp>
      <p:sp>
        <p:nvSpPr>
          <p:cNvPr id="68" name="Text 66"/>
          <p:cNvSpPr/>
          <p:nvPr/>
        </p:nvSpPr>
        <p:spPr>
          <a:xfrm>
            <a:off x="10122408" y="2514600"/>
            <a:ext cx="1280160" cy="292608"/>
          </a:xfrm>
          <a:prstGeom prst="rect">
            <a:avLst/>
          </a:prstGeom>
          <a:noFill/>
          <a:ln/>
        </p:spPr>
        <p:txBody>
          <a:bodyPr wrap="square" lIns="0" tIns="0" rIns="0" bIns="0" rtlCol="0" anchor="ctr"/>
          <a:lstStyle/>
          <a:p>
            <a:pPr indent="0" marL="0">
              <a:buNone/>
            </a:pPr>
            <a:r>
              <a:rPr lang="en-US" sz="1500" b="1" dirty="0">
                <a:solidFill>
                  <a:srgbClr val="1E8E86"/>
                </a:solidFill>
                <a:latin typeface="Graphik TH" pitchFamily="34" charset="0"/>
                <a:ea typeface="Graphik TH" pitchFamily="34" charset="-122"/>
                <a:cs typeface="Graphik TH" pitchFamily="34" charset="-120"/>
              </a:rPr>
              <a:t>THB 1.5m</a:t>
            </a:r>
            <a:endParaRPr lang="en-US" sz="1500" dirty="0"/>
          </a:p>
        </p:txBody>
      </p:sp>
      <p:sp>
        <p:nvSpPr>
          <p:cNvPr id="69" name="Text 67"/>
          <p:cNvSpPr/>
          <p:nvPr/>
        </p:nvSpPr>
        <p:spPr>
          <a:xfrm>
            <a:off x="6537960" y="2962656"/>
            <a:ext cx="5010912"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Deposit stickiness components</a:t>
            </a:r>
            <a:endParaRPr lang="en-US" sz="1100" dirty="0"/>
          </a:p>
        </p:txBody>
      </p:sp>
      <p:sp>
        <p:nvSpPr>
          <p:cNvPr id="70" name="Text 68"/>
          <p:cNvSpPr/>
          <p:nvPr/>
        </p:nvSpPr>
        <p:spPr>
          <a:xfrm>
            <a:off x="6537960" y="3218688"/>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Balance persistence</a:t>
            </a:r>
            <a:endParaRPr lang="en-US" sz="1000" dirty="0"/>
          </a:p>
        </p:txBody>
      </p:sp>
      <p:sp>
        <p:nvSpPr>
          <p:cNvPr id="71" name="Text 69"/>
          <p:cNvSpPr/>
          <p:nvPr/>
        </p:nvSpPr>
        <p:spPr>
          <a:xfrm>
            <a:off x="8129016" y="3218688"/>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latest ÷ prior avg. balance   ·   40%</a:t>
            </a:r>
            <a:endParaRPr lang="en-US" sz="900" dirty="0"/>
          </a:p>
        </p:txBody>
      </p:sp>
      <p:sp>
        <p:nvSpPr>
          <p:cNvPr id="72" name="Shape 70"/>
          <p:cNvSpPr/>
          <p:nvPr/>
        </p:nvSpPr>
        <p:spPr>
          <a:xfrm>
            <a:off x="10817352" y="3227832"/>
            <a:ext cx="731520" cy="237744"/>
          </a:xfrm>
          <a:prstGeom prst="roundRect">
            <a:avLst>
              <a:gd name="adj" fmla="val 19231"/>
            </a:avLst>
          </a:prstGeom>
          <a:solidFill>
            <a:srgbClr val="165A73"/>
          </a:solidFill>
          <a:ln/>
        </p:spPr>
      </p:sp>
      <p:sp>
        <p:nvSpPr>
          <p:cNvPr id="73" name="Text 71"/>
          <p:cNvSpPr/>
          <p:nvPr/>
        </p:nvSpPr>
        <p:spPr>
          <a:xfrm>
            <a:off x="10817352" y="3227832"/>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90</a:t>
            </a:r>
            <a:endParaRPr lang="en-US" sz="950" dirty="0"/>
          </a:p>
        </p:txBody>
      </p:sp>
      <p:sp>
        <p:nvSpPr>
          <p:cNvPr id="74" name="Text 72"/>
          <p:cNvSpPr/>
          <p:nvPr/>
        </p:nvSpPr>
        <p:spPr>
          <a:xfrm>
            <a:off x="6537960" y="3511296"/>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Funding continuity</a:t>
            </a:r>
            <a:endParaRPr lang="en-US" sz="1000" dirty="0"/>
          </a:p>
        </p:txBody>
      </p:sp>
      <p:sp>
        <p:nvSpPr>
          <p:cNvPr id="75" name="Text 73"/>
          <p:cNvSpPr/>
          <p:nvPr/>
        </p:nvSpPr>
        <p:spPr>
          <a:xfrm>
            <a:off x="8129016" y="3511296"/>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 eligible days funded   ·   25%</a:t>
            </a:r>
            <a:endParaRPr lang="en-US" sz="900" dirty="0"/>
          </a:p>
        </p:txBody>
      </p:sp>
      <p:sp>
        <p:nvSpPr>
          <p:cNvPr id="76" name="Shape 74"/>
          <p:cNvSpPr/>
          <p:nvPr/>
        </p:nvSpPr>
        <p:spPr>
          <a:xfrm>
            <a:off x="10817352" y="3520440"/>
            <a:ext cx="731520" cy="237744"/>
          </a:xfrm>
          <a:prstGeom prst="roundRect">
            <a:avLst>
              <a:gd name="adj" fmla="val 19231"/>
            </a:avLst>
          </a:prstGeom>
          <a:solidFill>
            <a:srgbClr val="165A73"/>
          </a:solidFill>
          <a:ln/>
        </p:spPr>
      </p:sp>
      <p:sp>
        <p:nvSpPr>
          <p:cNvPr id="77" name="Text 75"/>
          <p:cNvSpPr/>
          <p:nvPr/>
        </p:nvSpPr>
        <p:spPr>
          <a:xfrm>
            <a:off x="10817352" y="3520440"/>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95</a:t>
            </a:r>
            <a:endParaRPr lang="en-US" sz="950" dirty="0"/>
          </a:p>
        </p:txBody>
      </p:sp>
      <p:sp>
        <p:nvSpPr>
          <p:cNvPr id="78" name="Text 76"/>
          <p:cNvSpPr/>
          <p:nvPr/>
        </p:nvSpPr>
        <p:spPr>
          <a:xfrm>
            <a:off x="6537960" y="3803904"/>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Recurring inflow</a:t>
            </a:r>
            <a:endParaRPr lang="en-US" sz="1000" dirty="0"/>
          </a:p>
        </p:txBody>
      </p:sp>
      <p:sp>
        <p:nvSpPr>
          <p:cNvPr id="79" name="Text 77"/>
          <p:cNvSpPr/>
          <p:nvPr/>
        </p:nvSpPr>
        <p:spPr>
          <a:xfrm>
            <a:off x="8129016" y="3803904"/>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 months with inflow   ·   20%</a:t>
            </a:r>
            <a:endParaRPr lang="en-US" sz="900" dirty="0"/>
          </a:p>
        </p:txBody>
      </p:sp>
      <p:sp>
        <p:nvSpPr>
          <p:cNvPr id="80" name="Shape 78"/>
          <p:cNvSpPr/>
          <p:nvPr/>
        </p:nvSpPr>
        <p:spPr>
          <a:xfrm>
            <a:off x="10817352" y="3813048"/>
            <a:ext cx="731520" cy="237744"/>
          </a:xfrm>
          <a:prstGeom prst="roundRect">
            <a:avLst>
              <a:gd name="adj" fmla="val 19231"/>
            </a:avLst>
          </a:prstGeom>
          <a:solidFill>
            <a:srgbClr val="165A73"/>
          </a:solidFill>
          <a:ln/>
        </p:spPr>
      </p:sp>
      <p:sp>
        <p:nvSpPr>
          <p:cNvPr id="81" name="Text 79"/>
          <p:cNvSpPr/>
          <p:nvPr/>
        </p:nvSpPr>
        <p:spPr>
          <a:xfrm>
            <a:off x="10817352" y="3813048"/>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100</a:t>
            </a:r>
            <a:endParaRPr lang="en-US" sz="950" dirty="0"/>
          </a:p>
        </p:txBody>
      </p:sp>
      <p:sp>
        <p:nvSpPr>
          <p:cNvPr id="82" name="Text 80"/>
          <p:cNvSpPr/>
          <p:nvPr/>
        </p:nvSpPr>
        <p:spPr>
          <a:xfrm>
            <a:off x="6537960" y="4096512"/>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Daily engagement</a:t>
            </a:r>
            <a:endParaRPr lang="en-US" sz="1000" dirty="0"/>
          </a:p>
        </p:txBody>
      </p:sp>
      <p:sp>
        <p:nvSpPr>
          <p:cNvPr id="83" name="Text 81"/>
          <p:cNvSpPr/>
          <p:nvPr/>
        </p:nvSpPr>
        <p:spPr>
          <a:xfrm>
            <a:off x="8129016" y="4096512"/>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active days vs target   ·   15%</a:t>
            </a:r>
            <a:endParaRPr lang="en-US" sz="900" dirty="0"/>
          </a:p>
        </p:txBody>
      </p:sp>
      <p:sp>
        <p:nvSpPr>
          <p:cNvPr id="84" name="Shape 82"/>
          <p:cNvSpPr/>
          <p:nvPr/>
        </p:nvSpPr>
        <p:spPr>
          <a:xfrm>
            <a:off x="10817352" y="4105656"/>
            <a:ext cx="731520" cy="237744"/>
          </a:xfrm>
          <a:prstGeom prst="roundRect">
            <a:avLst>
              <a:gd name="adj" fmla="val 19231"/>
            </a:avLst>
          </a:prstGeom>
          <a:solidFill>
            <a:srgbClr val="1E8E86"/>
          </a:solidFill>
          <a:ln/>
        </p:spPr>
      </p:sp>
      <p:sp>
        <p:nvSpPr>
          <p:cNvPr id="85" name="Text 83"/>
          <p:cNvSpPr/>
          <p:nvPr/>
        </p:nvSpPr>
        <p:spPr>
          <a:xfrm>
            <a:off x="10817352" y="4105656"/>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75</a:t>
            </a:r>
            <a:endParaRPr lang="en-US" sz="950" dirty="0"/>
          </a:p>
        </p:txBody>
      </p:sp>
      <p:sp>
        <p:nvSpPr>
          <p:cNvPr id="86" name="Shape 84"/>
          <p:cNvSpPr/>
          <p:nvPr/>
        </p:nvSpPr>
        <p:spPr>
          <a:xfrm>
            <a:off x="6537960" y="4443984"/>
            <a:ext cx="5010912" cy="10973"/>
          </a:xfrm>
          <a:prstGeom prst="rect">
            <a:avLst/>
          </a:prstGeom>
          <a:solidFill>
            <a:srgbClr val="D8DFE9"/>
          </a:solidFill>
          <a:ln/>
        </p:spPr>
      </p:sp>
      <p:sp>
        <p:nvSpPr>
          <p:cNvPr id="87" name="Text 85"/>
          <p:cNvSpPr/>
          <p:nvPr/>
        </p:nvSpPr>
        <p:spPr>
          <a:xfrm>
            <a:off x="6537960" y="4553712"/>
            <a:ext cx="155448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Stickiness score</a:t>
            </a:r>
            <a:endParaRPr lang="en-US" sz="1050" dirty="0"/>
          </a:p>
        </p:txBody>
      </p:sp>
      <p:sp>
        <p:nvSpPr>
          <p:cNvPr id="88" name="Text 86"/>
          <p:cNvSpPr/>
          <p:nvPr/>
        </p:nvSpPr>
        <p:spPr>
          <a:xfrm>
            <a:off x="8129016" y="4553712"/>
            <a:ext cx="1956816" cy="274320"/>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40/25/20/15 weighted</a:t>
            </a:r>
            <a:endParaRPr lang="en-US" sz="900" dirty="0"/>
          </a:p>
        </p:txBody>
      </p:sp>
      <p:sp>
        <p:nvSpPr>
          <p:cNvPr id="89" name="Shape 87"/>
          <p:cNvSpPr/>
          <p:nvPr/>
        </p:nvSpPr>
        <p:spPr>
          <a:xfrm>
            <a:off x="10140696" y="4562856"/>
            <a:ext cx="1408176" cy="256032"/>
          </a:xfrm>
          <a:prstGeom prst="roundRect">
            <a:avLst>
              <a:gd name="adj" fmla="val 17857"/>
            </a:avLst>
          </a:prstGeom>
          <a:solidFill>
            <a:srgbClr val="165A73"/>
          </a:solidFill>
          <a:ln/>
        </p:spPr>
      </p:sp>
      <p:sp>
        <p:nvSpPr>
          <p:cNvPr id="90" name="Text 88"/>
          <p:cNvSpPr/>
          <p:nvPr/>
        </p:nvSpPr>
        <p:spPr>
          <a:xfrm>
            <a:off x="10140696" y="4562856"/>
            <a:ext cx="1408176"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91  ·  Very High</a:t>
            </a:r>
            <a:endParaRPr lang="en-US" sz="950" dirty="0"/>
          </a:p>
        </p:txBody>
      </p:sp>
      <p:sp>
        <p:nvSpPr>
          <p:cNvPr id="91" name="Text 89"/>
          <p:cNvSpPr/>
          <p:nvPr/>
        </p:nvSpPr>
        <p:spPr>
          <a:xfrm>
            <a:off x="6537960" y="4882896"/>
            <a:ext cx="155448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Rate sensitivity</a:t>
            </a:r>
            <a:endParaRPr lang="en-US" sz="1050" dirty="0"/>
          </a:p>
        </p:txBody>
      </p:sp>
      <p:sp>
        <p:nvSpPr>
          <p:cNvPr id="92" name="Text 90"/>
          <p:cNvSpPr/>
          <p:nvPr/>
        </p:nvSpPr>
        <p:spPr>
          <a:xfrm>
            <a:off x="8129016" y="4882896"/>
            <a:ext cx="1956816" cy="274320"/>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0/2 near cap  ·  36% above cap</a:t>
            </a:r>
            <a:endParaRPr lang="en-US" sz="900" dirty="0"/>
          </a:p>
        </p:txBody>
      </p:sp>
      <p:sp>
        <p:nvSpPr>
          <p:cNvPr id="93" name="Shape 91"/>
          <p:cNvSpPr/>
          <p:nvPr/>
        </p:nvSpPr>
        <p:spPr>
          <a:xfrm>
            <a:off x="10140696" y="4892040"/>
            <a:ext cx="1408176" cy="256032"/>
          </a:xfrm>
          <a:prstGeom prst="roundRect">
            <a:avLst>
              <a:gd name="adj" fmla="val 17857"/>
            </a:avLst>
          </a:prstGeom>
          <a:solidFill>
            <a:srgbClr val="1E8E86"/>
          </a:solidFill>
          <a:ln/>
        </p:spPr>
      </p:sp>
      <p:sp>
        <p:nvSpPr>
          <p:cNvPr id="94" name="Text 92"/>
          <p:cNvSpPr/>
          <p:nvPr/>
        </p:nvSpPr>
        <p:spPr>
          <a:xfrm>
            <a:off x="10140696" y="4892040"/>
            <a:ext cx="1408176"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19  ·  Very Low</a:t>
            </a:r>
            <a:endParaRPr lang="en-US" sz="950" dirty="0"/>
          </a:p>
        </p:txBody>
      </p:sp>
      <p:sp>
        <p:nvSpPr>
          <p:cNvPr id="95" name="Shape 93"/>
          <p:cNvSpPr/>
          <p:nvPr/>
        </p:nvSpPr>
        <p:spPr>
          <a:xfrm>
            <a:off x="6537960" y="5248656"/>
            <a:ext cx="5010912" cy="512064"/>
          </a:xfrm>
          <a:prstGeom prst="roundRect">
            <a:avLst>
              <a:gd name="adj" fmla="val 16071"/>
            </a:avLst>
          </a:prstGeom>
          <a:solidFill>
            <a:srgbClr val="E8F6F3"/>
          </a:solidFill>
          <a:ln/>
        </p:spPr>
      </p:sp>
      <p:sp>
        <p:nvSpPr>
          <p:cNvPr id="96" name="Text 94"/>
          <p:cNvSpPr/>
          <p:nvPr/>
        </p:nvSpPr>
        <p:spPr>
          <a:xfrm>
            <a:off x="6684264" y="5248656"/>
            <a:ext cx="4718304" cy="512064"/>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Layman view: the money stays and the customer holds well above the high-rate limits — a sign of structural, not promo-driven, deposits.</a:t>
            </a:r>
            <a:endParaRPr lang="en-US" sz="950" dirty="0"/>
          </a:p>
        </p:txBody>
      </p:sp>
      <p:sp>
        <p:nvSpPr>
          <p:cNvPr id="97" name="Shape 95"/>
          <p:cNvSpPr/>
          <p:nvPr/>
        </p:nvSpPr>
        <p:spPr>
          <a:xfrm>
            <a:off x="530352" y="5943600"/>
            <a:ext cx="11274552" cy="530352"/>
          </a:xfrm>
          <a:prstGeom prst="roundRect">
            <a:avLst>
              <a:gd name="adj" fmla="val 15517"/>
            </a:avLst>
          </a:prstGeom>
          <a:solidFill>
            <a:srgbClr val="E8F6F3"/>
          </a:solidFill>
          <a:ln/>
        </p:spPr>
      </p:sp>
      <p:sp>
        <p:nvSpPr>
          <p:cNvPr id="98" name="Text 96"/>
          <p:cNvSpPr/>
          <p:nvPr/>
        </p:nvSpPr>
        <p:spPr>
          <a:xfrm>
            <a:off x="804672" y="5943600"/>
            <a:ext cx="10725912" cy="530352"/>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Stickiness and rate sensitivity answer different questions</a:t>
            </a:r>
            <a:pPr indent="0" marL="0">
              <a:buNone/>
            </a:pPr>
            <a:r>
              <a:rPr lang="en-US" sz="1100" dirty="0">
                <a:solidFill>
                  <a:srgbClr val="16233D"/>
                </a:solidFill>
                <a:latin typeface="Graphik TH" pitchFamily="34" charset="0"/>
                <a:ea typeface="Graphik TH" pitchFamily="34" charset="-122"/>
                <a:cs typeface="Graphik TH" pitchFamily="34" charset="-120"/>
              </a:rPr>
              <a:t>  —  both examples score Very High stickiness, but only Example 2 keeps material balance above the caps. A customer can look sticky today and still be exposed when the promotion reprices.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Save Max : 47.2k customers, THB 685m — THB 478m rate-sensitive</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*Pre-maturity view · customers with Save Max balance &gt; 0, by deposit stickiness × rate sensitivity.</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Customers 47.2k   ·   High rate sensitivity 23.8k   ·   Balance THB 685m   ·   At risk THB 478m</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Balances concentrate in the High and Very High stickiness tiers, yet most of that balance is also highly rate-sensitive.</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47.2k</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Save Max customers</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distinct ccd_id, balance &gt; 0</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23.8k</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high-rate-sensitivity</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50% of the cohort</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THB 685m</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Save Max balance</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current pocket balance</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478m</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at risk</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70% · High + Very High RS</a:t>
            </a:r>
            <a:endParaRPr lang="en-US" sz="950" dirty="0"/>
          </a:p>
        </p:txBody>
      </p:sp>
      <p:sp>
        <p:nvSpPr>
          <p:cNvPr id="22" name="Shape 20"/>
          <p:cNvSpPr/>
          <p:nvPr/>
        </p:nvSpPr>
        <p:spPr>
          <a:xfrm>
            <a:off x="530352" y="2798064"/>
            <a:ext cx="5522976" cy="2322576"/>
          </a:xfrm>
          <a:prstGeom prst="roundRect">
            <a:avLst>
              <a:gd name="adj" fmla="val 3543"/>
            </a:avLst>
          </a:prstGeom>
          <a:solidFill>
            <a:srgbClr val="F1F4F9"/>
          </a:solidFill>
          <a:ln/>
        </p:spPr>
      </p:sp>
      <p:sp>
        <p:nvSpPr>
          <p:cNvPr id="23" name="Text 21"/>
          <p:cNvSpPr/>
          <p:nvPr/>
        </p:nvSpPr>
        <p:spPr>
          <a:xfrm>
            <a:off x="786384"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Customer count</a:t>
            </a:r>
            <a:endParaRPr lang="en-US" sz="1400" dirty="0"/>
          </a:p>
        </p:txBody>
      </p:sp>
      <p:sp>
        <p:nvSpPr>
          <p:cNvPr id="24" name="Text 22"/>
          <p:cNvSpPr/>
          <p:nvPr/>
        </p:nvSpPr>
        <p:spPr>
          <a:xfrm>
            <a:off x="786384"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49808" y="3401568"/>
          <a:ext cx="5084064" cy="914400"/>
        </p:xfrm>
        <a:graphic>
          <a:graphicData uri="http://schemas.openxmlformats.org/drawingml/2006/table">
            <a:tbl>
              <a:tblPr/>
              <a:tblGrid>
                <a:gridCol w="1118494"/>
                <a:gridCol w="793114"/>
                <a:gridCol w="793114"/>
                <a:gridCol w="793114"/>
                <a:gridCol w="793114"/>
                <a:gridCol w="793114"/>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890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5,595</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2,340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3,318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829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7,809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2,788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15,007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4,791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236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2,073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1,408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26" name="Shape 23"/>
          <p:cNvSpPr/>
          <p:nvPr/>
        </p:nvSpPr>
        <p:spPr>
          <a:xfrm>
            <a:off x="6281928" y="2798064"/>
            <a:ext cx="5522976" cy="2322576"/>
          </a:xfrm>
          <a:prstGeom prst="roundRect">
            <a:avLst>
              <a:gd name="adj" fmla="val 3543"/>
            </a:avLst>
          </a:prstGeom>
          <a:solidFill>
            <a:srgbClr val="F1F4F9"/>
          </a:solidFill>
          <a:ln/>
        </p:spPr>
      </p:sp>
      <p:sp>
        <p:nvSpPr>
          <p:cNvPr id="27" name="Text 24"/>
          <p:cNvSpPr/>
          <p:nvPr/>
        </p:nvSpPr>
        <p:spPr>
          <a:xfrm>
            <a:off x="6537960"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Balance (THB m)</a:t>
            </a:r>
            <a:endParaRPr lang="en-US" sz="1400" dirty="0"/>
          </a:p>
        </p:txBody>
      </p:sp>
      <p:sp>
        <p:nvSpPr>
          <p:cNvPr id="28" name="Text 25"/>
          <p:cNvSpPr/>
          <p:nvPr/>
        </p:nvSpPr>
        <p:spPr>
          <a:xfrm>
            <a:off x="6537960"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6501384" y="3401568"/>
          <a:ext cx="5084064" cy="914400"/>
        </p:xfrm>
        <a:graphic>
          <a:graphicData uri="http://schemas.openxmlformats.org/drawingml/2006/table">
            <a:tbl>
              <a:tblPr/>
              <a:tblGrid>
                <a:gridCol w="1118494"/>
                <a:gridCol w="793114"/>
                <a:gridCol w="793114"/>
                <a:gridCol w="793114"/>
                <a:gridCol w="793114"/>
                <a:gridCol w="793114"/>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71.6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33.2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47.1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66.7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63.5</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32.0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0.5</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55.9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302.0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30" name="Shape 26"/>
          <p:cNvSpPr/>
          <p:nvPr/>
        </p:nvSpPr>
        <p:spPr>
          <a:xfrm>
            <a:off x="530352" y="5285232"/>
            <a:ext cx="11274552" cy="786384"/>
          </a:xfrm>
          <a:prstGeom prst="roundRect">
            <a:avLst>
              <a:gd name="adj" fmla="val 10465"/>
            </a:avLst>
          </a:prstGeom>
          <a:solidFill>
            <a:srgbClr val="FBF0E6"/>
          </a:solidFill>
          <a:ln/>
        </p:spPr>
      </p:sp>
      <p:sp>
        <p:nvSpPr>
          <p:cNvPr id="31" name="Text 27"/>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THB 472m (99%) of the at-risk balance sits with High / Very High stickiness customers</a:t>
            </a:r>
            <a:pPr indent="0" marL="0">
              <a:buNone/>
            </a:pPr>
            <a:r>
              <a:rPr lang="en-US" sz="1100" dirty="0">
                <a:solidFill>
                  <a:srgbClr val="16233D"/>
                </a:solidFill>
                <a:latin typeface="Graphik TH" pitchFamily="34" charset="0"/>
                <a:ea typeface="Graphik TH" pitchFamily="34" charset="-122"/>
                <a:cs typeface="Graphik TH" pitchFamily="34" charset="-120"/>
              </a:rPr>
              <a:t>  —  so today's stickiness may be promotional. The genuinely fragile subset is stickiness &lt; 60 with rate sensitivity ≥ 60: THB 6m. Monitor it for early runoff signals.</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All customers : 1.38m — only 320.1k hold a balance</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*Full customer base · distinct ccd_id by deposit stickiness × rate sensitivity.</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Total 1.38m   ·   With balance &gt; 0  320.1k (23%)   ·   High rate sensitivity 25.0k</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The funded base is far stickier than the account base — low stickiness falls from 81% to 21% once you require a balance.</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1.38m</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customers</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distinct ccd_id</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320.1k</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customers with balance</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23% of the base</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21%</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low stickiness, funded</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against 81% of the full base</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25.0k</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high rate sensitivity</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every one of them holds a balance</a:t>
            </a:r>
            <a:endParaRPr lang="en-US" sz="950" dirty="0"/>
          </a:p>
        </p:txBody>
      </p:sp>
      <p:sp>
        <p:nvSpPr>
          <p:cNvPr id="22" name="Shape 20"/>
          <p:cNvSpPr/>
          <p:nvPr/>
        </p:nvSpPr>
        <p:spPr>
          <a:xfrm>
            <a:off x="530352" y="2798064"/>
            <a:ext cx="5522976" cy="2322576"/>
          </a:xfrm>
          <a:prstGeom prst="roundRect">
            <a:avLst>
              <a:gd name="adj" fmla="val 3543"/>
            </a:avLst>
          </a:prstGeom>
          <a:solidFill>
            <a:srgbClr val="F1F4F9"/>
          </a:solidFill>
          <a:ln/>
        </p:spPr>
      </p:sp>
      <p:sp>
        <p:nvSpPr>
          <p:cNvPr id="23" name="Text 21"/>
          <p:cNvSpPr/>
          <p:nvPr/>
        </p:nvSpPr>
        <p:spPr>
          <a:xfrm>
            <a:off x="786384"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All customers  1.38m</a:t>
            </a:r>
            <a:endParaRPr lang="en-US" sz="1400" dirty="0"/>
          </a:p>
        </p:txBody>
      </p:sp>
      <p:sp>
        <p:nvSpPr>
          <p:cNvPr id="24" name="Text 22"/>
          <p:cNvSpPr/>
          <p:nvPr/>
        </p:nvSpPr>
        <p:spPr>
          <a:xfrm>
            <a:off x="786384"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49808" y="3401568"/>
          <a:ext cx="5084064" cy="914400"/>
        </p:xfrm>
        <a:graphic>
          <a:graphicData uri="http://schemas.openxmlformats.org/drawingml/2006/table">
            <a:tbl>
              <a:tblPr/>
              <a:tblGrid>
                <a:gridCol w="1118494"/>
                <a:gridCol w="793114"/>
                <a:gridCol w="793114"/>
                <a:gridCol w="793114"/>
                <a:gridCol w="793114"/>
                <a:gridCol w="793114"/>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38,436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9,260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2,340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4,101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75,965</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10,897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2,788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15,372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94,354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6,137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306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37,300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2,433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1,081,554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1,564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26" name="Shape 23"/>
          <p:cNvSpPr/>
          <p:nvPr/>
        </p:nvSpPr>
        <p:spPr>
          <a:xfrm>
            <a:off x="6281928" y="2798064"/>
            <a:ext cx="5522976" cy="2322576"/>
          </a:xfrm>
          <a:prstGeom prst="roundRect">
            <a:avLst>
              <a:gd name="adj" fmla="val 3543"/>
            </a:avLst>
          </a:prstGeom>
          <a:solidFill>
            <a:srgbClr val="F1F4F9"/>
          </a:solidFill>
          <a:ln/>
        </p:spPr>
      </p:sp>
      <p:sp>
        <p:nvSpPr>
          <p:cNvPr id="27" name="Text 24"/>
          <p:cNvSpPr/>
          <p:nvPr/>
        </p:nvSpPr>
        <p:spPr>
          <a:xfrm>
            <a:off x="6537960"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Customers with balance &gt; 0  320.1k</a:t>
            </a:r>
            <a:endParaRPr lang="en-US" sz="1400" dirty="0"/>
          </a:p>
        </p:txBody>
      </p:sp>
      <p:sp>
        <p:nvSpPr>
          <p:cNvPr id="28" name="Text 25"/>
          <p:cNvSpPr/>
          <p:nvPr/>
        </p:nvSpPr>
        <p:spPr>
          <a:xfrm>
            <a:off x="6537960"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6501384" y="3401568"/>
          <a:ext cx="5084064" cy="914400"/>
        </p:xfrm>
        <a:graphic>
          <a:graphicData uri="http://schemas.openxmlformats.org/drawingml/2006/table">
            <a:tbl>
              <a:tblPr/>
              <a:tblGrid>
                <a:gridCol w="1118494"/>
                <a:gridCol w="793114"/>
                <a:gridCol w="793114"/>
                <a:gridCol w="793114"/>
                <a:gridCol w="793114"/>
                <a:gridCol w="793114"/>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38,080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9,260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2,340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4,101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72,946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10,897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2,788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15,372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89,934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6,137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306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28,146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2,433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35,737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1,564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30" name="Shape 26"/>
          <p:cNvSpPr/>
          <p:nvPr/>
        </p:nvSpPr>
        <p:spPr>
          <a:xfrm>
            <a:off x="530352" y="5285232"/>
            <a:ext cx="11274552" cy="786384"/>
          </a:xfrm>
          <a:prstGeom prst="roundRect">
            <a:avLst>
              <a:gd name="adj" fmla="val 10465"/>
            </a:avLst>
          </a:prstGeom>
          <a:solidFill>
            <a:srgbClr val="E8F6F3"/>
          </a:solidFill>
          <a:ln/>
        </p:spPr>
      </p:sp>
      <p:sp>
        <p:nvSpPr>
          <p:cNvPr id="31" name="Text 27"/>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Very Low stickiness is largely an unfunded population — only 3% of them hold a balance, against 99% of Very High</a:t>
            </a:r>
            <a:pPr indent="0" marL="0">
              <a:buNone/>
            </a:pPr>
            <a:r>
              <a:rPr lang="en-US" sz="1100" dirty="0">
                <a:solidFill>
                  <a:srgbClr val="16233D"/>
                </a:solidFill>
                <a:latin typeface="Graphik TH" pitchFamily="34" charset="0"/>
                <a:ea typeface="Graphik TH" pitchFamily="34" charset="-122"/>
                <a:cs typeface="Graphik TH" pitchFamily="34" charset="-120"/>
              </a:rPr>
              <a:t>  —  so use the funded view for maturity and runoff risk, and the full base for activation and funding strategy.</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Funded balance : THB 5.48bn — 70% of it is rate-sensitive</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*Customers with balance &gt; 0. Only 4 customers score Medium rate sensitivity, so that band is effectively empty — the score is close to binary.</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Total THB 5.48bn   ·   Rate-sensitive THB 3.83bn (70%)   ·   Save Max THB 0.69bn — 13% of the book</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Seven baht in ten across the deposit book is rate-sensitive — the exposure runs far wider than Save Max.</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THB 5.48bn</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deposit balance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320.1k funded customers</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3.83bn</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rate-sensitive balance</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70% of the book · RS ≥ 60</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96%</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of balance in sticky tiers</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High + Very High stickiness</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99m</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fragile subset</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stickiness &lt; 60 and RS ≥ 60</a:t>
            </a:r>
            <a:endParaRPr lang="en-US" sz="950" dirty="0"/>
          </a:p>
        </p:txBody>
      </p:sp>
      <p:sp>
        <p:nvSpPr>
          <p:cNvPr id="22" name="Shape 20"/>
          <p:cNvSpPr/>
          <p:nvPr/>
        </p:nvSpPr>
        <p:spPr>
          <a:xfrm>
            <a:off x="530352" y="2798064"/>
            <a:ext cx="6720840" cy="2322576"/>
          </a:xfrm>
          <a:prstGeom prst="roundRect">
            <a:avLst>
              <a:gd name="adj" fmla="val 3543"/>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Balance (THB m)</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49808" y="3401568"/>
          <a:ext cx="6281928" cy="914400"/>
        </p:xfrm>
        <a:graphic>
          <a:graphicData uri="http://schemas.openxmlformats.org/drawingml/2006/table">
            <a:tbl>
              <a:tblPr/>
              <a:tblGrid>
                <a:gridCol w="1382024"/>
                <a:gridCol w="979981"/>
                <a:gridCol w="979981"/>
                <a:gridCol w="979981"/>
                <a:gridCol w="979981"/>
                <a:gridCol w="979981"/>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346.4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591.0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464.2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1,258.9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263.9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310.8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693.0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1,314.8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41.2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11.1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85.1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6.0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26" name="Shape 23"/>
          <p:cNvSpPr/>
          <p:nvPr/>
        </p:nvSpPr>
        <p:spPr>
          <a:xfrm>
            <a:off x="7479792" y="2798064"/>
            <a:ext cx="4325112" cy="2322576"/>
          </a:xfrm>
          <a:prstGeom prst="roundRect">
            <a:avLst>
              <a:gd name="adj" fmla="val 3543"/>
            </a:avLst>
          </a:prstGeom>
          <a:solidFill>
            <a:srgbClr val="F1F4F9"/>
          </a:solidFill>
          <a:ln/>
        </p:spPr>
      </p:sp>
      <p:sp>
        <p:nvSpPr>
          <p:cNvPr id="27" name="Text 24"/>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Average balance per customer</a:t>
            </a:r>
            <a:endParaRPr lang="en-US" sz="1400" dirty="0"/>
          </a:p>
        </p:txBody>
      </p:sp>
      <p:sp>
        <p:nvSpPr>
          <p:cNvPr id="28" name="Text 25"/>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Funded customers, by stickiness tier</a:t>
            </a:r>
            <a:endParaRPr lang="en-US" sz="950" dirty="0"/>
          </a:p>
        </p:txBody>
      </p:sp>
      <p:sp>
        <p:nvSpPr>
          <p:cNvPr id="29" name="Text 26"/>
          <p:cNvSpPr/>
          <p:nvPr/>
        </p:nvSpPr>
        <p:spPr>
          <a:xfrm>
            <a:off x="7735824" y="3474720"/>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Very High</a:t>
            </a:r>
            <a:endParaRPr lang="en-US" sz="1050" dirty="0"/>
          </a:p>
        </p:txBody>
      </p:sp>
      <p:sp>
        <p:nvSpPr>
          <p:cNvPr id="30" name="Shape 27"/>
          <p:cNvSpPr/>
          <p:nvPr/>
        </p:nvSpPr>
        <p:spPr>
          <a:xfrm>
            <a:off x="8851392" y="3520440"/>
            <a:ext cx="1417320" cy="164592"/>
          </a:xfrm>
          <a:prstGeom prst="roundRect">
            <a:avLst>
              <a:gd name="adj" fmla="val 16667"/>
            </a:avLst>
          </a:prstGeom>
          <a:solidFill>
            <a:srgbClr val="165A73"/>
          </a:solidFill>
          <a:ln/>
        </p:spPr>
      </p:sp>
      <p:sp>
        <p:nvSpPr>
          <p:cNvPr id="31" name="Text 28"/>
          <p:cNvSpPr/>
          <p:nvPr/>
        </p:nvSpPr>
        <p:spPr>
          <a:xfrm>
            <a:off x="10351008" y="3474720"/>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49,529</a:t>
            </a:r>
            <a:endParaRPr lang="en-US" sz="1050" dirty="0"/>
          </a:p>
        </p:txBody>
      </p:sp>
      <p:sp>
        <p:nvSpPr>
          <p:cNvPr id="32" name="Text 29"/>
          <p:cNvSpPr/>
          <p:nvPr/>
        </p:nvSpPr>
        <p:spPr>
          <a:xfrm>
            <a:off x="7735824" y="3785616"/>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High</a:t>
            </a:r>
            <a:endParaRPr lang="en-US" sz="1050" dirty="0"/>
          </a:p>
        </p:txBody>
      </p:sp>
      <p:sp>
        <p:nvSpPr>
          <p:cNvPr id="33" name="Shape 30"/>
          <p:cNvSpPr/>
          <p:nvPr/>
        </p:nvSpPr>
        <p:spPr>
          <a:xfrm>
            <a:off x="8851392" y="3831336"/>
            <a:ext cx="725350" cy="164592"/>
          </a:xfrm>
          <a:prstGeom prst="roundRect">
            <a:avLst>
              <a:gd name="adj" fmla="val 16667"/>
            </a:avLst>
          </a:prstGeom>
          <a:solidFill>
            <a:srgbClr val="1E8E86"/>
          </a:solidFill>
          <a:ln/>
        </p:spPr>
      </p:sp>
      <p:sp>
        <p:nvSpPr>
          <p:cNvPr id="34" name="Text 31"/>
          <p:cNvSpPr/>
          <p:nvPr/>
        </p:nvSpPr>
        <p:spPr>
          <a:xfrm>
            <a:off x="10351008" y="3785616"/>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25,348</a:t>
            </a:r>
            <a:endParaRPr lang="en-US" sz="1050" dirty="0"/>
          </a:p>
        </p:txBody>
      </p:sp>
      <p:sp>
        <p:nvSpPr>
          <p:cNvPr id="35" name="Text 32"/>
          <p:cNvSpPr/>
          <p:nvPr/>
        </p:nvSpPr>
        <p:spPr>
          <a:xfrm>
            <a:off x="7735824" y="4096512"/>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Medium</a:t>
            </a:r>
            <a:endParaRPr lang="en-US" sz="1050" dirty="0"/>
          </a:p>
        </p:txBody>
      </p:sp>
      <p:sp>
        <p:nvSpPr>
          <p:cNvPr id="36" name="Shape 33"/>
          <p:cNvSpPr/>
          <p:nvPr/>
        </p:nvSpPr>
        <p:spPr>
          <a:xfrm>
            <a:off x="8851392" y="4142232"/>
            <a:ext cx="62733" cy="164592"/>
          </a:xfrm>
          <a:prstGeom prst="roundRect">
            <a:avLst>
              <a:gd name="adj" fmla="val 43728"/>
            </a:avLst>
          </a:prstGeom>
          <a:solidFill>
            <a:srgbClr val="3FB89F"/>
          </a:solidFill>
          <a:ln/>
        </p:spPr>
      </p:sp>
      <p:sp>
        <p:nvSpPr>
          <p:cNvPr id="37" name="Text 34"/>
          <p:cNvSpPr/>
          <p:nvPr/>
        </p:nvSpPr>
        <p:spPr>
          <a:xfrm>
            <a:off x="10351008" y="4096512"/>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2,192</a:t>
            </a:r>
            <a:endParaRPr lang="en-US" sz="1050" dirty="0"/>
          </a:p>
        </p:txBody>
      </p:sp>
      <p:sp>
        <p:nvSpPr>
          <p:cNvPr id="38" name="Text 35"/>
          <p:cNvSpPr/>
          <p:nvPr/>
        </p:nvSpPr>
        <p:spPr>
          <a:xfrm>
            <a:off x="7735824" y="4407408"/>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Low</a:t>
            </a:r>
            <a:endParaRPr lang="en-US" sz="1050" dirty="0"/>
          </a:p>
        </p:txBody>
      </p:sp>
      <p:sp>
        <p:nvSpPr>
          <p:cNvPr id="39" name="Shape 36"/>
          <p:cNvSpPr/>
          <p:nvPr/>
        </p:nvSpPr>
        <p:spPr>
          <a:xfrm>
            <a:off x="8851392" y="4453128"/>
            <a:ext cx="36576" cy="164592"/>
          </a:xfrm>
          <a:prstGeom prst="roundRect">
            <a:avLst>
              <a:gd name="adj" fmla="val 75000"/>
            </a:avLst>
          </a:prstGeom>
          <a:solidFill>
            <a:srgbClr val="E9A03B"/>
          </a:solidFill>
          <a:ln/>
        </p:spPr>
      </p:sp>
      <p:sp>
        <p:nvSpPr>
          <p:cNvPr id="40" name="Text 37"/>
          <p:cNvSpPr/>
          <p:nvPr/>
        </p:nvSpPr>
        <p:spPr>
          <a:xfrm>
            <a:off x="10351008" y="4407408"/>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370</a:t>
            </a:r>
            <a:endParaRPr lang="en-US" sz="1050" dirty="0"/>
          </a:p>
        </p:txBody>
      </p:sp>
      <p:sp>
        <p:nvSpPr>
          <p:cNvPr id="41" name="Text 38"/>
          <p:cNvSpPr/>
          <p:nvPr/>
        </p:nvSpPr>
        <p:spPr>
          <a:xfrm>
            <a:off x="7735824" y="4718304"/>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Very Low</a:t>
            </a:r>
            <a:endParaRPr lang="en-US" sz="1050" dirty="0"/>
          </a:p>
        </p:txBody>
      </p:sp>
      <p:sp>
        <p:nvSpPr>
          <p:cNvPr id="42" name="Shape 39"/>
          <p:cNvSpPr/>
          <p:nvPr/>
        </p:nvSpPr>
        <p:spPr>
          <a:xfrm>
            <a:off x="8851392" y="4764024"/>
            <a:ext cx="36576" cy="164592"/>
          </a:xfrm>
          <a:prstGeom prst="roundRect">
            <a:avLst>
              <a:gd name="adj" fmla="val 75000"/>
            </a:avLst>
          </a:prstGeom>
          <a:solidFill>
            <a:srgbClr val="8DA0B8"/>
          </a:solidFill>
          <a:ln/>
        </p:spPr>
      </p:sp>
      <p:sp>
        <p:nvSpPr>
          <p:cNvPr id="43" name="Text 40"/>
          <p:cNvSpPr/>
          <p:nvPr/>
        </p:nvSpPr>
        <p:spPr>
          <a:xfrm>
            <a:off x="10351008" y="4718304"/>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143</a:t>
            </a:r>
            <a:endParaRPr lang="en-US" sz="1050" dirty="0"/>
          </a:p>
        </p:txBody>
      </p:sp>
      <p:sp>
        <p:nvSpPr>
          <p:cNvPr id="44" name="Text 41"/>
          <p:cNvSpPr/>
          <p:nvPr/>
        </p:nvSpPr>
        <p:spPr>
          <a:xfrm>
            <a:off x="7735824" y="5084064"/>
            <a:ext cx="3813048" cy="274320"/>
          </a:xfrm>
          <a:prstGeom prst="rect">
            <a:avLst/>
          </a:prstGeom>
          <a:noFill/>
          <a:ln/>
        </p:spPr>
        <p:txBody>
          <a:bodyPr wrap="square" lIns="0" tIns="0" rIns="0" bIns="0" rtlCol="0" anchor="ctr"/>
          <a:lstStyle/>
          <a:p>
            <a:pPr indent="0" marL="0">
              <a:buNone/>
            </a:pPr>
            <a:r>
              <a:rPr lang="en-US" sz="900" i="1" dirty="0">
                <a:solidFill>
                  <a:srgbClr val="6B7A90"/>
                </a:solidFill>
                <a:latin typeface="Graphik TH" pitchFamily="34" charset="0"/>
                <a:ea typeface="Graphik TH" pitchFamily="34" charset="-122"/>
                <a:cs typeface="Graphik TH" pitchFamily="34" charset="-120"/>
              </a:rPr>
              <a:t>Very High stickiness holds ~346× the balance of Very Low.</a:t>
            </a:r>
            <a:endParaRPr lang="en-US" sz="900" dirty="0"/>
          </a:p>
        </p:txBody>
      </p:sp>
      <p:sp>
        <p:nvSpPr>
          <p:cNvPr id="45" name="Shape 42"/>
          <p:cNvSpPr/>
          <p:nvPr/>
        </p:nvSpPr>
        <p:spPr>
          <a:xfrm>
            <a:off x="530352" y="5285232"/>
            <a:ext cx="11274552" cy="786384"/>
          </a:xfrm>
          <a:prstGeom prst="roundRect">
            <a:avLst>
              <a:gd name="adj" fmla="val 10465"/>
            </a:avLst>
          </a:prstGeom>
          <a:solidFill>
            <a:srgbClr val="FBF0E6"/>
          </a:solidFill>
          <a:ln/>
        </p:spPr>
      </p:sp>
      <p:sp>
        <p:nvSpPr>
          <p:cNvPr id="46" name="Text 43"/>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97% of the rate-sensitive balance sits with High / Very High stickiness customers</a:t>
            </a:r>
            <a:pPr indent="0" marL="0">
              <a:buNone/>
            </a:pPr>
            <a:r>
              <a:rPr lang="en-US" sz="1100" dirty="0">
                <a:solidFill>
                  <a:srgbClr val="16233D"/>
                </a:solidFill>
                <a:latin typeface="Graphik TH" pitchFamily="34" charset="0"/>
                <a:ea typeface="Graphik TH" pitchFamily="34" charset="-122"/>
                <a:cs typeface="Graphik TH" pitchFamily="34" charset="-120"/>
              </a:rPr>
              <a:t>  —  the same pattern as Save Max, at eight times the size. The genuinely fragile slice is THB 99m: customers who are neither sticky nor indifferent to price.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Two risk lenses : low stickiness and high rate sensitivity</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*Funded base only (balance &gt; 0). Low stickiness = score &lt; 40 (Low + Very Low bands) · high rate sensitivity = score ≥ 60 (High + Very High bands).</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Funded 320.1k · THB 5.48bn   ·   Low stickiness 67.9k → THB 16.7m   ·   High rate sensitivity 25.0k → THB 3.83bn</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Low-stickiness customers are numerous but barely funded; rate-sensitive customers are few but hold seven baht in ten.</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67.9k</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low-stickiness customers</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21.2% of the funded base</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THB 16.7m</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they hold</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0.3% of the deposit book</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25.0k</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rate-sensitive customers</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7.8% of the funded base · RS ≥ 60</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3.83bn</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at risk</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70% of the deposit book</a:t>
            </a:r>
            <a:endParaRPr lang="en-US" sz="950" dirty="0"/>
          </a:p>
        </p:txBody>
      </p:sp>
      <p:sp>
        <p:nvSpPr>
          <p:cNvPr id="22" name="Shape 20"/>
          <p:cNvSpPr/>
          <p:nvPr/>
        </p:nvSpPr>
        <p:spPr>
          <a:xfrm>
            <a:off x="530352" y="2798064"/>
            <a:ext cx="6720840" cy="2322576"/>
          </a:xfrm>
          <a:prstGeom prst="roundRect">
            <a:avLst>
              <a:gd name="adj" fmla="val 3543"/>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Share of customers against share of balance</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Each bar is a percentage of the funded base · full track = 100%</a:t>
            </a:r>
            <a:endParaRPr lang="en-US" sz="950" dirty="0"/>
          </a:p>
        </p:txBody>
      </p:sp>
      <p:sp>
        <p:nvSpPr>
          <p:cNvPr id="25" name="Text 23"/>
          <p:cNvSpPr/>
          <p:nvPr/>
        </p:nvSpPr>
        <p:spPr>
          <a:xfrm>
            <a:off x="786384" y="3401568"/>
            <a:ext cx="6217920" cy="219456"/>
          </a:xfrm>
          <a:prstGeom prst="rect">
            <a:avLst/>
          </a:prstGeom>
          <a:noFill/>
          <a:ln/>
        </p:spPr>
        <p:txBody>
          <a:bodyPr wrap="square" lIns="0" tIns="0" rIns="0" bIns="0" rtlCol="0" anchor="ctr"/>
          <a:lstStyle/>
          <a:p>
            <a:pPr indent="0" marL="0">
              <a:buNone/>
            </a:pPr>
            <a:r>
              <a:rPr lang="en-US" sz="1050" b="1" dirty="0">
                <a:solidFill>
                  <a:srgbClr val="E9A03B"/>
                </a:solidFill>
                <a:latin typeface="Graphik TH" pitchFamily="34" charset="0"/>
                <a:ea typeface="Graphik TH" pitchFamily="34" charset="-122"/>
                <a:cs typeface="Graphik TH" pitchFamily="34" charset="-120"/>
              </a:rPr>
              <a:t>Low stickiness  ·  score &lt; 40</a:t>
            </a:r>
            <a:endParaRPr lang="en-US" sz="1050" dirty="0"/>
          </a:p>
        </p:txBody>
      </p:sp>
      <p:sp>
        <p:nvSpPr>
          <p:cNvPr id="26" name="Text 24"/>
          <p:cNvSpPr/>
          <p:nvPr/>
        </p:nvSpPr>
        <p:spPr>
          <a:xfrm>
            <a:off x="786384" y="3639312"/>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Share of customers</a:t>
            </a:r>
            <a:endParaRPr lang="en-US" sz="1000" dirty="0"/>
          </a:p>
        </p:txBody>
      </p:sp>
      <p:sp>
        <p:nvSpPr>
          <p:cNvPr id="27" name="Shape 25"/>
          <p:cNvSpPr/>
          <p:nvPr/>
        </p:nvSpPr>
        <p:spPr>
          <a:xfrm>
            <a:off x="2670048" y="3675888"/>
            <a:ext cx="3154680" cy="182880"/>
          </a:xfrm>
          <a:prstGeom prst="roundRect">
            <a:avLst>
              <a:gd name="adj" fmla="val 15000"/>
            </a:avLst>
          </a:prstGeom>
          <a:solidFill>
            <a:srgbClr val="E4E9F0"/>
          </a:solidFill>
          <a:ln/>
        </p:spPr>
      </p:sp>
      <p:sp>
        <p:nvSpPr>
          <p:cNvPr id="28" name="Shape 26"/>
          <p:cNvSpPr/>
          <p:nvPr/>
        </p:nvSpPr>
        <p:spPr>
          <a:xfrm>
            <a:off x="2670048" y="3675888"/>
            <a:ext cx="669106" cy="182880"/>
          </a:xfrm>
          <a:prstGeom prst="roundRect">
            <a:avLst>
              <a:gd name="adj" fmla="val 15000"/>
            </a:avLst>
          </a:prstGeom>
          <a:solidFill>
            <a:srgbClr val="E9A03B"/>
          </a:solidFill>
          <a:ln/>
        </p:spPr>
      </p:sp>
      <p:sp>
        <p:nvSpPr>
          <p:cNvPr id="29" name="Text 27"/>
          <p:cNvSpPr/>
          <p:nvPr/>
        </p:nvSpPr>
        <p:spPr>
          <a:xfrm>
            <a:off x="5925312" y="3639312"/>
            <a:ext cx="1088136" cy="256032"/>
          </a:xfrm>
          <a:prstGeom prst="rect">
            <a:avLst/>
          </a:prstGeom>
          <a:noFill/>
          <a:ln/>
        </p:spPr>
        <p:txBody>
          <a:bodyPr wrap="square" lIns="0" tIns="0" rIns="0" bIns="0" rtlCol="0" anchor="ctr"/>
          <a:lstStyle/>
          <a:p>
            <a:pPr algn="r" indent="0" marL="0">
              <a:buNone/>
            </a:pPr>
            <a:r>
              <a:rPr lang="en-US" sz="1050" b="1" dirty="0">
                <a:solidFill>
                  <a:srgbClr val="E9A03B"/>
                </a:solidFill>
                <a:latin typeface="Graphik TH" pitchFamily="34" charset="0"/>
                <a:ea typeface="Graphik TH" pitchFamily="34" charset="-122"/>
                <a:cs typeface="Graphik TH" pitchFamily="34" charset="-120"/>
              </a:rPr>
              <a:t>21.2%</a:t>
            </a:r>
            <a:endParaRPr lang="en-US" sz="1050" dirty="0"/>
          </a:p>
        </p:txBody>
      </p:sp>
      <p:sp>
        <p:nvSpPr>
          <p:cNvPr id="30" name="Text 28"/>
          <p:cNvSpPr/>
          <p:nvPr/>
        </p:nvSpPr>
        <p:spPr>
          <a:xfrm>
            <a:off x="786384" y="3931920"/>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Share of balance</a:t>
            </a:r>
            <a:endParaRPr lang="en-US" sz="1000" dirty="0"/>
          </a:p>
        </p:txBody>
      </p:sp>
      <p:sp>
        <p:nvSpPr>
          <p:cNvPr id="31" name="Shape 29"/>
          <p:cNvSpPr/>
          <p:nvPr/>
        </p:nvSpPr>
        <p:spPr>
          <a:xfrm>
            <a:off x="2670048" y="3968496"/>
            <a:ext cx="3154680" cy="182880"/>
          </a:xfrm>
          <a:prstGeom prst="roundRect">
            <a:avLst>
              <a:gd name="adj" fmla="val 15000"/>
            </a:avLst>
          </a:prstGeom>
          <a:solidFill>
            <a:srgbClr val="E4E9F0"/>
          </a:solidFill>
          <a:ln/>
        </p:spPr>
      </p:sp>
      <p:sp>
        <p:nvSpPr>
          <p:cNvPr id="32" name="Shape 30"/>
          <p:cNvSpPr/>
          <p:nvPr/>
        </p:nvSpPr>
        <p:spPr>
          <a:xfrm>
            <a:off x="2670048" y="3968496"/>
            <a:ext cx="45720" cy="182880"/>
          </a:xfrm>
          <a:prstGeom prst="roundRect">
            <a:avLst>
              <a:gd name="adj" fmla="val 60000"/>
            </a:avLst>
          </a:prstGeom>
          <a:solidFill>
            <a:srgbClr val="E9A03B"/>
          </a:solidFill>
          <a:ln/>
        </p:spPr>
      </p:sp>
      <p:sp>
        <p:nvSpPr>
          <p:cNvPr id="33" name="Text 31"/>
          <p:cNvSpPr/>
          <p:nvPr/>
        </p:nvSpPr>
        <p:spPr>
          <a:xfrm>
            <a:off x="5925312" y="3931920"/>
            <a:ext cx="1088136" cy="256032"/>
          </a:xfrm>
          <a:prstGeom prst="rect">
            <a:avLst/>
          </a:prstGeom>
          <a:noFill/>
          <a:ln/>
        </p:spPr>
        <p:txBody>
          <a:bodyPr wrap="square" lIns="0" tIns="0" rIns="0" bIns="0" rtlCol="0" anchor="ctr"/>
          <a:lstStyle/>
          <a:p>
            <a:pPr algn="r" indent="0" marL="0">
              <a:buNone/>
            </a:pPr>
            <a:r>
              <a:rPr lang="en-US" sz="1050" b="1" dirty="0">
                <a:solidFill>
                  <a:srgbClr val="E9A03B"/>
                </a:solidFill>
                <a:latin typeface="Graphik TH" pitchFamily="34" charset="0"/>
                <a:ea typeface="Graphik TH" pitchFamily="34" charset="-122"/>
                <a:cs typeface="Graphik TH" pitchFamily="34" charset="-120"/>
              </a:rPr>
              <a:t>0.3%</a:t>
            </a:r>
            <a:endParaRPr lang="en-US" sz="1050" dirty="0"/>
          </a:p>
        </p:txBody>
      </p:sp>
      <p:sp>
        <p:nvSpPr>
          <p:cNvPr id="34" name="Text 32"/>
          <p:cNvSpPr/>
          <p:nvPr/>
        </p:nvSpPr>
        <p:spPr>
          <a:xfrm>
            <a:off x="786384" y="4261104"/>
            <a:ext cx="6217920" cy="219456"/>
          </a:xfrm>
          <a:prstGeom prst="rect">
            <a:avLst/>
          </a:prstGeom>
          <a:noFill/>
          <a:ln/>
        </p:spPr>
        <p:txBody>
          <a:bodyPr wrap="square" lIns="0" tIns="0" rIns="0" bIns="0" rtlCol="0" anchor="ctr"/>
          <a:lstStyle/>
          <a:p>
            <a:pPr indent="0" marL="0">
              <a:buNone/>
            </a:pPr>
            <a:r>
              <a:rPr lang="en-US" sz="1050" b="1" dirty="0">
                <a:solidFill>
                  <a:srgbClr val="C00000"/>
                </a:solidFill>
                <a:latin typeface="Graphik TH" pitchFamily="34" charset="0"/>
                <a:ea typeface="Graphik TH" pitchFamily="34" charset="-122"/>
                <a:cs typeface="Graphik TH" pitchFamily="34" charset="-120"/>
              </a:rPr>
              <a:t>High rate sensitivity  ·  score ≥ 60</a:t>
            </a:r>
            <a:endParaRPr lang="en-US" sz="1050" dirty="0"/>
          </a:p>
        </p:txBody>
      </p:sp>
      <p:sp>
        <p:nvSpPr>
          <p:cNvPr id="35" name="Text 33"/>
          <p:cNvSpPr/>
          <p:nvPr/>
        </p:nvSpPr>
        <p:spPr>
          <a:xfrm>
            <a:off x="786384" y="4498848"/>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Share of customers</a:t>
            </a:r>
            <a:endParaRPr lang="en-US" sz="1000" dirty="0"/>
          </a:p>
        </p:txBody>
      </p:sp>
      <p:sp>
        <p:nvSpPr>
          <p:cNvPr id="36" name="Shape 34"/>
          <p:cNvSpPr/>
          <p:nvPr/>
        </p:nvSpPr>
        <p:spPr>
          <a:xfrm>
            <a:off x="2670048" y="4535424"/>
            <a:ext cx="3154680" cy="182880"/>
          </a:xfrm>
          <a:prstGeom prst="roundRect">
            <a:avLst>
              <a:gd name="adj" fmla="val 15000"/>
            </a:avLst>
          </a:prstGeom>
          <a:solidFill>
            <a:srgbClr val="E4E9F0"/>
          </a:solidFill>
          <a:ln/>
        </p:spPr>
      </p:sp>
      <p:sp>
        <p:nvSpPr>
          <p:cNvPr id="37" name="Shape 35"/>
          <p:cNvSpPr/>
          <p:nvPr/>
        </p:nvSpPr>
        <p:spPr>
          <a:xfrm>
            <a:off x="2670048" y="4535424"/>
            <a:ext cx="246090" cy="182880"/>
          </a:xfrm>
          <a:prstGeom prst="roundRect">
            <a:avLst>
              <a:gd name="adj" fmla="val 15000"/>
            </a:avLst>
          </a:prstGeom>
          <a:solidFill>
            <a:srgbClr val="C00000"/>
          </a:solidFill>
          <a:ln/>
        </p:spPr>
      </p:sp>
      <p:sp>
        <p:nvSpPr>
          <p:cNvPr id="38" name="Text 36"/>
          <p:cNvSpPr/>
          <p:nvPr/>
        </p:nvSpPr>
        <p:spPr>
          <a:xfrm>
            <a:off x="5925312" y="4498848"/>
            <a:ext cx="1088136" cy="256032"/>
          </a:xfrm>
          <a:prstGeom prst="rect">
            <a:avLst/>
          </a:prstGeom>
          <a:noFill/>
          <a:ln/>
        </p:spPr>
        <p:txBody>
          <a:bodyPr wrap="square" lIns="0" tIns="0" rIns="0" bIns="0" rtlCol="0" anchor="ctr"/>
          <a:lstStyle/>
          <a:p>
            <a:pPr algn="r" indent="0" marL="0">
              <a:buNone/>
            </a:pPr>
            <a:r>
              <a:rPr lang="en-US" sz="1050" b="1" dirty="0">
                <a:solidFill>
                  <a:srgbClr val="C00000"/>
                </a:solidFill>
                <a:latin typeface="Graphik TH" pitchFamily="34" charset="0"/>
                <a:ea typeface="Graphik TH" pitchFamily="34" charset="-122"/>
                <a:cs typeface="Graphik TH" pitchFamily="34" charset="-120"/>
              </a:rPr>
              <a:t>7.8%</a:t>
            </a:r>
            <a:endParaRPr lang="en-US" sz="1050" dirty="0"/>
          </a:p>
        </p:txBody>
      </p:sp>
      <p:sp>
        <p:nvSpPr>
          <p:cNvPr id="39" name="Text 37"/>
          <p:cNvSpPr/>
          <p:nvPr/>
        </p:nvSpPr>
        <p:spPr>
          <a:xfrm>
            <a:off x="786384" y="4791456"/>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Share of balance</a:t>
            </a:r>
            <a:endParaRPr lang="en-US" sz="1000" dirty="0"/>
          </a:p>
        </p:txBody>
      </p:sp>
      <p:sp>
        <p:nvSpPr>
          <p:cNvPr id="40" name="Shape 38"/>
          <p:cNvSpPr/>
          <p:nvPr/>
        </p:nvSpPr>
        <p:spPr>
          <a:xfrm>
            <a:off x="2670048" y="4828032"/>
            <a:ext cx="3154680" cy="182880"/>
          </a:xfrm>
          <a:prstGeom prst="roundRect">
            <a:avLst>
              <a:gd name="adj" fmla="val 15000"/>
            </a:avLst>
          </a:prstGeom>
          <a:solidFill>
            <a:srgbClr val="E4E9F0"/>
          </a:solidFill>
          <a:ln/>
        </p:spPr>
      </p:sp>
      <p:sp>
        <p:nvSpPr>
          <p:cNvPr id="41" name="Shape 39"/>
          <p:cNvSpPr/>
          <p:nvPr/>
        </p:nvSpPr>
        <p:spPr>
          <a:xfrm>
            <a:off x="2670048" y="4828032"/>
            <a:ext cx="2206080" cy="182880"/>
          </a:xfrm>
          <a:prstGeom prst="roundRect">
            <a:avLst>
              <a:gd name="adj" fmla="val 15000"/>
            </a:avLst>
          </a:prstGeom>
          <a:solidFill>
            <a:srgbClr val="C00000"/>
          </a:solidFill>
          <a:ln/>
        </p:spPr>
      </p:sp>
      <p:sp>
        <p:nvSpPr>
          <p:cNvPr id="42" name="Text 40"/>
          <p:cNvSpPr/>
          <p:nvPr/>
        </p:nvSpPr>
        <p:spPr>
          <a:xfrm>
            <a:off x="5925312" y="4791456"/>
            <a:ext cx="1088136" cy="256032"/>
          </a:xfrm>
          <a:prstGeom prst="rect">
            <a:avLst/>
          </a:prstGeom>
          <a:noFill/>
          <a:ln/>
        </p:spPr>
        <p:txBody>
          <a:bodyPr wrap="square" lIns="0" tIns="0" rIns="0" bIns="0" rtlCol="0" anchor="ctr"/>
          <a:lstStyle/>
          <a:p>
            <a:pPr algn="r" indent="0" marL="0">
              <a:buNone/>
            </a:pPr>
            <a:r>
              <a:rPr lang="en-US" sz="1050" b="1" dirty="0">
                <a:solidFill>
                  <a:srgbClr val="C00000"/>
                </a:solidFill>
                <a:latin typeface="Graphik TH" pitchFamily="34" charset="0"/>
                <a:ea typeface="Graphik TH" pitchFamily="34" charset="-122"/>
                <a:cs typeface="Graphik TH" pitchFamily="34" charset="-120"/>
              </a:rPr>
              <a:t>69.9%</a:t>
            </a:r>
            <a:endParaRPr lang="en-US" sz="1050" dirty="0"/>
          </a:p>
        </p:txBody>
      </p:sp>
      <p:sp>
        <p:nvSpPr>
          <p:cNvPr id="43" name="Shape 41"/>
          <p:cNvSpPr/>
          <p:nvPr/>
        </p:nvSpPr>
        <p:spPr>
          <a:xfrm>
            <a:off x="7479792" y="2798064"/>
            <a:ext cx="4325112" cy="2322576"/>
          </a:xfrm>
          <a:prstGeom prst="roundRect">
            <a:avLst>
              <a:gd name="adj" fmla="val 3543"/>
            </a:avLst>
          </a:prstGeom>
          <a:solidFill>
            <a:srgbClr val="F1F4F9"/>
          </a:solidFill>
          <a:ln/>
        </p:spPr>
      </p:sp>
      <p:sp>
        <p:nvSpPr>
          <p:cNvPr id="44" name="Text 42"/>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Where the two lenses overlap</a:t>
            </a:r>
            <a:endParaRPr lang="en-US" sz="1400" dirty="0"/>
          </a:p>
        </p:txBody>
      </p:sp>
      <p:sp>
        <p:nvSpPr>
          <p:cNvPr id="45" name="Text 43"/>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Stickiness &lt; 60 and rate sensitivity ≥ 60</a:t>
            </a:r>
            <a:endParaRPr lang="en-US" sz="950" dirty="0"/>
          </a:p>
        </p:txBody>
      </p:sp>
      <p:sp>
        <p:nvSpPr>
          <p:cNvPr id="46" name="Text 44"/>
          <p:cNvSpPr/>
          <p:nvPr/>
        </p:nvSpPr>
        <p:spPr>
          <a:xfrm>
            <a:off x="7735824" y="3438144"/>
            <a:ext cx="2011680" cy="402336"/>
          </a:xfrm>
          <a:prstGeom prst="rect">
            <a:avLst/>
          </a:prstGeom>
          <a:noFill/>
          <a:ln/>
        </p:spPr>
        <p:txBody>
          <a:bodyPr wrap="square" lIns="0" tIns="0" rIns="0" bIns="0" rtlCol="0" anchor="ctr"/>
          <a:lstStyle/>
          <a:p>
            <a:pPr indent="0" marL="0">
              <a:buNone/>
            </a:pPr>
            <a:r>
              <a:rPr lang="en-US" sz="2200" b="1" dirty="0">
                <a:solidFill>
                  <a:srgbClr val="C00000"/>
                </a:solidFill>
                <a:latin typeface="Graphik TH" pitchFamily="34" charset="0"/>
                <a:ea typeface="Graphik TH" pitchFamily="34" charset="-122"/>
                <a:cs typeface="Graphik TH" pitchFamily="34" charset="-120"/>
              </a:rPr>
              <a:t>370</a:t>
            </a:r>
            <a:endParaRPr lang="en-US" sz="2200" dirty="0"/>
          </a:p>
        </p:txBody>
      </p:sp>
      <p:sp>
        <p:nvSpPr>
          <p:cNvPr id="47" name="Text 45"/>
          <p:cNvSpPr/>
          <p:nvPr/>
        </p:nvSpPr>
        <p:spPr>
          <a:xfrm>
            <a:off x="9802368" y="3438144"/>
            <a:ext cx="1746504" cy="402336"/>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customers</a:t>
            </a:r>
            <a:endParaRPr lang="en-US" sz="1100" dirty="0"/>
          </a:p>
        </p:txBody>
      </p:sp>
      <p:sp>
        <p:nvSpPr>
          <p:cNvPr id="48" name="Text 46"/>
          <p:cNvSpPr/>
          <p:nvPr/>
        </p:nvSpPr>
        <p:spPr>
          <a:xfrm>
            <a:off x="7735824" y="3895344"/>
            <a:ext cx="2011680" cy="402336"/>
          </a:xfrm>
          <a:prstGeom prst="rect">
            <a:avLst/>
          </a:prstGeom>
          <a:noFill/>
          <a:ln/>
        </p:spPr>
        <p:txBody>
          <a:bodyPr wrap="square" lIns="0" tIns="0" rIns="0" bIns="0" rtlCol="0" anchor="ctr"/>
          <a:lstStyle/>
          <a:p>
            <a:pPr indent="0" marL="0">
              <a:buNone/>
            </a:pPr>
            <a:r>
              <a:rPr lang="en-US" sz="2200" b="1" dirty="0">
                <a:solidFill>
                  <a:srgbClr val="C00000"/>
                </a:solidFill>
                <a:latin typeface="Graphik TH" pitchFamily="34" charset="0"/>
                <a:ea typeface="Graphik TH" pitchFamily="34" charset="-122"/>
                <a:cs typeface="Graphik TH" pitchFamily="34" charset="-120"/>
              </a:rPr>
              <a:t>THB 99m</a:t>
            </a:r>
            <a:endParaRPr lang="en-US" sz="2200" dirty="0"/>
          </a:p>
        </p:txBody>
      </p:sp>
      <p:sp>
        <p:nvSpPr>
          <p:cNvPr id="49" name="Text 47"/>
          <p:cNvSpPr/>
          <p:nvPr/>
        </p:nvSpPr>
        <p:spPr>
          <a:xfrm>
            <a:off x="9802368" y="3895344"/>
            <a:ext cx="1746504" cy="402336"/>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balance at risk</a:t>
            </a:r>
            <a:endParaRPr lang="en-US" sz="1100" dirty="0"/>
          </a:p>
        </p:txBody>
      </p:sp>
      <p:sp>
        <p:nvSpPr>
          <p:cNvPr id="50" name="Shape 48"/>
          <p:cNvSpPr/>
          <p:nvPr/>
        </p:nvSpPr>
        <p:spPr>
          <a:xfrm>
            <a:off x="7735824" y="4389120"/>
            <a:ext cx="3813048" cy="658368"/>
          </a:xfrm>
          <a:prstGeom prst="roundRect">
            <a:avLst>
              <a:gd name="adj" fmla="val 12500"/>
            </a:avLst>
          </a:prstGeom>
          <a:solidFill>
            <a:srgbClr val="FBF0E6"/>
          </a:solidFill>
          <a:ln/>
        </p:spPr>
      </p:sp>
      <p:sp>
        <p:nvSpPr>
          <p:cNvPr id="51" name="Text 49"/>
          <p:cNvSpPr/>
          <p:nvPr/>
        </p:nvSpPr>
        <p:spPr>
          <a:xfrm>
            <a:off x="7882128" y="4389120"/>
            <a:ext cx="3520440" cy="658368"/>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The other 97% of rate-sensitive balance — THB 3.73bn — sits with High / Very High stickiness customers.</a:t>
            </a:r>
            <a:endParaRPr lang="en-US" sz="950" dirty="0"/>
          </a:p>
        </p:txBody>
      </p:sp>
      <p:sp>
        <p:nvSpPr>
          <p:cNvPr id="52" name="Shape 50"/>
          <p:cNvSpPr/>
          <p:nvPr/>
        </p:nvSpPr>
        <p:spPr>
          <a:xfrm>
            <a:off x="530352" y="5285232"/>
            <a:ext cx="11274552" cy="786384"/>
          </a:xfrm>
          <a:prstGeom prst="roundRect">
            <a:avLst>
              <a:gd name="adj" fmla="val 10465"/>
            </a:avLst>
          </a:prstGeom>
          <a:solidFill>
            <a:srgbClr val="FBF0E6"/>
          </a:solidFill>
          <a:ln/>
        </p:spPr>
      </p:sp>
      <p:sp>
        <p:nvSpPr>
          <p:cNvPr id="53" name="Text 51"/>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The balance at risk is not with the disengaged — it is with the rate-optimisers</a:t>
            </a:r>
            <a:pPr indent="0" marL="0">
              <a:buNone/>
            </a:pPr>
            <a:r>
              <a:rPr lang="en-US" sz="1100" dirty="0">
                <a:solidFill>
                  <a:srgbClr val="16233D"/>
                </a:solidFill>
                <a:latin typeface="Graphik TH" pitchFamily="34" charset="0"/>
                <a:ea typeface="Graphik TH" pitchFamily="34" charset="-122"/>
                <a:cs typeface="Graphik TH" pitchFamily="34" charset="-120"/>
              </a:rPr>
              <a:t>  —  67.9k low-stickiness customers hold only THB 16.7m, while 25.0k rate-sensitive customers hold THB 3.83bn. Retention spend belongs with the second group; activation and funding with the first.</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Maturity outcome : Save Max −THB 209m, total balance +THB 155m</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*Save Max holders with prior balance &gt; 0. 'Move' = Save Max now zero. prev / latest balance is the customer's total deposit balance.</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Customers 72,874  ·  Moved 6,781 (9.3%)  ·  Save Max THB 993m → 784m  ·  Total THB 4.13bn → 4.28bn</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The money left the pocket, not the bank — Save Max fell 21% while total deposit balance rose 4%.</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72.9k</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customers in cohort</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held Save Max last period</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6,781</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moved out of Save Max</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9.3% · Save Max now zero</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209m</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Save Max balance</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−21.0% period on period</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+THB 155m</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deposit balance</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+3.8% period on period</a:t>
            </a:r>
            <a:endParaRPr lang="en-US" sz="950" dirty="0"/>
          </a:p>
        </p:txBody>
      </p:sp>
      <p:sp>
        <p:nvSpPr>
          <p:cNvPr id="22" name="Shape 20"/>
          <p:cNvSpPr/>
          <p:nvPr/>
        </p:nvSpPr>
        <p:spPr>
          <a:xfrm>
            <a:off x="530352" y="2798064"/>
            <a:ext cx="5522976" cy="2322576"/>
          </a:xfrm>
          <a:prstGeom prst="roundRect">
            <a:avLst>
              <a:gd name="adj" fmla="val 3543"/>
            </a:avLst>
          </a:prstGeom>
          <a:solidFill>
            <a:srgbClr val="F1F4F9"/>
          </a:solidFill>
          <a:ln/>
        </p:spPr>
      </p:sp>
      <p:sp>
        <p:nvSpPr>
          <p:cNvPr id="23" name="Text 21"/>
          <p:cNvSpPr/>
          <p:nvPr/>
        </p:nvSpPr>
        <p:spPr>
          <a:xfrm>
            <a:off x="786384"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Prior period against latest</a:t>
            </a:r>
            <a:endParaRPr lang="en-US" sz="1400" dirty="0"/>
          </a:p>
        </p:txBody>
      </p:sp>
      <p:sp>
        <p:nvSpPr>
          <p:cNvPr id="24" name="Text 22"/>
          <p:cNvSpPr/>
          <p:nvPr/>
        </p:nvSpPr>
        <p:spPr>
          <a:xfrm>
            <a:off x="786384"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Both measures on one scale — Save Max is a pocket inside the total</a:t>
            </a:r>
            <a:endParaRPr lang="en-US" sz="950" dirty="0"/>
          </a:p>
        </p:txBody>
      </p:sp>
      <p:sp>
        <p:nvSpPr>
          <p:cNvPr id="25" name="Text 23"/>
          <p:cNvSpPr/>
          <p:nvPr/>
        </p:nvSpPr>
        <p:spPr>
          <a:xfrm>
            <a:off x="786384" y="3401568"/>
            <a:ext cx="5010912" cy="201168"/>
          </a:xfrm>
          <a:prstGeom prst="rect">
            <a:avLst/>
          </a:prstGeom>
          <a:noFill/>
          <a:ln/>
        </p:spPr>
        <p:txBody>
          <a:bodyPr wrap="square" lIns="0" tIns="0" rIns="0" bIns="0" rtlCol="0" anchor="ctr"/>
          <a:lstStyle/>
          <a:p>
            <a:pPr indent="0" marL="0">
              <a:buNone/>
            </a:pPr>
            <a:r>
              <a:rPr lang="en-US" sz="1050" b="1" dirty="0">
                <a:solidFill>
                  <a:srgbClr val="045D66"/>
                </a:solidFill>
                <a:latin typeface="Graphik TH" pitchFamily="34" charset="0"/>
                <a:ea typeface="Graphik TH" pitchFamily="34" charset="-122"/>
                <a:cs typeface="Graphik TH" pitchFamily="34" charset="-120"/>
              </a:rPr>
              <a:t>Save Max pocket</a:t>
            </a:r>
            <a:endParaRPr lang="en-US" sz="1050" dirty="0"/>
          </a:p>
        </p:txBody>
      </p:sp>
      <p:sp>
        <p:nvSpPr>
          <p:cNvPr id="26" name="Text 24"/>
          <p:cNvSpPr/>
          <p:nvPr/>
        </p:nvSpPr>
        <p:spPr>
          <a:xfrm>
            <a:off x="786384" y="3621024"/>
            <a:ext cx="123444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Prior</a:t>
            </a:r>
            <a:endParaRPr lang="en-US" sz="1000" dirty="0"/>
          </a:p>
        </p:txBody>
      </p:sp>
      <p:sp>
        <p:nvSpPr>
          <p:cNvPr id="27" name="Shape 25"/>
          <p:cNvSpPr/>
          <p:nvPr/>
        </p:nvSpPr>
        <p:spPr>
          <a:xfrm>
            <a:off x="2130552" y="3666744"/>
            <a:ext cx="2331720" cy="164592"/>
          </a:xfrm>
          <a:prstGeom prst="roundRect">
            <a:avLst>
              <a:gd name="adj" fmla="val 16667"/>
            </a:avLst>
          </a:prstGeom>
          <a:solidFill>
            <a:srgbClr val="E4E9F0"/>
          </a:solidFill>
          <a:ln/>
        </p:spPr>
      </p:sp>
      <p:sp>
        <p:nvSpPr>
          <p:cNvPr id="28" name="Shape 26"/>
          <p:cNvSpPr/>
          <p:nvPr/>
        </p:nvSpPr>
        <p:spPr>
          <a:xfrm>
            <a:off x="2130552" y="3666744"/>
            <a:ext cx="540531" cy="164592"/>
          </a:xfrm>
          <a:prstGeom prst="roundRect">
            <a:avLst>
              <a:gd name="adj" fmla="val 16667"/>
            </a:avLst>
          </a:prstGeom>
          <a:solidFill>
            <a:srgbClr val="8DA0B8"/>
          </a:solidFill>
          <a:ln/>
        </p:spPr>
      </p:sp>
      <p:sp>
        <p:nvSpPr>
          <p:cNvPr id="29" name="Text 27"/>
          <p:cNvSpPr/>
          <p:nvPr/>
        </p:nvSpPr>
        <p:spPr>
          <a:xfrm>
            <a:off x="4553712" y="3621024"/>
            <a:ext cx="1243584" cy="256032"/>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THB 993m</a:t>
            </a:r>
            <a:endParaRPr lang="en-US" sz="1000" dirty="0"/>
          </a:p>
        </p:txBody>
      </p:sp>
      <p:sp>
        <p:nvSpPr>
          <p:cNvPr id="30" name="Text 28"/>
          <p:cNvSpPr/>
          <p:nvPr/>
        </p:nvSpPr>
        <p:spPr>
          <a:xfrm>
            <a:off x="786384" y="3913632"/>
            <a:ext cx="123444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Latest</a:t>
            </a:r>
            <a:endParaRPr lang="en-US" sz="1000" dirty="0"/>
          </a:p>
        </p:txBody>
      </p:sp>
      <p:sp>
        <p:nvSpPr>
          <p:cNvPr id="31" name="Shape 29"/>
          <p:cNvSpPr/>
          <p:nvPr/>
        </p:nvSpPr>
        <p:spPr>
          <a:xfrm>
            <a:off x="2130552" y="3959352"/>
            <a:ext cx="2331720" cy="164592"/>
          </a:xfrm>
          <a:prstGeom prst="roundRect">
            <a:avLst>
              <a:gd name="adj" fmla="val 16667"/>
            </a:avLst>
          </a:prstGeom>
          <a:solidFill>
            <a:srgbClr val="E4E9F0"/>
          </a:solidFill>
          <a:ln/>
        </p:spPr>
      </p:sp>
      <p:sp>
        <p:nvSpPr>
          <p:cNvPr id="32" name="Shape 30"/>
          <p:cNvSpPr/>
          <p:nvPr/>
        </p:nvSpPr>
        <p:spPr>
          <a:xfrm>
            <a:off x="2130552" y="3959352"/>
            <a:ext cx="426945" cy="164592"/>
          </a:xfrm>
          <a:prstGeom prst="roundRect">
            <a:avLst>
              <a:gd name="adj" fmla="val 16667"/>
            </a:avLst>
          </a:prstGeom>
          <a:solidFill>
            <a:srgbClr val="C00000"/>
          </a:solidFill>
          <a:ln/>
        </p:spPr>
      </p:sp>
      <p:sp>
        <p:nvSpPr>
          <p:cNvPr id="33" name="Text 31"/>
          <p:cNvSpPr/>
          <p:nvPr/>
        </p:nvSpPr>
        <p:spPr>
          <a:xfrm>
            <a:off x="4553712" y="3913632"/>
            <a:ext cx="1243584" cy="256032"/>
          </a:xfrm>
          <a:prstGeom prst="rect">
            <a:avLst/>
          </a:prstGeom>
          <a:noFill/>
          <a:ln/>
        </p:spPr>
        <p:txBody>
          <a:bodyPr wrap="square" lIns="0" tIns="0" rIns="0" bIns="0" rtlCol="0" anchor="ctr"/>
          <a:lstStyle/>
          <a:p>
            <a:pPr algn="r" indent="0" marL="0">
              <a:buNone/>
            </a:pPr>
            <a:r>
              <a:rPr lang="en-US" sz="1000" b="1" dirty="0">
                <a:solidFill>
                  <a:srgbClr val="C00000"/>
                </a:solidFill>
                <a:latin typeface="Graphik TH" pitchFamily="34" charset="0"/>
                <a:ea typeface="Graphik TH" pitchFamily="34" charset="-122"/>
                <a:cs typeface="Graphik TH" pitchFamily="34" charset="-120"/>
              </a:rPr>
              <a:t>THB 784m</a:t>
            </a:r>
            <a:endParaRPr lang="en-US" sz="1000" dirty="0"/>
          </a:p>
        </p:txBody>
      </p:sp>
      <p:sp>
        <p:nvSpPr>
          <p:cNvPr id="34" name="Text 32"/>
          <p:cNvSpPr/>
          <p:nvPr/>
        </p:nvSpPr>
        <p:spPr>
          <a:xfrm>
            <a:off x="786384" y="4242816"/>
            <a:ext cx="5010912" cy="201168"/>
          </a:xfrm>
          <a:prstGeom prst="rect">
            <a:avLst/>
          </a:prstGeom>
          <a:noFill/>
          <a:ln/>
        </p:spPr>
        <p:txBody>
          <a:bodyPr wrap="square" lIns="0" tIns="0" rIns="0" bIns="0" rtlCol="0" anchor="ctr"/>
          <a:lstStyle/>
          <a:p>
            <a:pPr indent="0" marL="0">
              <a:buNone/>
            </a:pPr>
            <a:r>
              <a:rPr lang="en-US" sz="1050" b="1" dirty="0">
                <a:solidFill>
                  <a:srgbClr val="045D66"/>
                </a:solidFill>
                <a:latin typeface="Graphik TH" pitchFamily="34" charset="0"/>
                <a:ea typeface="Graphik TH" pitchFamily="34" charset="-122"/>
                <a:cs typeface="Graphik TH" pitchFamily="34" charset="-120"/>
              </a:rPr>
              <a:t>Total deposit balance</a:t>
            </a:r>
            <a:endParaRPr lang="en-US" sz="1050" dirty="0"/>
          </a:p>
        </p:txBody>
      </p:sp>
      <p:sp>
        <p:nvSpPr>
          <p:cNvPr id="35" name="Text 33"/>
          <p:cNvSpPr/>
          <p:nvPr/>
        </p:nvSpPr>
        <p:spPr>
          <a:xfrm>
            <a:off x="786384" y="4462272"/>
            <a:ext cx="123444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Prior</a:t>
            </a:r>
            <a:endParaRPr lang="en-US" sz="1000" dirty="0"/>
          </a:p>
        </p:txBody>
      </p:sp>
      <p:sp>
        <p:nvSpPr>
          <p:cNvPr id="36" name="Shape 34"/>
          <p:cNvSpPr/>
          <p:nvPr/>
        </p:nvSpPr>
        <p:spPr>
          <a:xfrm>
            <a:off x="2130552" y="4507992"/>
            <a:ext cx="2331720" cy="164592"/>
          </a:xfrm>
          <a:prstGeom prst="roundRect">
            <a:avLst>
              <a:gd name="adj" fmla="val 16667"/>
            </a:avLst>
          </a:prstGeom>
          <a:solidFill>
            <a:srgbClr val="E4E9F0"/>
          </a:solidFill>
          <a:ln/>
        </p:spPr>
      </p:sp>
      <p:sp>
        <p:nvSpPr>
          <p:cNvPr id="37" name="Shape 35"/>
          <p:cNvSpPr/>
          <p:nvPr/>
        </p:nvSpPr>
        <p:spPr>
          <a:xfrm>
            <a:off x="2130552" y="4507992"/>
            <a:ext cx="2247350" cy="164592"/>
          </a:xfrm>
          <a:prstGeom prst="roundRect">
            <a:avLst>
              <a:gd name="adj" fmla="val 16667"/>
            </a:avLst>
          </a:prstGeom>
          <a:solidFill>
            <a:srgbClr val="8DA0B8"/>
          </a:solidFill>
          <a:ln/>
        </p:spPr>
      </p:sp>
      <p:sp>
        <p:nvSpPr>
          <p:cNvPr id="38" name="Text 36"/>
          <p:cNvSpPr/>
          <p:nvPr/>
        </p:nvSpPr>
        <p:spPr>
          <a:xfrm>
            <a:off x="4553712" y="4462272"/>
            <a:ext cx="1243584" cy="256032"/>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THB 4,128m</a:t>
            </a:r>
            <a:endParaRPr lang="en-US" sz="1000" dirty="0"/>
          </a:p>
        </p:txBody>
      </p:sp>
      <p:sp>
        <p:nvSpPr>
          <p:cNvPr id="39" name="Text 37"/>
          <p:cNvSpPr/>
          <p:nvPr/>
        </p:nvSpPr>
        <p:spPr>
          <a:xfrm>
            <a:off x="786384" y="4754880"/>
            <a:ext cx="123444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Latest</a:t>
            </a:r>
            <a:endParaRPr lang="en-US" sz="1000" dirty="0"/>
          </a:p>
        </p:txBody>
      </p:sp>
      <p:sp>
        <p:nvSpPr>
          <p:cNvPr id="40" name="Shape 38"/>
          <p:cNvSpPr/>
          <p:nvPr/>
        </p:nvSpPr>
        <p:spPr>
          <a:xfrm>
            <a:off x="2130552" y="4800600"/>
            <a:ext cx="2331720" cy="164592"/>
          </a:xfrm>
          <a:prstGeom prst="roundRect">
            <a:avLst>
              <a:gd name="adj" fmla="val 16667"/>
            </a:avLst>
          </a:prstGeom>
          <a:solidFill>
            <a:srgbClr val="E4E9F0"/>
          </a:solidFill>
          <a:ln/>
        </p:spPr>
      </p:sp>
      <p:sp>
        <p:nvSpPr>
          <p:cNvPr id="41" name="Shape 39"/>
          <p:cNvSpPr/>
          <p:nvPr/>
        </p:nvSpPr>
        <p:spPr>
          <a:xfrm>
            <a:off x="2130552" y="4800600"/>
            <a:ext cx="2331720" cy="164592"/>
          </a:xfrm>
          <a:prstGeom prst="roundRect">
            <a:avLst>
              <a:gd name="adj" fmla="val 16667"/>
            </a:avLst>
          </a:prstGeom>
          <a:solidFill>
            <a:srgbClr val="1E8E86"/>
          </a:solidFill>
          <a:ln/>
        </p:spPr>
      </p:sp>
      <p:sp>
        <p:nvSpPr>
          <p:cNvPr id="42" name="Text 40"/>
          <p:cNvSpPr/>
          <p:nvPr/>
        </p:nvSpPr>
        <p:spPr>
          <a:xfrm>
            <a:off x="4553712" y="4754880"/>
            <a:ext cx="1243584" cy="256032"/>
          </a:xfrm>
          <a:prstGeom prst="rect">
            <a:avLst/>
          </a:prstGeom>
          <a:noFill/>
          <a:ln/>
        </p:spPr>
        <p:txBody>
          <a:bodyPr wrap="square" lIns="0" tIns="0" rIns="0" bIns="0" rtlCol="0" anchor="ctr"/>
          <a:lstStyle/>
          <a:p>
            <a:pPr algn="r" indent="0" marL="0">
              <a:buNone/>
            </a:pPr>
            <a:r>
              <a:rPr lang="en-US" sz="1000" b="1" dirty="0">
                <a:solidFill>
                  <a:srgbClr val="1E8E86"/>
                </a:solidFill>
                <a:latin typeface="Graphik TH" pitchFamily="34" charset="0"/>
                <a:ea typeface="Graphik TH" pitchFamily="34" charset="-122"/>
                <a:cs typeface="Graphik TH" pitchFamily="34" charset="-120"/>
              </a:rPr>
              <a:t>THB 4,283m</a:t>
            </a:r>
            <a:endParaRPr lang="en-US" sz="1000" dirty="0"/>
          </a:p>
        </p:txBody>
      </p:sp>
      <p:sp>
        <p:nvSpPr>
          <p:cNvPr id="43" name="Shape 41"/>
          <p:cNvSpPr/>
          <p:nvPr/>
        </p:nvSpPr>
        <p:spPr>
          <a:xfrm>
            <a:off x="6281928" y="2798064"/>
            <a:ext cx="5522976" cy="2322576"/>
          </a:xfrm>
          <a:prstGeom prst="roundRect">
            <a:avLst>
              <a:gd name="adj" fmla="val 3543"/>
            </a:avLst>
          </a:prstGeom>
          <a:solidFill>
            <a:srgbClr val="F1F4F9"/>
          </a:solidFill>
          <a:ln/>
        </p:spPr>
      </p:sp>
      <p:sp>
        <p:nvSpPr>
          <p:cNvPr id="44" name="Text 42"/>
          <p:cNvSpPr/>
          <p:nvPr/>
        </p:nvSpPr>
        <p:spPr>
          <a:xfrm>
            <a:off x="6537960"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Who emptied Save Max</a:t>
            </a:r>
            <a:endParaRPr lang="en-US" sz="1400" dirty="0"/>
          </a:p>
        </p:txBody>
      </p:sp>
      <p:sp>
        <p:nvSpPr>
          <p:cNvPr id="45" name="Text 43"/>
          <p:cNvSpPr/>
          <p:nvPr/>
        </p:nvSpPr>
        <p:spPr>
          <a:xfrm>
            <a:off x="6537960"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Share of each rate-sensitivity segment that moved</a:t>
            </a:r>
            <a:endParaRPr lang="en-US" sz="950" dirty="0"/>
          </a:p>
        </p:txBody>
      </p:sp>
      <p:sp>
        <p:nvSpPr>
          <p:cNvPr id="46" name="Text 44"/>
          <p:cNvSpPr/>
          <p:nvPr/>
        </p:nvSpPr>
        <p:spPr>
          <a:xfrm>
            <a:off x="6537960" y="3438144"/>
            <a:ext cx="105156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High</a:t>
            </a:r>
            <a:endParaRPr lang="en-US" sz="1000" dirty="0"/>
          </a:p>
        </p:txBody>
      </p:sp>
      <p:sp>
        <p:nvSpPr>
          <p:cNvPr id="47" name="Shape 45"/>
          <p:cNvSpPr/>
          <p:nvPr/>
        </p:nvSpPr>
        <p:spPr>
          <a:xfrm>
            <a:off x="7680960" y="3483864"/>
            <a:ext cx="1828800" cy="164592"/>
          </a:xfrm>
          <a:prstGeom prst="roundRect">
            <a:avLst>
              <a:gd name="adj" fmla="val 16667"/>
            </a:avLst>
          </a:prstGeom>
          <a:solidFill>
            <a:srgbClr val="E4E9F0"/>
          </a:solidFill>
          <a:ln/>
        </p:spPr>
      </p:sp>
      <p:sp>
        <p:nvSpPr>
          <p:cNvPr id="48" name="Shape 46"/>
          <p:cNvSpPr/>
          <p:nvPr/>
        </p:nvSpPr>
        <p:spPr>
          <a:xfrm>
            <a:off x="7680960" y="3483864"/>
            <a:ext cx="234971" cy="164592"/>
          </a:xfrm>
          <a:prstGeom prst="roundRect">
            <a:avLst>
              <a:gd name="adj" fmla="val 16667"/>
            </a:avLst>
          </a:prstGeom>
          <a:solidFill>
            <a:srgbClr val="165A73"/>
          </a:solidFill>
          <a:ln/>
        </p:spPr>
      </p:sp>
      <p:sp>
        <p:nvSpPr>
          <p:cNvPr id="49" name="Text 47"/>
          <p:cNvSpPr/>
          <p:nvPr/>
        </p:nvSpPr>
        <p:spPr>
          <a:xfrm>
            <a:off x="9601200" y="3438144"/>
            <a:ext cx="777240" cy="256032"/>
          </a:xfrm>
          <a:prstGeom prst="rect">
            <a:avLst/>
          </a:prstGeom>
          <a:noFill/>
          <a:ln/>
        </p:spPr>
        <p:txBody>
          <a:bodyPr wrap="square" lIns="0" tIns="0" rIns="0" bIns="0" rtlCol="0" anchor="ctr"/>
          <a:lstStyle/>
          <a:p>
            <a:pPr algn="r" indent="0" marL="0">
              <a:buNone/>
            </a:pPr>
            <a:r>
              <a:rPr lang="en-US" sz="1000" b="1" dirty="0">
                <a:solidFill>
                  <a:srgbClr val="165A73"/>
                </a:solidFill>
                <a:latin typeface="Graphik TH" pitchFamily="34" charset="0"/>
                <a:ea typeface="Graphik TH" pitchFamily="34" charset="-122"/>
                <a:cs typeface="Graphik TH" pitchFamily="34" charset="-120"/>
              </a:rPr>
              <a:t>12.8%</a:t>
            </a:r>
            <a:endParaRPr lang="en-US" sz="1000" dirty="0"/>
          </a:p>
        </p:txBody>
      </p:sp>
      <p:sp>
        <p:nvSpPr>
          <p:cNvPr id="50" name="Text 48"/>
          <p:cNvSpPr/>
          <p:nvPr/>
        </p:nvSpPr>
        <p:spPr>
          <a:xfrm>
            <a:off x="10469880" y="3438144"/>
            <a:ext cx="1280160" cy="256032"/>
          </a:xfrm>
          <a:prstGeom prst="rect">
            <a:avLst/>
          </a:prstGeom>
          <a:noFill/>
          <a:ln/>
        </p:spPr>
        <p:txBody>
          <a:bodyPr wrap="square" lIns="0" tIns="0" rIns="0" bIns="0" rtlCol="0" anchor="ctr"/>
          <a:lstStyle/>
          <a:p>
            <a:pPr algn="r" indent="0" marL="0">
              <a:buNone/>
            </a:pPr>
            <a:r>
              <a:rPr lang="en-US" sz="900" dirty="0">
                <a:solidFill>
                  <a:srgbClr val="6B7A90"/>
                </a:solidFill>
                <a:latin typeface="Graphik TH" pitchFamily="34" charset="0"/>
                <a:ea typeface="Graphik TH" pitchFamily="34" charset="-122"/>
                <a:cs typeface="Graphik TH" pitchFamily="34" charset="-120"/>
              </a:rPr>
              <a:t>2,388 of 18,586</a:t>
            </a:r>
            <a:endParaRPr lang="en-US" sz="900" dirty="0"/>
          </a:p>
        </p:txBody>
      </p:sp>
      <p:sp>
        <p:nvSpPr>
          <p:cNvPr id="51" name="Text 49"/>
          <p:cNvSpPr/>
          <p:nvPr/>
        </p:nvSpPr>
        <p:spPr>
          <a:xfrm>
            <a:off x="6537960" y="3749040"/>
            <a:ext cx="105156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High</a:t>
            </a:r>
            <a:endParaRPr lang="en-US" sz="1000" dirty="0"/>
          </a:p>
        </p:txBody>
      </p:sp>
      <p:sp>
        <p:nvSpPr>
          <p:cNvPr id="52" name="Shape 50"/>
          <p:cNvSpPr/>
          <p:nvPr/>
        </p:nvSpPr>
        <p:spPr>
          <a:xfrm>
            <a:off x="7680960" y="3794760"/>
            <a:ext cx="1828800" cy="164592"/>
          </a:xfrm>
          <a:prstGeom prst="roundRect">
            <a:avLst>
              <a:gd name="adj" fmla="val 16667"/>
            </a:avLst>
          </a:prstGeom>
          <a:solidFill>
            <a:srgbClr val="E4E9F0"/>
          </a:solidFill>
          <a:ln/>
        </p:spPr>
      </p:sp>
      <p:sp>
        <p:nvSpPr>
          <p:cNvPr id="53" name="Shape 51"/>
          <p:cNvSpPr/>
          <p:nvPr/>
        </p:nvSpPr>
        <p:spPr>
          <a:xfrm>
            <a:off x="7680960" y="3794760"/>
            <a:ext cx="904864" cy="164592"/>
          </a:xfrm>
          <a:prstGeom prst="roundRect">
            <a:avLst>
              <a:gd name="adj" fmla="val 16667"/>
            </a:avLst>
          </a:prstGeom>
          <a:solidFill>
            <a:srgbClr val="C00000"/>
          </a:solidFill>
          <a:ln/>
        </p:spPr>
      </p:sp>
      <p:sp>
        <p:nvSpPr>
          <p:cNvPr id="54" name="Text 52"/>
          <p:cNvSpPr/>
          <p:nvPr/>
        </p:nvSpPr>
        <p:spPr>
          <a:xfrm>
            <a:off x="9601200" y="3749040"/>
            <a:ext cx="777240" cy="256032"/>
          </a:xfrm>
          <a:prstGeom prst="rect">
            <a:avLst/>
          </a:prstGeom>
          <a:noFill/>
          <a:ln/>
        </p:spPr>
        <p:txBody>
          <a:bodyPr wrap="square" lIns="0" tIns="0" rIns="0" bIns="0" rtlCol="0" anchor="ctr"/>
          <a:lstStyle/>
          <a:p>
            <a:pPr algn="r" indent="0" marL="0">
              <a:buNone/>
            </a:pPr>
            <a:r>
              <a:rPr lang="en-US" sz="1000" b="1" dirty="0">
                <a:solidFill>
                  <a:srgbClr val="C00000"/>
                </a:solidFill>
                <a:latin typeface="Graphik TH" pitchFamily="34" charset="0"/>
                <a:ea typeface="Graphik TH" pitchFamily="34" charset="-122"/>
                <a:cs typeface="Graphik TH" pitchFamily="34" charset="-120"/>
              </a:rPr>
              <a:t>49.5%</a:t>
            </a:r>
            <a:endParaRPr lang="en-US" sz="1000" dirty="0"/>
          </a:p>
        </p:txBody>
      </p:sp>
      <p:sp>
        <p:nvSpPr>
          <p:cNvPr id="55" name="Text 53"/>
          <p:cNvSpPr/>
          <p:nvPr/>
        </p:nvSpPr>
        <p:spPr>
          <a:xfrm>
            <a:off x="10469880" y="3749040"/>
            <a:ext cx="1280160" cy="256032"/>
          </a:xfrm>
          <a:prstGeom prst="rect">
            <a:avLst/>
          </a:prstGeom>
          <a:noFill/>
          <a:ln/>
        </p:spPr>
        <p:txBody>
          <a:bodyPr wrap="square" lIns="0" tIns="0" rIns="0" bIns="0" rtlCol="0" anchor="ctr"/>
          <a:lstStyle/>
          <a:p>
            <a:pPr algn="r" indent="0" marL="0">
              <a:buNone/>
            </a:pPr>
            <a:r>
              <a:rPr lang="en-US" sz="900" dirty="0">
                <a:solidFill>
                  <a:srgbClr val="6B7A90"/>
                </a:solidFill>
                <a:latin typeface="Graphik TH" pitchFamily="34" charset="0"/>
                <a:ea typeface="Graphik TH" pitchFamily="34" charset="-122"/>
                <a:cs typeface="Graphik TH" pitchFamily="34" charset="-120"/>
              </a:rPr>
              <a:t>2,562 of 5,178</a:t>
            </a:r>
            <a:endParaRPr lang="en-US" sz="900" dirty="0"/>
          </a:p>
        </p:txBody>
      </p:sp>
      <p:sp>
        <p:nvSpPr>
          <p:cNvPr id="56" name="Text 54"/>
          <p:cNvSpPr/>
          <p:nvPr/>
        </p:nvSpPr>
        <p:spPr>
          <a:xfrm>
            <a:off x="6537960" y="4059936"/>
            <a:ext cx="105156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Medium</a:t>
            </a:r>
            <a:endParaRPr lang="en-US" sz="1000" dirty="0"/>
          </a:p>
        </p:txBody>
      </p:sp>
      <p:sp>
        <p:nvSpPr>
          <p:cNvPr id="57" name="Shape 55"/>
          <p:cNvSpPr/>
          <p:nvPr/>
        </p:nvSpPr>
        <p:spPr>
          <a:xfrm>
            <a:off x="7680960" y="4105656"/>
            <a:ext cx="1828800" cy="164592"/>
          </a:xfrm>
          <a:prstGeom prst="roundRect">
            <a:avLst>
              <a:gd name="adj" fmla="val 16667"/>
            </a:avLst>
          </a:prstGeom>
          <a:solidFill>
            <a:srgbClr val="E4E9F0"/>
          </a:solidFill>
          <a:ln/>
        </p:spPr>
      </p:sp>
      <p:sp>
        <p:nvSpPr>
          <p:cNvPr id="58" name="Shape 56"/>
          <p:cNvSpPr/>
          <p:nvPr/>
        </p:nvSpPr>
        <p:spPr>
          <a:xfrm>
            <a:off x="7680960" y="4105656"/>
            <a:ext cx="36576" cy="164592"/>
          </a:xfrm>
          <a:prstGeom prst="roundRect">
            <a:avLst>
              <a:gd name="adj" fmla="val 75000"/>
            </a:avLst>
          </a:prstGeom>
          <a:solidFill>
            <a:srgbClr val="3FB89F"/>
          </a:solidFill>
          <a:ln/>
        </p:spPr>
      </p:sp>
      <p:sp>
        <p:nvSpPr>
          <p:cNvPr id="59" name="Text 57"/>
          <p:cNvSpPr/>
          <p:nvPr/>
        </p:nvSpPr>
        <p:spPr>
          <a:xfrm>
            <a:off x="9601200" y="4059936"/>
            <a:ext cx="777240" cy="256032"/>
          </a:xfrm>
          <a:prstGeom prst="rect">
            <a:avLst/>
          </a:prstGeom>
          <a:noFill/>
          <a:ln/>
        </p:spPr>
        <p:txBody>
          <a:bodyPr wrap="square" lIns="0" tIns="0" rIns="0" bIns="0" rtlCol="0" anchor="ctr"/>
          <a:lstStyle/>
          <a:p>
            <a:pPr algn="r" indent="0" marL="0">
              <a:buNone/>
            </a:pPr>
            <a:r>
              <a:rPr lang="en-US" sz="1000" b="1" dirty="0">
                <a:solidFill>
                  <a:srgbClr val="3FB89F"/>
                </a:solidFill>
                <a:latin typeface="Graphik TH" pitchFamily="34" charset="0"/>
                <a:ea typeface="Graphik TH" pitchFamily="34" charset="-122"/>
                <a:cs typeface="Graphik TH" pitchFamily="34" charset="-120"/>
              </a:rPr>
              <a:t>0.0%</a:t>
            </a:r>
            <a:endParaRPr lang="en-US" sz="1000" dirty="0"/>
          </a:p>
        </p:txBody>
      </p:sp>
      <p:sp>
        <p:nvSpPr>
          <p:cNvPr id="60" name="Text 58"/>
          <p:cNvSpPr/>
          <p:nvPr/>
        </p:nvSpPr>
        <p:spPr>
          <a:xfrm>
            <a:off x="10469880" y="4059936"/>
            <a:ext cx="1280160" cy="256032"/>
          </a:xfrm>
          <a:prstGeom prst="rect">
            <a:avLst/>
          </a:prstGeom>
          <a:noFill/>
          <a:ln/>
        </p:spPr>
        <p:txBody>
          <a:bodyPr wrap="square" lIns="0" tIns="0" rIns="0" bIns="0" rtlCol="0" anchor="ctr"/>
          <a:lstStyle/>
          <a:p>
            <a:pPr algn="r" indent="0" marL="0">
              <a:buNone/>
            </a:pPr>
            <a:r>
              <a:rPr lang="en-US" sz="900" dirty="0">
                <a:solidFill>
                  <a:srgbClr val="6B7A90"/>
                </a:solidFill>
                <a:latin typeface="Graphik TH" pitchFamily="34" charset="0"/>
                <a:ea typeface="Graphik TH" pitchFamily="34" charset="-122"/>
                <a:cs typeface="Graphik TH" pitchFamily="34" charset="-120"/>
              </a:rPr>
              <a:t>0 of 4</a:t>
            </a:r>
            <a:endParaRPr lang="en-US" sz="900" dirty="0"/>
          </a:p>
        </p:txBody>
      </p:sp>
      <p:sp>
        <p:nvSpPr>
          <p:cNvPr id="61" name="Text 59"/>
          <p:cNvSpPr/>
          <p:nvPr/>
        </p:nvSpPr>
        <p:spPr>
          <a:xfrm>
            <a:off x="6537960" y="4370832"/>
            <a:ext cx="105156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Low</a:t>
            </a:r>
            <a:endParaRPr lang="en-US" sz="1000" dirty="0"/>
          </a:p>
        </p:txBody>
      </p:sp>
      <p:sp>
        <p:nvSpPr>
          <p:cNvPr id="62" name="Shape 60"/>
          <p:cNvSpPr/>
          <p:nvPr/>
        </p:nvSpPr>
        <p:spPr>
          <a:xfrm>
            <a:off x="7680960" y="4416552"/>
            <a:ext cx="1828800" cy="164592"/>
          </a:xfrm>
          <a:prstGeom prst="roundRect">
            <a:avLst>
              <a:gd name="adj" fmla="val 16667"/>
            </a:avLst>
          </a:prstGeom>
          <a:solidFill>
            <a:srgbClr val="E4E9F0"/>
          </a:solidFill>
          <a:ln/>
        </p:spPr>
      </p:sp>
      <p:sp>
        <p:nvSpPr>
          <p:cNvPr id="63" name="Shape 61"/>
          <p:cNvSpPr/>
          <p:nvPr/>
        </p:nvSpPr>
        <p:spPr>
          <a:xfrm>
            <a:off x="7680960" y="4416552"/>
            <a:ext cx="130467" cy="164592"/>
          </a:xfrm>
          <a:prstGeom prst="roundRect">
            <a:avLst>
              <a:gd name="adj" fmla="val 21026"/>
            </a:avLst>
          </a:prstGeom>
          <a:solidFill>
            <a:srgbClr val="E9A03B"/>
          </a:solidFill>
          <a:ln/>
        </p:spPr>
      </p:sp>
      <p:sp>
        <p:nvSpPr>
          <p:cNvPr id="64" name="Text 62"/>
          <p:cNvSpPr/>
          <p:nvPr/>
        </p:nvSpPr>
        <p:spPr>
          <a:xfrm>
            <a:off x="9601200" y="4370832"/>
            <a:ext cx="777240" cy="256032"/>
          </a:xfrm>
          <a:prstGeom prst="rect">
            <a:avLst/>
          </a:prstGeom>
          <a:noFill/>
          <a:ln/>
        </p:spPr>
        <p:txBody>
          <a:bodyPr wrap="square" lIns="0" tIns="0" rIns="0" bIns="0" rtlCol="0" anchor="ctr"/>
          <a:lstStyle/>
          <a:p>
            <a:pPr algn="r" indent="0" marL="0">
              <a:buNone/>
            </a:pPr>
            <a:r>
              <a:rPr lang="en-US" sz="1000" b="1" dirty="0">
                <a:solidFill>
                  <a:srgbClr val="E9A03B"/>
                </a:solidFill>
                <a:latin typeface="Graphik TH" pitchFamily="34" charset="0"/>
                <a:ea typeface="Graphik TH" pitchFamily="34" charset="-122"/>
                <a:cs typeface="Graphik TH" pitchFamily="34" charset="-120"/>
              </a:rPr>
              <a:t>7.1%</a:t>
            </a:r>
            <a:endParaRPr lang="en-US" sz="1000" dirty="0"/>
          </a:p>
        </p:txBody>
      </p:sp>
      <p:sp>
        <p:nvSpPr>
          <p:cNvPr id="65" name="Text 63"/>
          <p:cNvSpPr/>
          <p:nvPr/>
        </p:nvSpPr>
        <p:spPr>
          <a:xfrm>
            <a:off x="10469880" y="4370832"/>
            <a:ext cx="1280160" cy="256032"/>
          </a:xfrm>
          <a:prstGeom prst="rect">
            <a:avLst/>
          </a:prstGeom>
          <a:noFill/>
          <a:ln/>
        </p:spPr>
        <p:txBody>
          <a:bodyPr wrap="square" lIns="0" tIns="0" rIns="0" bIns="0" rtlCol="0" anchor="ctr"/>
          <a:lstStyle/>
          <a:p>
            <a:pPr algn="r" indent="0" marL="0">
              <a:buNone/>
            </a:pPr>
            <a:r>
              <a:rPr lang="en-US" sz="900" dirty="0">
                <a:solidFill>
                  <a:srgbClr val="6B7A90"/>
                </a:solidFill>
                <a:latin typeface="Graphik TH" pitchFamily="34" charset="0"/>
                <a:ea typeface="Graphik TH" pitchFamily="34" charset="-122"/>
                <a:cs typeface="Graphik TH" pitchFamily="34" charset="-120"/>
              </a:rPr>
              <a:t>1,562 of 21,895</a:t>
            </a:r>
            <a:endParaRPr lang="en-US" sz="900" dirty="0"/>
          </a:p>
        </p:txBody>
      </p:sp>
      <p:sp>
        <p:nvSpPr>
          <p:cNvPr id="66" name="Text 64"/>
          <p:cNvSpPr/>
          <p:nvPr/>
        </p:nvSpPr>
        <p:spPr>
          <a:xfrm>
            <a:off x="6537960" y="4681728"/>
            <a:ext cx="105156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Low</a:t>
            </a:r>
            <a:endParaRPr lang="en-US" sz="1000" dirty="0"/>
          </a:p>
        </p:txBody>
      </p:sp>
      <p:sp>
        <p:nvSpPr>
          <p:cNvPr id="67" name="Shape 65"/>
          <p:cNvSpPr/>
          <p:nvPr/>
        </p:nvSpPr>
        <p:spPr>
          <a:xfrm>
            <a:off x="7680960" y="4727448"/>
            <a:ext cx="1828800" cy="164592"/>
          </a:xfrm>
          <a:prstGeom prst="roundRect">
            <a:avLst>
              <a:gd name="adj" fmla="val 16667"/>
            </a:avLst>
          </a:prstGeom>
          <a:solidFill>
            <a:srgbClr val="E4E9F0"/>
          </a:solidFill>
          <a:ln/>
        </p:spPr>
      </p:sp>
      <p:sp>
        <p:nvSpPr>
          <p:cNvPr id="68" name="Shape 66"/>
          <p:cNvSpPr/>
          <p:nvPr/>
        </p:nvSpPr>
        <p:spPr>
          <a:xfrm>
            <a:off x="7680960" y="4727448"/>
            <a:ext cx="36576" cy="164592"/>
          </a:xfrm>
          <a:prstGeom prst="roundRect">
            <a:avLst>
              <a:gd name="adj" fmla="val 75000"/>
            </a:avLst>
          </a:prstGeom>
          <a:solidFill>
            <a:srgbClr val="8DA0B8"/>
          </a:solidFill>
          <a:ln/>
        </p:spPr>
      </p:sp>
      <p:sp>
        <p:nvSpPr>
          <p:cNvPr id="69" name="Text 67"/>
          <p:cNvSpPr/>
          <p:nvPr/>
        </p:nvSpPr>
        <p:spPr>
          <a:xfrm>
            <a:off x="9601200" y="4681728"/>
            <a:ext cx="777240" cy="256032"/>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1.0%</a:t>
            </a:r>
            <a:endParaRPr lang="en-US" sz="1000" dirty="0"/>
          </a:p>
        </p:txBody>
      </p:sp>
      <p:sp>
        <p:nvSpPr>
          <p:cNvPr id="70" name="Text 68"/>
          <p:cNvSpPr/>
          <p:nvPr/>
        </p:nvSpPr>
        <p:spPr>
          <a:xfrm>
            <a:off x="10469880" y="4681728"/>
            <a:ext cx="1280160" cy="256032"/>
          </a:xfrm>
          <a:prstGeom prst="rect">
            <a:avLst/>
          </a:prstGeom>
          <a:noFill/>
          <a:ln/>
        </p:spPr>
        <p:txBody>
          <a:bodyPr wrap="square" lIns="0" tIns="0" rIns="0" bIns="0" rtlCol="0" anchor="ctr"/>
          <a:lstStyle/>
          <a:p>
            <a:pPr algn="r" indent="0" marL="0">
              <a:buNone/>
            </a:pPr>
            <a:r>
              <a:rPr lang="en-US" sz="900" dirty="0">
                <a:solidFill>
                  <a:srgbClr val="6B7A90"/>
                </a:solidFill>
                <a:latin typeface="Graphik TH" pitchFamily="34" charset="0"/>
                <a:ea typeface="Graphik TH" pitchFamily="34" charset="-122"/>
                <a:cs typeface="Graphik TH" pitchFamily="34" charset="-120"/>
              </a:rPr>
              <a:t>269 of 27,211</a:t>
            </a:r>
            <a:endParaRPr lang="en-US" sz="900" dirty="0"/>
          </a:p>
        </p:txBody>
      </p:sp>
      <p:sp>
        <p:nvSpPr>
          <p:cNvPr id="71" name="Text 69"/>
          <p:cNvSpPr/>
          <p:nvPr/>
        </p:nvSpPr>
        <p:spPr>
          <a:xfrm>
            <a:off x="6537960" y="4956048"/>
            <a:ext cx="5010912" cy="164592"/>
          </a:xfrm>
          <a:prstGeom prst="rect">
            <a:avLst/>
          </a:prstGeom>
          <a:noFill/>
          <a:ln/>
        </p:spPr>
        <p:txBody>
          <a:bodyPr wrap="square" lIns="0" tIns="0" rIns="0" bIns="0" rtlCol="0" anchor="ctr"/>
          <a:lstStyle/>
          <a:p>
            <a:pPr indent="0" marL="0">
              <a:buNone/>
            </a:pPr>
            <a:r>
              <a:rPr lang="en-US" sz="850" i="1" dirty="0">
                <a:solidFill>
                  <a:srgbClr val="6B7A90"/>
                </a:solidFill>
                <a:latin typeface="Graphik TH" pitchFamily="34" charset="0"/>
                <a:ea typeface="Graphik TH" pitchFamily="34" charset="-122"/>
                <a:cs typeface="Graphik TH" pitchFamily="34" charset="-120"/>
              </a:rPr>
              <a:t>High is the mover band — Very High moves at barely a quarter of that rate.</a:t>
            </a:r>
            <a:endParaRPr lang="en-US" sz="850" dirty="0"/>
          </a:p>
        </p:txBody>
      </p:sp>
      <p:sp>
        <p:nvSpPr>
          <p:cNvPr id="72" name="Shape 70"/>
          <p:cNvSpPr/>
          <p:nvPr/>
        </p:nvSpPr>
        <p:spPr>
          <a:xfrm>
            <a:off x="530352" y="5285232"/>
            <a:ext cx="11274552" cy="786384"/>
          </a:xfrm>
          <a:prstGeom prst="roundRect">
            <a:avLst>
              <a:gd name="adj" fmla="val 10465"/>
            </a:avLst>
          </a:prstGeom>
          <a:solidFill>
            <a:srgbClr val="E8F6F3"/>
          </a:solidFill>
          <a:ln/>
        </p:spPr>
      </p:sp>
      <p:sp>
        <p:nvSpPr>
          <p:cNvPr id="73" name="Text 71"/>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Save Max lost THB 209m but the book gained THB 155m</a:t>
            </a:r>
            <a:pPr indent="0" marL="0">
              <a:buNone/>
            </a:pPr>
            <a:r>
              <a:rPr lang="en-US" sz="1100" dirty="0">
                <a:solidFill>
                  <a:srgbClr val="16233D"/>
                </a:solidFill>
                <a:latin typeface="Graphik TH" pitchFamily="34" charset="0"/>
                <a:ea typeface="Graphik TH" pitchFamily="34" charset="-122"/>
                <a:cs typeface="Graphik TH" pitchFamily="34" charset="-120"/>
              </a:rPr>
              <a:t>  —  the 6,781 customers who emptied Save Max took THB 129m out of the pocket, yet total deposits rose. Runoff from the promotional pocket is not the same as runoff from the bank.</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The Save More flag decides whether the money stays</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*Balance retained = latest total deposit balance ÷ prior total deposit balance, for the same customers.</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Movers 6,781   ·   With Save More 3,955 → +THB 87m (+8.9%)   ·   Without Save More 2,826 → −THB 41m (−73.6%)</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Among customers who emptied Save Max, holding Save More is the difference between growth and near-total runoff.</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3,955</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movers holding Save More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58% of all movers</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109%</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retained</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THB 979m → THB 1.07bn</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2,826</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movers without Save More</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42% of all movers</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26%</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retained</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THB 56m → THB 15m</a:t>
            </a:r>
            <a:endParaRPr lang="en-US" sz="950" dirty="0"/>
          </a:p>
        </p:txBody>
      </p:sp>
      <p:sp>
        <p:nvSpPr>
          <p:cNvPr id="22" name="Shape 20"/>
          <p:cNvSpPr/>
          <p:nvPr/>
        </p:nvSpPr>
        <p:spPr>
          <a:xfrm>
            <a:off x="530352" y="2798064"/>
            <a:ext cx="5522976" cy="2322576"/>
          </a:xfrm>
          <a:prstGeom prst="roundRect">
            <a:avLst>
              <a:gd name="adj" fmla="val 3543"/>
            </a:avLst>
          </a:prstGeom>
          <a:solidFill>
            <a:srgbClr val="F1F4F9"/>
          </a:solidFill>
          <a:ln/>
        </p:spPr>
      </p:sp>
      <p:sp>
        <p:nvSpPr>
          <p:cNvPr id="23" name="Text 21"/>
          <p:cNvSpPr/>
          <p:nvPr/>
        </p:nvSpPr>
        <p:spPr>
          <a:xfrm>
            <a:off x="786384"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Balance retained after maturity</a:t>
            </a:r>
            <a:endParaRPr lang="en-US" sz="1400" dirty="0"/>
          </a:p>
        </p:txBody>
      </p:sp>
      <p:sp>
        <p:nvSpPr>
          <p:cNvPr id="24" name="Text 22"/>
          <p:cNvSpPr/>
          <p:nvPr/>
        </p:nvSpPr>
        <p:spPr>
          <a:xfrm>
            <a:off x="786384"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Latest ÷ prior total deposit balance · the rule marks 100%</a:t>
            </a:r>
            <a:endParaRPr lang="en-US" sz="950" dirty="0"/>
          </a:p>
        </p:txBody>
      </p:sp>
      <p:sp>
        <p:nvSpPr>
          <p:cNvPr id="25" name="Shape 23"/>
          <p:cNvSpPr/>
          <p:nvPr/>
        </p:nvSpPr>
        <p:spPr>
          <a:xfrm>
            <a:off x="4512148" y="3419856"/>
            <a:ext cx="10973" cy="1499616"/>
          </a:xfrm>
          <a:prstGeom prst="rect">
            <a:avLst/>
          </a:prstGeom>
          <a:solidFill>
            <a:srgbClr val="6B7A90"/>
          </a:solidFill>
          <a:ln/>
        </p:spPr>
      </p:sp>
      <p:sp>
        <p:nvSpPr>
          <p:cNvPr id="26" name="Text 24"/>
          <p:cNvSpPr/>
          <p:nvPr/>
        </p:nvSpPr>
        <p:spPr>
          <a:xfrm>
            <a:off x="786384" y="3474720"/>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Moved  ·  holds Save More</a:t>
            </a:r>
            <a:endParaRPr lang="en-US" sz="1000" dirty="0"/>
          </a:p>
        </p:txBody>
      </p:sp>
      <p:sp>
        <p:nvSpPr>
          <p:cNvPr id="27" name="Shape 25"/>
          <p:cNvSpPr/>
          <p:nvPr/>
        </p:nvSpPr>
        <p:spPr>
          <a:xfrm>
            <a:off x="2724912" y="3520440"/>
            <a:ext cx="1965960" cy="164592"/>
          </a:xfrm>
          <a:prstGeom prst="roundRect">
            <a:avLst>
              <a:gd name="adj" fmla="val 16667"/>
            </a:avLst>
          </a:prstGeom>
          <a:solidFill>
            <a:srgbClr val="E4E9F0"/>
          </a:solidFill>
          <a:ln/>
        </p:spPr>
      </p:sp>
      <p:sp>
        <p:nvSpPr>
          <p:cNvPr id="28" name="Shape 26"/>
          <p:cNvSpPr/>
          <p:nvPr/>
        </p:nvSpPr>
        <p:spPr>
          <a:xfrm>
            <a:off x="2724912" y="3520440"/>
            <a:ext cx="1945573" cy="164592"/>
          </a:xfrm>
          <a:prstGeom prst="roundRect">
            <a:avLst>
              <a:gd name="adj" fmla="val 16667"/>
            </a:avLst>
          </a:prstGeom>
          <a:solidFill>
            <a:srgbClr val="1E8E86"/>
          </a:solidFill>
          <a:ln/>
        </p:spPr>
      </p:sp>
      <p:sp>
        <p:nvSpPr>
          <p:cNvPr id="29" name="Text 27"/>
          <p:cNvSpPr/>
          <p:nvPr/>
        </p:nvSpPr>
        <p:spPr>
          <a:xfrm>
            <a:off x="4782312" y="3474720"/>
            <a:ext cx="1014984" cy="256032"/>
          </a:xfrm>
          <a:prstGeom prst="rect">
            <a:avLst/>
          </a:prstGeom>
          <a:noFill/>
          <a:ln/>
        </p:spPr>
        <p:txBody>
          <a:bodyPr wrap="square" lIns="0" tIns="0" rIns="0" bIns="0" rtlCol="0" anchor="ctr"/>
          <a:lstStyle/>
          <a:p>
            <a:pPr algn="r" indent="0" marL="0">
              <a:buNone/>
            </a:pPr>
            <a:r>
              <a:rPr lang="en-US" sz="1000" b="1" dirty="0">
                <a:solidFill>
                  <a:srgbClr val="1E8E86"/>
                </a:solidFill>
                <a:latin typeface="Graphik TH" pitchFamily="34" charset="0"/>
                <a:ea typeface="Graphik TH" pitchFamily="34" charset="-122"/>
                <a:cs typeface="Graphik TH" pitchFamily="34" charset="-120"/>
              </a:rPr>
              <a:t>108.9%</a:t>
            </a:r>
            <a:endParaRPr lang="en-US" sz="1000" dirty="0"/>
          </a:p>
        </p:txBody>
      </p:sp>
      <p:sp>
        <p:nvSpPr>
          <p:cNvPr id="30" name="Text 28"/>
          <p:cNvSpPr/>
          <p:nvPr/>
        </p:nvSpPr>
        <p:spPr>
          <a:xfrm>
            <a:off x="786384" y="3858768"/>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Moved  ·  no Save More</a:t>
            </a:r>
            <a:endParaRPr lang="en-US" sz="1000" dirty="0"/>
          </a:p>
        </p:txBody>
      </p:sp>
      <p:sp>
        <p:nvSpPr>
          <p:cNvPr id="31" name="Shape 29"/>
          <p:cNvSpPr/>
          <p:nvPr/>
        </p:nvSpPr>
        <p:spPr>
          <a:xfrm>
            <a:off x="2724912" y="3904488"/>
            <a:ext cx="1965960" cy="164592"/>
          </a:xfrm>
          <a:prstGeom prst="roundRect">
            <a:avLst>
              <a:gd name="adj" fmla="val 16667"/>
            </a:avLst>
          </a:prstGeom>
          <a:solidFill>
            <a:srgbClr val="E4E9F0"/>
          </a:solidFill>
          <a:ln/>
        </p:spPr>
      </p:sp>
      <p:sp>
        <p:nvSpPr>
          <p:cNvPr id="32" name="Shape 30"/>
          <p:cNvSpPr/>
          <p:nvPr/>
        </p:nvSpPr>
        <p:spPr>
          <a:xfrm>
            <a:off x="2724912" y="3904488"/>
            <a:ext cx="471733" cy="164592"/>
          </a:xfrm>
          <a:prstGeom prst="roundRect">
            <a:avLst>
              <a:gd name="adj" fmla="val 16667"/>
            </a:avLst>
          </a:prstGeom>
          <a:solidFill>
            <a:srgbClr val="C00000"/>
          </a:solidFill>
          <a:ln/>
        </p:spPr>
      </p:sp>
      <p:sp>
        <p:nvSpPr>
          <p:cNvPr id="33" name="Text 31"/>
          <p:cNvSpPr/>
          <p:nvPr/>
        </p:nvSpPr>
        <p:spPr>
          <a:xfrm>
            <a:off x="4782312" y="3858768"/>
            <a:ext cx="1014984" cy="256032"/>
          </a:xfrm>
          <a:prstGeom prst="rect">
            <a:avLst/>
          </a:prstGeom>
          <a:noFill/>
          <a:ln/>
        </p:spPr>
        <p:txBody>
          <a:bodyPr wrap="square" lIns="0" tIns="0" rIns="0" bIns="0" rtlCol="0" anchor="ctr"/>
          <a:lstStyle/>
          <a:p>
            <a:pPr algn="r" indent="0" marL="0">
              <a:buNone/>
            </a:pPr>
            <a:r>
              <a:rPr lang="en-US" sz="1000" b="1" dirty="0">
                <a:solidFill>
                  <a:srgbClr val="C00000"/>
                </a:solidFill>
                <a:latin typeface="Graphik TH" pitchFamily="34" charset="0"/>
                <a:ea typeface="Graphik TH" pitchFamily="34" charset="-122"/>
                <a:cs typeface="Graphik TH" pitchFamily="34" charset="-120"/>
              </a:rPr>
              <a:t>26.4%</a:t>
            </a:r>
            <a:endParaRPr lang="en-US" sz="1000" dirty="0"/>
          </a:p>
        </p:txBody>
      </p:sp>
      <p:sp>
        <p:nvSpPr>
          <p:cNvPr id="34" name="Text 32"/>
          <p:cNvSpPr/>
          <p:nvPr/>
        </p:nvSpPr>
        <p:spPr>
          <a:xfrm>
            <a:off x="786384" y="4242816"/>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Stayed  ·  holds Save More</a:t>
            </a:r>
            <a:endParaRPr lang="en-US" sz="1000" dirty="0"/>
          </a:p>
        </p:txBody>
      </p:sp>
      <p:sp>
        <p:nvSpPr>
          <p:cNvPr id="35" name="Shape 33"/>
          <p:cNvSpPr/>
          <p:nvPr/>
        </p:nvSpPr>
        <p:spPr>
          <a:xfrm>
            <a:off x="2724912" y="4288536"/>
            <a:ext cx="1965960" cy="164592"/>
          </a:xfrm>
          <a:prstGeom prst="roundRect">
            <a:avLst>
              <a:gd name="adj" fmla="val 16667"/>
            </a:avLst>
          </a:prstGeom>
          <a:solidFill>
            <a:srgbClr val="E4E9F0"/>
          </a:solidFill>
          <a:ln/>
        </p:spPr>
      </p:sp>
      <p:sp>
        <p:nvSpPr>
          <p:cNvPr id="36" name="Shape 34"/>
          <p:cNvSpPr/>
          <p:nvPr/>
        </p:nvSpPr>
        <p:spPr>
          <a:xfrm>
            <a:off x="2724912" y="4288536"/>
            <a:ext cx="1890007" cy="164592"/>
          </a:xfrm>
          <a:prstGeom prst="roundRect">
            <a:avLst>
              <a:gd name="adj" fmla="val 16667"/>
            </a:avLst>
          </a:prstGeom>
          <a:solidFill>
            <a:srgbClr val="1E8E86"/>
          </a:solidFill>
          <a:ln/>
        </p:spPr>
      </p:sp>
      <p:sp>
        <p:nvSpPr>
          <p:cNvPr id="37" name="Text 35"/>
          <p:cNvSpPr/>
          <p:nvPr/>
        </p:nvSpPr>
        <p:spPr>
          <a:xfrm>
            <a:off x="4782312" y="4242816"/>
            <a:ext cx="1014984" cy="256032"/>
          </a:xfrm>
          <a:prstGeom prst="rect">
            <a:avLst/>
          </a:prstGeom>
          <a:noFill/>
          <a:ln/>
        </p:spPr>
        <p:txBody>
          <a:bodyPr wrap="square" lIns="0" tIns="0" rIns="0" bIns="0" rtlCol="0" anchor="ctr"/>
          <a:lstStyle/>
          <a:p>
            <a:pPr algn="r" indent="0" marL="0">
              <a:buNone/>
            </a:pPr>
            <a:r>
              <a:rPr lang="en-US" sz="1000" b="1" dirty="0">
                <a:solidFill>
                  <a:srgbClr val="1E8E86"/>
                </a:solidFill>
                <a:latin typeface="Graphik TH" pitchFamily="34" charset="0"/>
                <a:ea typeface="Graphik TH" pitchFamily="34" charset="-122"/>
                <a:cs typeface="Graphik TH" pitchFamily="34" charset="-120"/>
              </a:rPr>
              <a:t>105.8%</a:t>
            </a:r>
            <a:endParaRPr lang="en-US" sz="1000" dirty="0"/>
          </a:p>
        </p:txBody>
      </p:sp>
      <p:sp>
        <p:nvSpPr>
          <p:cNvPr id="38" name="Text 36"/>
          <p:cNvSpPr/>
          <p:nvPr/>
        </p:nvSpPr>
        <p:spPr>
          <a:xfrm>
            <a:off x="786384" y="4626864"/>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Stayed  ·  no Save More</a:t>
            </a:r>
            <a:endParaRPr lang="en-US" sz="1000" dirty="0"/>
          </a:p>
        </p:txBody>
      </p:sp>
      <p:sp>
        <p:nvSpPr>
          <p:cNvPr id="39" name="Shape 37"/>
          <p:cNvSpPr/>
          <p:nvPr/>
        </p:nvSpPr>
        <p:spPr>
          <a:xfrm>
            <a:off x="2724912" y="4672584"/>
            <a:ext cx="1965960" cy="164592"/>
          </a:xfrm>
          <a:prstGeom prst="roundRect">
            <a:avLst>
              <a:gd name="adj" fmla="val 16667"/>
            </a:avLst>
          </a:prstGeom>
          <a:solidFill>
            <a:srgbClr val="E4E9F0"/>
          </a:solidFill>
          <a:ln/>
        </p:spPr>
      </p:sp>
      <p:sp>
        <p:nvSpPr>
          <p:cNvPr id="40" name="Shape 38"/>
          <p:cNvSpPr/>
          <p:nvPr/>
        </p:nvSpPr>
        <p:spPr>
          <a:xfrm>
            <a:off x="2724912" y="4672584"/>
            <a:ext cx="1754371" cy="164592"/>
          </a:xfrm>
          <a:prstGeom prst="roundRect">
            <a:avLst>
              <a:gd name="adj" fmla="val 16667"/>
            </a:avLst>
          </a:prstGeom>
          <a:solidFill>
            <a:srgbClr val="8DA0B8"/>
          </a:solidFill>
          <a:ln/>
        </p:spPr>
      </p:sp>
      <p:sp>
        <p:nvSpPr>
          <p:cNvPr id="41" name="Text 39"/>
          <p:cNvSpPr/>
          <p:nvPr/>
        </p:nvSpPr>
        <p:spPr>
          <a:xfrm>
            <a:off x="4782312" y="4626864"/>
            <a:ext cx="1014984" cy="256032"/>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98.2%</a:t>
            </a:r>
            <a:endParaRPr lang="en-US" sz="1000" dirty="0"/>
          </a:p>
        </p:txBody>
      </p:sp>
      <p:sp>
        <p:nvSpPr>
          <p:cNvPr id="42" name="Text 40"/>
          <p:cNvSpPr/>
          <p:nvPr/>
        </p:nvSpPr>
        <p:spPr>
          <a:xfrm>
            <a:off x="4237828" y="4937760"/>
            <a:ext cx="548640" cy="164592"/>
          </a:xfrm>
          <a:prstGeom prst="rect">
            <a:avLst/>
          </a:prstGeom>
          <a:noFill/>
          <a:ln/>
        </p:spPr>
        <p:txBody>
          <a:bodyPr wrap="square" lIns="0" tIns="0" rIns="0" bIns="0" rtlCol="0" anchor="ctr"/>
          <a:lstStyle/>
          <a:p>
            <a:pPr algn="ctr" indent="0" marL="0">
              <a:buNone/>
            </a:pPr>
            <a:r>
              <a:rPr lang="en-US" sz="800" dirty="0">
                <a:solidFill>
                  <a:srgbClr val="6B7A90"/>
                </a:solidFill>
                <a:latin typeface="Graphik TH" pitchFamily="34" charset="0"/>
                <a:ea typeface="Graphik TH" pitchFamily="34" charset="-122"/>
                <a:cs typeface="Graphik TH" pitchFamily="34" charset="-120"/>
              </a:rPr>
              <a:t>100%</a:t>
            </a:r>
            <a:endParaRPr lang="en-US" sz="800" dirty="0"/>
          </a:p>
        </p:txBody>
      </p:sp>
      <p:sp>
        <p:nvSpPr>
          <p:cNvPr id="43" name="Shape 41"/>
          <p:cNvSpPr/>
          <p:nvPr/>
        </p:nvSpPr>
        <p:spPr>
          <a:xfrm>
            <a:off x="6281928" y="2798064"/>
            <a:ext cx="5522976" cy="2322576"/>
          </a:xfrm>
          <a:prstGeom prst="roundRect">
            <a:avLst>
              <a:gd name="adj" fmla="val 3543"/>
            </a:avLst>
          </a:prstGeom>
          <a:solidFill>
            <a:srgbClr val="F1F4F9"/>
          </a:solidFill>
          <a:ln/>
        </p:spPr>
      </p:sp>
      <p:sp>
        <p:nvSpPr>
          <p:cNvPr id="44" name="Text 42"/>
          <p:cNvSpPr/>
          <p:nvPr/>
        </p:nvSpPr>
        <p:spPr>
          <a:xfrm>
            <a:off x="6537960"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Customers and balance change</a:t>
            </a:r>
            <a:endParaRPr lang="en-US" sz="1400" dirty="0"/>
          </a:p>
        </p:txBody>
      </p:sp>
      <p:sp>
        <p:nvSpPr>
          <p:cNvPr id="45" name="Text 43"/>
          <p:cNvSpPr/>
          <p:nvPr/>
        </p:nvSpPr>
        <p:spPr>
          <a:xfrm>
            <a:off x="6537960"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Save Max behaviour · columns: Save More holding</a:t>
            </a:r>
            <a:endParaRPr lang="en-US" sz="9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01384" y="3438144"/>
          <a:ext cx="5084064" cy="914400"/>
        </p:xfrm>
        <a:graphic>
          <a:graphicData uri="http://schemas.openxmlformats.org/drawingml/2006/table">
            <a:tbl>
              <a:tblPr/>
              <a:tblGrid>
                <a:gridCol w="1463040"/>
                <a:gridCol w="1810512"/>
                <a:gridCol w="1810512"/>
              </a:tblGrid>
              <a:tr h="36576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Save Max</a:t>
                      </a:r>
                      <a:endParaRPr lang="en-US" sz="90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Holds Save More</a:t>
                      </a:r>
                      <a:endParaRPr lang="en-US" sz="90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No Save More</a:t>
                      </a:r>
                      <a:endParaRPr lang="en-US" sz="90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36576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Moved out</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dirty="0">
                          <a:solidFill>
                            <a:srgbClr val="16233D"/>
                          </a:solidFill>
                          <a:latin typeface="Graphik TH" pitchFamily="34" charset="0"/>
                          <a:ea typeface="Graphik TH" pitchFamily="34" charset="-122"/>
                          <a:cs typeface="Graphik TH" pitchFamily="34" charset="-120"/>
                        </a:rPr>
                        <a:t>3,955</a:t>
                      </a:r>
                      <a:endParaRPr lang="en-US" sz="950" dirty="0">
                        <a:latin typeface="Graphik TH" charset="0"/>
                        <a:ea typeface="Graphik TH" charset="0"/>
                        <a:cs typeface="Graphik TH" charset="0"/>
                      </a:endParaRPr>
                    </a:p>
                    <a:p>
                      <a:pPr algn="ctr" indent="0" marL="0">
                        <a:buNone/>
                      </a:pPr>
                      <a:r>
                        <a:rPr lang="en-US" sz="950" dirty="0">
                          <a:solidFill>
                            <a:srgbClr val="16233D"/>
                          </a:solidFill>
                          <a:latin typeface="Graphik TH" pitchFamily="34" charset="0"/>
                          <a:ea typeface="Graphik TH" pitchFamily="34" charset="-122"/>
                          <a:cs typeface="Graphik TH" pitchFamily="34" charset="-120"/>
                        </a:rPr>
                        <a:t>+8.9%   +THB 87m</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Graphik TH" pitchFamily="34" charset="0"/>
                          <a:ea typeface="Graphik TH" pitchFamily="34" charset="-122"/>
                          <a:cs typeface="Graphik TH" pitchFamily="34" charset="-120"/>
                        </a:rPr>
                        <a:t>2,826</a:t>
                      </a:r>
                      <a:endParaRPr lang="en-US" sz="950" dirty="0">
                        <a:latin typeface="Graphik TH" charset="0"/>
                        <a:ea typeface="Graphik TH" charset="0"/>
                        <a:cs typeface="Graphik TH" charset="0"/>
                      </a:endParaRPr>
                    </a:p>
                    <a:p>
                      <a:pPr algn="ctr" indent="0" marL="0">
                        <a:buNone/>
                      </a:pPr>
                      <a:r>
                        <a:rPr lang="en-US" sz="950" b="1" dirty="0">
                          <a:solidFill>
                            <a:srgbClr val="C00000"/>
                          </a:solidFill>
                          <a:latin typeface="Graphik TH" pitchFamily="34" charset="0"/>
                          <a:ea typeface="Graphik TH" pitchFamily="34" charset="-122"/>
                          <a:cs typeface="Graphik TH" pitchFamily="34" charset="-120"/>
                        </a:rPr>
                        <a:t>−73.6%   −THB 41m</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36576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Stayed</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dirty="0">
                          <a:solidFill>
                            <a:srgbClr val="16233D"/>
                          </a:solidFill>
                          <a:latin typeface="Graphik TH" pitchFamily="34" charset="0"/>
                          <a:ea typeface="Graphik TH" pitchFamily="34" charset="-122"/>
                          <a:cs typeface="Graphik TH" pitchFamily="34" charset="-120"/>
                        </a:rPr>
                        <a:t>8,658</a:t>
                      </a:r>
                      <a:endParaRPr lang="en-US" sz="950" dirty="0">
                        <a:latin typeface="Graphik TH" charset="0"/>
                        <a:ea typeface="Graphik TH" charset="0"/>
                        <a:cs typeface="Graphik TH" charset="0"/>
                      </a:endParaRPr>
                    </a:p>
                    <a:p>
                      <a:pPr algn="ctr" indent="0" marL="0">
                        <a:buNone/>
                      </a:pPr>
                      <a:r>
                        <a:rPr lang="en-US" sz="950" dirty="0">
                          <a:solidFill>
                            <a:srgbClr val="16233D"/>
                          </a:solidFill>
                          <a:latin typeface="Graphik TH" pitchFamily="34" charset="0"/>
                          <a:ea typeface="Graphik TH" pitchFamily="34" charset="-122"/>
                          <a:cs typeface="Graphik TH" pitchFamily="34" charset="-120"/>
                        </a:rPr>
                        <a:t>+5.8%   +THB 126m</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6233D"/>
                          </a:solidFill>
                          <a:latin typeface="Graphik TH" pitchFamily="34" charset="0"/>
                          <a:ea typeface="Graphik TH" pitchFamily="34" charset="-122"/>
                          <a:cs typeface="Graphik TH" pitchFamily="34" charset="-120"/>
                        </a:rPr>
                        <a:t>57,435</a:t>
                      </a:r>
                      <a:endParaRPr lang="en-US" sz="950" dirty="0">
                        <a:latin typeface="Graphik TH" charset="0"/>
                        <a:ea typeface="Graphik TH" charset="0"/>
                        <a:cs typeface="Graphik TH" charset="0"/>
                      </a:endParaRPr>
                    </a:p>
                    <a:p>
                      <a:pPr algn="ctr" indent="0" marL="0">
                        <a:buNone/>
                      </a:pPr>
                      <a:r>
                        <a:rPr lang="en-US" sz="950" dirty="0">
                          <a:solidFill>
                            <a:srgbClr val="16233D"/>
                          </a:solidFill>
                          <a:latin typeface="Graphik TH" pitchFamily="34" charset="0"/>
                          <a:ea typeface="Graphik TH" pitchFamily="34" charset="-122"/>
                          <a:cs typeface="Graphik TH" pitchFamily="34" charset="-120"/>
                        </a:rPr>
                        <a:t>−1.8%   −THB 17m</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bl>
          </a:graphicData>
        </a:graphic>
      </p:graphicFrame>
      <p:sp>
        <p:nvSpPr>
          <p:cNvPr id="47" name="Text 44"/>
          <p:cNvSpPr/>
          <p:nvPr/>
        </p:nvSpPr>
        <p:spPr>
          <a:xfrm>
            <a:off x="6537960" y="4626864"/>
            <a:ext cx="5010912" cy="402336"/>
          </a:xfrm>
          <a:prstGeom prst="rect">
            <a:avLst/>
          </a:prstGeom>
          <a:noFill/>
          <a:ln/>
        </p:spPr>
        <p:txBody>
          <a:bodyPr wrap="square" lIns="0" tIns="0" rIns="0" bIns="0" rtlCol="0" anchor="t"/>
          <a:lstStyle/>
          <a:p>
            <a:pPr indent="0" marL="0">
              <a:buNone/>
            </a:pPr>
            <a:r>
              <a:rPr lang="en-US" sz="950" dirty="0">
                <a:solidFill>
                  <a:srgbClr val="16233D"/>
                </a:solidFill>
                <a:latin typeface="Graphik TH" pitchFamily="34" charset="0"/>
                <a:ea typeface="Graphik TH" pitchFamily="34" charset="-122"/>
                <a:cs typeface="Graphik TH" pitchFamily="34" charset="-120"/>
              </a:rPr>
              <a:t>Save More holders move 31.4% of the time against 4.7% — they move far more often, but into the next pocket rather than out of the bank.</a:t>
            </a:r>
            <a:endParaRPr lang="en-US" sz="950" dirty="0"/>
          </a:p>
        </p:txBody>
      </p:sp>
      <p:sp>
        <p:nvSpPr>
          <p:cNvPr id="48" name="Shape 45"/>
          <p:cNvSpPr/>
          <p:nvPr/>
        </p:nvSpPr>
        <p:spPr>
          <a:xfrm>
            <a:off x="530352" y="5285232"/>
            <a:ext cx="11274552" cy="786384"/>
          </a:xfrm>
          <a:prstGeom prst="roundRect">
            <a:avLst>
              <a:gd name="adj" fmla="val 10465"/>
            </a:avLst>
          </a:prstGeom>
          <a:solidFill>
            <a:srgbClr val="FBF0E6"/>
          </a:solidFill>
          <a:ln/>
        </p:spPr>
      </p:sp>
      <p:sp>
        <p:nvSpPr>
          <p:cNvPr id="49" name="Text 46"/>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The 2,826 movers with no Save More kept only 26% of their balance</a:t>
            </a:r>
            <a:pPr indent="0" marL="0">
              <a:buNone/>
            </a:pPr>
            <a:r>
              <a:rPr lang="en-US" sz="1100" dirty="0">
                <a:solidFill>
                  <a:srgbClr val="16233D"/>
                </a:solidFill>
                <a:latin typeface="Graphik TH" pitchFamily="34" charset="0"/>
                <a:ea typeface="Graphik TH" pitchFamily="34" charset="-122"/>
                <a:cs typeface="Graphik TH" pitchFamily="34" charset="-120"/>
              </a:rPr>
              <a:t>  —  −THB 41m gone. The same behaviour with a Save More holding grew +8.9%. Cross-holding, not the stickiness score, is what converts a maturing promotion into retained deposits.</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Deposit Stickiness Framework</dc:title>
  <dc:subject>PptxGenJS Presentation</dc:subject>
  <dc:creator>Deposit Analytics</dc:creator>
  <cp:lastModifiedBy>Deposit Analytics</cp:lastModifiedBy>
  <cp:revision>1</cp:revision>
  <dcterms:created xsi:type="dcterms:W3CDTF">2026-09-28T05:16:50Z</dcterms:created>
  <dcterms:modified xsi:type="dcterms:W3CDTF">2026-09-28T05:16:50Z</dcterms:modified>
</cp:coreProperties>
</file>
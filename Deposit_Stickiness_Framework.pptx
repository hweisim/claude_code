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Stickiness is a behavioural score built from four components and is deliberately independent of deposit size. Unavailable components are re-weighted so scores stay comparable. Rate sensitivity is kept as a separate score until post-maturity runoff validates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Rate sensitivity is a psychographic proxy inferred from where customers park balance relative to the promotional caps. Promo dependency is an exposure overlay, not a driver of the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At-risk is a heuristic definition before maturity. Validate against actual post-maturity runoff and recalibrate the cut-offs.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scores run 0-100 and share the same five cut-off bands, so they can be crossed directly in the decision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Cohort totals: 47,184 customers and THB 685,023,126 of balance; 477,654,816 at risk. Amber column headers mark the High and Very High rate-sensitivity segments. Balance matrix is shown in THB millions.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base 1,382,875 customers. Low + Very Low stickiness 1,122,866. High + Very High rate sensitivity 24,971. "Customers with balance &gt; 0" is still TBD in the source and needs populating from current_bal_amt &gt;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Deposit Stickiness : customer-level framework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*Pre-maturity view · behavioural stickiness score, independent of deposit size.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Deposit Stickiness Score  =  40% BP  +  25% FC  +  20% RI  +  15% DE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Each component scores 0–100 and unavailable components are re-weighted, so every customer gets a comparable score.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40%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Balance persistence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Avg balance: latest ÷ prior period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06140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1" name="Text 9"/>
          <p:cNvSpPr/>
          <p:nvPr/>
        </p:nvSpPr>
        <p:spPr>
          <a:xfrm>
            <a:off x="3625596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25%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25596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Funding continuity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625596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% eligible days with balance ≥ THB100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81928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5" name="Text 13"/>
          <p:cNvSpPr/>
          <p:nvPr/>
        </p:nvSpPr>
        <p:spPr>
          <a:xfrm>
            <a:off x="6501384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20%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501384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Recurring inflow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01384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% eligible months with inflow ≥ THB100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57716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9" name="Text 17"/>
          <p:cNvSpPr/>
          <p:nvPr/>
        </p:nvSpPr>
        <p:spPr>
          <a:xfrm>
            <a:off x="9377172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15%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377172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Daily engagement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377172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Active txn days ÷ 20-day / 90-day target*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0352" y="2798064"/>
            <a:ext cx="6720840" cy="3017520"/>
          </a:xfrm>
          <a:prstGeom prst="roundRect">
            <a:avLst>
              <a:gd name="adj" fmla="val 2727"/>
            </a:avLst>
          </a:prstGeom>
          <a:solidFill>
            <a:srgbClr val="F1F4F9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2944368"/>
            <a:ext cx="6208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score works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86384" y="3218688"/>
            <a:ext cx="6208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Component weights, and how balance persistence adapts to tenure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86384" y="3474720"/>
            <a:ext cx="2587752" cy="365760"/>
          </a:xfrm>
          <a:prstGeom prst="roundRect">
            <a:avLst>
              <a:gd name="adj" fmla="val 12500"/>
            </a:avLst>
          </a:prstGeom>
          <a:solidFill>
            <a:srgbClr val="165A73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3474720"/>
            <a:ext cx="2587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40%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410712" y="3474720"/>
            <a:ext cx="1618488" cy="365760"/>
          </a:xfrm>
          <a:prstGeom prst="roundRect">
            <a:avLst>
              <a:gd name="adj" fmla="val 12500"/>
            </a:avLst>
          </a:prstGeom>
          <a:solidFill>
            <a:srgbClr val="1E8E86"/>
          </a:solidFill>
          <a:ln/>
        </p:spPr>
      </p:sp>
      <p:sp>
        <p:nvSpPr>
          <p:cNvPr id="28" name="Text 26"/>
          <p:cNvSpPr/>
          <p:nvPr/>
        </p:nvSpPr>
        <p:spPr>
          <a:xfrm>
            <a:off x="3410712" y="3474720"/>
            <a:ext cx="1618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65776" y="3474720"/>
            <a:ext cx="1298448" cy="365760"/>
          </a:xfrm>
          <a:prstGeom prst="roundRect">
            <a:avLst>
              <a:gd name="adj" fmla="val 12500"/>
            </a:avLst>
          </a:prstGeom>
          <a:solidFill>
            <a:srgbClr val="3FB89F"/>
          </a:solidFill>
          <a:ln/>
        </p:spPr>
      </p:sp>
      <p:sp>
        <p:nvSpPr>
          <p:cNvPr id="30" name="Text 28"/>
          <p:cNvSpPr/>
          <p:nvPr/>
        </p:nvSpPr>
        <p:spPr>
          <a:xfrm>
            <a:off x="5065776" y="34747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20%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0" y="3474720"/>
            <a:ext cx="969264" cy="365760"/>
          </a:xfrm>
          <a:prstGeom prst="roundRect">
            <a:avLst>
              <a:gd name="adj" fmla="val 12500"/>
            </a:avLst>
          </a:prstGeom>
          <a:solidFill>
            <a:srgbClr val="E9A03B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0" y="347472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15%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86384" y="402336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Balance persistence adapts to tenure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86384" y="4334256"/>
            <a:ext cx="20116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950976" y="440740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≥ 60 days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50976" y="462686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30D vs 30D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935224" y="4334256"/>
            <a:ext cx="20116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099816" y="440740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30–59 days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099816" y="462686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15D vs 15D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084064" y="4334256"/>
            <a:ext cx="20116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5248656" y="440740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14–29 days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248656" y="462686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7D vs 7D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86384" y="513892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BP = balance persistence · FC = funding continuity · RI = recurring inflow · DE = daily engagement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7479792" y="2798064"/>
            <a:ext cx="4325112" cy="3017520"/>
          </a:xfrm>
          <a:prstGeom prst="roundRect">
            <a:avLst>
              <a:gd name="adj" fmla="val 2727"/>
            </a:avLst>
          </a:prstGeom>
          <a:solidFill>
            <a:srgbClr val="F1F4F9"/>
          </a:solidFill>
          <a:ln/>
        </p:spPr>
      </p:sp>
      <p:sp>
        <p:nvSpPr>
          <p:cNvPr id="45" name="Text 43"/>
          <p:cNvSpPr/>
          <p:nvPr/>
        </p:nvSpPr>
        <p:spPr>
          <a:xfrm>
            <a:off x="7735824" y="2944368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cut-offs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735824" y="321868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Initial score bands (0–100)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735824" y="3493008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165A73"/>
          </a:solidFill>
          <a:ln/>
        </p:spPr>
      </p:sp>
      <p:sp>
        <p:nvSpPr>
          <p:cNvPr id="48" name="Text 46"/>
          <p:cNvSpPr/>
          <p:nvPr/>
        </p:nvSpPr>
        <p:spPr>
          <a:xfrm>
            <a:off x="8247888" y="34564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80–100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290304" y="3456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735824" y="3877056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1E8E86"/>
          </a:solidFill>
          <a:ln/>
        </p:spPr>
      </p:sp>
      <p:sp>
        <p:nvSpPr>
          <p:cNvPr id="51" name="Text 49"/>
          <p:cNvSpPr/>
          <p:nvPr/>
        </p:nvSpPr>
        <p:spPr>
          <a:xfrm>
            <a:off x="8247888" y="3840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60–79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9290304" y="3840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7735824" y="4261104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3FB89F"/>
          </a:solidFill>
          <a:ln/>
        </p:spPr>
      </p:sp>
      <p:sp>
        <p:nvSpPr>
          <p:cNvPr id="54" name="Text 52"/>
          <p:cNvSpPr/>
          <p:nvPr/>
        </p:nvSpPr>
        <p:spPr>
          <a:xfrm>
            <a:off x="8247888" y="42245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40–59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290304" y="42245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Medium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35824" y="4645152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E9A03B"/>
          </a:solidFill>
          <a:ln/>
        </p:spPr>
      </p:sp>
      <p:sp>
        <p:nvSpPr>
          <p:cNvPr id="57" name="Text 55"/>
          <p:cNvSpPr/>
          <p:nvPr/>
        </p:nvSpPr>
        <p:spPr>
          <a:xfrm>
            <a:off x="8247888" y="460857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20–39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9290304" y="46085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735824" y="5029200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8DA0B8"/>
          </a:solidFill>
          <a:ln/>
        </p:spPr>
      </p:sp>
      <p:sp>
        <p:nvSpPr>
          <p:cNvPr id="60" name="Text 58"/>
          <p:cNvSpPr/>
          <p:nvPr/>
        </p:nvSpPr>
        <p:spPr>
          <a:xfrm>
            <a:off x="8247888" y="499262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&lt;20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290304" y="49926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Low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735824" y="5413248"/>
            <a:ext cx="3813048" cy="310896"/>
          </a:xfrm>
          <a:prstGeom prst="roundRect">
            <a:avLst>
              <a:gd name="adj" fmla="val 26471"/>
            </a:avLst>
          </a:prstGeom>
          <a:solidFill>
            <a:srgbClr val="FBF0E6"/>
          </a:solidFill>
          <a:ln/>
        </p:spPr>
      </p:sp>
      <p:sp>
        <p:nvSpPr>
          <p:cNvPr id="63" name="Text 61"/>
          <p:cNvSpPr/>
          <p:nvPr/>
        </p:nvSpPr>
        <p:spPr>
          <a:xfrm>
            <a:off x="7827264" y="5413248"/>
            <a:ext cx="3630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Rate sensitivity stays outside this score until validated against post-maturity runoff.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Promo behaviour reveals rate sensitivity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*Balance placement around the promotional caps is a behavioural signal, not a statement of customer intent.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Rate Sensitivity  =  70% Cap Precision  +  30% (1 − Above-Cap Balance Ratio)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Customers who stop near a promotional cap look rate-optimising; balance above the cap suggests lower rate sensitivity.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3605784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19072"/>
            <a:ext cx="3166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20k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121408"/>
            <a:ext cx="316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 4% cap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2350008"/>
            <a:ext cx="316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Only the first 20k earns the high rate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64736" y="1645920"/>
            <a:ext cx="3605784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1" name="Text 9"/>
          <p:cNvSpPr/>
          <p:nvPr/>
        </p:nvSpPr>
        <p:spPr>
          <a:xfrm>
            <a:off x="4584192" y="1719072"/>
            <a:ext cx="3166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1m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84192" y="2121408"/>
            <a:ext cx="316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More 2% cap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84192" y="2350008"/>
            <a:ext cx="316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Only the first 1m earns the high rate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99120" y="1645920"/>
            <a:ext cx="3605784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5" name="Text 13"/>
          <p:cNvSpPr/>
          <p:nvPr/>
        </p:nvSpPr>
        <p:spPr>
          <a:xfrm>
            <a:off x="8418576" y="1719072"/>
            <a:ext cx="3166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Promo dependency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18576" y="2121408"/>
            <a:ext cx="316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Promo-exposed ÷ total deposit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8576" y="2350008"/>
            <a:ext cx="316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Measures exposure, not intent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30352" y="2798064"/>
            <a:ext cx="6720840" cy="3017520"/>
          </a:xfrm>
          <a:prstGeom prst="roundRect">
            <a:avLst>
              <a:gd name="adj" fmla="val 2727"/>
            </a:avLst>
          </a:prstGeom>
          <a:solidFill>
            <a:srgbClr val="F1F4F9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2944368"/>
            <a:ext cx="6208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behaviour patterns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86384" y="3218688"/>
            <a:ext cx="6208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Orange = balance within the promotional cap · teal = balance above the cap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352958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Cap optimizer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86384" y="3767328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~20k in Save Max + ~1m in Save More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703320" y="3584448"/>
            <a:ext cx="2148840" cy="237744"/>
          </a:xfrm>
          <a:prstGeom prst="roundRect">
            <a:avLst>
              <a:gd name="adj" fmla="val 15385"/>
            </a:avLst>
          </a:prstGeom>
          <a:solidFill>
            <a:srgbClr val="E9A03B"/>
          </a:solidFill>
          <a:ln/>
        </p:spPr>
      </p:sp>
      <p:sp>
        <p:nvSpPr>
          <p:cNvPr id="24" name="Shape 22"/>
          <p:cNvSpPr/>
          <p:nvPr/>
        </p:nvSpPr>
        <p:spPr>
          <a:xfrm>
            <a:off x="5989320" y="3547872"/>
            <a:ext cx="1005840" cy="310896"/>
          </a:xfrm>
          <a:prstGeom prst="roundRect">
            <a:avLst>
              <a:gd name="adj" fmla="val 26471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5989320" y="35478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86384" y="42428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Mixed saver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86384" y="448056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Uses promo pockets but also holds balance above cap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703320" y="4297680"/>
            <a:ext cx="1332281" cy="237744"/>
          </a:xfrm>
          <a:prstGeom prst="roundRect">
            <a:avLst>
              <a:gd name="adj" fmla="val 15385"/>
            </a:avLst>
          </a:prstGeom>
          <a:solidFill>
            <a:srgbClr val="E9A03B"/>
          </a:solidFill>
          <a:ln/>
        </p:spPr>
      </p:sp>
      <p:sp>
        <p:nvSpPr>
          <p:cNvPr id="29" name="Shape 27"/>
          <p:cNvSpPr/>
          <p:nvPr/>
        </p:nvSpPr>
        <p:spPr>
          <a:xfrm>
            <a:off x="5035601" y="4297680"/>
            <a:ext cx="816559" cy="237744"/>
          </a:xfrm>
          <a:prstGeom prst="roundRect">
            <a:avLst>
              <a:gd name="adj" fmla="val 15385"/>
            </a:avLst>
          </a:prstGeom>
          <a:solidFill>
            <a:srgbClr val="1E8E86"/>
          </a:solidFill>
          <a:ln/>
        </p:spPr>
      </p:sp>
      <p:sp>
        <p:nvSpPr>
          <p:cNvPr id="30" name="Shape 28"/>
          <p:cNvSpPr/>
          <p:nvPr/>
        </p:nvSpPr>
        <p:spPr>
          <a:xfrm>
            <a:off x="5989320" y="4261104"/>
            <a:ext cx="1005840" cy="310896"/>
          </a:xfrm>
          <a:prstGeom prst="roundRect">
            <a:avLst>
              <a:gd name="adj" fmla="val 26471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5989320" y="426110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MEDIUM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86384" y="49560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Core depositor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86384" y="5193792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Material balance above cap or in Main Pocket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703320" y="5010912"/>
            <a:ext cx="730606" cy="237744"/>
          </a:xfrm>
          <a:prstGeom prst="roundRect">
            <a:avLst>
              <a:gd name="adj" fmla="val 15385"/>
            </a:avLst>
          </a:prstGeom>
          <a:solidFill>
            <a:srgbClr val="E9A03B"/>
          </a:solidFill>
          <a:ln/>
        </p:spPr>
      </p:sp>
      <p:sp>
        <p:nvSpPr>
          <p:cNvPr id="35" name="Shape 33"/>
          <p:cNvSpPr/>
          <p:nvPr/>
        </p:nvSpPr>
        <p:spPr>
          <a:xfrm>
            <a:off x="4433926" y="5010912"/>
            <a:ext cx="1418234" cy="237744"/>
          </a:xfrm>
          <a:prstGeom prst="roundRect">
            <a:avLst>
              <a:gd name="adj" fmla="val 15385"/>
            </a:avLst>
          </a:prstGeom>
          <a:solidFill>
            <a:srgbClr val="1E8E86"/>
          </a:solidFill>
          <a:ln/>
        </p:spPr>
      </p:sp>
      <p:sp>
        <p:nvSpPr>
          <p:cNvPr id="36" name="Shape 34"/>
          <p:cNvSpPr/>
          <p:nvPr/>
        </p:nvSpPr>
        <p:spPr>
          <a:xfrm>
            <a:off x="5989320" y="4974336"/>
            <a:ext cx="1005840" cy="310896"/>
          </a:xfrm>
          <a:prstGeom prst="roundRect">
            <a:avLst>
              <a:gd name="adj" fmla="val 26471"/>
            </a:avLst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5989320" y="497433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8E8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86384" y="550468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Cap precision = near-cap promo products ÷ active promo products, where near-cap is within ±5% of the cap.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479792" y="2798064"/>
            <a:ext cx="4325112" cy="3017520"/>
          </a:xfrm>
          <a:prstGeom prst="roundRect">
            <a:avLst>
              <a:gd name="adj" fmla="val 2727"/>
            </a:avLst>
          </a:prstGeom>
          <a:solidFill>
            <a:srgbClr val="F1F4F9"/>
          </a:solidFill>
          <a:ln/>
        </p:spPr>
      </p:sp>
      <p:sp>
        <p:nvSpPr>
          <p:cNvPr id="40" name="Text 38"/>
          <p:cNvSpPr/>
          <p:nvPr/>
        </p:nvSpPr>
        <p:spPr>
          <a:xfrm>
            <a:off x="7735824" y="2944368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view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735824" y="321868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Stickiness against rate sensitivity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522208" y="3493008"/>
            <a:ext cx="1481328" cy="822960"/>
          </a:xfrm>
          <a:prstGeom prst="roundRect">
            <a:avLst>
              <a:gd name="adj" fmla="val 10000"/>
            </a:avLst>
          </a:prstGeom>
          <a:solidFill>
            <a:srgbClr val="E8F6F3"/>
          </a:solidFill>
          <a:ln/>
        </p:spPr>
      </p:sp>
      <p:sp>
        <p:nvSpPr>
          <p:cNvPr id="43" name="Text 41"/>
          <p:cNvSpPr/>
          <p:nvPr/>
        </p:nvSpPr>
        <p:spPr>
          <a:xfrm>
            <a:off x="8522208" y="36027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Core sticky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522208" y="3877056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Protect &amp; grow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10094976" y="3493008"/>
            <a:ext cx="1481328" cy="822960"/>
          </a:xfrm>
          <a:prstGeom prst="roundRect">
            <a:avLst>
              <a:gd name="adj" fmla="val 10000"/>
            </a:avLst>
          </a:prstGeom>
          <a:solidFill>
            <a:srgbClr val="FBF0E6"/>
          </a:solidFill>
          <a:ln/>
        </p:spPr>
      </p:sp>
      <p:sp>
        <p:nvSpPr>
          <p:cNvPr id="46" name="Text 44"/>
          <p:cNvSpPr/>
          <p:nvPr/>
        </p:nvSpPr>
        <p:spPr>
          <a:xfrm>
            <a:off x="10094976" y="36027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Sticky today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10094976" y="3877056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Maturity risk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522208" y="4425696"/>
            <a:ext cx="1481328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8522208" y="453542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Weak relation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8522208" y="4809744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Build usage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10094976" y="4425696"/>
            <a:ext cx="1481328" cy="822960"/>
          </a:xfrm>
          <a:prstGeom prst="roundRect">
            <a:avLst>
              <a:gd name="adj" fmla="val 10000"/>
            </a:avLst>
          </a:prstGeom>
          <a:solidFill>
            <a:srgbClr val="FBF0E6"/>
          </a:solidFill>
          <a:ln/>
        </p:spPr>
      </p:sp>
      <p:sp>
        <p:nvSpPr>
          <p:cNvPr id="52" name="Text 50"/>
          <p:cNvSpPr/>
          <p:nvPr/>
        </p:nvSpPr>
        <p:spPr>
          <a:xfrm>
            <a:off x="10094976" y="453542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Rate driven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0094976" y="4809744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Runoff risk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699248" y="3493008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stickiness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699248" y="4425696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stickiness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522208" y="53035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 sensitivity (&lt;60)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10094976" y="53035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 sensitivity (≥60)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7735824" y="5504688"/>
            <a:ext cx="3813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Initial cut-offs are heuristic; maturity will recalibrate them.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Rate-sensitive balances sit in the promotional pockets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*Balance at risk = customers scoring High or Very High rate sensitivity (≥60) · pre-maturity view.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 at risk THB 478m   ·   Save More at risk THB 3.27bn   ·   Highest-runoff subset THB 6m + THB 92m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Almost all rate-sensitive balance sits with customers who look sticky today — which is why maturity is the real test.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5522976" cy="1810512"/>
          </a:xfrm>
          <a:prstGeom prst="roundRect">
            <a:avLst>
              <a:gd name="adj" fmla="val 4545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1792224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 Max 4% — maturity exposure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" y="2066544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Total balance THB 685m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86384" y="221284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478m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227832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70% of pocket balance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86384" y="2724912"/>
            <a:ext cx="2735885" cy="237744"/>
          </a:xfrm>
          <a:prstGeom prst="roundRect">
            <a:avLst>
              <a:gd name="adj" fmla="val 15385"/>
            </a:avLst>
          </a:prstGeom>
          <a:solidFill>
            <a:srgbClr val="165A73"/>
          </a:solidFill>
          <a:ln/>
        </p:spPr>
      </p:sp>
      <p:sp>
        <p:nvSpPr>
          <p:cNvPr id="12" name="Shape 10"/>
          <p:cNvSpPr/>
          <p:nvPr/>
        </p:nvSpPr>
        <p:spPr>
          <a:xfrm>
            <a:off x="3522269" y="2724912"/>
            <a:ext cx="760781" cy="237744"/>
          </a:xfrm>
          <a:prstGeom prst="roundRect">
            <a:avLst>
              <a:gd name="adj" fmla="val 15385"/>
            </a:avLst>
          </a:prstGeom>
          <a:solidFill>
            <a:srgbClr val="E9A03B"/>
          </a:solidFill>
          <a:ln/>
        </p:spPr>
      </p:sp>
      <p:sp>
        <p:nvSpPr>
          <p:cNvPr id="13" name="Shape 11"/>
          <p:cNvSpPr/>
          <p:nvPr/>
        </p:nvSpPr>
        <p:spPr>
          <a:xfrm>
            <a:off x="4283050" y="2724912"/>
            <a:ext cx="1514246" cy="237744"/>
          </a:xfrm>
          <a:prstGeom prst="roundRect">
            <a:avLst>
              <a:gd name="adj" fmla="val 15385"/>
            </a:avLst>
          </a:prstGeom>
          <a:solidFill>
            <a:srgbClr val="8DA0B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017520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 RS        High RS        RS &lt; 60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281928" y="1645920"/>
            <a:ext cx="5522976" cy="1810512"/>
          </a:xfrm>
          <a:prstGeom prst="roundRect">
            <a:avLst>
              <a:gd name="adj" fmla="val 4545"/>
            </a:avLst>
          </a:prstGeom>
          <a:solidFill>
            <a:srgbClr val="F1F4F9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792224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 More 2% — promotional exposure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37960" y="2066544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Total balance THB 4.16bn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537960" y="221284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3.27bn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979408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78% of pocket balance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537960" y="2724912"/>
            <a:ext cx="2662047" cy="237744"/>
          </a:xfrm>
          <a:prstGeom prst="roundRect">
            <a:avLst>
              <a:gd name="adj" fmla="val 15385"/>
            </a:avLst>
          </a:prstGeom>
          <a:solidFill>
            <a:srgbClr val="165A73"/>
          </a:solidFill>
          <a:ln/>
        </p:spPr>
      </p:sp>
      <p:sp>
        <p:nvSpPr>
          <p:cNvPr id="21" name="Shape 19"/>
          <p:cNvSpPr/>
          <p:nvPr/>
        </p:nvSpPr>
        <p:spPr>
          <a:xfrm>
            <a:off x="9200007" y="2724912"/>
            <a:ext cx="1276819" cy="237744"/>
          </a:xfrm>
          <a:prstGeom prst="roundRect">
            <a:avLst>
              <a:gd name="adj" fmla="val 15385"/>
            </a:avLst>
          </a:prstGeom>
          <a:solidFill>
            <a:srgbClr val="E9A03B"/>
          </a:solidFill>
          <a:ln/>
        </p:spPr>
      </p:sp>
      <p:sp>
        <p:nvSpPr>
          <p:cNvPr id="22" name="Shape 20"/>
          <p:cNvSpPr/>
          <p:nvPr/>
        </p:nvSpPr>
        <p:spPr>
          <a:xfrm>
            <a:off x="10476826" y="2724912"/>
            <a:ext cx="1072046" cy="237744"/>
          </a:xfrm>
          <a:prstGeom prst="roundRect">
            <a:avLst>
              <a:gd name="adj" fmla="val 15385"/>
            </a:avLst>
          </a:prstGeom>
          <a:solidFill>
            <a:srgbClr val="8DA0B8"/>
          </a:solidFill>
          <a:ln/>
        </p:spPr>
      </p:sp>
      <p:sp>
        <p:nvSpPr>
          <p:cNvPr id="23" name="Text 21"/>
          <p:cNvSpPr/>
          <p:nvPr/>
        </p:nvSpPr>
        <p:spPr>
          <a:xfrm>
            <a:off x="6537960" y="3017520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 RS        High RS        RS &lt; 60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0352" y="3621024"/>
            <a:ext cx="6720840" cy="2212848"/>
          </a:xfrm>
          <a:prstGeom prst="roundRect">
            <a:avLst>
              <a:gd name="adj" fmla="val 3719"/>
            </a:avLst>
          </a:prstGeom>
          <a:solidFill>
            <a:srgbClr val="F1F4F9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3767328"/>
            <a:ext cx="6208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actually at risk?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86384" y="4041648"/>
            <a:ext cx="6208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Most rate-sensitive balance still looks sticky today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86384" y="4261104"/>
            <a:ext cx="6217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Max: THB 472m (99%) of rate-sensitive balance sits with High / Very High stickiness customers.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86384" y="4645152"/>
            <a:ext cx="6217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More: THB 3.18bn (97%) of rate-sensitive balance sits with High / Very High stickiness customers.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86384" y="5084064"/>
            <a:ext cx="6208776" cy="566928"/>
          </a:xfrm>
          <a:prstGeom prst="roundRect">
            <a:avLst>
              <a:gd name="adj" fmla="val 14516"/>
            </a:avLst>
          </a:prstGeom>
          <a:solidFill>
            <a:srgbClr val="FBF0E6"/>
          </a:solidFill>
          <a:ln/>
        </p:spPr>
      </p:sp>
      <p:sp>
        <p:nvSpPr>
          <p:cNvPr id="30" name="Text 28"/>
          <p:cNvSpPr/>
          <p:nvPr/>
        </p:nvSpPr>
        <p:spPr>
          <a:xfrm>
            <a:off x="969264" y="5084064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Current stickiness may be propped up by promotional pricing — maturity is the real retention test.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479792" y="3621024"/>
            <a:ext cx="4325112" cy="2212848"/>
          </a:xfrm>
          <a:prstGeom prst="roundRect">
            <a:avLst>
              <a:gd name="adj" fmla="val 3719"/>
            </a:avLst>
          </a:prstGeom>
          <a:solidFill>
            <a:srgbClr val="FBF0E6"/>
          </a:solidFill>
          <a:ln/>
        </p:spPr>
      </p:sp>
      <p:sp>
        <p:nvSpPr>
          <p:cNvPr id="32" name="Text 30"/>
          <p:cNvSpPr/>
          <p:nvPr/>
        </p:nvSpPr>
        <p:spPr>
          <a:xfrm>
            <a:off x="7735824" y="3767328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Highest runoff-risk subset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35824" y="404164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Stickiness &lt; 60 and rate sensitivity ≥ 60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735824" y="426110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6m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9418320" y="426110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735824" y="47365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92m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9418320" y="47365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More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735824" y="5285232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Prioritise for maturity and repricing retention actions.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The two scores, side by side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*20-day engagement target is prorated by tenure. Rate-sensitivity cut-offs are initial heuristics, to be validated after maturity.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Stickiness measures retention behaviour; rate sensitivity measures behaviour around the promotional rate caps.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30352" y="1645920"/>
            <a:ext cx="5522976" cy="4187952"/>
          </a:xfrm>
          <a:prstGeom prst="roundRect">
            <a:avLst>
              <a:gd name="adj" fmla="val 1965"/>
            </a:avLst>
          </a:prstGeom>
          <a:solidFill>
            <a:srgbClr val="F1F4F9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773936"/>
            <a:ext cx="5010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5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1)  Deposit stickiness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6384" y="2139696"/>
            <a:ext cx="5010912" cy="420624"/>
          </a:xfrm>
          <a:prstGeom prst="roundRect">
            <a:avLst>
              <a:gd name="adj" fmla="val 19565"/>
            </a:avLst>
          </a:prstGeom>
          <a:solidFill>
            <a:srgbClr val="E8F6F3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139696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Score = 40% BP + 25% FC + 20% RI + 15% DE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86384" y="270662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BP · Balance persistence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52344" y="2706624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Latest avg balance ÷ prior avg balance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6384" y="30540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FC · Funding continuity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52344" y="3054096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% eligible days with balance ≥ THB100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86384" y="34015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RI · Recurring inflow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52344" y="3401568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% eligible months with transfer-in ≥ THB100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6384" y="37490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DE · Daily engagement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52344" y="374904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Active txn days ÷ 20-day / 90-day target*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86384" y="4151376"/>
            <a:ext cx="5010912" cy="10973"/>
          </a:xfrm>
          <a:prstGeom prst="rect">
            <a:avLst/>
          </a:prstGeom>
          <a:solidFill>
            <a:srgbClr val="D8DFE9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4261104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In plain terms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86384" y="4517136"/>
            <a:ext cx="5010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Higher score = money stays longer, the account stays funded, fresh money keeps arriving, and the customer uses the account regularly.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384" y="513892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Score cut-offs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86384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165A73"/>
          </a:solidFill>
          <a:ln/>
        </p:spPr>
      </p:sp>
      <p:sp>
        <p:nvSpPr>
          <p:cNvPr id="22" name="Text 20"/>
          <p:cNvSpPr/>
          <p:nvPr/>
        </p:nvSpPr>
        <p:spPr>
          <a:xfrm>
            <a:off x="1170432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80–100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70432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788566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1E8E86"/>
          </a:solidFill>
          <a:ln/>
        </p:spPr>
      </p:sp>
      <p:sp>
        <p:nvSpPr>
          <p:cNvPr id="25" name="Text 23"/>
          <p:cNvSpPr/>
          <p:nvPr/>
        </p:nvSpPr>
        <p:spPr>
          <a:xfrm>
            <a:off x="2172614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60–79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172614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90749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3FB89F"/>
          </a:solidFill>
          <a:ln/>
        </p:spPr>
      </p:sp>
      <p:sp>
        <p:nvSpPr>
          <p:cNvPr id="28" name="Text 26"/>
          <p:cNvSpPr/>
          <p:nvPr/>
        </p:nvSpPr>
        <p:spPr>
          <a:xfrm>
            <a:off x="3174797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40–59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174797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Medium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792931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E9A03B"/>
          </a:solidFill>
          <a:ln/>
        </p:spPr>
      </p:sp>
      <p:sp>
        <p:nvSpPr>
          <p:cNvPr id="31" name="Text 29"/>
          <p:cNvSpPr/>
          <p:nvPr/>
        </p:nvSpPr>
        <p:spPr>
          <a:xfrm>
            <a:off x="4176979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20–39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176979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795114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8DA0B8"/>
          </a:solidFill>
          <a:ln/>
        </p:spPr>
      </p:sp>
      <p:sp>
        <p:nvSpPr>
          <p:cNvPr id="34" name="Text 32"/>
          <p:cNvSpPr/>
          <p:nvPr/>
        </p:nvSpPr>
        <p:spPr>
          <a:xfrm>
            <a:off x="5179162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&lt;20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179162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Low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281928" y="1645920"/>
            <a:ext cx="5522976" cy="4187952"/>
          </a:xfrm>
          <a:prstGeom prst="roundRect">
            <a:avLst>
              <a:gd name="adj" fmla="val 1965"/>
            </a:avLst>
          </a:prstGeom>
          <a:solidFill>
            <a:srgbClr val="F1F4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37960" y="1773936"/>
            <a:ext cx="5010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5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2)  Rate sensitivity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537960" y="2139696"/>
            <a:ext cx="5010912" cy="420624"/>
          </a:xfrm>
          <a:prstGeom prst="roundRect">
            <a:avLst>
              <a:gd name="adj" fmla="val 19565"/>
            </a:avLst>
          </a:prstGeom>
          <a:solidFill>
            <a:srgbClr val="E8F6F3"/>
          </a:solidFill>
          <a:ln/>
        </p:spPr>
      </p:sp>
      <p:sp>
        <p:nvSpPr>
          <p:cNvPr id="39" name="Text 37"/>
          <p:cNvSpPr/>
          <p:nvPr/>
        </p:nvSpPr>
        <p:spPr>
          <a:xfrm>
            <a:off x="6537960" y="2139696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Score = 70% Cap Precision + 30% (1 − Above-Cap Ratio)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37960" y="270662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Cap precision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503920" y="2706624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Near-cap promo products ÷ active promo products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37960" y="30540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Above-cap balance ratio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03920" y="3054096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Balance above caps ÷ total promo-pocket balance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537960" y="34015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Promo caps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503920" y="3401568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 4%: THB 20k · Save More 2%: THB 1m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537960" y="37490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Near-cap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503920" y="374904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Within ±5% of the promotional cap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537960" y="4151376"/>
            <a:ext cx="5010912" cy="10973"/>
          </a:xfrm>
          <a:prstGeom prst="rect">
            <a:avLst/>
          </a:prstGeom>
          <a:solidFill>
            <a:srgbClr val="D8DFE9"/>
          </a:solidFill>
          <a:ln/>
        </p:spPr>
      </p:sp>
      <p:sp>
        <p:nvSpPr>
          <p:cNvPr id="49" name="Text 47"/>
          <p:cNvSpPr/>
          <p:nvPr/>
        </p:nvSpPr>
        <p:spPr>
          <a:xfrm>
            <a:off x="6537960" y="4261104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In plain terms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6537960" y="4517136"/>
            <a:ext cx="5010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Higher score = the customer behaves like a rate optimiser, keeping balances close to the promo caps and little money above them.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537960" y="513892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Score cut-offs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537960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165A73"/>
          </a:solidFill>
          <a:ln/>
        </p:spPr>
      </p:sp>
      <p:sp>
        <p:nvSpPr>
          <p:cNvPr id="53" name="Text 51"/>
          <p:cNvSpPr/>
          <p:nvPr/>
        </p:nvSpPr>
        <p:spPr>
          <a:xfrm>
            <a:off x="6922008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80–100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6922008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540142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1E8E86"/>
          </a:solidFill>
          <a:ln/>
        </p:spPr>
      </p:sp>
      <p:sp>
        <p:nvSpPr>
          <p:cNvPr id="56" name="Text 54"/>
          <p:cNvSpPr/>
          <p:nvPr/>
        </p:nvSpPr>
        <p:spPr>
          <a:xfrm>
            <a:off x="7924190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60–79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924190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8542325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3FB89F"/>
          </a:solidFill>
          <a:ln/>
        </p:spPr>
      </p:sp>
      <p:sp>
        <p:nvSpPr>
          <p:cNvPr id="59" name="Text 57"/>
          <p:cNvSpPr/>
          <p:nvPr/>
        </p:nvSpPr>
        <p:spPr>
          <a:xfrm>
            <a:off x="8926373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40–59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926373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Medium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9544507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E9A03B"/>
          </a:solidFill>
          <a:ln/>
        </p:spPr>
      </p:sp>
      <p:sp>
        <p:nvSpPr>
          <p:cNvPr id="62" name="Text 60"/>
          <p:cNvSpPr/>
          <p:nvPr/>
        </p:nvSpPr>
        <p:spPr>
          <a:xfrm>
            <a:off x="9928555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20–39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9928555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10546690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8DA0B8"/>
          </a:solidFill>
          <a:ln/>
        </p:spPr>
      </p:sp>
      <p:sp>
        <p:nvSpPr>
          <p:cNvPr id="65" name="Text 63"/>
          <p:cNvSpPr/>
          <p:nvPr/>
        </p:nvSpPr>
        <p:spPr>
          <a:xfrm>
            <a:off x="10930738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&lt;20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10930738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Low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 : 47.2k customers, THB 685m — THB 478m rate-sensitive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*Pre-maturity view · customers with Save Max balance &gt; 0, by deposit stickiness × rate sensitivity.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Customers 47.2k   ·   High rate sensitivity 23.8k   ·   Balance THB 685m   ·   At risk THB 478m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Balances concentrate in the High and Very High stickiness tiers, yet most of that balance is also highly rate-sensitive.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47.2k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 customers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distinct ccd_id, balance &gt; 0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06140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1" name="Text 9"/>
          <p:cNvSpPr/>
          <p:nvPr/>
        </p:nvSpPr>
        <p:spPr>
          <a:xfrm>
            <a:off x="3625596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23.8k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25596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high-rate-sensitivity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625596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50% of the cohort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81928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5" name="Text 13"/>
          <p:cNvSpPr/>
          <p:nvPr/>
        </p:nvSpPr>
        <p:spPr>
          <a:xfrm>
            <a:off x="6501384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685m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501384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total Save Max balance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01384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current pocket balance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57716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9" name="Text 17"/>
          <p:cNvSpPr/>
          <p:nvPr/>
        </p:nvSpPr>
        <p:spPr>
          <a:xfrm>
            <a:off x="9377172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478m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377172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balance at risk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377172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70% · High + Very High RS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0352" y="2798064"/>
            <a:ext cx="5522976" cy="2322576"/>
          </a:xfrm>
          <a:prstGeom prst="roundRect">
            <a:avLst>
              <a:gd name="adj" fmla="val 3543"/>
            </a:avLst>
          </a:prstGeom>
          <a:solidFill>
            <a:srgbClr val="F1F4F9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2944368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count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86384" y="321868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Rows: stickiness · columns: rate sensitivity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3401568"/>
          <a:ext cx="5084064" cy="914400"/>
        </p:xfrm>
        <a:graphic>
          <a:graphicData uri="http://schemas.openxmlformats.org/drawingml/2006/table">
            <a:tbl>
              <a:tblPr/>
              <a:tblGrid>
                <a:gridCol w="1118494"/>
                <a:gridCol w="793114"/>
                <a:gridCol w="793114"/>
                <a:gridCol w="793114"/>
                <a:gridCol w="793114"/>
                <a:gridCol w="793114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Stickiness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0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0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890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7D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5,595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19AA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2,340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3BEC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3,318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1B1B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829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D8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7,809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7889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2,788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B8C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15,007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5A7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4,791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A2B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236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AE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2,073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C2C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E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1,408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D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281928" y="2798064"/>
            <a:ext cx="5522976" cy="2322576"/>
          </a:xfrm>
          <a:prstGeom prst="roundRect">
            <a:avLst>
              <a:gd name="adj" fmla="val 3543"/>
            </a:avLst>
          </a:prstGeom>
          <a:solidFill>
            <a:srgbClr val="F1F4F9"/>
          </a:solidFill>
          <a:ln/>
        </p:spPr>
      </p:sp>
      <p:sp>
        <p:nvSpPr>
          <p:cNvPr id="27" name="Text 24"/>
          <p:cNvSpPr/>
          <p:nvPr/>
        </p:nvSpPr>
        <p:spPr>
          <a:xfrm>
            <a:off x="6537960" y="2944368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 (THB m)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537960" y="321868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Rows: stickiness · columns: rate sensitivity</a:t>
            </a:r>
            <a:endParaRPr lang="en-US" sz="9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01384" y="3401568"/>
          <a:ext cx="5084064" cy="914400"/>
        </p:xfrm>
        <a:graphic>
          <a:graphicData uri="http://schemas.openxmlformats.org/drawingml/2006/table">
            <a:tbl>
              <a:tblPr/>
              <a:tblGrid>
                <a:gridCol w="1118494"/>
                <a:gridCol w="793114"/>
                <a:gridCol w="793114"/>
                <a:gridCol w="793114"/>
                <a:gridCol w="793114"/>
                <a:gridCol w="793114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Stickiness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0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0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71.6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AFB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33.2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C8D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1.3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47.1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3BEC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66.7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1B1B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63.5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4B3B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32.0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C9D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0.5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55.9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B8C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302.0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5A7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1.6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4.7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AE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0.3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E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6"/>
          <p:cNvSpPr/>
          <p:nvPr/>
        </p:nvSpPr>
        <p:spPr>
          <a:xfrm>
            <a:off x="530352" y="5285232"/>
            <a:ext cx="11274552" cy="786384"/>
          </a:xfrm>
          <a:prstGeom prst="roundRect">
            <a:avLst>
              <a:gd name="adj" fmla="val 10465"/>
            </a:avLst>
          </a:prstGeom>
          <a:solidFill>
            <a:srgbClr val="FBF0E6"/>
          </a:solidFill>
          <a:ln/>
        </p:spPr>
      </p:sp>
      <p:sp>
        <p:nvSpPr>
          <p:cNvPr id="31" name="Text 27"/>
          <p:cNvSpPr/>
          <p:nvPr/>
        </p:nvSpPr>
        <p:spPr>
          <a:xfrm>
            <a:off x="804672" y="5285232"/>
            <a:ext cx="107259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472m (99%) of the at-risk balance sits with High / Very High stickiness customers</a:t>
            </a:r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  —  so today's stickiness may be promotional. The genuinely fragile subset is stickiness &lt; 60 with rate sensitivity ≥ 60: THB 6m. Monitor it for early runoff signals.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All customers : 1.38m — a very different shape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*Full customer base · distinct ccd_id by deposit stickiness × rate sensitivity.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Total customers 1.38m   ·   Low stickiness 1.12m   ·   High rate sensitivity 25.0k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The full base is dominated by Very Low stickiness; the funded Save Max cohort concentrates in High and Very High.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1.38m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total customers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distinct ccd_id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06140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1" name="Text 9"/>
          <p:cNvSpPr/>
          <p:nvPr/>
        </p:nvSpPr>
        <p:spPr>
          <a:xfrm>
            <a:off x="3625596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TBD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25596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customers with balance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625596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populate from current_bal_amt &gt; 0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81928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5" name="Text 13"/>
          <p:cNvSpPr/>
          <p:nvPr/>
        </p:nvSpPr>
        <p:spPr>
          <a:xfrm>
            <a:off x="6501384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1.12m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501384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 deposit stickiness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01384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81% of the base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57716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9" name="Text 17"/>
          <p:cNvSpPr/>
          <p:nvPr/>
        </p:nvSpPr>
        <p:spPr>
          <a:xfrm>
            <a:off x="9377172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25.0k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377172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 rate sensitivity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377172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1.8% of the base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0352" y="2798064"/>
            <a:ext cx="11274552" cy="2322576"/>
          </a:xfrm>
          <a:prstGeom prst="roundRect">
            <a:avLst>
              <a:gd name="adj" fmla="val 3543"/>
            </a:avLst>
          </a:prstGeom>
          <a:solidFill>
            <a:srgbClr val="F1F4F9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2944368"/>
            <a:ext cx="1076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All-customer count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86384" y="3218688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Rows: stickiness · columns: rate sensitivity · distinct ccd_id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3401568"/>
          <a:ext cx="10835640" cy="914400"/>
        </p:xfrm>
        <a:graphic>
          <a:graphicData uri="http://schemas.openxmlformats.org/drawingml/2006/table">
            <a:tbl>
              <a:tblPr/>
              <a:tblGrid>
                <a:gridCol w="2383841"/>
                <a:gridCol w="1690360"/>
                <a:gridCol w="1690360"/>
                <a:gridCol w="1690360"/>
                <a:gridCol w="1690360"/>
                <a:gridCol w="1690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Stickiness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0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0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38,436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E0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9,260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2,340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4,101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75,965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3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10,897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2,788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15,372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BE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94,354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CE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6,137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E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306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37,300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0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2,433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E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1,081,554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5A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1,564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530352" y="5285232"/>
            <a:ext cx="11274552" cy="786384"/>
          </a:xfrm>
          <a:prstGeom prst="roundRect">
            <a:avLst>
              <a:gd name="adj" fmla="val 10465"/>
            </a:avLst>
          </a:prstGeom>
          <a:solidFill>
            <a:srgbClr val="E8F6F3"/>
          </a:solidFill>
          <a:ln/>
        </p:spPr>
      </p:sp>
      <p:sp>
        <p:nvSpPr>
          <p:cNvPr id="27" name="Text 24"/>
          <p:cNvSpPr/>
          <p:nvPr/>
        </p:nvSpPr>
        <p:spPr>
          <a:xfrm>
            <a:off x="804672" y="5285232"/>
            <a:ext cx="107259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Use the Save Max cohort for maturity and runoff risk; use the all-customer view for activation and funding strategy</a:t>
            </a:r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  —  81% of the base scores Low or Very Low stickiness, but only 25.0k customers are highly rate-sensitive, so the broad opportunity is engagement rather than repricing.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Deposit Stickiness Framework</dc:title>
  <dc:subject>PptxGenJS Presentation</dc:subject>
  <dc:creator>Deposit Analytics</dc:creator>
  <cp:lastModifiedBy>Deposit Analytics</cp:lastModifiedBy>
  <cp:revision>1</cp:revision>
  <dcterms:created xsi:type="dcterms:W3CDTF">2026-09-03T09:54:00Z</dcterms:created>
  <dcterms:modified xsi:type="dcterms:W3CDTF">2026-09-03T09:54:00Z</dcterms:modified>
</cp:coreProperties>
</file>
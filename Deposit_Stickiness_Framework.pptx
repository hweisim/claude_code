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deposit balance across the cohort rose +111.3m (+3.8%). By rate sensitivity: High +144.7m (+12.4%) against Very High −36.0m (−2.5%), and Very Low −11.0m (−6.9%). That is the reverse of the move-rate grid on the previous slide: the segments most likely to empty Save Max are the ones whose total balance grew, and the segments least likely to move are the ones losing money. The largest single cell is High stickiness with High sensitivity at +94.2m on 2,788 customers. Percentages are suppressed for the low-stickiness rows because their prior balances are near zero - Very Low stickiness held THB 0.03m in total, so a ratio there reads as +1549% and means nothing. Practical read: pocket-level runoff and bank-level runoff are different outcomes and need separate scores. Rate sensitivity predicts the first and is actively misleading on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412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066"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528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44873"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97.6%</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3,912</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2,759</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39m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6,414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34,099</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−2.4%   −THB 13m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*Change in total deposit balance, prior to latest. Percentages suppressed below THB 5m prior balance; cells under 50 customers unshaded.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Total +111.3m (+3.8%)   ·   High sensitivity +144.7m (+12.4%)   ·   Very High −36.0m (−2.5%)</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 change runs opposite to move rate — the segment that emptied Save Max most is the one that grew.</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+111.3m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across the cohort</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+144.7m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+12.4% · moved most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−36.0m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High rate sensitivity</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−2.5% · moved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+94.2m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largest single cell</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Change in total deposit 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teal = gained, red = lost</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−7.8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AEAEA"/>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+4.3</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+6.3%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5FAFA"/>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+48.6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+10.5%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8BC5C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−10.3</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−2.3</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9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+4.8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F9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+94.2</a:t>
                      </a:r>
                      <a:pPr algn="ctr" indent="0" marL="0">
                        <a:buNone/>
                      </a:pPr>
                      <a:endParaRPr lang="en-US" sz="1200" dirty="0"/>
                    </a:p>
                    <a:p>
                      <a:pPr algn="ctr" indent="0" marL="0">
                        <a:buNone/>
                      </a:pPr>
                      <a:r>
                        <a:rPr lang="en-US" sz="700" dirty="0">
                          <a:solidFill>
                            <a:srgbClr val="E6EFEC"/>
                          </a:solidFill>
                          <a:latin typeface="Graphik TH" pitchFamily="34" charset="0"/>
                          <a:ea typeface="Graphik TH" pitchFamily="34" charset="-122"/>
                          <a:cs typeface="Graphik TH" pitchFamily="34" charset="-120"/>
                        </a:rPr>
                        <a:t>+13.6%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1E8E86"/>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−24.1</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EB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FBFB"/>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+16.8%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−9.9%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EFBFB"/>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−0.1</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FDFD"/>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−0.1</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+0.5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EFEF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change by rate sensitivity</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THB m · bars diverge from zero</a:t>
            </a:r>
            <a:endParaRPr lang="en-US" sz="950" dirty="0"/>
          </a:p>
        </p:txBody>
      </p:sp>
      <p:sp>
        <p:nvSpPr>
          <p:cNvPr id="29" name="Shape 26"/>
          <p:cNvSpPr/>
          <p:nvPr/>
        </p:nvSpPr>
        <p:spPr>
          <a:xfrm>
            <a:off x="9710928" y="3401568"/>
            <a:ext cx="10973" cy="1371600"/>
          </a:xfrm>
          <a:prstGeom prst="rect">
            <a:avLst/>
          </a:prstGeom>
          <a:solidFill>
            <a:srgbClr val="6B7A90"/>
          </a:solidFill>
          <a:ln/>
        </p:spPr>
      </p:sp>
      <p:sp>
        <p:nvSpPr>
          <p:cNvPr id="30" name="Text 27"/>
          <p:cNvSpPr/>
          <p:nvPr/>
        </p:nvSpPr>
        <p:spPr>
          <a:xfrm>
            <a:off x="7735824" y="3438144"/>
            <a:ext cx="100584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1" name="Shape 28"/>
          <p:cNvSpPr/>
          <p:nvPr/>
        </p:nvSpPr>
        <p:spPr>
          <a:xfrm>
            <a:off x="9483551" y="3474720"/>
            <a:ext cx="227377" cy="164592"/>
          </a:xfrm>
          <a:prstGeom prst="roundRect">
            <a:avLst>
              <a:gd name="adj" fmla="val 16667"/>
            </a:avLst>
          </a:prstGeom>
          <a:solidFill>
            <a:srgbClr val="C00000"/>
          </a:solidFill>
          <a:ln/>
        </p:spPr>
      </p:sp>
      <p:sp>
        <p:nvSpPr>
          <p:cNvPr id="32" name="Text 29"/>
          <p:cNvSpPr/>
          <p:nvPr/>
        </p:nvSpPr>
        <p:spPr>
          <a:xfrm>
            <a:off x="10698480" y="3438144"/>
            <a:ext cx="850392" cy="237744"/>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−36.0</a:t>
            </a:r>
            <a:endParaRPr lang="en-US" sz="1000" dirty="0"/>
          </a:p>
        </p:txBody>
      </p:sp>
      <p:sp>
        <p:nvSpPr>
          <p:cNvPr id="33" name="Text 30"/>
          <p:cNvSpPr/>
          <p:nvPr/>
        </p:nvSpPr>
        <p:spPr>
          <a:xfrm>
            <a:off x="7735824" y="3712464"/>
            <a:ext cx="100584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9710928" y="3749040"/>
            <a:ext cx="914400" cy="164592"/>
          </a:xfrm>
          <a:prstGeom prst="roundRect">
            <a:avLst>
              <a:gd name="adj" fmla="val 16667"/>
            </a:avLst>
          </a:prstGeom>
          <a:solidFill>
            <a:srgbClr val="1E8E86"/>
          </a:solidFill>
          <a:ln/>
        </p:spPr>
      </p:sp>
      <p:sp>
        <p:nvSpPr>
          <p:cNvPr id="35" name="Text 32"/>
          <p:cNvSpPr/>
          <p:nvPr/>
        </p:nvSpPr>
        <p:spPr>
          <a:xfrm>
            <a:off x="10698480" y="3712464"/>
            <a:ext cx="850392"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+144.7</a:t>
            </a:r>
            <a:endParaRPr lang="en-US" sz="1000" dirty="0"/>
          </a:p>
        </p:txBody>
      </p:sp>
      <p:sp>
        <p:nvSpPr>
          <p:cNvPr id="36" name="Text 33"/>
          <p:cNvSpPr/>
          <p:nvPr/>
        </p:nvSpPr>
        <p:spPr>
          <a:xfrm>
            <a:off x="7735824" y="3986784"/>
            <a:ext cx="100584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7" name="Shape 34"/>
          <p:cNvSpPr/>
          <p:nvPr/>
        </p:nvSpPr>
        <p:spPr>
          <a:xfrm>
            <a:off x="9683496" y="4023360"/>
            <a:ext cx="27432" cy="164592"/>
          </a:xfrm>
          <a:prstGeom prst="roundRect">
            <a:avLst>
              <a:gd name="adj" fmla="val 100000"/>
            </a:avLst>
          </a:prstGeom>
          <a:solidFill>
            <a:srgbClr val="C00000"/>
          </a:solidFill>
          <a:ln/>
        </p:spPr>
      </p:sp>
      <p:sp>
        <p:nvSpPr>
          <p:cNvPr id="38" name="Text 35"/>
          <p:cNvSpPr/>
          <p:nvPr/>
        </p:nvSpPr>
        <p:spPr>
          <a:xfrm>
            <a:off x="10698480" y="3986784"/>
            <a:ext cx="850392" cy="237744"/>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−1.2</a:t>
            </a:r>
            <a:endParaRPr lang="en-US" sz="1000" dirty="0"/>
          </a:p>
        </p:txBody>
      </p:sp>
      <p:sp>
        <p:nvSpPr>
          <p:cNvPr id="39" name="Text 36"/>
          <p:cNvSpPr/>
          <p:nvPr/>
        </p:nvSpPr>
        <p:spPr>
          <a:xfrm>
            <a:off x="7735824" y="4261104"/>
            <a:ext cx="100584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0" name="Shape 37"/>
          <p:cNvSpPr/>
          <p:nvPr/>
        </p:nvSpPr>
        <p:spPr>
          <a:xfrm>
            <a:off x="9710928" y="4297680"/>
            <a:ext cx="93251" cy="164592"/>
          </a:xfrm>
          <a:prstGeom prst="roundRect">
            <a:avLst>
              <a:gd name="adj" fmla="val 29417"/>
            </a:avLst>
          </a:prstGeom>
          <a:solidFill>
            <a:srgbClr val="1E8E86"/>
          </a:solidFill>
          <a:ln/>
        </p:spPr>
      </p:sp>
      <p:sp>
        <p:nvSpPr>
          <p:cNvPr id="41" name="Text 38"/>
          <p:cNvSpPr/>
          <p:nvPr/>
        </p:nvSpPr>
        <p:spPr>
          <a:xfrm>
            <a:off x="10698480" y="4261104"/>
            <a:ext cx="850392"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+14.8</a:t>
            </a:r>
            <a:endParaRPr lang="en-US" sz="1000" dirty="0"/>
          </a:p>
        </p:txBody>
      </p:sp>
      <p:sp>
        <p:nvSpPr>
          <p:cNvPr id="42" name="Text 39"/>
          <p:cNvSpPr/>
          <p:nvPr/>
        </p:nvSpPr>
        <p:spPr>
          <a:xfrm>
            <a:off x="7735824" y="4535424"/>
            <a:ext cx="100584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3" name="Shape 40"/>
          <p:cNvSpPr/>
          <p:nvPr/>
        </p:nvSpPr>
        <p:spPr>
          <a:xfrm>
            <a:off x="9641216" y="4572000"/>
            <a:ext cx="69712" cy="164592"/>
          </a:xfrm>
          <a:prstGeom prst="roundRect">
            <a:avLst>
              <a:gd name="adj" fmla="val 39350"/>
            </a:avLst>
          </a:prstGeom>
          <a:solidFill>
            <a:srgbClr val="C00000"/>
          </a:solidFill>
          <a:ln/>
        </p:spPr>
      </p:sp>
      <p:sp>
        <p:nvSpPr>
          <p:cNvPr id="44" name="Text 41"/>
          <p:cNvSpPr/>
          <p:nvPr/>
        </p:nvSpPr>
        <p:spPr>
          <a:xfrm>
            <a:off x="10698480" y="4535424"/>
            <a:ext cx="850392" cy="237744"/>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−11.0</a:t>
            </a:r>
            <a:endParaRPr lang="en-US" sz="1000" dirty="0"/>
          </a:p>
        </p:txBody>
      </p:sp>
      <p:sp>
        <p:nvSpPr>
          <p:cNvPr id="45" name="Shape 42"/>
          <p:cNvSpPr/>
          <p:nvPr/>
        </p:nvSpPr>
        <p:spPr>
          <a:xfrm>
            <a:off x="7735824" y="4846320"/>
            <a:ext cx="3813048" cy="274320"/>
          </a:xfrm>
          <a:prstGeom prst="roundRect">
            <a:avLst>
              <a:gd name="adj" fmla="val 30000"/>
            </a:avLst>
          </a:prstGeom>
          <a:solidFill>
            <a:srgbClr val="FBF0E6"/>
          </a:solidFill>
          <a:ln/>
        </p:spPr>
      </p:sp>
      <p:sp>
        <p:nvSpPr>
          <p:cNvPr id="46" name="Text 43"/>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High sensitivity gained; Very High lost.</a:t>
            </a:r>
            <a:endParaRPr lang="en-US" sz="950" dirty="0"/>
          </a:p>
        </p:txBody>
      </p:sp>
      <p:sp>
        <p:nvSpPr>
          <p:cNvPr id="47" name="Shape 44"/>
          <p:cNvSpPr/>
          <p:nvPr/>
        </p:nvSpPr>
        <p:spPr>
          <a:xfrm>
            <a:off x="530352" y="5285232"/>
            <a:ext cx="11274552" cy="786384"/>
          </a:xfrm>
          <a:prstGeom prst="roundRect">
            <a:avLst>
              <a:gd name="adj" fmla="val 10465"/>
            </a:avLst>
          </a:prstGeom>
          <a:solidFill>
            <a:srgbClr val="E8F6F3"/>
          </a:solidFill>
          <a:ln/>
        </p:spPr>
      </p:sp>
      <p:sp>
        <p:nvSpPr>
          <p:cNvPr id="48" name="Text 45"/>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High rate sensitivity moved most and gained +144.7m; Very High moved least and lost 36.0m</a:t>
            </a:r>
            <a:pPr indent="0" marL="0">
              <a:buNone/>
            </a:pPr>
            <a:r>
              <a:rPr lang="en-US" sz="1100" dirty="0">
                <a:solidFill>
                  <a:srgbClr val="16233D"/>
                </a:solidFill>
                <a:latin typeface="Graphik TH" pitchFamily="34" charset="0"/>
                <a:ea typeface="Graphik TH" pitchFamily="34" charset="-122"/>
                <a:cs typeface="Graphik TH" pitchFamily="34" charset="-120"/>
              </a:rPr>
              <a:t>  —  emptying the promotional pocket is a reallocation, not a withdrawal. The balance actually leaving sits with customers the score calls least rate-sensitive.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2026-09-28T08:27:52Z</dcterms:created>
  <dcterms:modified xsi:type="dcterms:W3CDTF">2026-09-28T08:27:52Z</dcterms:modified>
</cp:coreProperties>
</file>
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of 47,184. Total deposit balance rose from THB 2,901,915,577 to THB 3,013,181,725, +111.3m or +3.8%. Every stickiness tier gained. In absolute terms the gain concentrates in the top two tiers: High +71.4m and Very High +34.9m, together 95.5% of it, which follows from those tiers holding 98.8% of prior balance. In percentage terms the ranking reverses cleanly: Very High +3.2%, High +4.0%, Medium +8.8%, Low +174.7%, Very Low +1549.2%. Average prior balance per customer runs from THB 90,152 in the Very High tier to THB 22 in the Very Low tier, so the low tiers' percentages reflect dormant accounts receiving small deposits rather than material growth. Both readings are kept deliberately: rank on the absolute column,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of 320,109. Total deposit balance rose from THB 5,477,500,352 to THB 5,688,588,400, +211.1m or +3.9%. Every stickiness tier gained. In absolute terms the gain concentrates in the top two tiers: High +99.5m and Very High +67.6m, together 79.2% of it, which follows from those tiers holding 95.8% of prior balance. In percentage terms the ranking reverses cleanly: Very High +2.5%, High +3.8%, Medium +11.8%, Low +100.6%, Very Low +143.6%. Average prior balance per customer runs from THB 49,529 in the Very High tier to THB 143 in the Very Low tier, so the low tiers' percentages reflect dormant accounts receiving small deposits rather than material growth. Both readings are kept deliberately: rank on the absolute column,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Deposit stickiness ranks the two measures consistently: move rate runs 1.9% to 19.2% from Very Low to Very High, and balance change is positive in every tier. The caveat is that this consistency is partly mechanical - the High and Very High tiers hold 98.8% of prior balance and contributed 95.5% of the cohort's gain, so the ranking largely restates where the money is. In percentage terms the picture is flatter and mildly reversed: Very High +3.2%, High +4.0%, Medium +8.8%, with the Low and Very Low tiers unusable because their prior balances are near zero. Rate sensitivity diverges for real: High moves at 49.5% and gained THB 144.7m, while Very High moves at 12.9% and lost THB 36.0m. Very Low also lost, THB 11.0m on a 9.6% move rate. Medium is 4 customers in both scores and is greyed out rather than read. Conclusion for the framework: stickiness can stay as an activity and eligibility filter, but rate-sensitivity cut-offs should be re-fitted on observed outcomes, and the two outcomes - emptying the pocket and losing balance - should be scored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412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066"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528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44873"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97.6%</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3,912</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2,759</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39m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6,414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34,099</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−2.4%   −THB 13m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Save Max holders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Prior THB 2.90bn → latest THB 3.01bn   ·   Change +111.3m (+3.8%)</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Every tier gained. The percentages reverse the ranking, but the low tiers grow from near-zero balances.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+111.3m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+71.4m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+4.0%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+1549.2%</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0.03m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95.5%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THB m · absolute change and percentage change for every tier</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15568"/>
                <a:gridCol w="969264"/>
                <a:gridCol w="1024128"/>
                <a:gridCol w="1024128"/>
                <a:gridCol w="1024128"/>
                <a:gridCol w="1124712"/>
              </a:tblGrid>
              <a:tr h="228600">
                <a:tc>
                  <a:txBody>
                    <a:bodyPr/>
                    <a:lstStyle/>
                    <a:p>
                      <a:pPr algn="l" indent="0" marL="0">
                        <a:buNone/>
                      </a:pPr>
                      <a:r>
                        <a:rPr lang="en-US" sz="850" b="1" dirty="0">
                          <a:solidFill>
                            <a:srgbClr val="FFFFFF"/>
                          </a:solidFill>
                          <a:latin typeface="Graphik TH" pitchFamily="34" charset="0"/>
                          <a:ea typeface="Graphik TH" pitchFamily="34" charset="-122"/>
                          <a:cs typeface="Graphik TH" pitchFamily="34" charset="-120"/>
                        </a:rPr>
                        <a:t>Stickiness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Customers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Prior</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Latest</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Change</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Change %</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12,145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1094.9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1129.8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+34.9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+3.2%</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26,435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1773.1</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1844.5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+71.4</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+4.0%</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5,107</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33.0</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35.9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+2.9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+8.8%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2,089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0.90</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2.48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+1.6</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+174.7%</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1,408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0.03</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0.51</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+0.5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+1549.2%</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All tiers</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6233D"/>
                          </a:solidFill>
                          <a:latin typeface="Graphik TH" pitchFamily="34" charset="0"/>
                          <a:ea typeface="Graphik TH" pitchFamily="34" charset="-122"/>
                          <a:cs typeface="Graphik TH" pitchFamily="34" charset="-120"/>
                        </a:rPr>
                        <a:t>47,184</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6233D"/>
                          </a:solidFill>
                          <a:latin typeface="Graphik TH" pitchFamily="34" charset="0"/>
                          <a:ea typeface="Graphik TH" pitchFamily="34" charset="-122"/>
                          <a:cs typeface="Graphik TH" pitchFamily="34" charset="-120"/>
                        </a:rPr>
                        <a:t>2901.9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6233D"/>
                          </a:solidFill>
                          <a:latin typeface="Graphik TH" pitchFamily="34" charset="0"/>
                          <a:ea typeface="Graphik TH" pitchFamily="34" charset="-122"/>
                          <a:cs typeface="Graphik TH" pitchFamily="34" charset="-120"/>
                        </a:rPr>
                        <a:t>3013.2</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+111.3</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+3.8%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+111.3m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691841"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31.3%</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+34.9</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64.2%</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+71.4</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57814" cy="164592"/>
          </a:xfrm>
          <a:prstGeom prst="roundRect">
            <a:avLst>
              <a:gd name="adj" fmla="val 47449"/>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2.6%</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31262" cy="164592"/>
          </a:xfrm>
          <a:prstGeom prst="roundRect">
            <a:avLst>
              <a:gd name="adj" fmla="val 87749"/>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1.4%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+1.6</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27432" cy="164592"/>
          </a:xfrm>
          <a:prstGeom prst="roundRect">
            <a:avLst>
              <a:gd name="adj" fmla="val 100000"/>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0.4%</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+0.5</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98.8%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+106.3m of the +111.3m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+174.7% and +1549.2%, but on prior balances of THB 0.90m and THB 0.03m. Rank the tiers on absolute change; read the percentages as a signal that dormant accounts are being funded again.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whole deposit base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*Whole funded deposit base (balance &gt; 0), all customers.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Prior THB 5.48bn → latest THB 5.69bn   ·   Change +211.1m (+3.9%)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same shape at seven times the size — but a fifth of the growth now comes from the three lower tiers.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+211.1m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+3.9%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+99.5m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+143.6%</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5.35m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79.2%</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THB m · absolute change and percentage change for every tier</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15568"/>
                <a:gridCol w="969264"/>
                <a:gridCol w="1024128"/>
                <a:gridCol w="1024128"/>
                <a:gridCol w="1024128"/>
                <a:gridCol w="1124712"/>
              </a:tblGrid>
              <a:tr h="228600">
                <a:tc>
                  <a:txBody>
                    <a:bodyPr/>
                    <a:lstStyle/>
                    <a:p>
                      <a:pPr algn="l" indent="0" marL="0">
                        <a:buNone/>
                      </a:pPr>
                      <a:r>
                        <a:rPr lang="en-US" sz="850" b="1" dirty="0">
                          <a:solidFill>
                            <a:srgbClr val="FFFFFF"/>
                          </a:solidFill>
                          <a:latin typeface="Graphik TH" pitchFamily="34" charset="0"/>
                          <a:ea typeface="Graphik TH" pitchFamily="34" charset="-122"/>
                          <a:cs typeface="Graphik TH" pitchFamily="34" charset="-120"/>
                        </a:rPr>
                        <a:t>Stickiness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Customers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Prior</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Latest</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Change</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Change %</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53,783</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2663.8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2731.5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+67.6</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+2.5%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102,005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2585.6</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2685.1</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+99.5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+3.8%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96,426</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211.4</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236.3</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+24.9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+11.8%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30,592</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11.3</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22.7</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+11.4</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+100.6%</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37,303</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5.35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13.0</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+7.7</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+143.6%</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All tiers</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6233D"/>
                          </a:solidFill>
                          <a:latin typeface="Graphik TH" pitchFamily="34" charset="0"/>
                          <a:ea typeface="Graphik TH" pitchFamily="34" charset="-122"/>
                          <a:cs typeface="Graphik TH" pitchFamily="34" charset="-120"/>
                        </a:rPr>
                        <a:t>320,109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6233D"/>
                          </a:solidFill>
                          <a:latin typeface="Graphik TH" pitchFamily="34" charset="0"/>
                          <a:ea typeface="Graphik TH" pitchFamily="34" charset="-122"/>
                          <a:cs typeface="Graphik TH" pitchFamily="34" charset="-120"/>
                        </a:rPr>
                        <a:t>5477.5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6233D"/>
                          </a:solidFill>
                          <a:latin typeface="Graphik TH" pitchFamily="34" charset="0"/>
                          <a:ea typeface="Graphik TH" pitchFamily="34" charset="-122"/>
                          <a:cs typeface="Graphik TH" pitchFamily="34" charset="-120"/>
                        </a:rPr>
                        <a:t>5688.6</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+211.1</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+3.9%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+211.1m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963748"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32.0%</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+67.6</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47.1%</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+99.5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55231"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11.8%</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+24.9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62359" cy="164592"/>
          </a:xfrm>
          <a:prstGeom prst="roundRect">
            <a:avLst>
              <a:gd name="adj" fmla="val 16896"/>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5.4%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+11.4</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09383" cy="164592"/>
          </a:xfrm>
          <a:prstGeom prst="roundRect">
            <a:avLst>
              <a:gd name="adj" fmla="val 25079"/>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3.6%</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+7.7</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95.8%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+167.1m of the +211.1m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+100.6% and +143.6%, but on prior balances of THB 11.3m and THB 5.35m. Rank the tiers on absolute change; read the percentages as a signal that dormant accounts are being funded again.</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inversion belongs to rate sensitivity, not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*Move rate = share of tier that emptied Save Max. Percentages suppressed below THB 5m prior balance; tiers under 50 customers greyed.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 rate 14.1%   ·   Balance +111.3m   ·   Stickiness ≥ 60 contributed +106.3m of it</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ranks both measures the same way; rate sensitivity ranks them in opposite directions.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000" b="1" dirty="0">
                <a:solidFill>
                  <a:srgbClr val="00A896"/>
                </a:solidFill>
                <a:latin typeface="Graphik TH" pitchFamily="34" charset="0"/>
                <a:ea typeface="Graphik TH" pitchFamily="34" charset="-122"/>
                <a:cs typeface="Graphik TH" pitchFamily="34" charset="-120"/>
              </a:rPr>
              <a:t>1.9% → 19.2%</a:t>
            </a:r>
            <a:endParaRPr lang="en-US" sz="20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by stickiness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Very Low tier to Very High tier</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+106.3m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gained by stickiness ≥ 60</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96% of the cohort's total gain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49.5% / 12.9%</a:t>
            </a:r>
            <a:endParaRPr lang="en-US" sz="18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High / V.High</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score's top band moves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+144.7 / −36.0</a:t>
            </a:r>
            <a:endParaRPr lang="en-US" sz="18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change, THB m</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same pair, opposite directions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Deposit stickiness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rise together — no inversion</a:t>
            </a:r>
            <a:endParaRPr lang="en-US" sz="950" dirty="0"/>
          </a:p>
        </p:txBody>
      </p:sp>
      <p:sp>
        <p:nvSpPr>
          <p:cNvPr id="25" name="Text 23"/>
          <p:cNvSpPr/>
          <p:nvPr/>
        </p:nvSpPr>
        <p:spPr>
          <a:xfrm>
            <a:off x="1755648"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26" name="Text 24"/>
          <p:cNvSpPr/>
          <p:nvPr/>
        </p:nvSpPr>
        <p:spPr>
          <a:xfrm>
            <a:off x="3547872"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27" name="Shape 25"/>
          <p:cNvSpPr/>
          <p:nvPr/>
        </p:nvSpPr>
        <p:spPr>
          <a:xfrm>
            <a:off x="4114800" y="3584448"/>
            <a:ext cx="10973" cy="1444752"/>
          </a:xfrm>
          <a:prstGeom prst="rect">
            <a:avLst/>
          </a:prstGeom>
          <a:solidFill>
            <a:srgbClr val="6B7A90"/>
          </a:solidFill>
          <a:ln/>
        </p:spPr>
      </p:sp>
      <p:sp>
        <p:nvSpPr>
          <p:cNvPr id="28" name="Text 26"/>
          <p:cNvSpPr/>
          <p:nvPr/>
        </p:nvSpPr>
        <p:spPr>
          <a:xfrm>
            <a:off x="786384"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9" name="Shape 27"/>
          <p:cNvSpPr/>
          <p:nvPr/>
        </p:nvSpPr>
        <p:spPr>
          <a:xfrm>
            <a:off x="1755648" y="3666744"/>
            <a:ext cx="1005840" cy="164592"/>
          </a:xfrm>
          <a:prstGeom prst="roundRect">
            <a:avLst>
              <a:gd name="adj" fmla="val 16667"/>
            </a:avLst>
          </a:prstGeom>
          <a:solidFill>
            <a:srgbClr val="165A73"/>
          </a:solidFill>
          <a:ln/>
        </p:spPr>
      </p:sp>
      <p:sp>
        <p:nvSpPr>
          <p:cNvPr id="30" name="Text 28"/>
          <p:cNvSpPr/>
          <p:nvPr/>
        </p:nvSpPr>
        <p:spPr>
          <a:xfrm>
            <a:off x="2798064"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19.2%</a:t>
            </a:r>
            <a:endParaRPr lang="en-US" sz="950" dirty="0"/>
          </a:p>
        </p:txBody>
      </p:sp>
      <p:sp>
        <p:nvSpPr>
          <p:cNvPr id="31" name="Shape 29"/>
          <p:cNvSpPr/>
          <p:nvPr/>
        </p:nvSpPr>
        <p:spPr>
          <a:xfrm>
            <a:off x="4114800" y="3666744"/>
            <a:ext cx="232102" cy="164592"/>
          </a:xfrm>
          <a:prstGeom prst="roundRect">
            <a:avLst>
              <a:gd name="adj" fmla="val 16667"/>
            </a:avLst>
          </a:prstGeom>
          <a:solidFill>
            <a:srgbClr val="1E8E86"/>
          </a:solidFill>
          <a:ln/>
        </p:spPr>
      </p:sp>
      <p:sp>
        <p:nvSpPr>
          <p:cNvPr id="32" name="Text 30"/>
          <p:cNvSpPr/>
          <p:nvPr/>
        </p:nvSpPr>
        <p:spPr>
          <a:xfrm>
            <a:off x="4626864" y="3621024"/>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 (+3.2%)</a:t>
            </a:r>
            <a:endParaRPr lang="en-US" sz="850" dirty="0"/>
          </a:p>
        </p:txBody>
      </p:sp>
      <p:sp>
        <p:nvSpPr>
          <p:cNvPr id="33" name="Text 31"/>
          <p:cNvSpPr/>
          <p:nvPr/>
        </p:nvSpPr>
        <p:spPr>
          <a:xfrm>
            <a:off x="786384"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4" name="Shape 32"/>
          <p:cNvSpPr/>
          <p:nvPr/>
        </p:nvSpPr>
        <p:spPr>
          <a:xfrm>
            <a:off x="1755648" y="3959352"/>
            <a:ext cx="800809" cy="164592"/>
          </a:xfrm>
          <a:prstGeom prst="roundRect">
            <a:avLst>
              <a:gd name="adj" fmla="val 16667"/>
            </a:avLst>
          </a:prstGeom>
          <a:solidFill>
            <a:srgbClr val="165A73"/>
          </a:solidFill>
          <a:ln/>
        </p:spPr>
      </p:sp>
      <p:sp>
        <p:nvSpPr>
          <p:cNvPr id="35" name="Text 33"/>
          <p:cNvSpPr/>
          <p:nvPr/>
        </p:nvSpPr>
        <p:spPr>
          <a:xfrm>
            <a:off x="2798064"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15.3%</a:t>
            </a:r>
            <a:endParaRPr lang="en-US" sz="950" dirty="0"/>
          </a:p>
        </p:txBody>
      </p:sp>
      <p:sp>
        <p:nvSpPr>
          <p:cNvPr id="36" name="Shape 34"/>
          <p:cNvSpPr/>
          <p:nvPr/>
        </p:nvSpPr>
        <p:spPr>
          <a:xfrm>
            <a:off x="4114800" y="3959352"/>
            <a:ext cx="475488" cy="164592"/>
          </a:xfrm>
          <a:prstGeom prst="roundRect">
            <a:avLst>
              <a:gd name="adj" fmla="val 16667"/>
            </a:avLst>
          </a:prstGeom>
          <a:solidFill>
            <a:srgbClr val="1E8E86"/>
          </a:solidFill>
          <a:ln/>
        </p:spPr>
      </p:sp>
      <p:sp>
        <p:nvSpPr>
          <p:cNvPr id="37" name="Text 35"/>
          <p:cNvSpPr/>
          <p:nvPr/>
        </p:nvSpPr>
        <p:spPr>
          <a:xfrm>
            <a:off x="4626864"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 (+4.0%)</a:t>
            </a:r>
            <a:endParaRPr lang="en-US" sz="850" dirty="0"/>
          </a:p>
        </p:txBody>
      </p:sp>
      <p:sp>
        <p:nvSpPr>
          <p:cNvPr id="38" name="Text 36"/>
          <p:cNvSpPr/>
          <p:nvPr/>
        </p:nvSpPr>
        <p:spPr>
          <a:xfrm>
            <a:off x="786384" y="4206240"/>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39" name="Shape 37"/>
          <p:cNvSpPr/>
          <p:nvPr/>
        </p:nvSpPr>
        <p:spPr>
          <a:xfrm>
            <a:off x="1755648" y="4251960"/>
            <a:ext cx="229032" cy="164592"/>
          </a:xfrm>
          <a:prstGeom prst="roundRect">
            <a:avLst>
              <a:gd name="adj" fmla="val 16667"/>
            </a:avLst>
          </a:prstGeom>
          <a:solidFill>
            <a:srgbClr val="165A73"/>
          </a:solidFill>
          <a:ln/>
        </p:spPr>
      </p:sp>
      <p:sp>
        <p:nvSpPr>
          <p:cNvPr id="40" name="Text 38"/>
          <p:cNvSpPr/>
          <p:nvPr/>
        </p:nvSpPr>
        <p:spPr>
          <a:xfrm>
            <a:off x="2798064" y="4206240"/>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4.4%</a:t>
            </a:r>
            <a:endParaRPr lang="en-US" sz="950" dirty="0"/>
          </a:p>
        </p:txBody>
      </p:sp>
      <p:sp>
        <p:nvSpPr>
          <p:cNvPr id="41" name="Shape 39"/>
          <p:cNvSpPr/>
          <p:nvPr/>
        </p:nvSpPr>
        <p:spPr>
          <a:xfrm>
            <a:off x="4114800" y="4251960"/>
            <a:ext cx="27432" cy="164592"/>
          </a:xfrm>
          <a:prstGeom prst="roundRect">
            <a:avLst>
              <a:gd name="adj" fmla="val 100000"/>
            </a:avLst>
          </a:prstGeom>
          <a:solidFill>
            <a:srgbClr val="1E8E86"/>
          </a:solidFill>
          <a:ln/>
        </p:spPr>
      </p:sp>
      <p:sp>
        <p:nvSpPr>
          <p:cNvPr id="42" name="Text 40"/>
          <p:cNvSpPr/>
          <p:nvPr/>
        </p:nvSpPr>
        <p:spPr>
          <a:xfrm>
            <a:off x="4626864" y="4206240"/>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 (+8.8%)</a:t>
            </a:r>
            <a:endParaRPr lang="en-US" sz="850" dirty="0"/>
          </a:p>
        </p:txBody>
      </p:sp>
      <p:sp>
        <p:nvSpPr>
          <p:cNvPr id="43" name="Text 41"/>
          <p:cNvSpPr/>
          <p:nvPr/>
        </p:nvSpPr>
        <p:spPr>
          <a:xfrm>
            <a:off x="786384"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4" name="Shape 42"/>
          <p:cNvSpPr/>
          <p:nvPr/>
        </p:nvSpPr>
        <p:spPr>
          <a:xfrm>
            <a:off x="1755648" y="4544568"/>
            <a:ext cx="140607" cy="164592"/>
          </a:xfrm>
          <a:prstGeom prst="roundRect">
            <a:avLst>
              <a:gd name="adj" fmla="val 19510"/>
            </a:avLst>
          </a:prstGeom>
          <a:solidFill>
            <a:srgbClr val="165A73"/>
          </a:solidFill>
          <a:ln/>
        </p:spPr>
      </p:sp>
      <p:sp>
        <p:nvSpPr>
          <p:cNvPr id="45" name="Text 43"/>
          <p:cNvSpPr/>
          <p:nvPr/>
        </p:nvSpPr>
        <p:spPr>
          <a:xfrm>
            <a:off x="2798064"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2.7%</a:t>
            </a:r>
            <a:endParaRPr lang="en-US" sz="950" dirty="0"/>
          </a:p>
        </p:txBody>
      </p:sp>
      <p:sp>
        <p:nvSpPr>
          <p:cNvPr id="46" name="Shape 44"/>
          <p:cNvSpPr/>
          <p:nvPr/>
        </p:nvSpPr>
        <p:spPr>
          <a:xfrm>
            <a:off x="4114800" y="4544568"/>
            <a:ext cx="27432" cy="164592"/>
          </a:xfrm>
          <a:prstGeom prst="roundRect">
            <a:avLst>
              <a:gd name="adj" fmla="val 100000"/>
            </a:avLst>
          </a:prstGeom>
          <a:solidFill>
            <a:srgbClr val="1E8E86"/>
          </a:solidFill>
          <a:ln/>
        </p:spPr>
      </p:sp>
      <p:sp>
        <p:nvSpPr>
          <p:cNvPr id="47" name="Text 45"/>
          <p:cNvSpPr/>
          <p:nvPr/>
        </p:nvSpPr>
        <p:spPr>
          <a:xfrm>
            <a:off x="4626864"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p>
        </p:txBody>
      </p:sp>
      <p:sp>
        <p:nvSpPr>
          <p:cNvPr id="48" name="Text 46"/>
          <p:cNvSpPr/>
          <p:nvPr/>
        </p:nvSpPr>
        <p:spPr>
          <a:xfrm>
            <a:off x="786384"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49" name="Shape 47"/>
          <p:cNvSpPr/>
          <p:nvPr/>
        </p:nvSpPr>
        <p:spPr>
          <a:xfrm>
            <a:off x="1755648" y="4837176"/>
            <a:ext cx="100581" cy="164592"/>
          </a:xfrm>
          <a:prstGeom prst="roundRect">
            <a:avLst>
              <a:gd name="adj" fmla="val 27274"/>
            </a:avLst>
          </a:prstGeom>
          <a:solidFill>
            <a:srgbClr val="165A73"/>
          </a:solidFill>
          <a:ln/>
        </p:spPr>
      </p:sp>
      <p:sp>
        <p:nvSpPr>
          <p:cNvPr id="50" name="Text 48"/>
          <p:cNvSpPr/>
          <p:nvPr/>
        </p:nvSpPr>
        <p:spPr>
          <a:xfrm>
            <a:off x="2798064"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a:t>
            </a:r>
            <a:endParaRPr lang="en-US" sz="950" dirty="0"/>
          </a:p>
        </p:txBody>
      </p:sp>
      <p:sp>
        <p:nvSpPr>
          <p:cNvPr id="51" name="Shape 49"/>
          <p:cNvSpPr/>
          <p:nvPr/>
        </p:nvSpPr>
        <p:spPr>
          <a:xfrm>
            <a:off x="4114800" y="4837176"/>
            <a:ext cx="27432" cy="164592"/>
          </a:xfrm>
          <a:prstGeom prst="roundRect">
            <a:avLst>
              <a:gd name="adj" fmla="val 100000"/>
            </a:avLst>
          </a:prstGeom>
          <a:solidFill>
            <a:srgbClr val="1E8E86"/>
          </a:solidFill>
          <a:ln/>
        </p:spPr>
      </p:sp>
      <p:sp>
        <p:nvSpPr>
          <p:cNvPr id="52" name="Text 50"/>
          <p:cNvSpPr/>
          <p:nvPr/>
        </p:nvSpPr>
        <p:spPr>
          <a:xfrm>
            <a:off x="4626864" y="4791456"/>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p>
        </p:txBody>
      </p:sp>
      <p:sp>
        <p:nvSpPr>
          <p:cNvPr id="53" name="Shape 51"/>
          <p:cNvSpPr/>
          <p:nvPr/>
        </p:nvSpPr>
        <p:spPr>
          <a:xfrm>
            <a:off x="6281928" y="2798064"/>
            <a:ext cx="5522976" cy="2322576"/>
          </a:xfrm>
          <a:prstGeom prst="roundRect">
            <a:avLst>
              <a:gd name="adj" fmla="val 3543"/>
            </a:avLst>
          </a:prstGeom>
          <a:solidFill>
            <a:srgbClr val="F1F4F9"/>
          </a:solidFill>
          <a:ln/>
        </p:spPr>
      </p:sp>
      <p:sp>
        <p:nvSpPr>
          <p:cNvPr id="54" name="Text 5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Rate sensitivity</a:t>
            </a:r>
            <a:endParaRPr lang="en-US" sz="1400" dirty="0"/>
          </a:p>
        </p:txBody>
      </p:sp>
      <p:sp>
        <p:nvSpPr>
          <p:cNvPr id="55" name="Text 5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two measures point in opposite directions</a:t>
            </a:r>
            <a:endParaRPr lang="en-US" sz="950" dirty="0"/>
          </a:p>
        </p:txBody>
      </p:sp>
      <p:sp>
        <p:nvSpPr>
          <p:cNvPr id="56" name="Text 54"/>
          <p:cNvSpPr/>
          <p:nvPr/>
        </p:nvSpPr>
        <p:spPr>
          <a:xfrm>
            <a:off x="7507224"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57" name="Text 55"/>
          <p:cNvSpPr/>
          <p:nvPr/>
        </p:nvSpPr>
        <p:spPr>
          <a:xfrm>
            <a:off x="9299448"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58" name="Shape 56"/>
          <p:cNvSpPr/>
          <p:nvPr/>
        </p:nvSpPr>
        <p:spPr>
          <a:xfrm>
            <a:off x="9866376" y="3584448"/>
            <a:ext cx="10973" cy="1444752"/>
          </a:xfrm>
          <a:prstGeom prst="rect">
            <a:avLst/>
          </a:prstGeom>
          <a:solidFill>
            <a:srgbClr val="6B7A90"/>
          </a:solidFill>
          <a:ln/>
        </p:spPr>
      </p:sp>
      <p:sp>
        <p:nvSpPr>
          <p:cNvPr id="59" name="Text 57"/>
          <p:cNvSpPr/>
          <p:nvPr/>
        </p:nvSpPr>
        <p:spPr>
          <a:xfrm>
            <a:off x="6537960"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0" name="Shape 58"/>
          <p:cNvSpPr/>
          <p:nvPr/>
        </p:nvSpPr>
        <p:spPr>
          <a:xfrm>
            <a:off x="7507224" y="3666744"/>
            <a:ext cx="261280" cy="164592"/>
          </a:xfrm>
          <a:prstGeom prst="roundRect">
            <a:avLst>
              <a:gd name="adj" fmla="val 16667"/>
            </a:avLst>
          </a:prstGeom>
          <a:solidFill>
            <a:srgbClr val="165A73"/>
          </a:solidFill>
          <a:ln/>
        </p:spPr>
      </p:sp>
      <p:sp>
        <p:nvSpPr>
          <p:cNvPr id="61" name="Text 59"/>
          <p:cNvSpPr/>
          <p:nvPr/>
        </p:nvSpPr>
        <p:spPr>
          <a:xfrm>
            <a:off x="8549640"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12.9%</a:t>
            </a:r>
            <a:endParaRPr lang="en-US" sz="950" dirty="0"/>
          </a:p>
        </p:txBody>
      </p:sp>
      <p:sp>
        <p:nvSpPr>
          <p:cNvPr id="62" name="Shape 60"/>
          <p:cNvSpPr/>
          <p:nvPr/>
        </p:nvSpPr>
        <p:spPr>
          <a:xfrm>
            <a:off x="9748140" y="3666744"/>
            <a:ext cx="118236" cy="164592"/>
          </a:xfrm>
          <a:prstGeom prst="roundRect">
            <a:avLst>
              <a:gd name="adj" fmla="val 23201"/>
            </a:avLst>
          </a:prstGeom>
          <a:solidFill>
            <a:srgbClr val="C00000"/>
          </a:solidFill>
          <a:ln/>
        </p:spPr>
      </p:sp>
      <p:sp>
        <p:nvSpPr>
          <p:cNvPr id="63" name="Text 61"/>
          <p:cNvSpPr/>
          <p:nvPr/>
        </p:nvSpPr>
        <p:spPr>
          <a:xfrm>
            <a:off x="10378440" y="3621024"/>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−36.0 (−2.5%)</a:t>
            </a:r>
            <a:endParaRPr lang="en-US" sz="850" dirty="0"/>
          </a:p>
        </p:txBody>
      </p:sp>
      <p:sp>
        <p:nvSpPr>
          <p:cNvPr id="64" name="Text 62"/>
          <p:cNvSpPr/>
          <p:nvPr/>
        </p:nvSpPr>
        <p:spPr>
          <a:xfrm>
            <a:off x="6537960"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65" name="Shape 63"/>
          <p:cNvSpPr/>
          <p:nvPr/>
        </p:nvSpPr>
        <p:spPr>
          <a:xfrm>
            <a:off x="7507224" y="3959352"/>
            <a:ext cx="1005840" cy="164592"/>
          </a:xfrm>
          <a:prstGeom prst="roundRect">
            <a:avLst>
              <a:gd name="adj" fmla="val 16667"/>
            </a:avLst>
          </a:prstGeom>
          <a:solidFill>
            <a:srgbClr val="165A73"/>
          </a:solidFill>
          <a:ln/>
        </p:spPr>
      </p:sp>
      <p:sp>
        <p:nvSpPr>
          <p:cNvPr id="66" name="Text 64"/>
          <p:cNvSpPr/>
          <p:nvPr/>
        </p:nvSpPr>
        <p:spPr>
          <a:xfrm>
            <a:off x="8549640"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49.5%</a:t>
            </a:r>
            <a:endParaRPr lang="en-US" sz="950" dirty="0"/>
          </a:p>
        </p:txBody>
      </p:sp>
      <p:sp>
        <p:nvSpPr>
          <p:cNvPr id="67" name="Shape 65"/>
          <p:cNvSpPr/>
          <p:nvPr/>
        </p:nvSpPr>
        <p:spPr>
          <a:xfrm>
            <a:off x="9866376" y="3959352"/>
            <a:ext cx="475488" cy="164592"/>
          </a:xfrm>
          <a:prstGeom prst="roundRect">
            <a:avLst>
              <a:gd name="adj" fmla="val 16667"/>
            </a:avLst>
          </a:prstGeom>
          <a:solidFill>
            <a:srgbClr val="1E8E86"/>
          </a:solidFill>
          <a:ln/>
        </p:spPr>
      </p:sp>
      <p:sp>
        <p:nvSpPr>
          <p:cNvPr id="68" name="Text 66"/>
          <p:cNvSpPr/>
          <p:nvPr/>
        </p:nvSpPr>
        <p:spPr>
          <a:xfrm>
            <a:off x="10378440"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+144.7 (+12.4%)</a:t>
            </a:r>
            <a:endParaRPr lang="en-US" sz="850" dirty="0"/>
          </a:p>
        </p:txBody>
      </p:sp>
      <p:sp>
        <p:nvSpPr>
          <p:cNvPr id="69" name="Text 67"/>
          <p:cNvSpPr/>
          <p:nvPr/>
        </p:nvSpPr>
        <p:spPr>
          <a:xfrm>
            <a:off x="6537960" y="4206240"/>
            <a:ext cx="914400" cy="256032"/>
          </a:xfrm>
          <a:prstGeom prst="rect">
            <a:avLst/>
          </a:prstGeom>
          <a:noFill/>
          <a:ln/>
        </p:spPr>
        <p:txBody>
          <a:bodyPr wrap="square" lIns="0" tIns="0" rIns="0" bIns="0" rtlCol="0" anchor="ctr"/>
          <a:lstStyle/>
          <a:p>
            <a:pPr indent="0" marL="0">
              <a:buNone/>
            </a:pPr>
            <a:r>
              <a:rPr lang="en-US" sz="950" b="1" dirty="0">
                <a:solidFill>
                  <a:srgbClr val="6B7A90"/>
                </a:solidFill>
                <a:latin typeface="Graphik TH" pitchFamily="34" charset="0"/>
                <a:ea typeface="Graphik TH" pitchFamily="34" charset="-122"/>
                <a:cs typeface="Graphik TH" pitchFamily="34" charset="-120"/>
              </a:rPr>
              <a:t>Medium</a:t>
            </a:r>
            <a:endParaRPr lang="en-US" sz="950" dirty="0"/>
          </a:p>
        </p:txBody>
      </p:sp>
      <p:sp>
        <p:nvSpPr>
          <p:cNvPr id="70" name="Shape 68"/>
          <p:cNvSpPr/>
          <p:nvPr/>
        </p:nvSpPr>
        <p:spPr>
          <a:xfrm>
            <a:off x="7507224" y="4251960"/>
            <a:ext cx="27432" cy="164592"/>
          </a:xfrm>
          <a:prstGeom prst="roundRect">
            <a:avLst>
              <a:gd name="adj" fmla="val 100000"/>
            </a:avLst>
          </a:prstGeom>
          <a:solidFill>
            <a:srgbClr val="D8DFE9"/>
          </a:solidFill>
          <a:ln/>
        </p:spPr>
      </p:sp>
      <p:sp>
        <p:nvSpPr>
          <p:cNvPr id="71" name="Text 69"/>
          <p:cNvSpPr/>
          <p:nvPr/>
        </p:nvSpPr>
        <p:spPr>
          <a:xfrm>
            <a:off x="8549640" y="4206240"/>
            <a:ext cx="512064" cy="256032"/>
          </a:xfrm>
          <a:prstGeom prst="rect">
            <a:avLst/>
          </a:prstGeom>
          <a:noFill/>
          <a:ln/>
        </p:spPr>
        <p:txBody>
          <a:bodyPr wrap="square" lIns="0" tIns="0" rIns="0" bIns="0" rtlCol="0" anchor="ctr"/>
          <a:lstStyle/>
          <a:p>
            <a:pPr algn="r" indent="0" marL="0">
              <a:buNone/>
            </a:pPr>
            <a:r>
              <a:rPr lang="en-US" sz="950" b="1" dirty="0">
                <a:solidFill>
                  <a:srgbClr val="6B7A90"/>
                </a:solidFill>
                <a:latin typeface="Graphik TH" pitchFamily="34" charset="0"/>
                <a:ea typeface="Graphik TH" pitchFamily="34" charset="-122"/>
                <a:cs typeface="Graphik TH" pitchFamily="34" charset="-120"/>
              </a:rPr>
              <a:t>0.0%</a:t>
            </a:r>
            <a:endParaRPr lang="en-US" sz="950" dirty="0"/>
          </a:p>
        </p:txBody>
      </p:sp>
      <p:sp>
        <p:nvSpPr>
          <p:cNvPr id="72" name="Shape 70"/>
          <p:cNvSpPr/>
          <p:nvPr/>
        </p:nvSpPr>
        <p:spPr>
          <a:xfrm>
            <a:off x="9838944" y="4251960"/>
            <a:ext cx="27432" cy="164592"/>
          </a:xfrm>
          <a:prstGeom prst="roundRect">
            <a:avLst>
              <a:gd name="adj" fmla="val 100000"/>
            </a:avLst>
          </a:prstGeom>
          <a:solidFill>
            <a:srgbClr val="D8DFE9"/>
          </a:solidFill>
          <a:ln/>
        </p:spPr>
      </p:sp>
      <p:sp>
        <p:nvSpPr>
          <p:cNvPr id="73" name="Text 71"/>
          <p:cNvSpPr/>
          <p:nvPr/>
        </p:nvSpPr>
        <p:spPr>
          <a:xfrm>
            <a:off x="10378440" y="4206240"/>
            <a:ext cx="1170432" cy="256032"/>
          </a:xfrm>
          <a:prstGeom prst="rect">
            <a:avLst/>
          </a:prstGeom>
          <a:noFill/>
          <a:ln/>
        </p:spPr>
        <p:txBody>
          <a:bodyPr wrap="square" lIns="0" tIns="0" rIns="0" bIns="0" rtlCol="0" anchor="ctr"/>
          <a:lstStyle/>
          <a:p>
            <a:pPr algn="r" indent="0" marL="0">
              <a:buNone/>
            </a:pPr>
            <a:r>
              <a:rPr lang="en-US" sz="850" b="1" dirty="0">
                <a:solidFill>
                  <a:srgbClr val="6B7A90"/>
                </a:solidFill>
                <a:latin typeface="Graphik TH" pitchFamily="34" charset="0"/>
                <a:ea typeface="Graphik TH" pitchFamily="34" charset="-122"/>
                <a:cs typeface="Graphik TH" pitchFamily="34" charset="-120"/>
              </a:rPr>
              <a:t>−1.2 (−19.0%)</a:t>
            </a:r>
            <a:endParaRPr lang="en-US" sz="850" dirty="0"/>
          </a:p>
        </p:txBody>
      </p:sp>
      <p:sp>
        <p:nvSpPr>
          <p:cNvPr id="74" name="Text 72"/>
          <p:cNvSpPr/>
          <p:nvPr/>
        </p:nvSpPr>
        <p:spPr>
          <a:xfrm>
            <a:off x="6537960"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75" name="Shape 73"/>
          <p:cNvSpPr/>
          <p:nvPr/>
        </p:nvSpPr>
        <p:spPr>
          <a:xfrm>
            <a:off x="7507224" y="4544568"/>
            <a:ext cx="145648" cy="164592"/>
          </a:xfrm>
          <a:prstGeom prst="roundRect">
            <a:avLst>
              <a:gd name="adj" fmla="val 18834"/>
            </a:avLst>
          </a:prstGeom>
          <a:solidFill>
            <a:srgbClr val="165A73"/>
          </a:solidFill>
          <a:ln/>
        </p:spPr>
      </p:sp>
      <p:sp>
        <p:nvSpPr>
          <p:cNvPr id="76" name="Text 74"/>
          <p:cNvSpPr/>
          <p:nvPr/>
        </p:nvSpPr>
        <p:spPr>
          <a:xfrm>
            <a:off x="8549640"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7.2%</a:t>
            </a:r>
            <a:endParaRPr lang="en-US" sz="950" dirty="0"/>
          </a:p>
        </p:txBody>
      </p:sp>
      <p:sp>
        <p:nvSpPr>
          <p:cNvPr id="77" name="Shape 75"/>
          <p:cNvSpPr/>
          <p:nvPr/>
        </p:nvSpPr>
        <p:spPr>
          <a:xfrm>
            <a:off x="9866376" y="4544568"/>
            <a:ext cx="48491" cy="164592"/>
          </a:xfrm>
          <a:prstGeom prst="roundRect">
            <a:avLst>
              <a:gd name="adj" fmla="val 56571"/>
            </a:avLst>
          </a:prstGeom>
          <a:solidFill>
            <a:srgbClr val="1E8E86"/>
          </a:solidFill>
          <a:ln/>
        </p:spPr>
      </p:sp>
      <p:sp>
        <p:nvSpPr>
          <p:cNvPr id="78" name="Text 76"/>
          <p:cNvSpPr/>
          <p:nvPr/>
        </p:nvSpPr>
        <p:spPr>
          <a:xfrm>
            <a:off x="10378440"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+14.8 (+11.4%)</a:t>
            </a:r>
            <a:endParaRPr lang="en-US" sz="850" dirty="0"/>
          </a:p>
        </p:txBody>
      </p:sp>
      <p:sp>
        <p:nvSpPr>
          <p:cNvPr id="79" name="Text 77"/>
          <p:cNvSpPr/>
          <p:nvPr/>
        </p:nvSpPr>
        <p:spPr>
          <a:xfrm>
            <a:off x="6537960"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80" name="Shape 78"/>
          <p:cNvSpPr/>
          <p:nvPr/>
        </p:nvSpPr>
        <p:spPr>
          <a:xfrm>
            <a:off x="7507224" y="4837176"/>
            <a:ext cx="195870" cy="164592"/>
          </a:xfrm>
          <a:prstGeom prst="roundRect">
            <a:avLst>
              <a:gd name="adj" fmla="val 16667"/>
            </a:avLst>
          </a:prstGeom>
          <a:solidFill>
            <a:srgbClr val="165A73"/>
          </a:solidFill>
          <a:ln/>
        </p:spPr>
      </p:sp>
      <p:sp>
        <p:nvSpPr>
          <p:cNvPr id="81" name="Text 79"/>
          <p:cNvSpPr/>
          <p:nvPr/>
        </p:nvSpPr>
        <p:spPr>
          <a:xfrm>
            <a:off x="8549640"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9.6%</a:t>
            </a:r>
            <a:endParaRPr lang="en-US" sz="950" dirty="0"/>
          </a:p>
        </p:txBody>
      </p:sp>
      <p:sp>
        <p:nvSpPr>
          <p:cNvPr id="82" name="Shape 80"/>
          <p:cNvSpPr/>
          <p:nvPr/>
        </p:nvSpPr>
        <p:spPr>
          <a:xfrm>
            <a:off x="9830126" y="4837176"/>
            <a:ext cx="36250" cy="164592"/>
          </a:xfrm>
          <a:prstGeom prst="roundRect">
            <a:avLst>
              <a:gd name="adj" fmla="val 75674"/>
            </a:avLst>
          </a:prstGeom>
          <a:solidFill>
            <a:srgbClr val="C00000"/>
          </a:solidFill>
          <a:ln/>
        </p:spPr>
      </p:sp>
      <p:sp>
        <p:nvSpPr>
          <p:cNvPr id="83" name="Text 81"/>
          <p:cNvSpPr/>
          <p:nvPr/>
        </p:nvSpPr>
        <p:spPr>
          <a:xfrm>
            <a:off x="10378440" y="4791456"/>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−11.0 (−6.9%)</a:t>
            </a:r>
            <a:endParaRPr lang="en-US" sz="850" dirty="0"/>
          </a:p>
        </p:txBody>
      </p:sp>
      <p:sp>
        <p:nvSpPr>
          <p:cNvPr id="84" name="Shape 82"/>
          <p:cNvSpPr/>
          <p:nvPr/>
        </p:nvSpPr>
        <p:spPr>
          <a:xfrm>
            <a:off x="530352" y="5285232"/>
            <a:ext cx="11274552" cy="786384"/>
          </a:xfrm>
          <a:prstGeom prst="roundRect">
            <a:avLst>
              <a:gd name="adj" fmla="val 10465"/>
            </a:avLst>
          </a:prstGeom>
          <a:solidFill>
            <a:srgbClr val="FBF0E6"/>
          </a:solidFill>
          <a:ln/>
        </p:spPr>
      </p:sp>
      <p:sp>
        <p:nvSpPr>
          <p:cNvPr id="85" name="Text 8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Only rate sensitivity needs re-fitting</a:t>
            </a:r>
            <a:pPr indent="0" marL="0">
              <a:buNone/>
            </a:pPr>
            <a:r>
              <a:rPr lang="en-US" sz="1100" dirty="0">
                <a:solidFill>
                  <a:srgbClr val="16233D"/>
                </a:solidFill>
                <a:latin typeface="Graphik TH" pitchFamily="34" charset="0"/>
                <a:ea typeface="Graphik TH" pitchFamily="34" charset="-122"/>
                <a:cs typeface="Graphik TH" pitchFamily="34" charset="-120"/>
              </a:rPr>
              <a:t>  —  stickiness is directionally consistent, though its alignment is partly a size effect: the two top tiers hold 98.8% of the balance. Rate sensitivity genuinely diverges — High gained +144.7m while Very High lost 36.0m.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2026-09-28T08:59:16Z</dcterms:created>
  <dcterms:modified xsi:type="dcterms:W3CDTF">2026-09-28T08:59:16Z</dcterms:modified>
</cp:coreProperties>
</file>
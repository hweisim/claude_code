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of 47,184. Total deposit balance rose from THB 2,901,915,577 to THB 3,013,181,725, +111.3m or +3.8%. Every stickiness tier gained. In absolute terms the gain concentrates in the top two tiers: High +71.4m and Very High +34.9m, together 95.5% of it, which follows from those tiers holding 98.8% of prior balance. In percentage terms the ranking reverses cleanly: Very High +3.2%, High +4.0%, Medium +8.8%, Low +174.7%, Very Low +1549.2%. Average prior balance per customer runs from THB 90,152 in the Very High tier to THB 22 in the Very Low tier, so the low tiers' percentages reflect dormant accounts receiving small deposits rather than material growth. Average change per customer runs Very High +2,871, High +2,702, Medium +571, Low +754, Very Low +341, against +2,358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of 320,109. Total deposit balance rose from THB 5,477,500,352 to THB 5,688,588,400, +211.1m or +3.9%. Every stickiness tier gained. In absolute terms the gain concentrates in the top two tiers: High +99.5m and Very High +67.6m, together 79.2% of it, which follows from those tiers holding 95.8% of prior balance. In percentage terms the ranking reverses cleanly: Very High +2.5%, High +3.8%, Medium +11.8%, Low +100.6%, Very Low +143.6%. Average prior balance per customer runs from THB 49,529 in the Very High tier to THB 143 in the Very Low tier, so the low tiers' percentages reflect dormant accounts receiving small deposits rather than material growth. Average change per customer runs Very High +1,257, High +975, Medium +259, Low +372, Very Low +206, against +659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Save Max holders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Prior THB 2.90bn → latest THB 3.01bn   ·   Change +111.3m (+3.8%)</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Every tier gained. The percentages reverse the ranking, but the low tiers grow from near-zero balances.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+71.4m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+4.0%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+1549.2%</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0.03m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95.5%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12,145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1094.9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1129.8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+2,871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26,435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1773.1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1844.5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+2,702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5,107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+8.8%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+571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2,089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2.48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+174.7%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+754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1,408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+1549.2%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47,184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2901.9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3013.2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+111.3m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691841"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31.3%</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+34.9</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64.2%</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+71.4</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57814" cy="164592"/>
          </a:xfrm>
          <a:prstGeom prst="roundRect">
            <a:avLst>
              <a:gd name="adj" fmla="val 47449"/>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2.6%</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31262" cy="164592"/>
          </a:xfrm>
          <a:prstGeom prst="roundRect">
            <a:avLst>
              <a:gd name="adj" fmla="val 87749"/>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1.4%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+1.6</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27432" cy="164592"/>
          </a:xfrm>
          <a:prstGeom prst="roundRect">
            <a:avLst>
              <a:gd name="adj" fmla="val 100000"/>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0.4%</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+0.5</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98.8%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+106.3m of the +111.3m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+174.7% and +1549.2%, but on prior balances of THB 0.90m and THB 0.03m. Rank the tiers on absolute change; read the percentages as a signal that dormant accounts are being funded again.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whole deposit base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*Whole funded deposit base (balance &gt; 0), all customers.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Prior THB 5.48bn → latest THB 5.69bn   ·   Change +211.1m (+3.9%)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same shape at seven times the size — but a fifth of the growth now comes from the three lower tiers.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+211.1m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+99.5m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+143.6%</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5.35m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79.2%</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53,783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2663.8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2731.5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+67.6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102,005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2585.6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2685.1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+99.5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96,426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236.3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30,592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+100.6%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+372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37,303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+143.6%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5688.6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+211.1m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963748"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32.0%</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+67.6</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47.1%</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+99.5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55231"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11.8%</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+24.9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62359" cy="164592"/>
          </a:xfrm>
          <a:prstGeom prst="roundRect">
            <a:avLst>
              <a:gd name="adj" fmla="val 16896"/>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5.4%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+11.4</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09383" cy="164592"/>
          </a:xfrm>
          <a:prstGeom prst="roundRect">
            <a:avLst>
              <a:gd name="adj" fmla="val 25079"/>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3.6%</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+7.7</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95.8%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+167.1m of the +211.1m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+100.6% and +143.6%, but on prior balances of THB 11.3m and THB 5.35m. Rank the tiers on absolute change; read the percentages as a signal that dormant accounts are being funded again.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2026-09-28T09:01:53Z</dcterms:created>
  <dcterms:modified xsi:type="dcterms:W3CDTF">2026-09-28T09:01:53Z</dcterms:modified>
</cp:coreProperties>
</file>
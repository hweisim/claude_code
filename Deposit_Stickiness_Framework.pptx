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deposit balance rose from THB 2,901,915,577 to THB 3,013,181,725, +111.3m or +3.8%. Every stickiness tier gained. In absolute terms the gain is concentrated: High +71.4m and Very High +34.9m together are 95.5% of it, which follows from those two tiers holding 98.8% of prior balance. In percentage terms the ranking reverses: Very High +3.2%, High +4.0%, Medium +8.8%, Low +174.7%, Very Low +1549.2%. Those last two are computed on prior balances of THB 902,104 and THB 31,005 across 2,089 and 1,408 customers - average prior balances of THB 432 and THB 22 - so they represent dormant accounts receiving small deposits rather than material growth. Both readings are kept on the slide deliberately: the absolute column is the one to rank on, and the percentage column is a useful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*Change in total deposit balance, prior to latest.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Prior THB 2901.9m → latest THB 3013.2m   ·   Change +111.3m (+3.8%)</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Every tier gained. The percentages reverse the ranking, but the low tiers grow from near-zero balances.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cohort</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+71.4m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+4.0%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+1549.2%</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0.03m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95.5%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m · absolute change and percentage change for every tier</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15568"/>
                <a:gridCol w="969264"/>
                <a:gridCol w="1024128"/>
                <a:gridCol w="1024128"/>
                <a:gridCol w="1024128"/>
                <a:gridCol w="1124712"/>
              </a:tblGrid>
              <a:tr h="228600">
                <a:tc>
                  <a:txBody>
                    <a:bodyPr/>
                    <a:lstStyle/>
                    <a:p>
                      <a:pPr algn="l" indent="0" marL="0">
                        <a:buNone/>
                      </a:pPr>
                      <a:r>
                        <a:rPr lang="en-US" sz="850" b="1" dirty="0">
                          <a:solidFill>
                            <a:srgbClr val="FFFFFF"/>
                          </a:solidFill>
                          <a:latin typeface="Graphik TH" pitchFamily="34" charset="0"/>
                          <a:ea typeface="Graphik TH" pitchFamily="34" charset="-122"/>
                          <a:cs typeface="Graphik TH" pitchFamily="34" charset="-120"/>
                        </a:rPr>
                        <a:t>Stickiness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Customers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Prior</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Latest</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Change</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50" b="1" dirty="0">
                          <a:solidFill>
                            <a:srgbClr val="FFFFFF"/>
                          </a:solidFill>
                          <a:latin typeface="Graphik TH" pitchFamily="34" charset="0"/>
                          <a:ea typeface="Graphik TH" pitchFamily="34" charset="-122"/>
                          <a:cs typeface="Graphik TH" pitchFamily="34" charset="-120"/>
                        </a:rPr>
                        <a:t>Change %</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12,145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1094.9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1129.8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+34.9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+3.2%</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26,435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1773.1</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1844.5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+71.4</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+4.0%</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5,107</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33.0</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35.9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+2.9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+8.8%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2,089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0.90</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2.48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+1.6</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+174.7%</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1,408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0.03</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Graphik TH" pitchFamily="34" charset="0"/>
                          <a:ea typeface="Graphik TH" pitchFamily="34" charset="-122"/>
                          <a:cs typeface="Graphik TH" pitchFamily="34" charset="-120"/>
                        </a:rPr>
                        <a:t>0.51</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+0.5</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+1549.2%</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900" b="1" dirty="0">
                          <a:solidFill>
                            <a:srgbClr val="16233D"/>
                          </a:solidFill>
                          <a:latin typeface="Graphik TH" pitchFamily="34" charset="0"/>
                          <a:ea typeface="Graphik TH" pitchFamily="34" charset="-122"/>
                          <a:cs typeface="Graphik TH" pitchFamily="34" charset="-120"/>
                        </a:rPr>
                        <a:t>All tiers</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47,184</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2901.9</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6233D"/>
                          </a:solidFill>
                          <a:latin typeface="Graphik TH" pitchFamily="34" charset="0"/>
                          <a:ea typeface="Graphik TH" pitchFamily="34" charset="-122"/>
                          <a:cs typeface="Graphik TH" pitchFamily="34" charset="-120"/>
                        </a:rPr>
                        <a:t>3013.2</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+111.3</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b="1" dirty="0">
                          <a:solidFill>
                            <a:srgbClr val="1E8E86"/>
                          </a:solidFill>
                          <a:latin typeface="Graphik TH" pitchFamily="34" charset="0"/>
                          <a:ea typeface="Graphik TH" pitchFamily="34" charset="-122"/>
                          <a:cs typeface="Graphik TH" pitchFamily="34" charset="-120"/>
                        </a:rPr>
                        <a:t>+3.8%</a:t>
                      </a:r>
                      <a:endParaRPr lang="en-US" sz="9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+111.3m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691841"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31.3%</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+34.9</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64.2%</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+71.4</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57814" cy="164592"/>
          </a:xfrm>
          <a:prstGeom prst="roundRect">
            <a:avLst>
              <a:gd name="adj" fmla="val 47449"/>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2.6%</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31262" cy="164592"/>
          </a:xfrm>
          <a:prstGeom prst="roundRect">
            <a:avLst>
              <a:gd name="adj" fmla="val 87749"/>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1.4%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+1.6</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27432" cy="164592"/>
          </a:xfrm>
          <a:prstGeom prst="roundRect">
            <a:avLst>
              <a:gd name="adj" fmla="val 100000"/>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0.4%</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+0.5</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98.8%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+106.3m of the +111.3m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+174.7% and +1549.2%, but on prior balances of THB 0.90m and THB 0.03m. Rank the tiers on absolute change; read the percentages as a signal that dormant accounts are being funded again.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2026-09-28T08:49:45Z</dcterms:created>
  <dcterms:modified xsi:type="dcterms:W3CDTF">2026-09-28T08:49:45Z</dcterms:modified>
</cp:coreProperties>
</file>
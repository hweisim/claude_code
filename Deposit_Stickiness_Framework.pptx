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rate rises with stickiness, which is the opposite of what the name suggests: Very High 19.2% against Very Low 1.9%. The reason is dormancy, not loyalty - average Save Max balance falls from THB 18,104 in the Very High tier to THB 18 in the Very Low tier, so the low tiers have nothing to move and nobody managing the account. Read the columns, not the rows: the High rate-sensitivity column is hot at every stickiness level, peaking at 56.2% for High stickiness. The fragile quadrant - stickiness &lt; 60 with rate sensitivity &gt;= 60 - is 297 customers holding THB 5,903,833, so the decision view on slide 2 points at an almost empty cell. On predictive value, stickiness adds little once rate sensitivity and the Save More flag are in hand (AUC 0.766 to 0.779), so its practical use is as an eligibility filter to suppress dormant micro-balance accounts from retention campaigns, not as a targeting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of 47,184. Total deposit balance rose from THB 2,901,915,577 to THB 3,013,181,725, +111.3m or +3.8%. Every stickiness tier gained. In absolute terms the gain concentrates in the top two tiers: High +71.4m and Very High +34.9m, together 95.5% of it, which follows from those tiers holding 98.8% of prior balance. In percentage terms the ranking reverses cleanly: Very High +3.2%, High +4.0%, Medium +8.8%, Low +174.7%, Very Low +1549.2%. Average prior balance per customer runs from THB 90,152 in the Very High tier to THB 22 in the Very Low tier, so the low tiers' percentages reflect dormant accounts receiving small deposits rather than material growth. Average change per customer runs Very High +2,871, High +2,702, Medium +571, Low +754, Very Low +341, against +2,358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of 320,109. Total deposit balance rose from THB 5,477,500,352 to THB 5,688,588,400, +211.1m or +3.9%. Every stickiness tier gained. In absolute terms the gain concentrates in the top two tiers: High +99.5m and Very High +67.6m, together 79.2% of it, which follows from those tiers holding 95.8% of prior balance. In percentage terms the ranking reverses cleanly: Very High +2.5%, High +3.8%, Medium +11.8%, Low +100.6%, Very Low +143.6%. Average prior balance per customer runs from THB 49,529 in the Very High tier to THB 143 in the Very Low tier, so the low tiers' percentages reflect dormant accounts receiving small deposits rather than material growth. Average change per customer runs Very High +1,257, High +975, Medium +259, Low +372, Very Low +206, against +659 across the base. That column ranks differently again - the Low tier beats Medium on change per customer despite holding far less balance - so it is the fairest way to compare tiers of very different size. All three readings are kept deliberately: rank on absolute change for materiality, on change per customer for per-head value, and read the percentage column as an early indicator that previously unfunded accounts are becoming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Deposit stickiness ranks the two measures consistently: move rate runs 1.9% to 19.2% from Very Low to Very High, and balance change is positive in every tier. The caveat is that this consistency is partly mechanical - the High and Very High tiers hold 98.8% of prior balance and contributed 95.5% of the cohort's gain, so the ranking largely restates where the money is. In percentage terms the picture is flatter and mildly reversed: Very High +3.2%, High +4.0%, Medium +8.8%, with the Low and Very Low tiers unusable because their prior balances are near zero. Rate sensitivity diverges for real: High moves at 49.5% and gained THB 144.7m, while Very High moves at 12.9% and lost THB 36.0m. Very Low also lost, THB 11.0m on a 9.6% move rate. Medium is 4 customers in both scores and is greyed out rather than read. Conclusion for the framework: stickiness can stay as an activity and eligibility filter, but rate-sensitivity cut-offs should be re-fitted on observed outcomes, and the two outcomes - emptying the pocket and losing balance - should be scored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movement across the stickiness tiers, split by score confidence, on the funded base of 320,109 customers and THB 5,477,500,352, net +THB 211.1m. Overall the base is 16.4% Increase, 55.5% Stable and 28.1% Decrease by customer. The customer row and the balance row disagree in every confidence panel, and most sharply at Low confidence: 41.5% of those customers decreased but only 13.8% of their balance did, so within that band the large accounts are the stable ones. Low confidence holds THB 489.9m across 8,982 customers, so its panels are thin but the balances behind them are not - average prior balance there is THB 54,539 against THB 25,414 at High confidence. Reading down each column shows the same pattern the deck has found throughout: the stickiness score separates customers far more cleanly than it separates money, and splitting by confidence does not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splits the base 41.5% High, 55.7% Medium, 2.8% Low by customer, but 61.6% / 29.4% / 8.9% by balance. Average prior balance runs THB 25,414 High, THB 9,040 Medium and THB 54,539 Low, so the least reliable scores attach to the largest accounts - the opposite of what a data-quality problem usually looks like. In this extract confidence tracks the Save Max feed exactly: all 108 Medium and Low Confidence cells have prev_bal_save_max of zero and latest_bal_save_max NULL, while all 93 High Confidence cells carry real values. So a Low Confidence score is not a noisy estimate, it is a score computed without one of its inputs, and the missing input is the promotional product the whole framework is built around. Worth confirming at source. Balance change is positive in every band: High +124.9m, Medium +62.7m, Low +23.5m. Low Confidence decreases on 41.5% of its customers but only 13.8% of its balance, so within that band the large accounts are the stable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Move rate : deposit stickiness against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balance now zero. Each cell shows the move rate with its customer count beneath.</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Moved 6,671 (14.1%)   ·   Hottest cell: High stickiness × High sensitivity 56.2% on 2,788 customers</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Move rate climbs with both scores — the runoff sits in the sticky, rate-sensitive core, not in the low-stickiness corner.</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14.1%</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cohort move rate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6,671 of 47,184 emptied Save Max</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56.2%</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hottest cell</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stickiness × High sensitivity</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98.7%</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walked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6B7A90"/>
                </a:solidFill>
                <a:latin typeface="Graphik TH" pitchFamily="34" charset="0"/>
                <a:ea typeface="Graphik TH" pitchFamily="34" charset="-122"/>
                <a:cs typeface="Graphik TH" pitchFamily="34" charset="-120"/>
              </a:rPr>
              <a:t>297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in the 'fragile' corner</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cell</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deposit stickiness · columns: rate sensitivity · shaded by move rate</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161288"/>
                <a:gridCol w="1024128"/>
                <a:gridCol w="1024128"/>
                <a:gridCol w="1024128"/>
                <a:gridCol w="1024128"/>
                <a:gridCol w="1024128"/>
              </a:tblGrid>
              <a:tr h="237744">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890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5C5"/>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5,595</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0C1C1"/>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41.8%</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2,340</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D04141"/>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14.2%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3,318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FBFB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6.2%</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829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8E3E3"/>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6.8%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7,809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E0E0"/>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56.2%</a:t>
                      </a:r>
                      <a:pPr algn="ctr" indent="0" marL="0">
                        <a:buNone/>
                      </a:pPr>
                      <a:endParaRPr lang="en-US" sz="1200" dirty="0"/>
                    </a:p>
                    <a:p>
                      <a:pPr algn="ctr" indent="0" marL="0">
                        <a:buNone/>
                      </a:pPr>
                      <a:r>
                        <a:rPr lang="en-US" sz="700" dirty="0">
                          <a:solidFill>
                            <a:srgbClr val="F0D6D6"/>
                          </a:solidFill>
                          <a:latin typeface="Graphik TH" pitchFamily="34" charset="0"/>
                          <a:ea typeface="Graphik TH" pitchFamily="34" charset="-122"/>
                          <a:cs typeface="Graphik TH" pitchFamily="34" charset="-120"/>
                        </a:rPr>
                        <a:t>2,788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C00000"/>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12.6%</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15,007</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C6C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12.9%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31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3.7%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4,791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BEEEE"/>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38.8%</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49</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9.7%</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236</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4D3D3"/>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4</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2.5%</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2,073</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CF4F4"/>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0.0%</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A90"/>
                          </a:solidFill>
                          <a:latin typeface="Graphik TH" pitchFamily="34" charset="0"/>
                          <a:ea typeface="Graphik TH" pitchFamily="34" charset="-122"/>
                          <a:cs typeface="Graphik TH" pitchFamily="34" charset="-120"/>
                        </a:rPr>
                        <a:t>36.4%</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11</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233D"/>
                          </a:solidFill>
                          <a:latin typeface="Graphik TH" pitchFamily="34" charset="0"/>
                          <a:ea typeface="Graphik TH" pitchFamily="34" charset="-122"/>
                          <a:cs typeface="Graphik TH" pitchFamily="34" charset="-120"/>
                        </a:rPr>
                        <a:t>1.9%</a:t>
                      </a:r>
                      <a:pPr algn="ctr" indent="0" marL="0">
                        <a:buNone/>
                      </a:pPr>
                      <a:endParaRPr lang="en-US" sz="1200" dirty="0"/>
                    </a:p>
                    <a:p>
                      <a:pPr algn="ctr" indent="0" marL="0">
                        <a:buNone/>
                      </a:pPr>
                      <a:r>
                        <a:rPr lang="en-US" sz="700" dirty="0">
                          <a:solidFill>
                            <a:srgbClr val="6B7A90"/>
                          </a:solidFill>
                          <a:latin typeface="Graphik TH" pitchFamily="34" charset="0"/>
                          <a:ea typeface="Graphik TH" pitchFamily="34" charset="-122"/>
                          <a:cs typeface="Graphik TH" pitchFamily="34" charset="-120"/>
                        </a:rPr>
                        <a:t>1,408</a:t>
                      </a:r>
                      <a:endParaRPr lang="en-US" sz="1200" dirty="0"/>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DF6F6"/>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6B7A90"/>
                          </a:solidFill>
                          <a:latin typeface="Graphik TH" pitchFamily="34" charset="0"/>
                          <a:ea typeface="Graphik TH" pitchFamily="34" charset="-122"/>
                          <a:cs typeface="Graphik TH" pitchFamily="34" charset="-120"/>
                        </a:rPr>
                        <a:t>—</a:t>
                      </a:r>
                      <a:endParaRPr lang="en-US" sz="900" dirty="0">
                        <a:latin typeface="Graphik TH" charset="0"/>
                        <a:ea typeface="Graphik TH" charset="0"/>
                        <a:cs typeface="Graphik TH" charset="0"/>
                      </a:endParaRPr>
                    </a:p>
                  </a:txBody>
                  <a:tcPr marL="36576" marR="36576"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Move rate by stickiness</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new dimension, on its own</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1417320"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19.2%</a:t>
            </a:r>
            <a:endParaRPr lang="en-US" sz="1000" dirty="0"/>
          </a:p>
        </p:txBody>
      </p:sp>
      <p:sp>
        <p:nvSpPr>
          <p:cNvPr id="32" name="Text 29"/>
          <p:cNvSpPr/>
          <p:nvPr/>
        </p:nvSpPr>
        <p:spPr>
          <a:xfrm>
            <a:off x="10991088" y="343814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12,145</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128412"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15.3%</a:t>
            </a:r>
            <a:endParaRPr lang="en-US" sz="1000" dirty="0"/>
          </a:p>
        </p:txBody>
      </p:sp>
      <p:sp>
        <p:nvSpPr>
          <p:cNvPr id="36" name="Text 33"/>
          <p:cNvSpPr/>
          <p:nvPr/>
        </p:nvSpPr>
        <p:spPr>
          <a:xfrm>
            <a:off x="10991088" y="371246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26,435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22727"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4.4%</a:t>
            </a:r>
            <a:endParaRPr lang="en-US" sz="1000" dirty="0"/>
          </a:p>
        </p:txBody>
      </p:sp>
      <p:sp>
        <p:nvSpPr>
          <p:cNvPr id="40" name="Text 37"/>
          <p:cNvSpPr/>
          <p:nvPr/>
        </p:nvSpPr>
        <p:spPr>
          <a:xfrm>
            <a:off x="10991088" y="398678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5,107</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98128" cy="164592"/>
          </a:xfrm>
          <a:prstGeom prst="roundRect">
            <a:avLst>
              <a:gd name="adj" fmla="val 16667"/>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2.7%</a:t>
            </a:r>
            <a:endParaRPr lang="en-US" sz="1000" dirty="0"/>
          </a:p>
        </p:txBody>
      </p:sp>
      <p:sp>
        <p:nvSpPr>
          <p:cNvPr id="44" name="Text 41"/>
          <p:cNvSpPr/>
          <p:nvPr/>
        </p:nvSpPr>
        <p:spPr>
          <a:xfrm>
            <a:off x="10991088" y="426110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2,089</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41728" cy="164592"/>
          </a:xfrm>
          <a:prstGeom prst="roundRect">
            <a:avLst>
              <a:gd name="adj" fmla="val 19355"/>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1.9%</a:t>
            </a:r>
            <a:endParaRPr lang="en-US" sz="1000" dirty="0"/>
          </a:p>
        </p:txBody>
      </p:sp>
      <p:sp>
        <p:nvSpPr>
          <p:cNvPr id="48" name="Text 45"/>
          <p:cNvSpPr/>
          <p:nvPr/>
        </p:nvSpPr>
        <p:spPr>
          <a:xfrm>
            <a:off x="10991088" y="4535424"/>
            <a:ext cx="557784"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1,408</a:t>
            </a:r>
            <a:endParaRPr lang="en-US" sz="850" dirty="0"/>
          </a:p>
        </p:txBody>
      </p:sp>
      <p:sp>
        <p:nvSpPr>
          <p:cNvPr id="49" name="Shape 46"/>
          <p:cNvSpPr/>
          <p:nvPr/>
        </p:nvSpPr>
        <p:spPr>
          <a:xfrm>
            <a:off x="7735824" y="4809744"/>
            <a:ext cx="3813048" cy="274320"/>
          </a:xfrm>
          <a:prstGeom prst="roundRect">
            <a:avLst>
              <a:gd name="adj" fmla="val 30000"/>
            </a:avLst>
          </a:prstGeom>
          <a:solidFill>
            <a:srgbClr val="FBF0E6"/>
          </a:solidFill>
          <a:ln/>
        </p:spPr>
      </p:sp>
      <p:sp>
        <p:nvSpPr>
          <p:cNvPr id="50" name="Text 47"/>
          <p:cNvSpPr/>
          <p:nvPr/>
        </p:nvSpPr>
        <p:spPr>
          <a:xfrm>
            <a:off x="7882128" y="4809744"/>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&lt; 60: 18.2% of customers, 1.6% of pocket.</a:t>
            </a:r>
            <a:endParaRPr lang="en-US" sz="950" dirty="0"/>
          </a:p>
        </p:txBody>
      </p:sp>
      <p:sp>
        <p:nvSpPr>
          <p:cNvPr id="51" name="Shape 48"/>
          <p:cNvSpPr/>
          <p:nvPr/>
        </p:nvSpPr>
        <p:spPr>
          <a:xfrm>
            <a:off x="530352" y="5285232"/>
            <a:ext cx="11274552" cy="786384"/>
          </a:xfrm>
          <a:prstGeom prst="roundRect">
            <a:avLst>
              <a:gd name="adj" fmla="val 10465"/>
            </a:avLst>
          </a:prstGeom>
          <a:solidFill>
            <a:srgbClr val="FBF0E6"/>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98.7% of the Save Max balance that walked came from customers scoring stickiness ≥ 60</a:t>
            </a:r>
            <a:pPr indent="0" marL="0">
              <a:buNone/>
            </a:pPr>
            <a:r>
              <a:rPr lang="en-US" sz="1100" dirty="0">
                <a:solidFill>
                  <a:srgbClr val="16233D"/>
                </a:solidFill>
                <a:latin typeface="Graphik TH" pitchFamily="34" charset="0"/>
                <a:ea typeface="Graphik TH" pitchFamily="34" charset="-122"/>
                <a:cs typeface="Graphik TH" pitchFamily="34" charset="-120"/>
              </a:rPr>
              <a:t>  —  the low-stickiness corner the decision view flags as fragile holds 297 customers and THB 5.9m. Low stickiness here means dormant, not disloyal.</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Save Max holders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Prior THB 2.90bn → latest THB 3.01bn   ·   Change +111.3m (+3.8%)</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Every tier gained. The percentages reverse the ranking, but the low tiers grow from near-zero balances.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+111.3m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+71.4m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+4.0%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+1549.2%</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0.03m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95.5%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12,145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1094.9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1129.8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+2,871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26,435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1773.1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1844.5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+2,702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5,107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+8.8%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+571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2,089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2.48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+174.7%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+754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1,408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0.51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+1549.2%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47,184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2901.9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3013.2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+111.3m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691841"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31.3%</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+34.9</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64.2%</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+71.4</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57814" cy="164592"/>
          </a:xfrm>
          <a:prstGeom prst="roundRect">
            <a:avLst>
              <a:gd name="adj" fmla="val 47449"/>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2.6%</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31262" cy="164592"/>
          </a:xfrm>
          <a:prstGeom prst="roundRect">
            <a:avLst>
              <a:gd name="adj" fmla="val 87749"/>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1.4%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+1.6</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27432" cy="164592"/>
          </a:xfrm>
          <a:prstGeom prst="roundRect">
            <a:avLst>
              <a:gd name="adj" fmla="val 100000"/>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0.4%</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+0.5</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98.8%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+106.3m of the +111.3m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+174.7% and +1549.2%, but on prior balances of THB 0.90m and THB 0.03m. Rank the tiers on absolute change; read the percentages as a signal that dormant accounts are being funded again.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change by deposit stickiness — whole deposit base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*Whole funded deposit base (balance &gt; 0), all customers. Percentage change is shown for every tier — read it against the prior-balance column.</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Prior THB 5.48bn → latest THB 5.69bn   ·   Change +211.1m (+3.9%)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same shape at seven times the size — but a fifth of the growth now comes from the three lower tiers.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+211.1m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balance change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+3.9% across the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+99.5m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stickiness tier</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 largest contributor</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000" b="1" dirty="0">
                <a:solidFill>
                  <a:srgbClr val="E9A03B"/>
                </a:solidFill>
                <a:latin typeface="Graphik TH" pitchFamily="34" charset="0"/>
                <a:ea typeface="Graphik TH" pitchFamily="34" charset="-122"/>
                <a:cs typeface="Graphik TH" pitchFamily="34" charset="-120"/>
              </a:rPr>
              <a:t>+143.6%</a:t>
            </a:r>
            <a:endParaRPr lang="en-US" sz="20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Very Low stickiness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 a THB 5.35m prior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79.2%</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the gain</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came from stickiness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Total deposit balance by stickiness tier</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change per customer in THB</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 y="3474720"/>
          <a:ext cx="6281928" cy="914400"/>
        </p:xfrm>
        <a:graphic>
          <a:graphicData uri="http://schemas.openxmlformats.org/drawingml/2006/table">
            <a:tbl>
              <a:tblPr/>
              <a:tblGrid>
                <a:gridCol w="1024128"/>
                <a:gridCol w="868680"/>
                <a:gridCol w="868680"/>
                <a:gridCol w="868680"/>
                <a:gridCol w="868680"/>
                <a:gridCol w="905256"/>
                <a:gridCol w="877824"/>
              </a:tblGrid>
              <a:tr h="228600">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Stickiness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Latest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 %</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Chg / cust</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53,783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2663.8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2731.5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+67.6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102,005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2585.6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2685.1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+99.5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+975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96,426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236.3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30,592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11.3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+100.6%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+372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37,303</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+143.6%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+206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 tiers</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5688.6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+659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the total gain</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tier's contribution to +211.1m</a:t>
            </a:r>
            <a:endParaRPr lang="en-US" sz="950" dirty="0"/>
          </a:p>
        </p:txBody>
      </p:sp>
      <p:sp>
        <p:nvSpPr>
          <p:cNvPr id="29" name="Text 26"/>
          <p:cNvSpPr/>
          <p:nvPr/>
        </p:nvSpPr>
        <p:spPr>
          <a:xfrm>
            <a:off x="7735824" y="343814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30" name="Shape 27"/>
          <p:cNvSpPr/>
          <p:nvPr/>
        </p:nvSpPr>
        <p:spPr>
          <a:xfrm>
            <a:off x="8833104" y="3474720"/>
            <a:ext cx="963748" cy="164592"/>
          </a:xfrm>
          <a:prstGeom prst="roundRect">
            <a:avLst>
              <a:gd name="adj" fmla="val 16667"/>
            </a:avLst>
          </a:prstGeom>
          <a:solidFill>
            <a:srgbClr val="165A73"/>
          </a:solidFill>
          <a:ln/>
        </p:spPr>
      </p:sp>
      <p:sp>
        <p:nvSpPr>
          <p:cNvPr id="31" name="Text 28"/>
          <p:cNvSpPr/>
          <p:nvPr/>
        </p:nvSpPr>
        <p:spPr>
          <a:xfrm>
            <a:off x="10296144" y="3438144"/>
            <a:ext cx="658368" cy="237744"/>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32.0%</a:t>
            </a:r>
            <a:endParaRPr lang="en-US" sz="1000" dirty="0"/>
          </a:p>
        </p:txBody>
      </p:sp>
      <p:sp>
        <p:nvSpPr>
          <p:cNvPr id="32" name="Text 29"/>
          <p:cNvSpPr/>
          <p:nvPr/>
        </p:nvSpPr>
        <p:spPr>
          <a:xfrm>
            <a:off x="10972800" y="343814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+67.6</a:t>
            </a:r>
            <a:endParaRPr lang="en-US" sz="850" dirty="0"/>
          </a:p>
        </p:txBody>
      </p:sp>
      <p:sp>
        <p:nvSpPr>
          <p:cNvPr id="33" name="Text 30"/>
          <p:cNvSpPr/>
          <p:nvPr/>
        </p:nvSpPr>
        <p:spPr>
          <a:xfrm>
            <a:off x="7735824" y="371246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34" name="Shape 31"/>
          <p:cNvSpPr/>
          <p:nvPr/>
        </p:nvSpPr>
        <p:spPr>
          <a:xfrm>
            <a:off x="8833104" y="3749040"/>
            <a:ext cx="1417320" cy="164592"/>
          </a:xfrm>
          <a:prstGeom prst="roundRect">
            <a:avLst>
              <a:gd name="adj" fmla="val 16667"/>
            </a:avLst>
          </a:prstGeom>
          <a:solidFill>
            <a:srgbClr val="1E8E86"/>
          </a:solidFill>
          <a:ln/>
        </p:spPr>
      </p:sp>
      <p:sp>
        <p:nvSpPr>
          <p:cNvPr id="35" name="Text 32"/>
          <p:cNvSpPr/>
          <p:nvPr/>
        </p:nvSpPr>
        <p:spPr>
          <a:xfrm>
            <a:off x="10296144" y="3712464"/>
            <a:ext cx="658368" cy="237744"/>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47.1%</a:t>
            </a:r>
            <a:endParaRPr lang="en-US" sz="1000" dirty="0"/>
          </a:p>
        </p:txBody>
      </p:sp>
      <p:sp>
        <p:nvSpPr>
          <p:cNvPr id="36" name="Text 33"/>
          <p:cNvSpPr/>
          <p:nvPr/>
        </p:nvSpPr>
        <p:spPr>
          <a:xfrm>
            <a:off x="10972800" y="371246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+99.5</a:t>
            </a:r>
            <a:endParaRPr lang="en-US" sz="850" dirty="0"/>
          </a:p>
        </p:txBody>
      </p:sp>
      <p:sp>
        <p:nvSpPr>
          <p:cNvPr id="37" name="Text 34"/>
          <p:cNvSpPr/>
          <p:nvPr/>
        </p:nvSpPr>
        <p:spPr>
          <a:xfrm>
            <a:off x="7735824" y="398678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38" name="Shape 35"/>
          <p:cNvSpPr/>
          <p:nvPr/>
        </p:nvSpPr>
        <p:spPr>
          <a:xfrm>
            <a:off x="8833104" y="4023360"/>
            <a:ext cx="355231" cy="164592"/>
          </a:xfrm>
          <a:prstGeom prst="roundRect">
            <a:avLst>
              <a:gd name="adj" fmla="val 16667"/>
            </a:avLst>
          </a:prstGeom>
          <a:solidFill>
            <a:srgbClr val="3FB89F"/>
          </a:solidFill>
          <a:ln/>
        </p:spPr>
      </p:sp>
      <p:sp>
        <p:nvSpPr>
          <p:cNvPr id="39" name="Text 36"/>
          <p:cNvSpPr/>
          <p:nvPr/>
        </p:nvSpPr>
        <p:spPr>
          <a:xfrm>
            <a:off x="10296144" y="3986784"/>
            <a:ext cx="658368" cy="237744"/>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11.8%</a:t>
            </a:r>
            <a:endParaRPr lang="en-US" sz="1000" dirty="0"/>
          </a:p>
        </p:txBody>
      </p:sp>
      <p:sp>
        <p:nvSpPr>
          <p:cNvPr id="40" name="Text 37"/>
          <p:cNvSpPr/>
          <p:nvPr/>
        </p:nvSpPr>
        <p:spPr>
          <a:xfrm>
            <a:off x="10972800" y="398678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+24.9</a:t>
            </a:r>
            <a:endParaRPr lang="en-US" sz="850" dirty="0"/>
          </a:p>
        </p:txBody>
      </p:sp>
      <p:sp>
        <p:nvSpPr>
          <p:cNvPr id="41" name="Text 38"/>
          <p:cNvSpPr/>
          <p:nvPr/>
        </p:nvSpPr>
        <p:spPr>
          <a:xfrm>
            <a:off x="7735824" y="426110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42" name="Shape 39"/>
          <p:cNvSpPr/>
          <p:nvPr/>
        </p:nvSpPr>
        <p:spPr>
          <a:xfrm>
            <a:off x="8833104" y="4297680"/>
            <a:ext cx="162359" cy="164592"/>
          </a:xfrm>
          <a:prstGeom prst="roundRect">
            <a:avLst>
              <a:gd name="adj" fmla="val 16896"/>
            </a:avLst>
          </a:prstGeom>
          <a:solidFill>
            <a:srgbClr val="E9A03B"/>
          </a:solidFill>
          <a:ln/>
        </p:spPr>
      </p:sp>
      <p:sp>
        <p:nvSpPr>
          <p:cNvPr id="43" name="Text 40"/>
          <p:cNvSpPr/>
          <p:nvPr/>
        </p:nvSpPr>
        <p:spPr>
          <a:xfrm>
            <a:off x="10296144" y="4261104"/>
            <a:ext cx="658368" cy="237744"/>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5.4%</a:t>
            </a:r>
            <a:endParaRPr lang="en-US" sz="1000" dirty="0"/>
          </a:p>
        </p:txBody>
      </p:sp>
      <p:sp>
        <p:nvSpPr>
          <p:cNvPr id="44" name="Text 41"/>
          <p:cNvSpPr/>
          <p:nvPr/>
        </p:nvSpPr>
        <p:spPr>
          <a:xfrm>
            <a:off x="10972800" y="426110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+11.4</a:t>
            </a:r>
            <a:endParaRPr lang="en-US" sz="850" dirty="0"/>
          </a:p>
        </p:txBody>
      </p:sp>
      <p:sp>
        <p:nvSpPr>
          <p:cNvPr id="45" name="Text 42"/>
          <p:cNvSpPr/>
          <p:nvPr/>
        </p:nvSpPr>
        <p:spPr>
          <a:xfrm>
            <a:off x="7735824" y="4535424"/>
            <a:ext cx="1051560" cy="237744"/>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46" name="Shape 43"/>
          <p:cNvSpPr/>
          <p:nvPr/>
        </p:nvSpPr>
        <p:spPr>
          <a:xfrm>
            <a:off x="8833104" y="4572000"/>
            <a:ext cx="109383" cy="164592"/>
          </a:xfrm>
          <a:prstGeom prst="roundRect">
            <a:avLst>
              <a:gd name="adj" fmla="val 25079"/>
            </a:avLst>
          </a:prstGeom>
          <a:solidFill>
            <a:srgbClr val="8DA0B8"/>
          </a:solidFill>
          <a:ln/>
        </p:spPr>
      </p:sp>
      <p:sp>
        <p:nvSpPr>
          <p:cNvPr id="47" name="Text 44"/>
          <p:cNvSpPr/>
          <p:nvPr/>
        </p:nvSpPr>
        <p:spPr>
          <a:xfrm>
            <a:off x="10296144" y="4535424"/>
            <a:ext cx="658368" cy="237744"/>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3.6%</a:t>
            </a:r>
            <a:endParaRPr lang="en-US" sz="1000" dirty="0"/>
          </a:p>
        </p:txBody>
      </p:sp>
      <p:sp>
        <p:nvSpPr>
          <p:cNvPr id="48" name="Text 45"/>
          <p:cNvSpPr/>
          <p:nvPr/>
        </p:nvSpPr>
        <p:spPr>
          <a:xfrm>
            <a:off x="10972800" y="4535424"/>
            <a:ext cx="576072" cy="237744"/>
          </a:xfrm>
          <a:prstGeom prst="rect">
            <a:avLst/>
          </a:prstGeom>
          <a:noFill/>
          <a:ln/>
        </p:spPr>
        <p:txBody>
          <a:bodyPr wrap="square" lIns="0" tIns="0" rIns="0" bIns="0" rtlCol="0" anchor="ctr"/>
          <a:lstStyle/>
          <a:p>
            <a:pPr algn="r" indent="0" marL="0">
              <a:buNone/>
            </a:pPr>
            <a:r>
              <a:rPr lang="en-US" sz="850" dirty="0">
                <a:solidFill>
                  <a:srgbClr val="6B7A90"/>
                </a:solidFill>
                <a:latin typeface="Graphik TH" pitchFamily="34" charset="0"/>
                <a:ea typeface="Graphik TH" pitchFamily="34" charset="-122"/>
                <a:cs typeface="Graphik TH" pitchFamily="34" charset="-120"/>
              </a:rPr>
              <a:t>+7.7</a:t>
            </a:r>
            <a:endParaRPr lang="en-US" sz="850" dirty="0"/>
          </a:p>
        </p:txBody>
      </p:sp>
      <p:sp>
        <p:nvSpPr>
          <p:cNvPr id="49" name="Shape 46"/>
          <p:cNvSpPr/>
          <p:nvPr/>
        </p:nvSpPr>
        <p:spPr>
          <a:xfrm>
            <a:off x="7735824" y="4846320"/>
            <a:ext cx="3813048" cy="274320"/>
          </a:xfrm>
          <a:prstGeom prst="roundRect">
            <a:avLst>
              <a:gd name="adj" fmla="val 30000"/>
            </a:avLst>
          </a:prstGeom>
          <a:solidFill>
            <a:srgbClr val="FBF0E6"/>
          </a:solidFill>
          <a:ln/>
        </p:spPr>
      </p:sp>
      <p:sp>
        <p:nvSpPr>
          <p:cNvPr id="50" name="Text 47"/>
          <p:cNvSpPr/>
          <p:nvPr/>
        </p:nvSpPr>
        <p:spPr>
          <a:xfrm>
            <a:off x="7882128" y="4846320"/>
            <a:ext cx="3520440" cy="274320"/>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Stickiness ≥ 60 holds 95.8% of the prior balance.</a:t>
            </a:r>
            <a:endParaRPr lang="en-US" sz="950" dirty="0"/>
          </a:p>
        </p:txBody>
      </p:sp>
      <p:sp>
        <p:nvSpPr>
          <p:cNvPr id="51" name="Shape 48"/>
          <p:cNvSpPr/>
          <p:nvPr/>
        </p:nvSpPr>
        <p:spPr>
          <a:xfrm>
            <a:off x="530352" y="5285232"/>
            <a:ext cx="11274552" cy="786384"/>
          </a:xfrm>
          <a:prstGeom prst="roundRect">
            <a:avLst>
              <a:gd name="adj" fmla="val 10465"/>
            </a:avLst>
          </a:prstGeom>
          <a:solidFill>
            <a:srgbClr val="E8F6F3"/>
          </a:solidFill>
          <a:ln/>
        </p:spPr>
      </p:sp>
      <p:sp>
        <p:nvSpPr>
          <p:cNvPr id="52" name="Text 4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 60 contributed +167.1m of the +211.1m gain</a:t>
            </a:r>
            <a:pPr indent="0" marL="0">
              <a:buNone/>
            </a:pPr>
            <a:r>
              <a:rPr lang="en-US" sz="1100" dirty="0">
                <a:solidFill>
                  <a:srgbClr val="16233D"/>
                </a:solidFill>
                <a:latin typeface="Graphik TH" pitchFamily="34" charset="0"/>
                <a:ea typeface="Graphik TH" pitchFamily="34" charset="-122"/>
                <a:cs typeface="Graphik TH" pitchFamily="34" charset="-120"/>
              </a:rPr>
              <a:t>  —  the Low and Very Low tiers post +100.6% and +143.6%, but on prior balances of THB 11.3m and THB 5.35m. Rank the tiers on absolute change; read the percentages as a signal that dormant accounts are being funded again.</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inversion belongs to rate sensitivity, not stickiness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*Move rate = share of tier that emptied Save Max. Percentages suppressed below THB 5m prior balance; tiers under 50 customers greyed.</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Cohort 47,184   ·   Move rate 14.1%   ·   Balance +111.3m   ·   Stickiness ≥ 60 contributed +106.3m of it</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ranks both measures the same way; rate sensitivity ranks them in opposite directions.</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000" b="1" dirty="0">
                <a:solidFill>
                  <a:srgbClr val="00A896"/>
                </a:solidFill>
                <a:latin typeface="Graphik TH" pitchFamily="34" charset="0"/>
                <a:ea typeface="Graphik TH" pitchFamily="34" charset="-122"/>
                <a:cs typeface="Graphik TH" pitchFamily="34" charset="-120"/>
              </a:rPr>
              <a:t>1.9% → 19.2%</a:t>
            </a:r>
            <a:endParaRPr lang="en-US" sz="20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by stickiness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Very Low tier to Very High tier</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+106.3m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gained by stickiness ≥ 60</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96% of the cohort's total gain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49.5% / 12.9%</a:t>
            </a:r>
            <a:endParaRPr lang="en-US" sz="18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 rate, High / V.High</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score's top band moves least</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1800" b="1" dirty="0">
                <a:solidFill>
                  <a:srgbClr val="C00000"/>
                </a:solidFill>
                <a:latin typeface="Graphik TH" pitchFamily="34" charset="0"/>
                <a:ea typeface="Graphik TH" pitchFamily="34" charset="-122"/>
                <a:cs typeface="Graphik TH" pitchFamily="34" charset="-120"/>
              </a:rPr>
              <a:t>+144.7 / −36.0</a:t>
            </a:r>
            <a:endParaRPr lang="en-US" sz="18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change, THB m</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same pair, opposite directions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Deposit stickiness</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rise together — no inversion</a:t>
            </a:r>
            <a:endParaRPr lang="en-US" sz="950" dirty="0"/>
          </a:p>
        </p:txBody>
      </p:sp>
      <p:sp>
        <p:nvSpPr>
          <p:cNvPr id="25" name="Text 23"/>
          <p:cNvSpPr/>
          <p:nvPr/>
        </p:nvSpPr>
        <p:spPr>
          <a:xfrm>
            <a:off x="1755648"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26" name="Text 24"/>
          <p:cNvSpPr/>
          <p:nvPr/>
        </p:nvSpPr>
        <p:spPr>
          <a:xfrm>
            <a:off x="3547872"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27" name="Shape 25"/>
          <p:cNvSpPr/>
          <p:nvPr/>
        </p:nvSpPr>
        <p:spPr>
          <a:xfrm>
            <a:off x="4114800" y="3584448"/>
            <a:ext cx="10973" cy="1444752"/>
          </a:xfrm>
          <a:prstGeom prst="rect">
            <a:avLst/>
          </a:prstGeom>
          <a:solidFill>
            <a:srgbClr val="6B7A90"/>
          </a:solidFill>
          <a:ln/>
        </p:spPr>
      </p:sp>
      <p:sp>
        <p:nvSpPr>
          <p:cNvPr id="28" name="Text 26"/>
          <p:cNvSpPr/>
          <p:nvPr/>
        </p:nvSpPr>
        <p:spPr>
          <a:xfrm>
            <a:off x="786384"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29" name="Shape 27"/>
          <p:cNvSpPr/>
          <p:nvPr/>
        </p:nvSpPr>
        <p:spPr>
          <a:xfrm>
            <a:off x="1755648" y="3666744"/>
            <a:ext cx="1005840" cy="164592"/>
          </a:xfrm>
          <a:prstGeom prst="roundRect">
            <a:avLst>
              <a:gd name="adj" fmla="val 16667"/>
            </a:avLst>
          </a:prstGeom>
          <a:solidFill>
            <a:srgbClr val="165A73"/>
          </a:solidFill>
          <a:ln/>
        </p:spPr>
      </p:sp>
      <p:sp>
        <p:nvSpPr>
          <p:cNvPr id="30" name="Text 28"/>
          <p:cNvSpPr/>
          <p:nvPr/>
        </p:nvSpPr>
        <p:spPr>
          <a:xfrm>
            <a:off x="2798064"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19.2%</a:t>
            </a:r>
            <a:endParaRPr lang="en-US" sz="950" dirty="0"/>
          </a:p>
        </p:txBody>
      </p:sp>
      <p:sp>
        <p:nvSpPr>
          <p:cNvPr id="31" name="Shape 29"/>
          <p:cNvSpPr/>
          <p:nvPr/>
        </p:nvSpPr>
        <p:spPr>
          <a:xfrm>
            <a:off x="4114800" y="3666744"/>
            <a:ext cx="232102" cy="164592"/>
          </a:xfrm>
          <a:prstGeom prst="roundRect">
            <a:avLst>
              <a:gd name="adj" fmla="val 16667"/>
            </a:avLst>
          </a:prstGeom>
          <a:solidFill>
            <a:srgbClr val="1E8E86"/>
          </a:solidFill>
          <a:ln/>
        </p:spPr>
      </p:sp>
      <p:sp>
        <p:nvSpPr>
          <p:cNvPr id="32" name="Text 30"/>
          <p:cNvSpPr/>
          <p:nvPr/>
        </p:nvSpPr>
        <p:spPr>
          <a:xfrm>
            <a:off x="4626864" y="3621024"/>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+34.9 (+3.2%)</a:t>
            </a:r>
            <a:endParaRPr lang="en-US" sz="850" dirty="0"/>
          </a:p>
        </p:txBody>
      </p:sp>
      <p:sp>
        <p:nvSpPr>
          <p:cNvPr id="33" name="Text 31"/>
          <p:cNvSpPr/>
          <p:nvPr/>
        </p:nvSpPr>
        <p:spPr>
          <a:xfrm>
            <a:off x="786384"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34" name="Shape 32"/>
          <p:cNvSpPr/>
          <p:nvPr/>
        </p:nvSpPr>
        <p:spPr>
          <a:xfrm>
            <a:off x="1755648" y="3959352"/>
            <a:ext cx="800809" cy="164592"/>
          </a:xfrm>
          <a:prstGeom prst="roundRect">
            <a:avLst>
              <a:gd name="adj" fmla="val 16667"/>
            </a:avLst>
          </a:prstGeom>
          <a:solidFill>
            <a:srgbClr val="165A73"/>
          </a:solidFill>
          <a:ln/>
        </p:spPr>
      </p:sp>
      <p:sp>
        <p:nvSpPr>
          <p:cNvPr id="35" name="Text 33"/>
          <p:cNvSpPr/>
          <p:nvPr/>
        </p:nvSpPr>
        <p:spPr>
          <a:xfrm>
            <a:off x="2798064"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15.3%</a:t>
            </a:r>
            <a:endParaRPr lang="en-US" sz="950" dirty="0"/>
          </a:p>
        </p:txBody>
      </p:sp>
      <p:sp>
        <p:nvSpPr>
          <p:cNvPr id="36" name="Shape 34"/>
          <p:cNvSpPr/>
          <p:nvPr/>
        </p:nvSpPr>
        <p:spPr>
          <a:xfrm>
            <a:off x="4114800" y="3959352"/>
            <a:ext cx="475488" cy="164592"/>
          </a:xfrm>
          <a:prstGeom prst="roundRect">
            <a:avLst>
              <a:gd name="adj" fmla="val 16667"/>
            </a:avLst>
          </a:prstGeom>
          <a:solidFill>
            <a:srgbClr val="1E8E86"/>
          </a:solidFill>
          <a:ln/>
        </p:spPr>
      </p:sp>
      <p:sp>
        <p:nvSpPr>
          <p:cNvPr id="37" name="Text 35"/>
          <p:cNvSpPr/>
          <p:nvPr/>
        </p:nvSpPr>
        <p:spPr>
          <a:xfrm>
            <a:off x="4626864"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+71.4 (+4.0%)</a:t>
            </a:r>
            <a:endParaRPr lang="en-US" sz="850" dirty="0"/>
          </a:p>
        </p:txBody>
      </p:sp>
      <p:sp>
        <p:nvSpPr>
          <p:cNvPr id="38" name="Text 36"/>
          <p:cNvSpPr/>
          <p:nvPr/>
        </p:nvSpPr>
        <p:spPr>
          <a:xfrm>
            <a:off x="786384" y="4206240"/>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p>
        </p:txBody>
      </p:sp>
      <p:sp>
        <p:nvSpPr>
          <p:cNvPr id="39" name="Shape 37"/>
          <p:cNvSpPr/>
          <p:nvPr/>
        </p:nvSpPr>
        <p:spPr>
          <a:xfrm>
            <a:off x="1755648" y="4251960"/>
            <a:ext cx="229032" cy="164592"/>
          </a:xfrm>
          <a:prstGeom prst="roundRect">
            <a:avLst>
              <a:gd name="adj" fmla="val 16667"/>
            </a:avLst>
          </a:prstGeom>
          <a:solidFill>
            <a:srgbClr val="165A73"/>
          </a:solidFill>
          <a:ln/>
        </p:spPr>
      </p:sp>
      <p:sp>
        <p:nvSpPr>
          <p:cNvPr id="40" name="Text 38"/>
          <p:cNvSpPr/>
          <p:nvPr/>
        </p:nvSpPr>
        <p:spPr>
          <a:xfrm>
            <a:off x="2798064" y="4206240"/>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4.4%</a:t>
            </a:r>
            <a:endParaRPr lang="en-US" sz="950" dirty="0"/>
          </a:p>
        </p:txBody>
      </p:sp>
      <p:sp>
        <p:nvSpPr>
          <p:cNvPr id="41" name="Shape 39"/>
          <p:cNvSpPr/>
          <p:nvPr/>
        </p:nvSpPr>
        <p:spPr>
          <a:xfrm>
            <a:off x="4114800" y="4251960"/>
            <a:ext cx="27432" cy="164592"/>
          </a:xfrm>
          <a:prstGeom prst="roundRect">
            <a:avLst>
              <a:gd name="adj" fmla="val 100000"/>
            </a:avLst>
          </a:prstGeom>
          <a:solidFill>
            <a:srgbClr val="1E8E86"/>
          </a:solidFill>
          <a:ln/>
        </p:spPr>
      </p:sp>
      <p:sp>
        <p:nvSpPr>
          <p:cNvPr id="42" name="Text 40"/>
          <p:cNvSpPr/>
          <p:nvPr/>
        </p:nvSpPr>
        <p:spPr>
          <a:xfrm>
            <a:off x="4626864" y="4206240"/>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+2.9 (+8.8%)</a:t>
            </a:r>
            <a:endParaRPr lang="en-US" sz="850" dirty="0"/>
          </a:p>
        </p:txBody>
      </p:sp>
      <p:sp>
        <p:nvSpPr>
          <p:cNvPr id="43" name="Text 41"/>
          <p:cNvSpPr/>
          <p:nvPr/>
        </p:nvSpPr>
        <p:spPr>
          <a:xfrm>
            <a:off x="786384"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44" name="Shape 42"/>
          <p:cNvSpPr/>
          <p:nvPr/>
        </p:nvSpPr>
        <p:spPr>
          <a:xfrm>
            <a:off x="1755648" y="4544568"/>
            <a:ext cx="140607" cy="164592"/>
          </a:xfrm>
          <a:prstGeom prst="roundRect">
            <a:avLst>
              <a:gd name="adj" fmla="val 19510"/>
            </a:avLst>
          </a:prstGeom>
          <a:solidFill>
            <a:srgbClr val="165A73"/>
          </a:solidFill>
          <a:ln/>
        </p:spPr>
      </p:sp>
      <p:sp>
        <p:nvSpPr>
          <p:cNvPr id="45" name="Text 43"/>
          <p:cNvSpPr/>
          <p:nvPr/>
        </p:nvSpPr>
        <p:spPr>
          <a:xfrm>
            <a:off x="2798064"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2.7%</a:t>
            </a:r>
            <a:endParaRPr lang="en-US" sz="950" dirty="0"/>
          </a:p>
        </p:txBody>
      </p:sp>
      <p:sp>
        <p:nvSpPr>
          <p:cNvPr id="46" name="Shape 44"/>
          <p:cNvSpPr/>
          <p:nvPr/>
        </p:nvSpPr>
        <p:spPr>
          <a:xfrm>
            <a:off x="4114800" y="4544568"/>
            <a:ext cx="27432" cy="164592"/>
          </a:xfrm>
          <a:prstGeom prst="roundRect">
            <a:avLst>
              <a:gd name="adj" fmla="val 100000"/>
            </a:avLst>
          </a:prstGeom>
          <a:solidFill>
            <a:srgbClr val="1E8E86"/>
          </a:solidFill>
          <a:ln/>
        </p:spPr>
      </p:sp>
      <p:sp>
        <p:nvSpPr>
          <p:cNvPr id="47" name="Text 45"/>
          <p:cNvSpPr/>
          <p:nvPr/>
        </p:nvSpPr>
        <p:spPr>
          <a:xfrm>
            <a:off x="4626864"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+1.6</a:t>
            </a:r>
            <a:endParaRPr lang="en-US" sz="850" dirty="0"/>
          </a:p>
        </p:txBody>
      </p:sp>
      <p:sp>
        <p:nvSpPr>
          <p:cNvPr id="48" name="Text 46"/>
          <p:cNvSpPr/>
          <p:nvPr/>
        </p:nvSpPr>
        <p:spPr>
          <a:xfrm>
            <a:off x="786384"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49" name="Shape 47"/>
          <p:cNvSpPr/>
          <p:nvPr/>
        </p:nvSpPr>
        <p:spPr>
          <a:xfrm>
            <a:off x="1755648" y="4837176"/>
            <a:ext cx="100581" cy="164592"/>
          </a:xfrm>
          <a:prstGeom prst="roundRect">
            <a:avLst>
              <a:gd name="adj" fmla="val 27274"/>
            </a:avLst>
          </a:prstGeom>
          <a:solidFill>
            <a:srgbClr val="165A73"/>
          </a:solidFill>
          <a:ln/>
        </p:spPr>
      </p:sp>
      <p:sp>
        <p:nvSpPr>
          <p:cNvPr id="50" name="Text 48"/>
          <p:cNvSpPr/>
          <p:nvPr/>
        </p:nvSpPr>
        <p:spPr>
          <a:xfrm>
            <a:off x="2798064"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1.9%</a:t>
            </a:r>
            <a:endParaRPr lang="en-US" sz="950" dirty="0"/>
          </a:p>
        </p:txBody>
      </p:sp>
      <p:sp>
        <p:nvSpPr>
          <p:cNvPr id="51" name="Shape 49"/>
          <p:cNvSpPr/>
          <p:nvPr/>
        </p:nvSpPr>
        <p:spPr>
          <a:xfrm>
            <a:off x="4114800" y="4837176"/>
            <a:ext cx="27432" cy="164592"/>
          </a:xfrm>
          <a:prstGeom prst="roundRect">
            <a:avLst>
              <a:gd name="adj" fmla="val 100000"/>
            </a:avLst>
          </a:prstGeom>
          <a:solidFill>
            <a:srgbClr val="1E8E86"/>
          </a:solidFill>
          <a:ln/>
        </p:spPr>
      </p:sp>
      <p:sp>
        <p:nvSpPr>
          <p:cNvPr id="52" name="Text 50"/>
          <p:cNvSpPr/>
          <p:nvPr/>
        </p:nvSpPr>
        <p:spPr>
          <a:xfrm>
            <a:off x="4626864" y="4791456"/>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+0.5</a:t>
            </a:r>
            <a:endParaRPr lang="en-US" sz="850" dirty="0"/>
          </a:p>
        </p:txBody>
      </p:sp>
      <p:sp>
        <p:nvSpPr>
          <p:cNvPr id="53" name="Shape 51"/>
          <p:cNvSpPr/>
          <p:nvPr/>
        </p:nvSpPr>
        <p:spPr>
          <a:xfrm>
            <a:off x="6281928" y="2798064"/>
            <a:ext cx="5522976" cy="2322576"/>
          </a:xfrm>
          <a:prstGeom prst="roundRect">
            <a:avLst>
              <a:gd name="adj" fmla="val 3543"/>
            </a:avLst>
          </a:prstGeom>
          <a:solidFill>
            <a:srgbClr val="F1F4F9"/>
          </a:solidFill>
          <a:ln/>
        </p:spPr>
      </p:sp>
      <p:sp>
        <p:nvSpPr>
          <p:cNvPr id="54" name="Text 5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Rate sensitivity</a:t>
            </a:r>
            <a:endParaRPr lang="en-US" sz="1400" dirty="0"/>
          </a:p>
        </p:txBody>
      </p:sp>
      <p:sp>
        <p:nvSpPr>
          <p:cNvPr id="55" name="Text 5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The two measures point in opposite directions</a:t>
            </a:r>
            <a:endParaRPr lang="en-US" sz="950" dirty="0"/>
          </a:p>
        </p:txBody>
      </p:sp>
      <p:sp>
        <p:nvSpPr>
          <p:cNvPr id="56" name="Text 54"/>
          <p:cNvSpPr/>
          <p:nvPr/>
        </p:nvSpPr>
        <p:spPr>
          <a:xfrm>
            <a:off x="7507224" y="3383280"/>
            <a:ext cx="1481328" cy="182880"/>
          </a:xfrm>
          <a:prstGeom prst="rect">
            <a:avLst/>
          </a:prstGeom>
          <a:noFill/>
          <a:ln/>
        </p:spPr>
        <p:txBody>
          <a:bodyPr wrap="square" lIns="0" tIns="0" rIns="0" bIns="0" rtlCol="0" anchor="ctr"/>
          <a:lstStyle/>
          <a:p>
            <a:pPr indent="0" marL="0">
              <a:buNone/>
            </a:pPr>
            <a:r>
              <a:rPr lang="en-US" sz="850" b="1" dirty="0">
                <a:solidFill>
                  <a:srgbClr val="6B7A90"/>
                </a:solidFill>
                <a:latin typeface="Graphik TH" pitchFamily="34" charset="0"/>
                <a:ea typeface="Graphik TH" pitchFamily="34" charset="-122"/>
                <a:cs typeface="Graphik TH" pitchFamily="34" charset="-120"/>
              </a:rPr>
              <a:t>Move rate</a:t>
            </a:r>
            <a:endParaRPr lang="en-US" sz="850" dirty="0"/>
          </a:p>
        </p:txBody>
      </p:sp>
      <p:sp>
        <p:nvSpPr>
          <p:cNvPr id="57" name="Text 55"/>
          <p:cNvSpPr/>
          <p:nvPr/>
        </p:nvSpPr>
        <p:spPr>
          <a:xfrm>
            <a:off x="9299448" y="3383280"/>
            <a:ext cx="2249424" cy="182880"/>
          </a:xfrm>
          <a:prstGeom prst="rect">
            <a:avLst/>
          </a:prstGeom>
          <a:noFill/>
          <a:ln/>
        </p:spPr>
        <p:txBody>
          <a:bodyPr wrap="square" lIns="0" tIns="0" rIns="0" bIns="0" rtlCol="0" anchor="ctr"/>
          <a:lstStyle/>
          <a:p>
            <a:pPr algn="ctr" indent="0" marL="0">
              <a:buNone/>
            </a:pPr>
            <a:r>
              <a:rPr lang="en-US" sz="850" b="1" dirty="0">
                <a:solidFill>
                  <a:srgbClr val="6B7A90"/>
                </a:solidFill>
                <a:latin typeface="Graphik TH" pitchFamily="34" charset="0"/>
                <a:ea typeface="Graphik TH" pitchFamily="34" charset="-122"/>
                <a:cs typeface="Graphik TH" pitchFamily="34" charset="-120"/>
              </a:rPr>
              <a:t>Balance change, THB m</a:t>
            </a:r>
            <a:endParaRPr lang="en-US" sz="850" dirty="0"/>
          </a:p>
        </p:txBody>
      </p:sp>
      <p:sp>
        <p:nvSpPr>
          <p:cNvPr id="58" name="Shape 56"/>
          <p:cNvSpPr/>
          <p:nvPr/>
        </p:nvSpPr>
        <p:spPr>
          <a:xfrm>
            <a:off x="9866376" y="3584448"/>
            <a:ext cx="10973" cy="1444752"/>
          </a:xfrm>
          <a:prstGeom prst="rect">
            <a:avLst/>
          </a:prstGeom>
          <a:solidFill>
            <a:srgbClr val="6B7A90"/>
          </a:solidFill>
          <a:ln/>
        </p:spPr>
      </p:sp>
      <p:sp>
        <p:nvSpPr>
          <p:cNvPr id="59" name="Text 57"/>
          <p:cNvSpPr/>
          <p:nvPr/>
        </p:nvSpPr>
        <p:spPr>
          <a:xfrm>
            <a:off x="6537960" y="3621024"/>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p>
        </p:txBody>
      </p:sp>
      <p:sp>
        <p:nvSpPr>
          <p:cNvPr id="60" name="Shape 58"/>
          <p:cNvSpPr/>
          <p:nvPr/>
        </p:nvSpPr>
        <p:spPr>
          <a:xfrm>
            <a:off x="7507224" y="3666744"/>
            <a:ext cx="261280" cy="164592"/>
          </a:xfrm>
          <a:prstGeom prst="roundRect">
            <a:avLst>
              <a:gd name="adj" fmla="val 16667"/>
            </a:avLst>
          </a:prstGeom>
          <a:solidFill>
            <a:srgbClr val="165A73"/>
          </a:solidFill>
          <a:ln/>
        </p:spPr>
      </p:sp>
      <p:sp>
        <p:nvSpPr>
          <p:cNvPr id="61" name="Text 59"/>
          <p:cNvSpPr/>
          <p:nvPr/>
        </p:nvSpPr>
        <p:spPr>
          <a:xfrm>
            <a:off x="8549640" y="3621024"/>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12.9%</a:t>
            </a:r>
            <a:endParaRPr lang="en-US" sz="950" dirty="0"/>
          </a:p>
        </p:txBody>
      </p:sp>
      <p:sp>
        <p:nvSpPr>
          <p:cNvPr id="62" name="Shape 60"/>
          <p:cNvSpPr/>
          <p:nvPr/>
        </p:nvSpPr>
        <p:spPr>
          <a:xfrm>
            <a:off x="9748140" y="3666744"/>
            <a:ext cx="118236" cy="164592"/>
          </a:xfrm>
          <a:prstGeom prst="roundRect">
            <a:avLst>
              <a:gd name="adj" fmla="val 23201"/>
            </a:avLst>
          </a:prstGeom>
          <a:solidFill>
            <a:srgbClr val="C00000"/>
          </a:solidFill>
          <a:ln/>
        </p:spPr>
      </p:sp>
      <p:sp>
        <p:nvSpPr>
          <p:cNvPr id="63" name="Text 61"/>
          <p:cNvSpPr/>
          <p:nvPr/>
        </p:nvSpPr>
        <p:spPr>
          <a:xfrm>
            <a:off x="10378440" y="3621024"/>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−36.0 (−2.5%)</a:t>
            </a:r>
            <a:endParaRPr lang="en-US" sz="850" dirty="0"/>
          </a:p>
        </p:txBody>
      </p:sp>
      <p:sp>
        <p:nvSpPr>
          <p:cNvPr id="64" name="Text 62"/>
          <p:cNvSpPr/>
          <p:nvPr/>
        </p:nvSpPr>
        <p:spPr>
          <a:xfrm>
            <a:off x="6537960" y="3913632"/>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p>
        </p:txBody>
      </p:sp>
      <p:sp>
        <p:nvSpPr>
          <p:cNvPr id="65" name="Shape 63"/>
          <p:cNvSpPr/>
          <p:nvPr/>
        </p:nvSpPr>
        <p:spPr>
          <a:xfrm>
            <a:off x="7507224" y="3959352"/>
            <a:ext cx="1005840" cy="164592"/>
          </a:xfrm>
          <a:prstGeom prst="roundRect">
            <a:avLst>
              <a:gd name="adj" fmla="val 16667"/>
            </a:avLst>
          </a:prstGeom>
          <a:solidFill>
            <a:srgbClr val="165A73"/>
          </a:solidFill>
          <a:ln/>
        </p:spPr>
      </p:sp>
      <p:sp>
        <p:nvSpPr>
          <p:cNvPr id="66" name="Text 64"/>
          <p:cNvSpPr/>
          <p:nvPr/>
        </p:nvSpPr>
        <p:spPr>
          <a:xfrm>
            <a:off x="8549640" y="3913632"/>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49.5%</a:t>
            </a:r>
            <a:endParaRPr lang="en-US" sz="950" dirty="0"/>
          </a:p>
        </p:txBody>
      </p:sp>
      <p:sp>
        <p:nvSpPr>
          <p:cNvPr id="67" name="Shape 65"/>
          <p:cNvSpPr/>
          <p:nvPr/>
        </p:nvSpPr>
        <p:spPr>
          <a:xfrm>
            <a:off x="9866376" y="3959352"/>
            <a:ext cx="475488" cy="164592"/>
          </a:xfrm>
          <a:prstGeom prst="roundRect">
            <a:avLst>
              <a:gd name="adj" fmla="val 16667"/>
            </a:avLst>
          </a:prstGeom>
          <a:solidFill>
            <a:srgbClr val="1E8E86"/>
          </a:solidFill>
          <a:ln/>
        </p:spPr>
      </p:sp>
      <p:sp>
        <p:nvSpPr>
          <p:cNvPr id="68" name="Text 66"/>
          <p:cNvSpPr/>
          <p:nvPr/>
        </p:nvSpPr>
        <p:spPr>
          <a:xfrm>
            <a:off x="10378440" y="3913632"/>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+144.7 (+12.4%)</a:t>
            </a:r>
            <a:endParaRPr lang="en-US" sz="850" dirty="0"/>
          </a:p>
        </p:txBody>
      </p:sp>
      <p:sp>
        <p:nvSpPr>
          <p:cNvPr id="69" name="Text 67"/>
          <p:cNvSpPr/>
          <p:nvPr/>
        </p:nvSpPr>
        <p:spPr>
          <a:xfrm>
            <a:off x="6537960" y="4206240"/>
            <a:ext cx="914400" cy="256032"/>
          </a:xfrm>
          <a:prstGeom prst="rect">
            <a:avLst/>
          </a:prstGeom>
          <a:noFill/>
          <a:ln/>
        </p:spPr>
        <p:txBody>
          <a:bodyPr wrap="square" lIns="0" tIns="0" rIns="0" bIns="0" rtlCol="0" anchor="ctr"/>
          <a:lstStyle/>
          <a:p>
            <a:pPr indent="0" marL="0">
              <a:buNone/>
            </a:pPr>
            <a:r>
              <a:rPr lang="en-US" sz="950" b="1" dirty="0">
                <a:solidFill>
                  <a:srgbClr val="6B7A90"/>
                </a:solidFill>
                <a:latin typeface="Graphik TH" pitchFamily="34" charset="0"/>
                <a:ea typeface="Graphik TH" pitchFamily="34" charset="-122"/>
                <a:cs typeface="Graphik TH" pitchFamily="34" charset="-120"/>
              </a:rPr>
              <a:t>Medium</a:t>
            </a:r>
            <a:endParaRPr lang="en-US" sz="950" dirty="0"/>
          </a:p>
        </p:txBody>
      </p:sp>
      <p:sp>
        <p:nvSpPr>
          <p:cNvPr id="70" name="Shape 68"/>
          <p:cNvSpPr/>
          <p:nvPr/>
        </p:nvSpPr>
        <p:spPr>
          <a:xfrm>
            <a:off x="7507224" y="4251960"/>
            <a:ext cx="27432" cy="164592"/>
          </a:xfrm>
          <a:prstGeom prst="roundRect">
            <a:avLst>
              <a:gd name="adj" fmla="val 100000"/>
            </a:avLst>
          </a:prstGeom>
          <a:solidFill>
            <a:srgbClr val="D8DFE9"/>
          </a:solidFill>
          <a:ln/>
        </p:spPr>
      </p:sp>
      <p:sp>
        <p:nvSpPr>
          <p:cNvPr id="71" name="Text 69"/>
          <p:cNvSpPr/>
          <p:nvPr/>
        </p:nvSpPr>
        <p:spPr>
          <a:xfrm>
            <a:off x="8549640" y="4206240"/>
            <a:ext cx="512064" cy="256032"/>
          </a:xfrm>
          <a:prstGeom prst="rect">
            <a:avLst/>
          </a:prstGeom>
          <a:noFill/>
          <a:ln/>
        </p:spPr>
        <p:txBody>
          <a:bodyPr wrap="square" lIns="0" tIns="0" rIns="0" bIns="0" rtlCol="0" anchor="ctr"/>
          <a:lstStyle/>
          <a:p>
            <a:pPr algn="r" indent="0" marL="0">
              <a:buNone/>
            </a:pPr>
            <a:r>
              <a:rPr lang="en-US" sz="950" b="1" dirty="0">
                <a:solidFill>
                  <a:srgbClr val="6B7A90"/>
                </a:solidFill>
                <a:latin typeface="Graphik TH" pitchFamily="34" charset="0"/>
                <a:ea typeface="Graphik TH" pitchFamily="34" charset="-122"/>
                <a:cs typeface="Graphik TH" pitchFamily="34" charset="-120"/>
              </a:rPr>
              <a:t>0.0%</a:t>
            </a:r>
            <a:endParaRPr lang="en-US" sz="950" dirty="0"/>
          </a:p>
        </p:txBody>
      </p:sp>
      <p:sp>
        <p:nvSpPr>
          <p:cNvPr id="72" name="Shape 70"/>
          <p:cNvSpPr/>
          <p:nvPr/>
        </p:nvSpPr>
        <p:spPr>
          <a:xfrm>
            <a:off x="9838944" y="4251960"/>
            <a:ext cx="27432" cy="164592"/>
          </a:xfrm>
          <a:prstGeom prst="roundRect">
            <a:avLst>
              <a:gd name="adj" fmla="val 100000"/>
            </a:avLst>
          </a:prstGeom>
          <a:solidFill>
            <a:srgbClr val="D8DFE9"/>
          </a:solidFill>
          <a:ln/>
        </p:spPr>
      </p:sp>
      <p:sp>
        <p:nvSpPr>
          <p:cNvPr id="73" name="Text 71"/>
          <p:cNvSpPr/>
          <p:nvPr/>
        </p:nvSpPr>
        <p:spPr>
          <a:xfrm>
            <a:off x="10378440" y="4206240"/>
            <a:ext cx="1170432" cy="256032"/>
          </a:xfrm>
          <a:prstGeom prst="rect">
            <a:avLst/>
          </a:prstGeom>
          <a:noFill/>
          <a:ln/>
        </p:spPr>
        <p:txBody>
          <a:bodyPr wrap="square" lIns="0" tIns="0" rIns="0" bIns="0" rtlCol="0" anchor="ctr"/>
          <a:lstStyle/>
          <a:p>
            <a:pPr algn="r" indent="0" marL="0">
              <a:buNone/>
            </a:pPr>
            <a:r>
              <a:rPr lang="en-US" sz="850" b="1" dirty="0">
                <a:solidFill>
                  <a:srgbClr val="6B7A90"/>
                </a:solidFill>
                <a:latin typeface="Graphik TH" pitchFamily="34" charset="0"/>
                <a:ea typeface="Graphik TH" pitchFamily="34" charset="-122"/>
                <a:cs typeface="Graphik TH" pitchFamily="34" charset="-120"/>
              </a:rPr>
              <a:t>−1.2 (−19.0%)</a:t>
            </a:r>
            <a:endParaRPr lang="en-US" sz="850" dirty="0"/>
          </a:p>
        </p:txBody>
      </p:sp>
      <p:sp>
        <p:nvSpPr>
          <p:cNvPr id="74" name="Text 72"/>
          <p:cNvSpPr/>
          <p:nvPr/>
        </p:nvSpPr>
        <p:spPr>
          <a:xfrm>
            <a:off x="6537960" y="4498848"/>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p>
        </p:txBody>
      </p:sp>
      <p:sp>
        <p:nvSpPr>
          <p:cNvPr id="75" name="Shape 73"/>
          <p:cNvSpPr/>
          <p:nvPr/>
        </p:nvSpPr>
        <p:spPr>
          <a:xfrm>
            <a:off x="7507224" y="4544568"/>
            <a:ext cx="145648" cy="164592"/>
          </a:xfrm>
          <a:prstGeom prst="roundRect">
            <a:avLst>
              <a:gd name="adj" fmla="val 18834"/>
            </a:avLst>
          </a:prstGeom>
          <a:solidFill>
            <a:srgbClr val="165A73"/>
          </a:solidFill>
          <a:ln/>
        </p:spPr>
      </p:sp>
      <p:sp>
        <p:nvSpPr>
          <p:cNvPr id="76" name="Text 74"/>
          <p:cNvSpPr/>
          <p:nvPr/>
        </p:nvSpPr>
        <p:spPr>
          <a:xfrm>
            <a:off x="8549640" y="4498848"/>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7.2%</a:t>
            </a:r>
            <a:endParaRPr lang="en-US" sz="950" dirty="0"/>
          </a:p>
        </p:txBody>
      </p:sp>
      <p:sp>
        <p:nvSpPr>
          <p:cNvPr id="77" name="Shape 75"/>
          <p:cNvSpPr/>
          <p:nvPr/>
        </p:nvSpPr>
        <p:spPr>
          <a:xfrm>
            <a:off x="9866376" y="4544568"/>
            <a:ext cx="48491" cy="164592"/>
          </a:xfrm>
          <a:prstGeom prst="roundRect">
            <a:avLst>
              <a:gd name="adj" fmla="val 56571"/>
            </a:avLst>
          </a:prstGeom>
          <a:solidFill>
            <a:srgbClr val="1E8E86"/>
          </a:solidFill>
          <a:ln/>
        </p:spPr>
      </p:sp>
      <p:sp>
        <p:nvSpPr>
          <p:cNvPr id="78" name="Text 76"/>
          <p:cNvSpPr/>
          <p:nvPr/>
        </p:nvSpPr>
        <p:spPr>
          <a:xfrm>
            <a:off x="10378440" y="4498848"/>
            <a:ext cx="1170432" cy="256032"/>
          </a:xfrm>
          <a:prstGeom prst="rect">
            <a:avLst/>
          </a:prstGeom>
          <a:noFill/>
          <a:ln/>
        </p:spPr>
        <p:txBody>
          <a:bodyPr wrap="square" lIns="0" tIns="0" rIns="0" bIns="0" rtlCol="0" anchor="ct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+14.8 (+11.4%)</a:t>
            </a:r>
            <a:endParaRPr lang="en-US" sz="850" dirty="0"/>
          </a:p>
        </p:txBody>
      </p:sp>
      <p:sp>
        <p:nvSpPr>
          <p:cNvPr id="79" name="Text 77"/>
          <p:cNvSpPr/>
          <p:nvPr/>
        </p:nvSpPr>
        <p:spPr>
          <a:xfrm>
            <a:off x="6537960" y="4791456"/>
            <a:ext cx="914400" cy="256032"/>
          </a:xfrm>
          <a:prstGeom prst="rect">
            <a:avLst/>
          </a:prstGeom>
          <a:noFill/>
          <a:ln/>
        </p:spPr>
        <p:txBody>
          <a:bodyPr wrap="square" lIns="0" tIns="0" rIns="0" bIns="0" rtlCol="0" anchor="ctr"/>
          <a:lstStyle/>
          <a:p>
            <a:pPr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p>
        </p:txBody>
      </p:sp>
      <p:sp>
        <p:nvSpPr>
          <p:cNvPr id="80" name="Shape 78"/>
          <p:cNvSpPr/>
          <p:nvPr/>
        </p:nvSpPr>
        <p:spPr>
          <a:xfrm>
            <a:off x="7507224" y="4837176"/>
            <a:ext cx="195870" cy="164592"/>
          </a:xfrm>
          <a:prstGeom prst="roundRect">
            <a:avLst>
              <a:gd name="adj" fmla="val 16667"/>
            </a:avLst>
          </a:prstGeom>
          <a:solidFill>
            <a:srgbClr val="165A73"/>
          </a:solidFill>
          <a:ln/>
        </p:spPr>
      </p:sp>
      <p:sp>
        <p:nvSpPr>
          <p:cNvPr id="81" name="Text 79"/>
          <p:cNvSpPr/>
          <p:nvPr/>
        </p:nvSpPr>
        <p:spPr>
          <a:xfrm>
            <a:off x="8549640" y="4791456"/>
            <a:ext cx="512064" cy="256032"/>
          </a:xfrm>
          <a:prstGeom prst="rect">
            <a:avLst/>
          </a:prstGeom>
          <a:noFill/>
          <a:ln/>
        </p:spPr>
        <p:txBody>
          <a:bodyPr wrap="square" lIns="0" tIns="0" rIns="0" bIns="0" rtlCol="0" anchor="ctr"/>
          <a:lstStyle/>
          <a:p>
            <a:pPr algn="r" indent="0" marL="0">
              <a:buNone/>
            </a:pPr>
            <a:r>
              <a:rPr lang="en-US" sz="950" b="1" dirty="0">
                <a:solidFill>
                  <a:srgbClr val="165A73"/>
                </a:solidFill>
                <a:latin typeface="Graphik TH" pitchFamily="34" charset="0"/>
                <a:ea typeface="Graphik TH" pitchFamily="34" charset="-122"/>
                <a:cs typeface="Graphik TH" pitchFamily="34" charset="-120"/>
              </a:rPr>
              <a:t>9.6%</a:t>
            </a:r>
            <a:endParaRPr lang="en-US" sz="950" dirty="0"/>
          </a:p>
        </p:txBody>
      </p:sp>
      <p:sp>
        <p:nvSpPr>
          <p:cNvPr id="82" name="Shape 80"/>
          <p:cNvSpPr/>
          <p:nvPr/>
        </p:nvSpPr>
        <p:spPr>
          <a:xfrm>
            <a:off x="9830126" y="4837176"/>
            <a:ext cx="36250" cy="164592"/>
          </a:xfrm>
          <a:prstGeom prst="roundRect">
            <a:avLst>
              <a:gd name="adj" fmla="val 75674"/>
            </a:avLst>
          </a:prstGeom>
          <a:solidFill>
            <a:srgbClr val="C00000"/>
          </a:solidFill>
          <a:ln/>
        </p:spPr>
      </p:sp>
      <p:sp>
        <p:nvSpPr>
          <p:cNvPr id="83" name="Text 81"/>
          <p:cNvSpPr/>
          <p:nvPr/>
        </p:nvSpPr>
        <p:spPr>
          <a:xfrm>
            <a:off x="10378440" y="4791456"/>
            <a:ext cx="1170432" cy="256032"/>
          </a:xfrm>
          <a:prstGeom prst="rect">
            <a:avLst/>
          </a:prstGeom>
          <a:noFill/>
          <a:ln/>
        </p:spPr>
        <p:txBody>
          <a:bodyPr wrap="square" lIns="0" tIns="0" rIns="0" bIns="0" rtlCol="0" anchor="ctr"/>
          <a:lstStyle/>
          <a:p>
            <a:pPr algn="r" indent="0" marL="0">
              <a:buNone/>
            </a:pPr>
            <a:r>
              <a:rPr lang="en-US" sz="850" b="1" dirty="0">
                <a:solidFill>
                  <a:srgbClr val="C00000"/>
                </a:solidFill>
                <a:latin typeface="Graphik TH" pitchFamily="34" charset="0"/>
                <a:ea typeface="Graphik TH" pitchFamily="34" charset="-122"/>
                <a:cs typeface="Graphik TH" pitchFamily="34" charset="-120"/>
              </a:rPr>
              <a:t>−11.0 (−6.9%)</a:t>
            </a:r>
            <a:endParaRPr lang="en-US" sz="850" dirty="0"/>
          </a:p>
        </p:txBody>
      </p:sp>
      <p:sp>
        <p:nvSpPr>
          <p:cNvPr id="84" name="Shape 82"/>
          <p:cNvSpPr/>
          <p:nvPr/>
        </p:nvSpPr>
        <p:spPr>
          <a:xfrm>
            <a:off x="530352" y="5285232"/>
            <a:ext cx="11274552" cy="786384"/>
          </a:xfrm>
          <a:prstGeom prst="roundRect">
            <a:avLst>
              <a:gd name="adj" fmla="val 10465"/>
            </a:avLst>
          </a:prstGeom>
          <a:solidFill>
            <a:srgbClr val="FBF0E6"/>
          </a:solidFill>
          <a:ln/>
        </p:spPr>
      </p:sp>
      <p:sp>
        <p:nvSpPr>
          <p:cNvPr id="85" name="Text 8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Only rate sensitivity needs re-fitting</a:t>
            </a:r>
            <a:pPr indent="0" marL="0">
              <a:buNone/>
            </a:pPr>
            <a:r>
              <a:rPr lang="en-US" sz="1100" dirty="0">
                <a:solidFill>
                  <a:srgbClr val="16233D"/>
                </a:solidFill>
                <a:latin typeface="Graphik TH" pitchFamily="34" charset="0"/>
                <a:ea typeface="Graphik TH" pitchFamily="34" charset="-122"/>
                <a:cs typeface="Graphik TH" pitchFamily="34" charset="-120"/>
              </a:rPr>
              <a:t>  —  stickiness is directionally consistent, though its alignment is partly a size effect: the two top tiers hold 98.8% of the balance. Rate sensitivity genuinely diverges — High gained +144.7m while Very High lost 36.0m.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Balance movement by stickiness and score confidence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balance &gt; 0. Movement is measured against a band of 5% of prior balance or THB 100, whichever is larger. Each bar runs to 100%.</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Increase 16.4%   ·   Stable 55.5%   ·   Decrease 28.1%   ·   Net +THB 211.1m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decreases on 41.5% of customers but only 13.8% of its balance.</a:t>
            </a:r>
            <a:endParaRPr lang="en-US" sz="1400" dirty="0"/>
          </a:p>
        </p:txBody>
      </p:sp>
      <p:sp>
        <p:nvSpPr>
          <p:cNvPr id="6" name="Shape 4"/>
          <p:cNvSpPr/>
          <p:nvPr/>
        </p:nvSpPr>
        <p:spPr>
          <a:xfrm>
            <a:off x="548640" y="1609344"/>
            <a:ext cx="146304" cy="118872"/>
          </a:xfrm>
          <a:prstGeom prst="rect">
            <a:avLst/>
          </a:prstGeom>
          <a:solidFill>
            <a:srgbClr val="1E8E86"/>
          </a:solidFill>
          <a:ln/>
        </p:spPr>
      </p:sp>
      <p:sp>
        <p:nvSpPr>
          <p:cNvPr id="7" name="Text 5"/>
          <p:cNvSpPr/>
          <p:nvPr/>
        </p:nvSpPr>
        <p:spPr>
          <a:xfrm>
            <a:off x="74980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Increase</a:t>
            </a:r>
            <a:endParaRPr lang="en-US" sz="850" dirty="0"/>
          </a:p>
        </p:txBody>
      </p:sp>
      <p:sp>
        <p:nvSpPr>
          <p:cNvPr id="8" name="Shape 6"/>
          <p:cNvSpPr/>
          <p:nvPr/>
        </p:nvSpPr>
        <p:spPr>
          <a:xfrm>
            <a:off x="1600200" y="1609344"/>
            <a:ext cx="146304" cy="118872"/>
          </a:xfrm>
          <a:prstGeom prst="rect">
            <a:avLst/>
          </a:prstGeom>
          <a:solidFill>
            <a:srgbClr val="8DA0B8"/>
          </a:solidFill>
          <a:ln/>
        </p:spPr>
      </p:sp>
      <p:sp>
        <p:nvSpPr>
          <p:cNvPr id="9" name="Text 7"/>
          <p:cNvSpPr/>
          <p:nvPr/>
        </p:nvSpPr>
        <p:spPr>
          <a:xfrm>
            <a:off x="180136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Stable</a:t>
            </a:r>
            <a:endParaRPr lang="en-US" sz="850" dirty="0"/>
          </a:p>
        </p:txBody>
      </p:sp>
      <p:sp>
        <p:nvSpPr>
          <p:cNvPr id="10" name="Shape 8"/>
          <p:cNvSpPr/>
          <p:nvPr/>
        </p:nvSpPr>
        <p:spPr>
          <a:xfrm>
            <a:off x="2651760" y="1609344"/>
            <a:ext cx="146304" cy="118872"/>
          </a:xfrm>
          <a:prstGeom prst="rect">
            <a:avLst/>
          </a:prstGeom>
          <a:solidFill>
            <a:srgbClr val="C00000"/>
          </a:solidFill>
          <a:ln/>
        </p:spPr>
      </p:sp>
      <p:sp>
        <p:nvSpPr>
          <p:cNvPr id="11" name="Text 9"/>
          <p:cNvSpPr/>
          <p:nvPr/>
        </p:nvSpPr>
        <p:spPr>
          <a:xfrm>
            <a:off x="2852928" y="1563624"/>
            <a:ext cx="868680" cy="201168"/>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Decrease</a:t>
            </a:r>
            <a:endParaRPr lang="en-US" sz="850" dirty="0"/>
          </a:p>
        </p:txBody>
      </p:sp>
      <p:sp>
        <p:nvSpPr>
          <p:cNvPr id="12" name="Shape 10"/>
          <p:cNvSpPr/>
          <p:nvPr/>
        </p:nvSpPr>
        <p:spPr>
          <a:xfrm>
            <a:off x="530352" y="1792224"/>
            <a:ext cx="3621024" cy="2212848"/>
          </a:xfrm>
          <a:prstGeom prst="roundRect">
            <a:avLst>
              <a:gd name="adj" fmla="val 3719"/>
            </a:avLst>
          </a:prstGeom>
          <a:solidFill>
            <a:srgbClr val="F1F4F9"/>
          </a:solidFill>
          <a:ln/>
        </p:spPr>
      </p:sp>
      <p:sp>
        <p:nvSpPr>
          <p:cNvPr id="13" name="Text 11"/>
          <p:cNvSpPr/>
          <p:nvPr/>
        </p:nvSpPr>
        <p:spPr>
          <a:xfrm>
            <a:off x="749808" y="1883664"/>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4" name="Text 12"/>
          <p:cNvSpPr/>
          <p:nvPr/>
        </p:nvSpPr>
        <p:spPr>
          <a:xfrm>
            <a:off x="749808"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132,837 customers</a:t>
            </a:r>
            <a:endParaRPr lang="en-US" sz="800" dirty="0"/>
          </a:p>
        </p:txBody>
      </p:sp>
      <p:sp>
        <p:nvSpPr>
          <p:cNvPr id="15" name="Text 13"/>
          <p:cNvSpPr/>
          <p:nvPr/>
        </p:nvSpPr>
        <p:spPr>
          <a:xfrm>
            <a:off x="749808"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 name="Shape 14"/>
          <p:cNvSpPr/>
          <p:nvPr/>
        </p:nvSpPr>
        <p:spPr>
          <a:xfrm>
            <a:off x="1572768" y="2418588"/>
            <a:ext cx="718563" cy="155448"/>
          </a:xfrm>
          <a:prstGeom prst="rect">
            <a:avLst/>
          </a:prstGeom>
          <a:solidFill>
            <a:srgbClr val="1E8E86"/>
          </a:solidFill>
          <a:ln/>
        </p:spPr>
      </p:sp>
      <p:sp>
        <p:nvSpPr>
          <p:cNvPr id="17" name="Text 15"/>
          <p:cNvSpPr/>
          <p:nvPr/>
        </p:nvSpPr>
        <p:spPr>
          <a:xfrm>
            <a:off x="1572768" y="2418588"/>
            <a:ext cx="7185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18" name="Shape 16"/>
          <p:cNvSpPr/>
          <p:nvPr/>
        </p:nvSpPr>
        <p:spPr>
          <a:xfrm>
            <a:off x="2291331" y="2418588"/>
            <a:ext cx="505336" cy="155448"/>
          </a:xfrm>
          <a:prstGeom prst="rect">
            <a:avLst/>
          </a:prstGeom>
          <a:solidFill>
            <a:srgbClr val="8DA0B8"/>
          </a:solidFill>
          <a:ln/>
        </p:spPr>
      </p:sp>
      <p:sp>
        <p:nvSpPr>
          <p:cNvPr id="19" name="Text 17"/>
          <p:cNvSpPr/>
          <p:nvPr/>
        </p:nvSpPr>
        <p:spPr>
          <a:xfrm>
            <a:off x="2291331" y="2418588"/>
            <a:ext cx="50533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20" name="Shape 18"/>
          <p:cNvSpPr/>
          <p:nvPr/>
        </p:nvSpPr>
        <p:spPr>
          <a:xfrm>
            <a:off x="2796668" y="2418588"/>
            <a:ext cx="1135252" cy="155448"/>
          </a:xfrm>
          <a:prstGeom prst="rect">
            <a:avLst/>
          </a:prstGeom>
          <a:solidFill>
            <a:srgbClr val="C00000"/>
          </a:solidFill>
          <a:ln/>
        </p:spPr>
      </p:sp>
      <p:sp>
        <p:nvSpPr>
          <p:cNvPr id="21" name="Text 19"/>
          <p:cNvSpPr/>
          <p:nvPr/>
        </p:nvSpPr>
        <p:spPr>
          <a:xfrm>
            <a:off x="2796668" y="2418588"/>
            <a:ext cx="113525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48%</a:t>
            </a:r>
            <a:endParaRPr lang="en-US" sz="750" dirty="0"/>
          </a:p>
        </p:txBody>
      </p:sp>
      <p:sp>
        <p:nvSpPr>
          <p:cNvPr id="22" name="Text 20"/>
          <p:cNvSpPr/>
          <p:nvPr/>
        </p:nvSpPr>
        <p:spPr>
          <a:xfrm>
            <a:off x="749808"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3" name="Shape 21"/>
          <p:cNvSpPr/>
          <p:nvPr/>
        </p:nvSpPr>
        <p:spPr>
          <a:xfrm>
            <a:off x="1572768" y="2711196"/>
            <a:ext cx="346446" cy="155448"/>
          </a:xfrm>
          <a:prstGeom prst="rect">
            <a:avLst/>
          </a:prstGeom>
          <a:solidFill>
            <a:srgbClr val="1E8E86"/>
          </a:solidFill>
          <a:ln/>
        </p:spPr>
      </p:sp>
      <p:sp>
        <p:nvSpPr>
          <p:cNvPr id="24" name="Text 22"/>
          <p:cNvSpPr/>
          <p:nvPr/>
        </p:nvSpPr>
        <p:spPr>
          <a:xfrm>
            <a:off x="1572768" y="2711196"/>
            <a:ext cx="34644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25" name="Shape 23"/>
          <p:cNvSpPr/>
          <p:nvPr/>
        </p:nvSpPr>
        <p:spPr>
          <a:xfrm>
            <a:off x="1919214" y="2711196"/>
            <a:ext cx="1395105" cy="155448"/>
          </a:xfrm>
          <a:prstGeom prst="rect">
            <a:avLst/>
          </a:prstGeom>
          <a:solidFill>
            <a:srgbClr val="8DA0B8"/>
          </a:solidFill>
          <a:ln/>
        </p:spPr>
      </p:sp>
      <p:sp>
        <p:nvSpPr>
          <p:cNvPr id="26" name="Text 24"/>
          <p:cNvSpPr/>
          <p:nvPr/>
        </p:nvSpPr>
        <p:spPr>
          <a:xfrm>
            <a:off x="1919214" y="2711196"/>
            <a:ext cx="139510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59%</a:t>
            </a:r>
            <a:endParaRPr lang="en-US" sz="750" dirty="0"/>
          </a:p>
        </p:txBody>
      </p:sp>
      <p:sp>
        <p:nvSpPr>
          <p:cNvPr id="27" name="Shape 25"/>
          <p:cNvSpPr/>
          <p:nvPr/>
        </p:nvSpPr>
        <p:spPr>
          <a:xfrm>
            <a:off x="3314319" y="2711196"/>
            <a:ext cx="617601" cy="155448"/>
          </a:xfrm>
          <a:prstGeom prst="rect">
            <a:avLst/>
          </a:prstGeom>
          <a:solidFill>
            <a:srgbClr val="C00000"/>
          </a:solidFill>
          <a:ln/>
        </p:spPr>
      </p:sp>
      <p:sp>
        <p:nvSpPr>
          <p:cNvPr id="28" name="Text 26"/>
          <p:cNvSpPr/>
          <p:nvPr/>
        </p:nvSpPr>
        <p:spPr>
          <a:xfrm>
            <a:off x="3314319" y="2711196"/>
            <a:ext cx="61760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29" name="Text 27"/>
          <p:cNvSpPr/>
          <p:nvPr/>
        </p:nvSpPr>
        <p:spPr>
          <a:xfrm>
            <a:off x="749808"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30" name="Shape 28"/>
          <p:cNvSpPr/>
          <p:nvPr/>
        </p:nvSpPr>
        <p:spPr>
          <a:xfrm>
            <a:off x="1572768" y="3003804"/>
            <a:ext cx="330642" cy="155448"/>
          </a:xfrm>
          <a:prstGeom prst="rect">
            <a:avLst/>
          </a:prstGeom>
          <a:solidFill>
            <a:srgbClr val="1E8E86"/>
          </a:solidFill>
          <a:ln/>
        </p:spPr>
      </p:sp>
      <p:sp>
        <p:nvSpPr>
          <p:cNvPr id="31" name="Text 29"/>
          <p:cNvSpPr/>
          <p:nvPr/>
        </p:nvSpPr>
        <p:spPr>
          <a:xfrm>
            <a:off x="1572768" y="3003804"/>
            <a:ext cx="33064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32" name="Shape 30"/>
          <p:cNvSpPr/>
          <p:nvPr/>
        </p:nvSpPr>
        <p:spPr>
          <a:xfrm>
            <a:off x="1903410" y="3003804"/>
            <a:ext cx="1568259" cy="155448"/>
          </a:xfrm>
          <a:prstGeom prst="rect">
            <a:avLst/>
          </a:prstGeom>
          <a:solidFill>
            <a:srgbClr val="8DA0B8"/>
          </a:solidFill>
          <a:ln/>
        </p:spPr>
      </p:sp>
      <p:sp>
        <p:nvSpPr>
          <p:cNvPr id="33" name="Text 31"/>
          <p:cNvSpPr/>
          <p:nvPr/>
        </p:nvSpPr>
        <p:spPr>
          <a:xfrm>
            <a:off x="1903410" y="3003804"/>
            <a:ext cx="156825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34" name="Shape 32"/>
          <p:cNvSpPr/>
          <p:nvPr/>
        </p:nvSpPr>
        <p:spPr>
          <a:xfrm>
            <a:off x="3471669" y="3003804"/>
            <a:ext cx="460251" cy="155448"/>
          </a:xfrm>
          <a:prstGeom prst="rect">
            <a:avLst/>
          </a:prstGeom>
          <a:solidFill>
            <a:srgbClr val="C00000"/>
          </a:solidFill>
          <a:ln/>
        </p:spPr>
      </p:sp>
      <p:sp>
        <p:nvSpPr>
          <p:cNvPr id="35" name="Text 33"/>
          <p:cNvSpPr/>
          <p:nvPr/>
        </p:nvSpPr>
        <p:spPr>
          <a:xfrm>
            <a:off x="3471669" y="3003804"/>
            <a:ext cx="4602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20%</a:t>
            </a:r>
            <a:endParaRPr lang="en-US" sz="750" dirty="0"/>
          </a:p>
        </p:txBody>
      </p:sp>
      <p:sp>
        <p:nvSpPr>
          <p:cNvPr id="36" name="Text 34"/>
          <p:cNvSpPr/>
          <p:nvPr/>
        </p:nvSpPr>
        <p:spPr>
          <a:xfrm>
            <a:off x="749808"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37" name="Shape 35"/>
          <p:cNvSpPr/>
          <p:nvPr/>
        </p:nvSpPr>
        <p:spPr>
          <a:xfrm>
            <a:off x="1572768" y="3296412"/>
            <a:ext cx="349022" cy="155448"/>
          </a:xfrm>
          <a:prstGeom prst="rect">
            <a:avLst/>
          </a:prstGeom>
          <a:solidFill>
            <a:srgbClr val="1E8E86"/>
          </a:solidFill>
          <a:ln/>
        </p:spPr>
      </p:sp>
      <p:sp>
        <p:nvSpPr>
          <p:cNvPr id="38" name="Text 36"/>
          <p:cNvSpPr/>
          <p:nvPr/>
        </p:nvSpPr>
        <p:spPr>
          <a:xfrm>
            <a:off x="1572768" y="3296412"/>
            <a:ext cx="3490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39" name="Shape 37"/>
          <p:cNvSpPr/>
          <p:nvPr/>
        </p:nvSpPr>
        <p:spPr>
          <a:xfrm>
            <a:off x="1921790" y="3296412"/>
            <a:ext cx="1668163" cy="155448"/>
          </a:xfrm>
          <a:prstGeom prst="rect">
            <a:avLst/>
          </a:prstGeom>
          <a:solidFill>
            <a:srgbClr val="8DA0B8"/>
          </a:solidFill>
          <a:ln/>
        </p:spPr>
      </p:sp>
      <p:sp>
        <p:nvSpPr>
          <p:cNvPr id="40" name="Text 38"/>
          <p:cNvSpPr/>
          <p:nvPr/>
        </p:nvSpPr>
        <p:spPr>
          <a:xfrm>
            <a:off x="1921790" y="3296412"/>
            <a:ext cx="166816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71%</a:t>
            </a:r>
            <a:endParaRPr lang="en-US" sz="750" dirty="0"/>
          </a:p>
        </p:txBody>
      </p:sp>
      <p:sp>
        <p:nvSpPr>
          <p:cNvPr id="41" name="Shape 39"/>
          <p:cNvSpPr/>
          <p:nvPr/>
        </p:nvSpPr>
        <p:spPr>
          <a:xfrm>
            <a:off x="3589953" y="3296412"/>
            <a:ext cx="341967" cy="155448"/>
          </a:xfrm>
          <a:prstGeom prst="rect">
            <a:avLst/>
          </a:prstGeom>
          <a:solidFill>
            <a:srgbClr val="C00000"/>
          </a:solidFill>
          <a:ln/>
        </p:spPr>
      </p:sp>
      <p:sp>
        <p:nvSpPr>
          <p:cNvPr id="42" name="Text 40"/>
          <p:cNvSpPr/>
          <p:nvPr/>
        </p:nvSpPr>
        <p:spPr>
          <a:xfrm>
            <a:off x="3589953" y="3296412"/>
            <a:ext cx="341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43" name="Text 41"/>
          <p:cNvSpPr/>
          <p:nvPr/>
        </p:nvSpPr>
        <p:spPr>
          <a:xfrm>
            <a:off x="749808"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44" name="Shape 42"/>
          <p:cNvSpPr/>
          <p:nvPr/>
        </p:nvSpPr>
        <p:spPr>
          <a:xfrm>
            <a:off x="1572768" y="3589020"/>
            <a:ext cx="214293" cy="155448"/>
          </a:xfrm>
          <a:prstGeom prst="rect">
            <a:avLst/>
          </a:prstGeom>
          <a:solidFill>
            <a:srgbClr val="1E8E86"/>
          </a:solidFill>
          <a:ln/>
        </p:spPr>
      </p:sp>
      <p:sp>
        <p:nvSpPr>
          <p:cNvPr id="45" name="Shape 43"/>
          <p:cNvSpPr/>
          <p:nvPr/>
        </p:nvSpPr>
        <p:spPr>
          <a:xfrm>
            <a:off x="1787061" y="3589020"/>
            <a:ext cx="1995551" cy="155448"/>
          </a:xfrm>
          <a:prstGeom prst="rect">
            <a:avLst/>
          </a:prstGeom>
          <a:solidFill>
            <a:srgbClr val="8DA0B8"/>
          </a:solidFill>
          <a:ln/>
        </p:spPr>
      </p:sp>
      <p:sp>
        <p:nvSpPr>
          <p:cNvPr id="46" name="Text 44"/>
          <p:cNvSpPr/>
          <p:nvPr/>
        </p:nvSpPr>
        <p:spPr>
          <a:xfrm>
            <a:off x="1787061" y="3589020"/>
            <a:ext cx="199555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85%</a:t>
            </a:r>
            <a:endParaRPr lang="en-US" sz="750" dirty="0"/>
          </a:p>
        </p:txBody>
      </p:sp>
      <p:sp>
        <p:nvSpPr>
          <p:cNvPr id="47" name="Shape 45"/>
          <p:cNvSpPr/>
          <p:nvPr/>
        </p:nvSpPr>
        <p:spPr>
          <a:xfrm>
            <a:off x="3782611" y="3589020"/>
            <a:ext cx="149309" cy="155448"/>
          </a:xfrm>
          <a:prstGeom prst="rect">
            <a:avLst/>
          </a:prstGeom>
          <a:solidFill>
            <a:srgbClr val="C00000"/>
          </a:solidFill>
          <a:ln/>
        </p:spPr>
      </p:sp>
      <p:sp>
        <p:nvSpPr>
          <p:cNvPr id="48" name="Shape 46"/>
          <p:cNvSpPr/>
          <p:nvPr/>
        </p:nvSpPr>
        <p:spPr>
          <a:xfrm>
            <a:off x="4352544" y="1792224"/>
            <a:ext cx="3621024" cy="2212848"/>
          </a:xfrm>
          <a:prstGeom prst="roundRect">
            <a:avLst>
              <a:gd name="adj" fmla="val 3719"/>
            </a:avLst>
          </a:prstGeom>
          <a:solidFill>
            <a:srgbClr val="F1F4F9"/>
          </a:solidFill>
          <a:ln/>
        </p:spPr>
      </p:sp>
      <p:sp>
        <p:nvSpPr>
          <p:cNvPr id="49" name="Text 47"/>
          <p:cNvSpPr/>
          <p:nvPr/>
        </p:nvSpPr>
        <p:spPr>
          <a:xfrm>
            <a:off x="4572000" y="1883664"/>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50" name="Text 48"/>
          <p:cNvSpPr/>
          <p:nvPr/>
        </p:nvSpPr>
        <p:spPr>
          <a:xfrm>
            <a:off x="4572000"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178,290 customers</a:t>
            </a:r>
            <a:endParaRPr lang="en-US" sz="800" dirty="0"/>
          </a:p>
        </p:txBody>
      </p:sp>
      <p:sp>
        <p:nvSpPr>
          <p:cNvPr id="51" name="Text 49"/>
          <p:cNvSpPr/>
          <p:nvPr/>
        </p:nvSpPr>
        <p:spPr>
          <a:xfrm>
            <a:off x="4572000"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52" name="Shape 50"/>
          <p:cNvSpPr/>
          <p:nvPr/>
        </p:nvSpPr>
        <p:spPr>
          <a:xfrm>
            <a:off x="5394960" y="2418588"/>
            <a:ext cx="499274" cy="155448"/>
          </a:xfrm>
          <a:prstGeom prst="rect">
            <a:avLst/>
          </a:prstGeom>
          <a:solidFill>
            <a:srgbClr val="1E8E86"/>
          </a:solidFill>
          <a:ln/>
        </p:spPr>
      </p:sp>
      <p:sp>
        <p:nvSpPr>
          <p:cNvPr id="53" name="Text 51"/>
          <p:cNvSpPr/>
          <p:nvPr/>
        </p:nvSpPr>
        <p:spPr>
          <a:xfrm>
            <a:off x="5394960" y="2418588"/>
            <a:ext cx="49927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54" name="Shape 52"/>
          <p:cNvSpPr/>
          <p:nvPr/>
        </p:nvSpPr>
        <p:spPr>
          <a:xfrm>
            <a:off x="5894234" y="2418588"/>
            <a:ext cx="834270" cy="155448"/>
          </a:xfrm>
          <a:prstGeom prst="rect">
            <a:avLst/>
          </a:prstGeom>
          <a:solidFill>
            <a:srgbClr val="8DA0B8"/>
          </a:solidFill>
          <a:ln/>
        </p:spPr>
      </p:sp>
      <p:sp>
        <p:nvSpPr>
          <p:cNvPr id="55" name="Text 53"/>
          <p:cNvSpPr/>
          <p:nvPr/>
        </p:nvSpPr>
        <p:spPr>
          <a:xfrm>
            <a:off x="5894234" y="2418588"/>
            <a:ext cx="834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56" name="Shape 54"/>
          <p:cNvSpPr/>
          <p:nvPr/>
        </p:nvSpPr>
        <p:spPr>
          <a:xfrm>
            <a:off x="6728503" y="2418588"/>
            <a:ext cx="1025609" cy="155448"/>
          </a:xfrm>
          <a:prstGeom prst="rect">
            <a:avLst/>
          </a:prstGeom>
          <a:solidFill>
            <a:srgbClr val="C00000"/>
          </a:solidFill>
          <a:ln/>
        </p:spPr>
      </p:sp>
      <p:sp>
        <p:nvSpPr>
          <p:cNvPr id="57" name="Text 55"/>
          <p:cNvSpPr/>
          <p:nvPr/>
        </p:nvSpPr>
        <p:spPr>
          <a:xfrm>
            <a:off x="6728503" y="2418588"/>
            <a:ext cx="10256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43%</a:t>
            </a:r>
            <a:endParaRPr lang="en-US" sz="750" dirty="0"/>
          </a:p>
        </p:txBody>
      </p:sp>
      <p:sp>
        <p:nvSpPr>
          <p:cNvPr id="58" name="Text 56"/>
          <p:cNvSpPr/>
          <p:nvPr/>
        </p:nvSpPr>
        <p:spPr>
          <a:xfrm>
            <a:off x="4572000"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59" name="Shape 57"/>
          <p:cNvSpPr/>
          <p:nvPr/>
        </p:nvSpPr>
        <p:spPr>
          <a:xfrm>
            <a:off x="5394960" y="2711196"/>
            <a:ext cx="486955" cy="155448"/>
          </a:xfrm>
          <a:prstGeom prst="rect">
            <a:avLst/>
          </a:prstGeom>
          <a:solidFill>
            <a:srgbClr val="1E8E86"/>
          </a:solidFill>
          <a:ln/>
        </p:spPr>
      </p:sp>
      <p:sp>
        <p:nvSpPr>
          <p:cNvPr id="60" name="Text 58"/>
          <p:cNvSpPr/>
          <p:nvPr/>
        </p:nvSpPr>
        <p:spPr>
          <a:xfrm>
            <a:off x="5394960" y="2711196"/>
            <a:ext cx="4869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61" name="Shape 59"/>
          <p:cNvSpPr/>
          <p:nvPr/>
        </p:nvSpPr>
        <p:spPr>
          <a:xfrm>
            <a:off x="5881915" y="2711196"/>
            <a:ext cx="845693" cy="155448"/>
          </a:xfrm>
          <a:prstGeom prst="rect">
            <a:avLst/>
          </a:prstGeom>
          <a:solidFill>
            <a:srgbClr val="8DA0B8"/>
          </a:solidFill>
          <a:ln/>
        </p:spPr>
      </p:sp>
      <p:sp>
        <p:nvSpPr>
          <p:cNvPr id="62" name="Text 60"/>
          <p:cNvSpPr/>
          <p:nvPr/>
        </p:nvSpPr>
        <p:spPr>
          <a:xfrm>
            <a:off x="5881915" y="2711196"/>
            <a:ext cx="84569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63" name="Shape 61"/>
          <p:cNvSpPr/>
          <p:nvPr/>
        </p:nvSpPr>
        <p:spPr>
          <a:xfrm>
            <a:off x="6727608" y="2711196"/>
            <a:ext cx="1026504" cy="155448"/>
          </a:xfrm>
          <a:prstGeom prst="rect">
            <a:avLst/>
          </a:prstGeom>
          <a:solidFill>
            <a:srgbClr val="C00000"/>
          </a:solidFill>
          <a:ln/>
        </p:spPr>
      </p:sp>
      <p:sp>
        <p:nvSpPr>
          <p:cNvPr id="64" name="Text 62"/>
          <p:cNvSpPr/>
          <p:nvPr/>
        </p:nvSpPr>
        <p:spPr>
          <a:xfrm>
            <a:off x="6727608" y="2711196"/>
            <a:ext cx="102650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65" name="Text 63"/>
          <p:cNvSpPr/>
          <p:nvPr/>
        </p:nvSpPr>
        <p:spPr>
          <a:xfrm>
            <a:off x="4572000"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66" name="Shape 64"/>
          <p:cNvSpPr/>
          <p:nvPr/>
        </p:nvSpPr>
        <p:spPr>
          <a:xfrm>
            <a:off x="5394960" y="3003804"/>
            <a:ext cx="261697" cy="155448"/>
          </a:xfrm>
          <a:prstGeom prst="rect">
            <a:avLst/>
          </a:prstGeom>
          <a:solidFill>
            <a:srgbClr val="1E8E86"/>
          </a:solidFill>
          <a:ln/>
        </p:spPr>
      </p:sp>
      <p:sp>
        <p:nvSpPr>
          <p:cNvPr id="67" name="Shape 65"/>
          <p:cNvSpPr/>
          <p:nvPr/>
        </p:nvSpPr>
        <p:spPr>
          <a:xfrm>
            <a:off x="5656657" y="3003804"/>
            <a:ext cx="1554031" cy="155448"/>
          </a:xfrm>
          <a:prstGeom prst="rect">
            <a:avLst/>
          </a:prstGeom>
          <a:solidFill>
            <a:srgbClr val="8DA0B8"/>
          </a:solidFill>
          <a:ln/>
        </p:spPr>
      </p:sp>
      <p:sp>
        <p:nvSpPr>
          <p:cNvPr id="68" name="Text 66"/>
          <p:cNvSpPr/>
          <p:nvPr/>
        </p:nvSpPr>
        <p:spPr>
          <a:xfrm>
            <a:off x="5656657" y="3003804"/>
            <a:ext cx="15540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66%</a:t>
            </a:r>
            <a:endParaRPr lang="en-US" sz="750" dirty="0"/>
          </a:p>
        </p:txBody>
      </p:sp>
      <p:sp>
        <p:nvSpPr>
          <p:cNvPr id="69" name="Shape 67"/>
          <p:cNvSpPr/>
          <p:nvPr/>
        </p:nvSpPr>
        <p:spPr>
          <a:xfrm>
            <a:off x="7210689" y="3003804"/>
            <a:ext cx="543423" cy="155448"/>
          </a:xfrm>
          <a:prstGeom prst="rect">
            <a:avLst/>
          </a:prstGeom>
          <a:solidFill>
            <a:srgbClr val="C00000"/>
          </a:solidFill>
          <a:ln/>
        </p:spPr>
      </p:sp>
      <p:sp>
        <p:nvSpPr>
          <p:cNvPr id="70" name="Text 68"/>
          <p:cNvSpPr/>
          <p:nvPr/>
        </p:nvSpPr>
        <p:spPr>
          <a:xfrm>
            <a:off x="7210689" y="3003804"/>
            <a:ext cx="5434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71" name="Text 69"/>
          <p:cNvSpPr/>
          <p:nvPr/>
        </p:nvSpPr>
        <p:spPr>
          <a:xfrm>
            <a:off x="4572000"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72" name="Shape 70"/>
          <p:cNvSpPr/>
          <p:nvPr/>
        </p:nvSpPr>
        <p:spPr>
          <a:xfrm>
            <a:off x="5394960" y="3296412"/>
            <a:ext cx="492967" cy="155448"/>
          </a:xfrm>
          <a:prstGeom prst="rect">
            <a:avLst/>
          </a:prstGeom>
          <a:solidFill>
            <a:srgbClr val="1E8E86"/>
          </a:solidFill>
          <a:ln/>
        </p:spPr>
      </p:sp>
      <p:sp>
        <p:nvSpPr>
          <p:cNvPr id="73" name="Text 71"/>
          <p:cNvSpPr/>
          <p:nvPr/>
        </p:nvSpPr>
        <p:spPr>
          <a:xfrm>
            <a:off x="5394960" y="3296412"/>
            <a:ext cx="4929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74" name="Shape 72"/>
          <p:cNvSpPr/>
          <p:nvPr/>
        </p:nvSpPr>
        <p:spPr>
          <a:xfrm>
            <a:off x="5887927" y="3296412"/>
            <a:ext cx="1260224" cy="155448"/>
          </a:xfrm>
          <a:prstGeom prst="rect">
            <a:avLst/>
          </a:prstGeom>
          <a:solidFill>
            <a:srgbClr val="8DA0B8"/>
          </a:solidFill>
          <a:ln/>
        </p:spPr>
      </p:sp>
      <p:sp>
        <p:nvSpPr>
          <p:cNvPr id="75" name="Text 73"/>
          <p:cNvSpPr/>
          <p:nvPr/>
        </p:nvSpPr>
        <p:spPr>
          <a:xfrm>
            <a:off x="5887927" y="3296412"/>
            <a:ext cx="126022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53%</a:t>
            </a:r>
            <a:endParaRPr lang="en-US" sz="750" dirty="0"/>
          </a:p>
        </p:txBody>
      </p:sp>
      <p:sp>
        <p:nvSpPr>
          <p:cNvPr id="76" name="Shape 74"/>
          <p:cNvSpPr/>
          <p:nvPr/>
        </p:nvSpPr>
        <p:spPr>
          <a:xfrm>
            <a:off x="7148150" y="3296412"/>
            <a:ext cx="605962" cy="155448"/>
          </a:xfrm>
          <a:prstGeom prst="rect">
            <a:avLst/>
          </a:prstGeom>
          <a:solidFill>
            <a:srgbClr val="C00000"/>
          </a:solidFill>
          <a:ln/>
        </p:spPr>
      </p:sp>
      <p:sp>
        <p:nvSpPr>
          <p:cNvPr id="77" name="Text 75"/>
          <p:cNvSpPr/>
          <p:nvPr/>
        </p:nvSpPr>
        <p:spPr>
          <a:xfrm>
            <a:off x="7148150" y="3296412"/>
            <a:ext cx="60596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78" name="Text 76"/>
          <p:cNvSpPr/>
          <p:nvPr/>
        </p:nvSpPr>
        <p:spPr>
          <a:xfrm>
            <a:off x="4572000"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79" name="Shape 77"/>
          <p:cNvSpPr/>
          <p:nvPr/>
        </p:nvSpPr>
        <p:spPr>
          <a:xfrm>
            <a:off x="5394960" y="3589020"/>
            <a:ext cx="239230" cy="155448"/>
          </a:xfrm>
          <a:prstGeom prst="rect">
            <a:avLst/>
          </a:prstGeom>
          <a:solidFill>
            <a:srgbClr val="1E8E86"/>
          </a:solidFill>
          <a:ln/>
        </p:spPr>
      </p:sp>
      <p:sp>
        <p:nvSpPr>
          <p:cNvPr id="80" name="Shape 78"/>
          <p:cNvSpPr/>
          <p:nvPr/>
        </p:nvSpPr>
        <p:spPr>
          <a:xfrm>
            <a:off x="5634190" y="3589020"/>
            <a:ext cx="1952850" cy="155448"/>
          </a:xfrm>
          <a:prstGeom prst="rect">
            <a:avLst/>
          </a:prstGeom>
          <a:solidFill>
            <a:srgbClr val="8DA0B8"/>
          </a:solidFill>
          <a:ln/>
        </p:spPr>
      </p:sp>
      <p:sp>
        <p:nvSpPr>
          <p:cNvPr id="81" name="Text 79"/>
          <p:cNvSpPr/>
          <p:nvPr/>
        </p:nvSpPr>
        <p:spPr>
          <a:xfrm>
            <a:off x="5634190" y="3589020"/>
            <a:ext cx="195285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83%</a:t>
            </a:r>
            <a:endParaRPr lang="en-US" sz="750" dirty="0"/>
          </a:p>
        </p:txBody>
      </p:sp>
      <p:sp>
        <p:nvSpPr>
          <p:cNvPr id="82" name="Shape 80"/>
          <p:cNvSpPr/>
          <p:nvPr/>
        </p:nvSpPr>
        <p:spPr>
          <a:xfrm>
            <a:off x="7587040" y="3589020"/>
            <a:ext cx="167072" cy="155448"/>
          </a:xfrm>
          <a:prstGeom prst="rect">
            <a:avLst/>
          </a:prstGeom>
          <a:solidFill>
            <a:srgbClr val="C00000"/>
          </a:solidFill>
          <a:ln/>
        </p:spPr>
      </p:sp>
      <p:sp>
        <p:nvSpPr>
          <p:cNvPr id="83" name="Shape 81"/>
          <p:cNvSpPr/>
          <p:nvPr/>
        </p:nvSpPr>
        <p:spPr>
          <a:xfrm>
            <a:off x="8174736" y="1792224"/>
            <a:ext cx="3621024" cy="2212848"/>
          </a:xfrm>
          <a:prstGeom prst="roundRect">
            <a:avLst>
              <a:gd name="adj" fmla="val 3719"/>
            </a:avLst>
          </a:prstGeom>
          <a:solidFill>
            <a:srgbClr val="F1F4F9"/>
          </a:solidFill>
          <a:ln/>
        </p:spPr>
      </p:sp>
      <p:sp>
        <p:nvSpPr>
          <p:cNvPr id="84" name="Text 82"/>
          <p:cNvSpPr/>
          <p:nvPr/>
        </p:nvSpPr>
        <p:spPr>
          <a:xfrm>
            <a:off x="8394192" y="1883664"/>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85" name="Text 83"/>
          <p:cNvSpPr/>
          <p:nvPr/>
        </p:nvSpPr>
        <p:spPr>
          <a:xfrm>
            <a:off x="8394192" y="2103120"/>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customers  ·  8,982 customers</a:t>
            </a:r>
            <a:endParaRPr lang="en-US" sz="800" dirty="0"/>
          </a:p>
        </p:txBody>
      </p:sp>
      <p:sp>
        <p:nvSpPr>
          <p:cNvPr id="86" name="Text 84"/>
          <p:cNvSpPr/>
          <p:nvPr/>
        </p:nvSpPr>
        <p:spPr>
          <a:xfrm>
            <a:off x="8394192" y="23774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87" name="Shape 85"/>
          <p:cNvSpPr/>
          <p:nvPr/>
        </p:nvSpPr>
        <p:spPr>
          <a:xfrm>
            <a:off x="9217152" y="2418588"/>
            <a:ext cx="525429" cy="155448"/>
          </a:xfrm>
          <a:prstGeom prst="rect">
            <a:avLst/>
          </a:prstGeom>
          <a:solidFill>
            <a:srgbClr val="1E8E86"/>
          </a:solidFill>
          <a:ln/>
        </p:spPr>
      </p:sp>
      <p:sp>
        <p:nvSpPr>
          <p:cNvPr id="88" name="Text 86"/>
          <p:cNvSpPr/>
          <p:nvPr/>
        </p:nvSpPr>
        <p:spPr>
          <a:xfrm>
            <a:off x="9217152" y="2418588"/>
            <a:ext cx="52542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22%</a:t>
            </a:r>
            <a:endParaRPr lang="en-US" sz="750" dirty="0"/>
          </a:p>
        </p:txBody>
      </p:sp>
      <p:sp>
        <p:nvSpPr>
          <p:cNvPr id="89" name="Shape 87"/>
          <p:cNvSpPr/>
          <p:nvPr/>
        </p:nvSpPr>
        <p:spPr>
          <a:xfrm>
            <a:off x="9742581" y="2418588"/>
            <a:ext cx="291759" cy="155448"/>
          </a:xfrm>
          <a:prstGeom prst="rect">
            <a:avLst/>
          </a:prstGeom>
          <a:solidFill>
            <a:srgbClr val="8DA0B8"/>
          </a:solidFill>
          <a:ln/>
        </p:spPr>
      </p:sp>
      <p:sp>
        <p:nvSpPr>
          <p:cNvPr id="90" name="Shape 88"/>
          <p:cNvSpPr/>
          <p:nvPr/>
        </p:nvSpPr>
        <p:spPr>
          <a:xfrm>
            <a:off x="10034340" y="2418588"/>
            <a:ext cx="1541964" cy="155448"/>
          </a:xfrm>
          <a:prstGeom prst="rect">
            <a:avLst/>
          </a:prstGeom>
          <a:solidFill>
            <a:srgbClr val="C00000"/>
          </a:solidFill>
          <a:ln/>
        </p:spPr>
      </p:sp>
      <p:sp>
        <p:nvSpPr>
          <p:cNvPr id="91" name="Text 89"/>
          <p:cNvSpPr/>
          <p:nvPr/>
        </p:nvSpPr>
        <p:spPr>
          <a:xfrm>
            <a:off x="10034340" y="2418588"/>
            <a:ext cx="154196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92" name="Text 90"/>
          <p:cNvSpPr/>
          <p:nvPr/>
        </p:nvSpPr>
        <p:spPr>
          <a:xfrm>
            <a:off x="8394192" y="26700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93" name="Shape 91"/>
          <p:cNvSpPr/>
          <p:nvPr/>
        </p:nvSpPr>
        <p:spPr>
          <a:xfrm>
            <a:off x="9217152" y="2711196"/>
            <a:ext cx="536835" cy="155448"/>
          </a:xfrm>
          <a:prstGeom prst="rect">
            <a:avLst/>
          </a:prstGeom>
          <a:solidFill>
            <a:srgbClr val="1E8E86"/>
          </a:solidFill>
          <a:ln/>
        </p:spPr>
      </p:sp>
      <p:sp>
        <p:nvSpPr>
          <p:cNvPr id="94" name="Text 92"/>
          <p:cNvSpPr/>
          <p:nvPr/>
        </p:nvSpPr>
        <p:spPr>
          <a:xfrm>
            <a:off x="9217152" y="2711196"/>
            <a:ext cx="53683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95" name="Shape 93"/>
          <p:cNvSpPr/>
          <p:nvPr/>
        </p:nvSpPr>
        <p:spPr>
          <a:xfrm>
            <a:off x="9753987" y="2711196"/>
            <a:ext cx="966303" cy="155448"/>
          </a:xfrm>
          <a:prstGeom prst="rect">
            <a:avLst/>
          </a:prstGeom>
          <a:solidFill>
            <a:srgbClr val="8DA0B8"/>
          </a:solidFill>
          <a:ln/>
        </p:spPr>
      </p:sp>
      <p:sp>
        <p:nvSpPr>
          <p:cNvPr id="96" name="Text 94"/>
          <p:cNvSpPr/>
          <p:nvPr/>
        </p:nvSpPr>
        <p:spPr>
          <a:xfrm>
            <a:off x="9753987" y="2711196"/>
            <a:ext cx="9663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97" name="Shape 95"/>
          <p:cNvSpPr/>
          <p:nvPr/>
        </p:nvSpPr>
        <p:spPr>
          <a:xfrm>
            <a:off x="10720290" y="2711196"/>
            <a:ext cx="856014" cy="155448"/>
          </a:xfrm>
          <a:prstGeom prst="rect">
            <a:avLst/>
          </a:prstGeom>
          <a:solidFill>
            <a:srgbClr val="C00000"/>
          </a:solidFill>
          <a:ln/>
        </p:spPr>
      </p:sp>
      <p:sp>
        <p:nvSpPr>
          <p:cNvPr id="98" name="Text 96"/>
          <p:cNvSpPr/>
          <p:nvPr/>
        </p:nvSpPr>
        <p:spPr>
          <a:xfrm>
            <a:off x="10720290" y="2711196"/>
            <a:ext cx="8560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36%</a:t>
            </a:r>
            <a:endParaRPr lang="en-US" sz="750" dirty="0"/>
          </a:p>
        </p:txBody>
      </p:sp>
      <p:sp>
        <p:nvSpPr>
          <p:cNvPr id="99" name="Text 97"/>
          <p:cNvSpPr/>
          <p:nvPr/>
        </p:nvSpPr>
        <p:spPr>
          <a:xfrm>
            <a:off x="8394192" y="296265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00" name="Shape 98"/>
          <p:cNvSpPr/>
          <p:nvPr/>
        </p:nvSpPr>
        <p:spPr>
          <a:xfrm>
            <a:off x="9217152" y="3003804"/>
            <a:ext cx="538270" cy="155448"/>
          </a:xfrm>
          <a:prstGeom prst="rect">
            <a:avLst/>
          </a:prstGeom>
          <a:solidFill>
            <a:srgbClr val="1E8E86"/>
          </a:solidFill>
          <a:ln/>
        </p:spPr>
      </p:sp>
      <p:sp>
        <p:nvSpPr>
          <p:cNvPr id="101" name="Text 99"/>
          <p:cNvSpPr/>
          <p:nvPr/>
        </p:nvSpPr>
        <p:spPr>
          <a:xfrm>
            <a:off x="9217152" y="3003804"/>
            <a:ext cx="53827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02" name="Shape 100"/>
          <p:cNvSpPr/>
          <p:nvPr/>
        </p:nvSpPr>
        <p:spPr>
          <a:xfrm>
            <a:off x="9755422" y="3003804"/>
            <a:ext cx="831388" cy="155448"/>
          </a:xfrm>
          <a:prstGeom prst="rect">
            <a:avLst/>
          </a:prstGeom>
          <a:solidFill>
            <a:srgbClr val="8DA0B8"/>
          </a:solidFill>
          <a:ln/>
        </p:spPr>
      </p:sp>
      <p:sp>
        <p:nvSpPr>
          <p:cNvPr id="103" name="Text 101"/>
          <p:cNvSpPr/>
          <p:nvPr/>
        </p:nvSpPr>
        <p:spPr>
          <a:xfrm>
            <a:off x="9755422" y="3003804"/>
            <a:ext cx="831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04" name="Shape 102"/>
          <p:cNvSpPr/>
          <p:nvPr/>
        </p:nvSpPr>
        <p:spPr>
          <a:xfrm>
            <a:off x="10586810" y="3003804"/>
            <a:ext cx="989494" cy="155448"/>
          </a:xfrm>
          <a:prstGeom prst="rect">
            <a:avLst/>
          </a:prstGeom>
          <a:solidFill>
            <a:srgbClr val="C00000"/>
          </a:solidFill>
          <a:ln/>
        </p:spPr>
      </p:sp>
      <p:sp>
        <p:nvSpPr>
          <p:cNvPr id="105" name="Text 103"/>
          <p:cNvSpPr/>
          <p:nvPr/>
        </p:nvSpPr>
        <p:spPr>
          <a:xfrm>
            <a:off x="10586810" y="3003804"/>
            <a:ext cx="98949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06" name="Text 104"/>
          <p:cNvSpPr/>
          <p:nvPr/>
        </p:nvSpPr>
        <p:spPr>
          <a:xfrm>
            <a:off x="8394192" y="325526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07" name="Shape 105"/>
          <p:cNvSpPr/>
          <p:nvPr/>
        </p:nvSpPr>
        <p:spPr>
          <a:xfrm>
            <a:off x="9217152" y="3296412"/>
            <a:ext cx="449931" cy="155448"/>
          </a:xfrm>
          <a:prstGeom prst="rect">
            <a:avLst/>
          </a:prstGeom>
          <a:solidFill>
            <a:srgbClr val="1E8E86"/>
          </a:solidFill>
          <a:ln/>
        </p:spPr>
      </p:sp>
      <p:sp>
        <p:nvSpPr>
          <p:cNvPr id="108" name="Text 106"/>
          <p:cNvSpPr/>
          <p:nvPr/>
        </p:nvSpPr>
        <p:spPr>
          <a:xfrm>
            <a:off x="9217152" y="3296412"/>
            <a:ext cx="4499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19%</a:t>
            </a:r>
            <a:endParaRPr lang="en-US" sz="750" dirty="0"/>
          </a:p>
        </p:txBody>
      </p:sp>
      <p:sp>
        <p:nvSpPr>
          <p:cNvPr id="109" name="Shape 107"/>
          <p:cNvSpPr/>
          <p:nvPr/>
        </p:nvSpPr>
        <p:spPr>
          <a:xfrm>
            <a:off x="9667083" y="3296412"/>
            <a:ext cx="1043203" cy="155448"/>
          </a:xfrm>
          <a:prstGeom prst="rect">
            <a:avLst/>
          </a:prstGeom>
          <a:solidFill>
            <a:srgbClr val="8DA0B8"/>
          </a:solidFill>
          <a:ln/>
        </p:spPr>
      </p:sp>
      <p:sp>
        <p:nvSpPr>
          <p:cNvPr id="110" name="Text 108"/>
          <p:cNvSpPr/>
          <p:nvPr/>
        </p:nvSpPr>
        <p:spPr>
          <a:xfrm>
            <a:off x="9667083" y="3296412"/>
            <a:ext cx="104320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11" name="Shape 109"/>
          <p:cNvSpPr/>
          <p:nvPr/>
        </p:nvSpPr>
        <p:spPr>
          <a:xfrm>
            <a:off x="10710286" y="3296412"/>
            <a:ext cx="866018" cy="155448"/>
          </a:xfrm>
          <a:prstGeom prst="rect">
            <a:avLst/>
          </a:prstGeom>
          <a:solidFill>
            <a:srgbClr val="C00000"/>
          </a:solidFill>
          <a:ln/>
        </p:spPr>
      </p:sp>
      <p:sp>
        <p:nvSpPr>
          <p:cNvPr id="112" name="Text 110"/>
          <p:cNvSpPr/>
          <p:nvPr/>
        </p:nvSpPr>
        <p:spPr>
          <a:xfrm>
            <a:off x="10710286" y="3296412"/>
            <a:ext cx="86601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113" name="Text 111"/>
          <p:cNvSpPr/>
          <p:nvPr/>
        </p:nvSpPr>
        <p:spPr>
          <a:xfrm>
            <a:off x="8394192" y="354787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14" name="Shape 112"/>
          <p:cNvSpPr/>
          <p:nvPr/>
        </p:nvSpPr>
        <p:spPr>
          <a:xfrm>
            <a:off x="9217152" y="3589020"/>
            <a:ext cx="359072" cy="155448"/>
          </a:xfrm>
          <a:prstGeom prst="rect">
            <a:avLst/>
          </a:prstGeom>
          <a:solidFill>
            <a:srgbClr val="1E8E86"/>
          </a:solidFill>
          <a:ln/>
        </p:spPr>
      </p:sp>
      <p:sp>
        <p:nvSpPr>
          <p:cNvPr id="115" name="Text 113"/>
          <p:cNvSpPr/>
          <p:nvPr/>
        </p:nvSpPr>
        <p:spPr>
          <a:xfrm>
            <a:off x="9217152" y="3589020"/>
            <a:ext cx="35907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15%</a:t>
            </a:r>
            <a:endParaRPr lang="en-US" sz="750" dirty="0"/>
          </a:p>
        </p:txBody>
      </p:sp>
      <p:sp>
        <p:nvSpPr>
          <p:cNvPr id="116" name="Shape 114"/>
          <p:cNvSpPr/>
          <p:nvPr/>
        </p:nvSpPr>
        <p:spPr>
          <a:xfrm>
            <a:off x="9576224" y="3589020"/>
            <a:ext cx="1361549" cy="155448"/>
          </a:xfrm>
          <a:prstGeom prst="rect">
            <a:avLst/>
          </a:prstGeom>
          <a:solidFill>
            <a:srgbClr val="8DA0B8"/>
          </a:solidFill>
          <a:ln/>
        </p:spPr>
      </p:sp>
      <p:sp>
        <p:nvSpPr>
          <p:cNvPr id="117" name="Text 115"/>
          <p:cNvSpPr/>
          <p:nvPr/>
        </p:nvSpPr>
        <p:spPr>
          <a:xfrm>
            <a:off x="9576224" y="3589020"/>
            <a:ext cx="136154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18" name="Shape 116"/>
          <p:cNvSpPr/>
          <p:nvPr/>
        </p:nvSpPr>
        <p:spPr>
          <a:xfrm>
            <a:off x="10937773" y="3589020"/>
            <a:ext cx="638531" cy="155448"/>
          </a:xfrm>
          <a:prstGeom prst="rect">
            <a:avLst/>
          </a:prstGeom>
          <a:solidFill>
            <a:srgbClr val="C00000"/>
          </a:solidFill>
          <a:ln/>
        </p:spPr>
      </p:sp>
      <p:sp>
        <p:nvSpPr>
          <p:cNvPr id="119" name="Text 117"/>
          <p:cNvSpPr/>
          <p:nvPr/>
        </p:nvSpPr>
        <p:spPr>
          <a:xfrm>
            <a:off x="10937773" y="3589020"/>
            <a:ext cx="63853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27%</a:t>
            </a:r>
            <a:endParaRPr lang="en-US" sz="750" dirty="0"/>
          </a:p>
        </p:txBody>
      </p:sp>
      <p:sp>
        <p:nvSpPr>
          <p:cNvPr id="120" name="Shape 118"/>
          <p:cNvSpPr/>
          <p:nvPr/>
        </p:nvSpPr>
        <p:spPr>
          <a:xfrm>
            <a:off x="530352" y="4114800"/>
            <a:ext cx="3621024" cy="2212848"/>
          </a:xfrm>
          <a:prstGeom prst="roundRect">
            <a:avLst>
              <a:gd name="adj" fmla="val 3719"/>
            </a:avLst>
          </a:prstGeom>
          <a:solidFill>
            <a:srgbClr val="F1F4F9"/>
          </a:solidFill>
          <a:ln/>
        </p:spPr>
      </p:sp>
      <p:sp>
        <p:nvSpPr>
          <p:cNvPr id="121" name="Text 119"/>
          <p:cNvSpPr/>
          <p:nvPr/>
        </p:nvSpPr>
        <p:spPr>
          <a:xfrm>
            <a:off x="749808" y="4206240"/>
            <a:ext cx="3182112" cy="219456"/>
          </a:xfrm>
          <a:prstGeom prst="rect">
            <a:avLst/>
          </a:prstGeom>
          <a:noFill/>
          <a:ln/>
        </p:spPr>
        <p:txBody>
          <a:bodyPr wrap="square" lIns="0" tIns="0" rIns="0" bIns="0" rtlCol="0" anchor="ctr"/>
          <a:lstStyle/>
          <a:p>
            <a:pPr indent="0" marL="0">
              <a:buNone/>
            </a:pPr>
            <a:r>
              <a:rPr lang="en-US" sz="1100" b="1" dirty="0">
                <a:solidFill>
                  <a:srgbClr val="1E8E86"/>
                </a:solidFill>
                <a:latin typeface="Graphik TH" pitchFamily="34" charset="0"/>
                <a:ea typeface="Graphik TH" pitchFamily="34" charset="-122"/>
                <a:cs typeface="Graphik TH" pitchFamily="34" charset="-120"/>
              </a:rPr>
              <a:t>High confidence</a:t>
            </a:r>
            <a:endParaRPr lang="en-US" sz="1100" dirty="0"/>
          </a:p>
        </p:txBody>
      </p:sp>
      <p:sp>
        <p:nvSpPr>
          <p:cNvPr id="122" name="Text 120"/>
          <p:cNvSpPr/>
          <p:nvPr/>
        </p:nvSpPr>
        <p:spPr>
          <a:xfrm>
            <a:off x="749808"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3376.0m</a:t>
            </a:r>
            <a:endParaRPr lang="en-US" sz="800" dirty="0"/>
          </a:p>
        </p:txBody>
      </p:sp>
      <p:sp>
        <p:nvSpPr>
          <p:cNvPr id="123" name="Text 121"/>
          <p:cNvSpPr/>
          <p:nvPr/>
        </p:nvSpPr>
        <p:spPr>
          <a:xfrm>
            <a:off x="749808"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24" name="Shape 122"/>
          <p:cNvSpPr/>
          <p:nvPr/>
        </p:nvSpPr>
        <p:spPr>
          <a:xfrm>
            <a:off x="1572768" y="4741164"/>
            <a:ext cx="599280" cy="155448"/>
          </a:xfrm>
          <a:prstGeom prst="rect">
            <a:avLst/>
          </a:prstGeom>
          <a:solidFill>
            <a:srgbClr val="1E8E86"/>
          </a:solidFill>
          <a:ln/>
        </p:spPr>
      </p:sp>
      <p:sp>
        <p:nvSpPr>
          <p:cNvPr id="125" name="Text 123"/>
          <p:cNvSpPr/>
          <p:nvPr/>
        </p:nvSpPr>
        <p:spPr>
          <a:xfrm>
            <a:off x="1572768" y="4741164"/>
            <a:ext cx="59928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26" name="Shape 124"/>
          <p:cNvSpPr/>
          <p:nvPr/>
        </p:nvSpPr>
        <p:spPr>
          <a:xfrm>
            <a:off x="2172048" y="4741164"/>
            <a:ext cx="992277" cy="155448"/>
          </a:xfrm>
          <a:prstGeom prst="rect">
            <a:avLst/>
          </a:prstGeom>
          <a:solidFill>
            <a:srgbClr val="8DA0B8"/>
          </a:solidFill>
          <a:ln/>
        </p:spPr>
      </p:sp>
      <p:sp>
        <p:nvSpPr>
          <p:cNvPr id="127" name="Text 125"/>
          <p:cNvSpPr/>
          <p:nvPr/>
        </p:nvSpPr>
        <p:spPr>
          <a:xfrm>
            <a:off x="2172048" y="4741164"/>
            <a:ext cx="9922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28" name="Shape 126"/>
          <p:cNvSpPr/>
          <p:nvPr/>
        </p:nvSpPr>
        <p:spPr>
          <a:xfrm>
            <a:off x="3164325" y="4741164"/>
            <a:ext cx="767595" cy="155448"/>
          </a:xfrm>
          <a:prstGeom prst="rect">
            <a:avLst/>
          </a:prstGeom>
          <a:solidFill>
            <a:srgbClr val="C00000"/>
          </a:solidFill>
          <a:ln/>
        </p:spPr>
      </p:sp>
      <p:sp>
        <p:nvSpPr>
          <p:cNvPr id="129" name="Text 127"/>
          <p:cNvSpPr/>
          <p:nvPr/>
        </p:nvSpPr>
        <p:spPr>
          <a:xfrm>
            <a:off x="3164325" y="4741164"/>
            <a:ext cx="7675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33%</a:t>
            </a:r>
            <a:endParaRPr lang="en-US" sz="750" dirty="0"/>
          </a:p>
        </p:txBody>
      </p:sp>
      <p:sp>
        <p:nvSpPr>
          <p:cNvPr id="130" name="Text 128"/>
          <p:cNvSpPr/>
          <p:nvPr/>
        </p:nvSpPr>
        <p:spPr>
          <a:xfrm>
            <a:off x="749808"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31" name="Shape 129"/>
          <p:cNvSpPr/>
          <p:nvPr/>
        </p:nvSpPr>
        <p:spPr>
          <a:xfrm>
            <a:off x="1572768" y="5033772"/>
            <a:ext cx="395395" cy="155448"/>
          </a:xfrm>
          <a:prstGeom prst="rect">
            <a:avLst/>
          </a:prstGeom>
          <a:solidFill>
            <a:srgbClr val="1E8E86"/>
          </a:solidFill>
          <a:ln/>
        </p:spPr>
      </p:sp>
      <p:sp>
        <p:nvSpPr>
          <p:cNvPr id="132" name="Text 130"/>
          <p:cNvSpPr/>
          <p:nvPr/>
        </p:nvSpPr>
        <p:spPr>
          <a:xfrm>
            <a:off x="1572768" y="5033772"/>
            <a:ext cx="39539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33" name="Shape 131"/>
          <p:cNvSpPr/>
          <p:nvPr/>
        </p:nvSpPr>
        <p:spPr>
          <a:xfrm>
            <a:off x="1968163" y="5033772"/>
            <a:ext cx="1309848" cy="155448"/>
          </a:xfrm>
          <a:prstGeom prst="rect">
            <a:avLst/>
          </a:prstGeom>
          <a:solidFill>
            <a:srgbClr val="8DA0B8"/>
          </a:solidFill>
          <a:ln/>
        </p:spPr>
      </p:sp>
      <p:sp>
        <p:nvSpPr>
          <p:cNvPr id="134" name="Text 132"/>
          <p:cNvSpPr/>
          <p:nvPr/>
        </p:nvSpPr>
        <p:spPr>
          <a:xfrm>
            <a:off x="1968163" y="5033772"/>
            <a:ext cx="13098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135" name="Shape 133"/>
          <p:cNvSpPr/>
          <p:nvPr/>
        </p:nvSpPr>
        <p:spPr>
          <a:xfrm>
            <a:off x="3278011" y="5033772"/>
            <a:ext cx="653909" cy="155448"/>
          </a:xfrm>
          <a:prstGeom prst="rect">
            <a:avLst/>
          </a:prstGeom>
          <a:solidFill>
            <a:srgbClr val="C00000"/>
          </a:solidFill>
          <a:ln/>
        </p:spPr>
      </p:sp>
      <p:sp>
        <p:nvSpPr>
          <p:cNvPr id="136" name="Text 134"/>
          <p:cNvSpPr/>
          <p:nvPr/>
        </p:nvSpPr>
        <p:spPr>
          <a:xfrm>
            <a:off x="3278011" y="5033772"/>
            <a:ext cx="65390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28%</a:t>
            </a:r>
            <a:endParaRPr lang="en-US" sz="750" dirty="0"/>
          </a:p>
        </p:txBody>
      </p:sp>
      <p:sp>
        <p:nvSpPr>
          <p:cNvPr id="137" name="Text 135"/>
          <p:cNvSpPr/>
          <p:nvPr/>
        </p:nvSpPr>
        <p:spPr>
          <a:xfrm>
            <a:off x="749808"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38" name="Shape 136"/>
          <p:cNvSpPr/>
          <p:nvPr/>
        </p:nvSpPr>
        <p:spPr>
          <a:xfrm>
            <a:off x="1572768" y="5326380"/>
            <a:ext cx="337769" cy="155448"/>
          </a:xfrm>
          <a:prstGeom prst="rect">
            <a:avLst/>
          </a:prstGeom>
          <a:solidFill>
            <a:srgbClr val="1E8E86"/>
          </a:solidFill>
          <a:ln/>
        </p:spPr>
      </p:sp>
      <p:sp>
        <p:nvSpPr>
          <p:cNvPr id="139" name="Text 137"/>
          <p:cNvSpPr/>
          <p:nvPr/>
        </p:nvSpPr>
        <p:spPr>
          <a:xfrm>
            <a:off x="1572768" y="5326380"/>
            <a:ext cx="3377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40" name="Shape 138"/>
          <p:cNvSpPr/>
          <p:nvPr/>
        </p:nvSpPr>
        <p:spPr>
          <a:xfrm>
            <a:off x="1910537" y="5326380"/>
            <a:ext cx="1536187" cy="155448"/>
          </a:xfrm>
          <a:prstGeom prst="rect">
            <a:avLst/>
          </a:prstGeom>
          <a:solidFill>
            <a:srgbClr val="8DA0B8"/>
          </a:solidFill>
          <a:ln/>
        </p:spPr>
      </p:sp>
      <p:sp>
        <p:nvSpPr>
          <p:cNvPr id="141" name="Text 139"/>
          <p:cNvSpPr/>
          <p:nvPr/>
        </p:nvSpPr>
        <p:spPr>
          <a:xfrm>
            <a:off x="1910537" y="5326380"/>
            <a:ext cx="153618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65%</a:t>
            </a:r>
            <a:endParaRPr lang="en-US" sz="750" dirty="0"/>
          </a:p>
        </p:txBody>
      </p:sp>
      <p:sp>
        <p:nvSpPr>
          <p:cNvPr id="142" name="Shape 140"/>
          <p:cNvSpPr/>
          <p:nvPr/>
        </p:nvSpPr>
        <p:spPr>
          <a:xfrm>
            <a:off x="3446724" y="5326380"/>
            <a:ext cx="485196" cy="155448"/>
          </a:xfrm>
          <a:prstGeom prst="rect">
            <a:avLst/>
          </a:prstGeom>
          <a:solidFill>
            <a:srgbClr val="C00000"/>
          </a:solidFill>
          <a:ln/>
        </p:spPr>
      </p:sp>
      <p:sp>
        <p:nvSpPr>
          <p:cNvPr id="143" name="Text 141"/>
          <p:cNvSpPr/>
          <p:nvPr/>
        </p:nvSpPr>
        <p:spPr>
          <a:xfrm>
            <a:off x="3446724" y="5326380"/>
            <a:ext cx="4851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21%</a:t>
            </a:r>
            <a:endParaRPr lang="en-US" sz="750" dirty="0"/>
          </a:p>
        </p:txBody>
      </p:sp>
      <p:sp>
        <p:nvSpPr>
          <p:cNvPr id="144" name="Text 142"/>
          <p:cNvSpPr/>
          <p:nvPr/>
        </p:nvSpPr>
        <p:spPr>
          <a:xfrm>
            <a:off x="749808"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45" name="Shape 143"/>
          <p:cNvSpPr/>
          <p:nvPr/>
        </p:nvSpPr>
        <p:spPr>
          <a:xfrm>
            <a:off x="1572768" y="5618988"/>
            <a:ext cx="221091" cy="155448"/>
          </a:xfrm>
          <a:prstGeom prst="rect">
            <a:avLst/>
          </a:prstGeom>
          <a:solidFill>
            <a:srgbClr val="1E8E86"/>
          </a:solidFill>
          <a:ln/>
        </p:spPr>
      </p:sp>
      <p:sp>
        <p:nvSpPr>
          <p:cNvPr id="146" name="Shape 144"/>
          <p:cNvSpPr/>
          <p:nvPr/>
        </p:nvSpPr>
        <p:spPr>
          <a:xfrm>
            <a:off x="1793859" y="5618988"/>
            <a:ext cx="977388" cy="155448"/>
          </a:xfrm>
          <a:prstGeom prst="rect">
            <a:avLst/>
          </a:prstGeom>
          <a:solidFill>
            <a:srgbClr val="8DA0B8"/>
          </a:solidFill>
          <a:ln/>
        </p:spPr>
      </p:sp>
      <p:sp>
        <p:nvSpPr>
          <p:cNvPr id="147" name="Text 145"/>
          <p:cNvSpPr/>
          <p:nvPr/>
        </p:nvSpPr>
        <p:spPr>
          <a:xfrm>
            <a:off x="1793859" y="5618988"/>
            <a:ext cx="97738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41%</a:t>
            </a:r>
            <a:endParaRPr lang="en-US" sz="750" dirty="0"/>
          </a:p>
        </p:txBody>
      </p:sp>
      <p:sp>
        <p:nvSpPr>
          <p:cNvPr id="148" name="Shape 146"/>
          <p:cNvSpPr/>
          <p:nvPr/>
        </p:nvSpPr>
        <p:spPr>
          <a:xfrm>
            <a:off x="2771247" y="5618988"/>
            <a:ext cx="1160673" cy="155448"/>
          </a:xfrm>
          <a:prstGeom prst="rect">
            <a:avLst/>
          </a:prstGeom>
          <a:solidFill>
            <a:srgbClr val="C00000"/>
          </a:solidFill>
          <a:ln/>
        </p:spPr>
      </p:sp>
      <p:sp>
        <p:nvSpPr>
          <p:cNvPr id="149" name="Text 147"/>
          <p:cNvSpPr/>
          <p:nvPr/>
        </p:nvSpPr>
        <p:spPr>
          <a:xfrm>
            <a:off x="2771247" y="5618988"/>
            <a:ext cx="116067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49%</a:t>
            </a:r>
            <a:endParaRPr lang="en-US" sz="750" dirty="0"/>
          </a:p>
        </p:txBody>
      </p:sp>
      <p:sp>
        <p:nvSpPr>
          <p:cNvPr id="150" name="Text 148"/>
          <p:cNvSpPr/>
          <p:nvPr/>
        </p:nvSpPr>
        <p:spPr>
          <a:xfrm>
            <a:off x="749808"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51" name="Shape 149"/>
          <p:cNvSpPr/>
          <p:nvPr/>
        </p:nvSpPr>
        <p:spPr>
          <a:xfrm>
            <a:off x="1572768" y="5911596"/>
            <a:ext cx="159454" cy="155448"/>
          </a:xfrm>
          <a:prstGeom prst="rect">
            <a:avLst/>
          </a:prstGeom>
          <a:solidFill>
            <a:srgbClr val="1E8E86"/>
          </a:solidFill>
          <a:ln/>
        </p:spPr>
      </p:sp>
      <p:sp>
        <p:nvSpPr>
          <p:cNvPr id="152" name="Shape 150"/>
          <p:cNvSpPr/>
          <p:nvPr/>
        </p:nvSpPr>
        <p:spPr>
          <a:xfrm>
            <a:off x="1732222" y="5911596"/>
            <a:ext cx="1374496" cy="155448"/>
          </a:xfrm>
          <a:prstGeom prst="rect">
            <a:avLst/>
          </a:prstGeom>
          <a:solidFill>
            <a:srgbClr val="8DA0B8"/>
          </a:solidFill>
          <a:ln/>
        </p:spPr>
      </p:sp>
      <p:sp>
        <p:nvSpPr>
          <p:cNvPr id="153" name="Text 151"/>
          <p:cNvSpPr/>
          <p:nvPr/>
        </p:nvSpPr>
        <p:spPr>
          <a:xfrm>
            <a:off x="1732222" y="5911596"/>
            <a:ext cx="137449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58%</a:t>
            </a:r>
            <a:endParaRPr lang="en-US" sz="750" dirty="0"/>
          </a:p>
        </p:txBody>
      </p:sp>
      <p:sp>
        <p:nvSpPr>
          <p:cNvPr id="154" name="Shape 152"/>
          <p:cNvSpPr/>
          <p:nvPr/>
        </p:nvSpPr>
        <p:spPr>
          <a:xfrm>
            <a:off x="3106718" y="5911596"/>
            <a:ext cx="825202" cy="155448"/>
          </a:xfrm>
          <a:prstGeom prst="rect">
            <a:avLst/>
          </a:prstGeom>
          <a:solidFill>
            <a:srgbClr val="C00000"/>
          </a:solidFill>
          <a:ln/>
        </p:spPr>
      </p:sp>
      <p:sp>
        <p:nvSpPr>
          <p:cNvPr id="155" name="Text 153"/>
          <p:cNvSpPr/>
          <p:nvPr/>
        </p:nvSpPr>
        <p:spPr>
          <a:xfrm>
            <a:off x="3106718" y="5911596"/>
            <a:ext cx="82520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156" name="Shape 154"/>
          <p:cNvSpPr/>
          <p:nvPr/>
        </p:nvSpPr>
        <p:spPr>
          <a:xfrm>
            <a:off x="4352544" y="4114800"/>
            <a:ext cx="3621024" cy="2212848"/>
          </a:xfrm>
          <a:prstGeom prst="roundRect">
            <a:avLst>
              <a:gd name="adj" fmla="val 3719"/>
            </a:avLst>
          </a:prstGeom>
          <a:solidFill>
            <a:srgbClr val="F1F4F9"/>
          </a:solidFill>
          <a:ln/>
        </p:spPr>
      </p:sp>
      <p:sp>
        <p:nvSpPr>
          <p:cNvPr id="157" name="Text 155"/>
          <p:cNvSpPr/>
          <p:nvPr/>
        </p:nvSpPr>
        <p:spPr>
          <a:xfrm>
            <a:off x="4572000" y="4206240"/>
            <a:ext cx="3182112" cy="219456"/>
          </a:xfrm>
          <a:prstGeom prst="rect">
            <a:avLst/>
          </a:prstGeom>
          <a:noFill/>
          <a:ln/>
        </p:spPr>
        <p:txBody>
          <a:bodyPr wrap="square" lIns="0" tIns="0" rIns="0" bIns="0" rtlCol="0" anchor="ctr"/>
          <a:lstStyle/>
          <a:p>
            <a:pPr indent="0" marL="0">
              <a:buNone/>
            </a:pPr>
            <a:r>
              <a:rPr lang="en-US" sz="1100" b="1" dirty="0">
                <a:solidFill>
                  <a:srgbClr val="8DA0B8"/>
                </a:solidFill>
                <a:latin typeface="Graphik TH" pitchFamily="34" charset="0"/>
                <a:ea typeface="Graphik TH" pitchFamily="34" charset="-122"/>
                <a:cs typeface="Graphik TH" pitchFamily="34" charset="-120"/>
              </a:rPr>
              <a:t>Medium confidence</a:t>
            </a:r>
            <a:endParaRPr lang="en-US" sz="1100" dirty="0"/>
          </a:p>
        </p:txBody>
      </p:sp>
      <p:sp>
        <p:nvSpPr>
          <p:cNvPr id="158" name="Text 156"/>
          <p:cNvSpPr/>
          <p:nvPr/>
        </p:nvSpPr>
        <p:spPr>
          <a:xfrm>
            <a:off x="4572000"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1611.7m</a:t>
            </a:r>
            <a:endParaRPr lang="en-US" sz="800" dirty="0"/>
          </a:p>
        </p:txBody>
      </p:sp>
      <p:sp>
        <p:nvSpPr>
          <p:cNvPr id="159" name="Text 157"/>
          <p:cNvSpPr/>
          <p:nvPr/>
        </p:nvSpPr>
        <p:spPr>
          <a:xfrm>
            <a:off x="4572000"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60" name="Shape 158"/>
          <p:cNvSpPr/>
          <p:nvPr/>
        </p:nvSpPr>
        <p:spPr>
          <a:xfrm>
            <a:off x="5394960" y="4741164"/>
            <a:ext cx="408508" cy="155448"/>
          </a:xfrm>
          <a:prstGeom prst="rect">
            <a:avLst/>
          </a:prstGeom>
          <a:solidFill>
            <a:srgbClr val="1E8E86"/>
          </a:solidFill>
          <a:ln/>
        </p:spPr>
      </p:sp>
      <p:sp>
        <p:nvSpPr>
          <p:cNvPr id="161" name="Text 159"/>
          <p:cNvSpPr/>
          <p:nvPr/>
        </p:nvSpPr>
        <p:spPr>
          <a:xfrm>
            <a:off x="5394960" y="4741164"/>
            <a:ext cx="40850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162" name="Shape 160"/>
          <p:cNvSpPr/>
          <p:nvPr/>
        </p:nvSpPr>
        <p:spPr>
          <a:xfrm>
            <a:off x="5803468" y="4741164"/>
            <a:ext cx="1620112" cy="155448"/>
          </a:xfrm>
          <a:prstGeom prst="rect">
            <a:avLst/>
          </a:prstGeom>
          <a:solidFill>
            <a:srgbClr val="8DA0B8"/>
          </a:solidFill>
          <a:ln/>
        </p:spPr>
      </p:sp>
      <p:sp>
        <p:nvSpPr>
          <p:cNvPr id="163" name="Text 161"/>
          <p:cNvSpPr/>
          <p:nvPr/>
        </p:nvSpPr>
        <p:spPr>
          <a:xfrm>
            <a:off x="5803468" y="4741164"/>
            <a:ext cx="162011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69%</a:t>
            </a:r>
            <a:endParaRPr lang="en-US" sz="750" dirty="0"/>
          </a:p>
        </p:txBody>
      </p:sp>
      <p:sp>
        <p:nvSpPr>
          <p:cNvPr id="164" name="Shape 162"/>
          <p:cNvSpPr/>
          <p:nvPr/>
        </p:nvSpPr>
        <p:spPr>
          <a:xfrm>
            <a:off x="7423580" y="4741164"/>
            <a:ext cx="330532" cy="155448"/>
          </a:xfrm>
          <a:prstGeom prst="rect">
            <a:avLst/>
          </a:prstGeom>
          <a:solidFill>
            <a:srgbClr val="C00000"/>
          </a:solidFill>
          <a:ln/>
        </p:spPr>
      </p:sp>
      <p:sp>
        <p:nvSpPr>
          <p:cNvPr id="165" name="Text 163"/>
          <p:cNvSpPr/>
          <p:nvPr/>
        </p:nvSpPr>
        <p:spPr>
          <a:xfrm>
            <a:off x="7423580" y="4741164"/>
            <a:ext cx="33053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66" name="Text 164"/>
          <p:cNvSpPr/>
          <p:nvPr/>
        </p:nvSpPr>
        <p:spPr>
          <a:xfrm>
            <a:off x="4572000"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167" name="Shape 165"/>
          <p:cNvSpPr/>
          <p:nvPr/>
        </p:nvSpPr>
        <p:spPr>
          <a:xfrm>
            <a:off x="5394960" y="5033772"/>
            <a:ext cx="308683" cy="155448"/>
          </a:xfrm>
          <a:prstGeom prst="rect">
            <a:avLst/>
          </a:prstGeom>
          <a:solidFill>
            <a:srgbClr val="1E8E86"/>
          </a:solidFill>
          <a:ln/>
        </p:spPr>
      </p:sp>
      <p:sp>
        <p:nvSpPr>
          <p:cNvPr id="168" name="Shape 166"/>
          <p:cNvSpPr/>
          <p:nvPr/>
        </p:nvSpPr>
        <p:spPr>
          <a:xfrm>
            <a:off x="5703643" y="5033772"/>
            <a:ext cx="1429077" cy="155448"/>
          </a:xfrm>
          <a:prstGeom prst="rect">
            <a:avLst/>
          </a:prstGeom>
          <a:solidFill>
            <a:srgbClr val="8DA0B8"/>
          </a:solidFill>
          <a:ln/>
        </p:spPr>
      </p:sp>
      <p:sp>
        <p:nvSpPr>
          <p:cNvPr id="169" name="Text 167"/>
          <p:cNvSpPr/>
          <p:nvPr/>
        </p:nvSpPr>
        <p:spPr>
          <a:xfrm>
            <a:off x="5703643" y="5033772"/>
            <a:ext cx="142907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61%</a:t>
            </a:r>
            <a:endParaRPr lang="en-US" sz="750" dirty="0"/>
          </a:p>
        </p:txBody>
      </p:sp>
      <p:sp>
        <p:nvSpPr>
          <p:cNvPr id="170" name="Shape 168"/>
          <p:cNvSpPr/>
          <p:nvPr/>
        </p:nvSpPr>
        <p:spPr>
          <a:xfrm>
            <a:off x="7132720" y="5033772"/>
            <a:ext cx="621392" cy="155448"/>
          </a:xfrm>
          <a:prstGeom prst="rect">
            <a:avLst/>
          </a:prstGeom>
          <a:solidFill>
            <a:srgbClr val="C00000"/>
          </a:solidFill>
          <a:ln/>
        </p:spPr>
      </p:sp>
      <p:sp>
        <p:nvSpPr>
          <p:cNvPr id="171" name="Text 169"/>
          <p:cNvSpPr/>
          <p:nvPr/>
        </p:nvSpPr>
        <p:spPr>
          <a:xfrm>
            <a:off x="7132720" y="5033772"/>
            <a:ext cx="62139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26%</a:t>
            </a:r>
            <a:endParaRPr lang="en-US" sz="750" dirty="0"/>
          </a:p>
        </p:txBody>
      </p:sp>
      <p:sp>
        <p:nvSpPr>
          <p:cNvPr id="172" name="Text 170"/>
          <p:cNvSpPr/>
          <p:nvPr/>
        </p:nvSpPr>
        <p:spPr>
          <a:xfrm>
            <a:off x="4572000"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173" name="Shape 171"/>
          <p:cNvSpPr/>
          <p:nvPr/>
        </p:nvSpPr>
        <p:spPr>
          <a:xfrm>
            <a:off x="5394960" y="5326380"/>
            <a:ext cx="341717" cy="155448"/>
          </a:xfrm>
          <a:prstGeom prst="rect">
            <a:avLst/>
          </a:prstGeom>
          <a:solidFill>
            <a:srgbClr val="1E8E86"/>
          </a:solidFill>
          <a:ln/>
        </p:spPr>
      </p:sp>
      <p:sp>
        <p:nvSpPr>
          <p:cNvPr id="174" name="Text 172"/>
          <p:cNvSpPr/>
          <p:nvPr/>
        </p:nvSpPr>
        <p:spPr>
          <a:xfrm>
            <a:off x="5394960" y="5326380"/>
            <a:ext cx="34171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175" name="Shape 173"/>
          <p:cNvSpPr/>
          <p:nvPr/>
        </p:nvSpPr>
        <p:spPr>
          <a:xfrm>
            <a:off x="5736677" y="5326380"/>
            <a:ext cx="1026781" cy="155448"/>
          </a:xfrm>
          <a:prstGeom prst="rect">
            <a:avLst/>
          </a:prstGeom>
          <a:solidFill>
            <a:srgbClr val="8DA0B8"/>
          </a:solidFill>
          <a:ln/>
        </p:spPr>
      </p:sp>
      <p:sp>
        <p:nvSpPr>
          <p:cNvPr id="176" name="Text 174"/>
          <p:cNvSpPr/>
          <p:nvPr/>
        </p:nvSpPr>
        <p:spPr>
          <a:xfrm>
            <a:off x="5736677" y="5326380"/>
            <a:ext cx="1026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44%</a:t>
            </a:r>
            <a:endParaRPr lang="en-US" sz="750" dirty="0"/>
          </a:p>
        </p:txBody>
      </p:sp>
      <p:sp>
        <p:nvSpPr>
          <p:cNvPr id="177" name="Shape 175"/>
          <p:cNvSpPr/>
          <p:nvPr/>
        </p:nvSpPr>
        <p:spPr>
          <a:xfrm>
            <a:off x="6763459" y="5326380"/>
            <a:ext cx="990653" cy="155448"/>
          </a:xfrm>
          <a:prstGeom prst="rect">
            <a:avLst/>
          </a:prstGeom>
          <a:solidFill>
            <a:srgbClr val="C00000"/>
          </a:solidFill>
          <a:ln/>
        </p:spPr>
      </p:sp>
      <p:sp>
        <p:nvSpPr>
          <p:cNvPr id="178" name="Text 176"/>
          <p:cNvSpPr/>
          <p:nvPr/>
        </p:nvSpPr>
        <p:spPr>
          <a:xfrm>
            <a:off x="6763459" y="5326380"/>
            <a:ext cx="9906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42%</a:t>
            </a:r>
            <a:endParaRPr lang="en-US" sz="750" dirty="0"/>
          </a:p>
        </p:txBody>
      </p:sp>
      <p:sp>
        <p:nvSpPr>
          <p:cNvPr id="179" name="Text 177"/>
          <p:cNvSpPr/>
          <p:nvPr/>
        </p:nvSpPr>
        <p:spPr>
          <a:xfrm>
            <a:off x="4572000"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180" name="Shape 178"/>
          <p:cNvSpPr/>
          <p:nvPr/>
        </p:nvSpPr>
        <p:spPr>
          <a:xfrm>
            <a:off x="5394960" y="5618988"/>
            <a:ext cx="284835" cy="155448"/>
          </a:xfrm>
          <a:prstGeom prst="rect">
            <a:avLst/>
          </a:prstGeom>
          <a:solidFill>
            <a:srgbClr val="1E8E86"/>
          </a:solidFill>
          <a:ln/>
        </p:spPr>
      </p:sp>
      <p:sp>
        <p:nvSpPr>
          <p:cNvPr id="181" name="Shape 179"/>
          <p:cNvSpPr/>
          <p:nvPr/>
        </p:nvSpPr>
        <p:spPr>
          <a:xfrm>
            <a:off x="5679795" y="5618988"/>
            <a:ext cx="246484" cy="155448"/>
          </a:xfrm>
          <a:prstGeom prst="rect">
            <a:avLst/>
          </a:prstGeom>
          <a:solidFill>
            <a:srgbClr val="8DA0B8"/>
          </a:solidFill>
          <a:ln/>
        </p:spPr>
      </p:sp>
      <p:sp>
        <p:nvSpPr>
          <p:cNvPr id="182" name="Shape 180"/>
          <p:cNvSpPr/>
          <p:nvPr/>
        </p:nvSpPr>
        <p:spPr>
          <a:xfrm>
            <a:off x="5926279" y="5618988"/>
            <a:ext cx="1827833" cy="155448"/>
          </a:xfrm>
          <a:prstGeom prst="rect">
            <a:avLst/>
          </a:prstGeom>
          <a:solidFill>
            <a:srgbClr val="C00000"/>
          </a:solidFill>
          <a:ln/>
        </p:spPr>
      </p:sp>
      <p:sp>
        <p:nvSpPr>
          <p:cNvPr id="183" name="Text 181"/>
          <p:cNvSpPr/>
          <p:nvPr/>
        </p:nvSpPr>
        <p:spPr>
          <a:xfrm>
            <a:off x="5926279" y="5618988"/>
            <a:ext cx="182783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184" name="Text 182"/>
          <p:cNvSpPr/>
          <p:nvPr/>
        </p:nvSpPr>
        <p:spPr>
          <a:xfrm>
            <a:off x="4572000"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185" name="Shape 183"/>
          <p:cNvSpPr/>
          <p:nvPr/>
        </p:nvSpPr>
        <p:spPr>
          <a:xfrm>
            <a:off x="5394960" y="5911596"/>
            <a:ext cx="309161" cy="155448"/>
          </a:xfrm>
          <a:prstGeom prst="rect">
            <a:avLst/>
          </a:prstGeom>
          <a:solidFill>
            <a:srgbClr val="1E8E86"/>
          </a:solidFill>
          <a:ln/>
        </p:spPr>
      </p:sp>
      <p:sp>
        <p:nvSpPr>
          <p:cNvPr id="186" name="Shape 184"/>
          <p:cNvSpPr/>
          <p:nvPr/>
        </p:nvSpPr>
        <p:spPr>
          <a:xfrm>
            <a:off x="5704121" y="5911596"/>
            <a:ext cx="547753" cy="155448"/>
          </a:xfrm>
          <a:prstGeom prst="rect">
            <a:avLst/>
          </a:prstGeom>
          <a:solidFill>
            <a:srgbClr val="8DA0B8"/>
          </a:solidFill>
          <a:ln/>
        </p:spPr>
      </p:sp>
      <p:sp>
        <p:nvSpPr>
          <p:cNvPr id="187" name="Text 185"/>
          <p:cNvSpPr/>
          <p:nvPr/>
        </p:nvSpPr>
        <p:spPr>
          <a:xfrm>
            <a:off x="5704121" y="5911596"/>
            <a:ext cx="54775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23%</a:t>
            </a:r>
            <a:endParaRPr lang="en-US" sz="750" dirty="0"/>
          </a:p>
        </p:txBody>
      </p:sp>
      <p:sp>
        <p:nvSpPr>
          <p:cNvPr id="188" name="Shape 186"/>
          <p:cNvSpPr/>
          <p:nvPr/>
        </p:nvSpPr>
        <p:spPr>
          <a:xfrm>
            <a:off x="6251874" y="5911596"/>
            <a:ext cx="1502238" cy="155448"/>
          </a:xfrm>
          <a:prstGeom prst="rect">
            <a:avLst/>
          </a:prstGeom>
          <a:solidFill>
            <a:srgbClr val="C00000"/>
          </a:solidFill>
          <a:ln/>
        </p:spPr>
      </p:sp>
      <p:sp>
        <p:nvSpPr>
          <p:cNvPr id="189" name="Text 187"/>
          <p:cNvSpPr/>
          <p:nvPr/>
        </p:nvSpPr>
        <p:spPr>
          <a:xfrm>
            <a:off x="6251874" y="5911596"/>
            <a:ext cx="150223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64%</a:t>
            </a:r>
            <a:endParaRPr lang="en-US" sz="750" dirty="0"/>
          </a:p>
        </p:txBody>
      </p:sp>
      <p:sp>
        <p:nvSpPr>
          <p:cNvPr id="190" name="Shape 188"/>
          <p:cNvSpPr/>
          <p:nvPr/>
        </p:nvSpPr>
        <p:spPr>
          <a:xfrm>
            <a:off x="8174736" y="4114800"/>
            <a:ext cx="3621024" cy="2212848"/>
          </a:xfrm>
          <a:prstGeom prst="roundRect">
            <a:avLst>
              <a:gd name="adj" fmla="val 3719"/>
            </a:avLst>
          </a:prstGeom>
          <a:solidFill>
            <a:srgbClr val="F1F4F9"/>
          </a:solidFill>
          <a:ln/>
        </p:spPr>
      </p:sp>
      <p:sp>
        <p:nvSpPr>
          <p:cNvPr id="191" name="Text 189"/>
          <p:cNvSpPr/>
          <p:nvPr/>
        </p:nvSpPr>
        <p:spPr>
          <a:xfrm>
            <a:off x="8394192" y="4206240"/>
            <a:ext cx="3182112" cy="219456"/>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Low confidence</a:t>
            </a:r>
            <a:endParaRPr lang="en-US" sz="1100" dirty="0"/>
          </a:p>
        </p:txBody>
      </p:sp>
      <p:sp>
        <p:nvSpPr>
          <p:cNvPr id="192" name="Text 190"/>
          <p:cNvSpPr/>
          <p:nvPr/>
        </p:nvSpPr>
        <p:spPr>
          <a:xfrm>
            <a:off x="8394192" y="4425696"/>
            <a:ext cx="3182112" cy="182880"/>
          </a:xfrm>
          <a:prstGeom prst="rect">
            <a:avLst/>
          </a:prstGeom>
          <a:noFill/>
          <a:ln/>
        </p:spPr>
        <p:txBody>
          <a:bodyPr wrap="square" lIns="0" tIns="0" rIns="0" bIns="0" rtlCol="0" anchor="ctr"/>
          <a:lstStyle/>
          <a:p>
            <a:pPr indent="0" marL="0">
              <a:buNone/>
            </a:pPr>
            <a:r>
              <a:rPr lang="en-US" sz="800" dirty="0">
                <a:solidFill>
                  <a:srgbClr val="6B7A90"/>
                </a:solidFill>
                <a:latin typeface="Graphik TH" pitchFamily="34" charset="0"/>
                <a:ea typeface="Graphik TH" pitchFamily="34" charset="-122"/>
                <a:cs typeface="Graphik TH" pitchFamily="34" charset="-120"/>
              </a:rPr>
              <a:t>Share of prior balance  ·  THB 489.9m</a:t>
            </a:r>
            <a:endParaRPr lang="en-US" sz="800" dirty="0"/>
          </a:p>
        </p:txBody>
      </p:sp>
      <p:sp>
        <p:nvSpPr>
          <p:cNvPr id="193" name="Text 191"/>
          <p:cNvSpPr/>
          <p:nvPr/>
        </p:nvSpPr>
        <p:spPr>
          <a:xfrm>
            <a:off x="8394192" y="4700016"/>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High</a:t>
            </a:r>
            <a:endParaRPr lang="en-US" sz="850" dirty="0"/>
          </a:p>
        </p:txBody>
      </p:sp>
      <p:sp>
        <p:nvSpPr>
          <p:cNvPr id="194" name="Shape 192"/>
          <p:cNvSpPr/>
          <p:nvPr/>
        </p:nvSpPr>
        <p:spPr>
          <a:xfrm>
            <a:off x="9217152" y="4741164"/>
            <a:ext cx="589269" cy="155448"/>
          </a:xfrm>
          <a:prstGeom prst="rect">
            <a:avLst/>
          </a:prstGeom>
          <a:solidFill>
            <a:srgbClr val="1E8E86"/>
          </a:solidFill>
          <a:ln/>
        </p:spPr>
      </p:sp>
      <p:sp>
        <p:nvSpPr>
          <p:cNvPr id="195" name="Text 193"/>
          <p:cNvSpPr/>
          <p:nvPr/>
        </p:nvSpPr>
        <p:spPr>
          <a:xfrm>
            <a:off x="9217152" y="4741164"/>
            <a:ext cx="5892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25%</a:t>
            </a:r>
            <a:endParaRPr lang="en-US" sz="750" dirty="0"/>
          </a:p>
        </p:txBody>
      </p:sp>
      <p:sp>
        <p:nvSpPr>
          <p:cNvPr id="196" name="Shape 194"/>
          <p:cNvSpPr/>
          <p:nvPr/>
        </p:nvSpPr>
        <p:spPr>
          <a:xfrm>
            <a:off x="9806421" y="4741164"/>
            <a:ext cx="901960" cy="155448"/>
          </a:xfrm>
          <a:prstGeom prst="rect">
            <a:avLst/>
          </a:prstGeom>
          <a:solidFill>
            <a:srgbClr val="8DA0B8"/>
          </a:solidFill>
          <a:ln/>
        </p:spPr>
      </p:sp>
      <p:sp>
        <p:nvSpPr>
          <p:cNvPr id="197" name="Text 195"/>
          <p:cNvSpPr/>
          <p:nvPr/>
        </p:nvSpPr>
        <p:spPr>
          <a:xfrm>
            <a:off x="9806421" y="4741164"/>
            <a:ext cx="901960"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38%</a:t>
            </a:r>
            <a:endParaRPr lang="en-US" sz="750" dirty="0"/>
          </a:p>
        </p:txBody>
      </p:sp>
      <p:sp>
        <p:nvSpPr>
          <p:cNvPr id="198" name="Shape 196"/>
          <p:cNvSpPr/>
          <p:nvPr/>
        </p:nvSpPr>
        <p:spPr>
          <a:xfrm>
            <a:off x="10708381" y="4741164"/>
            <a:ext cx="867923" cy="155448"/>
          </a:xfrm>
          <a:prstGeom prst="rect">
            <a:avLst/>
          </a:prstGeom>
          <a:solidFill>
            <a:srgbClr val="C00000"/>
          </a:solidFill>
          <a:ln/>
        </p:spPr>
      </p:sp>
      <p:sp>
        <p:nvSpPr>
          <p:cNvPr id="199" name="Text 197"/>
          <p:cNvSpPr/>
          <p:nvPr/>
        </p:nvSpPr>
        <p:spPr>
          <a:xfrm>
            <a:off x="10708381" y="4741164"/>
            <a:ext cx="8679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37%</a:t>
            </a:r>
            <a:endParaRPr lang="en-US" sz="750" dirty="0"/>
          </a:p>
        </p:txBody>
      </p:sp>
      <p:sp>
        <p:nvSpPr>
          <p:cNvPr id="200" name="Text 198"/>
          <p:cNvSpPr/>
          <p:nvPr/>
        </p:nvSpPr>
        <p:spPr>
          <a:xfrm>
            <a:off x="8394192" y="4992624"/>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p>
        </p:txBody>
      </p:sp>
      <p:sp>
        <p:nvSpPr>
          <p:cNvPr id="201" name="Shape 199"/>
          <p:cNvSpPr/>
          <p:nvPr/>
        </p:nvSpPr>
        <p:spPr>
          <a:xfrm>
            <a:off x="9217152" y="5033772"/>
            <a:ext cx="392722" cy="155448"/>
          </a:xfrm>
          <a:prstGeom prst="rect">
            <a:avLst/>
          </a:prstGeom>
          <a:solidFill>
            <a:srgbClr val="1E8E86"/>
          </a:solidFill>
          <a:ln/>
        </p:spPr>
      </p:sp>
      <p:sp>
        <p:nvSpPr>
          <p:cNvPr id="202" name="Text 200"/>
          <p:cNvSpPr/>
          <p:nvPr/>
        </p:nvSpPr>
        <p:spPr>
          <a:xfrm>
            <a:off x="9217152" y="5033772"/>
            <a:ext cx="392722"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17%</a:t>
            </a:r>
            <a:endParaRPr lang="en-US" sz="750" dirty="0"/>
          </a:p>
        </p:txBody>
      </p:sp>
      <p:sp>
        <p:nvSpPr>
          <p:cNvPr id="203" name="Shape 201"/>
          <p:cNvSpPr/>
          <p:nvPr/>
        </p:nvSpPr>
        <p:spPr>
          <a:xfrm>
            <a:off x="9609874" y="5033772"/>
            <a:ext cx="1764556" cy="155448"/>
          </a:xfrm>
          <a:prstGeom prst="rect">
            <a:avLst/>
          </a:prstGeom>
          <a:solidFill>
            <a:srgbClr val="8DA0B8"/>
          </a:solidFill>
          <a:ln/>
        </p:spPr>
      </p:sp>
      <p:sp>
        <p:nvSpPr>
          <p:cNvPr id="204" name="Text 202"/>
          <p:cNvSpPr/>
          <p:nvPr/>
        </p:nvSpPr>
        <p:spPr>
          <a:xfrm>
            <a:off x="9609874" y="5033772"/>
            <a:ext cx="1764556"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75%</a:t>
            </a:r>
            <a:endParaRPr lang="en-US" sz="750" dirty="0"/>
          </a:p>
        </p:txBody>
      </p:sp>
      <p:sp>
        <p:nvSpPr>
          <p:cNvPr id="205" name="Shape 203"/>
          <p:cNvSpPr/>
          <p:nvPr/>
        </p:nvSpPr>
        <p:spPr>
          <a:xfrm>
            <a:off x="11374430" y="5033772"/>
            <a:ext cx="201874" cy="155448"/>
          </a:xfrm>
          <a:prstGeom prst="rect">
            <a:avLst/>
          </a:prstGeom>
          <a:solidFill>
            <a:srgbClr val="C00000"/>
          </a:solidFill>
          <a:ln/>
        </p:spPr>
      </p:sp>
      <p:sp>
        <p:nvSpPr>
          <p:cNvPr id="206" name="Text 204"/>
          <p:cNvSpPr/>
          <p:nvPr/>
        </p:nvSpPr>
        <p:spPr>
          <a:xfrm>
            <a:off x="8394192" y="5285232"/>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p>
        </p:txBody>
      </p:sp>
      <p:sp>
        <p:nvSpPr>
          <p:cNvPr id="207" name="Shape 205"/>
          <p:cNvSpPr/>
          <p:nvPr/>
        </p:nvSpPr>
        <p:spPr>
          <a:xfrm>
            <a:off x="9217152" y="5326380"/>
            <a:ext cx="710371" cy="155448"/>
          </a:xfrm>
          <a:prstGeom prst="rect">
            <a:avLst/>
          </a:prstGeom>
          <a:solidFill>
            <a:srgbClr val="1E8E86"/>
          </a:solidFill>
          <a:ln/>
        </p:spPr>
      </p:sp>
      <p:sp>
        <p:nvSpPr>
          <p:cNvPr id="208" name="Text 206"/>
          <p:cNvSpPr/>
          <p:nvPr/>
        </p:nvSpPr>
        <p:spPr>
          <a:xfrm>
            <a:off x="9217152" y="5326380"/>
            <a:ext cx="71037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30%</a:t>
            </a:r>
            <a:endParaRPr lang="en-US" sz="750" dirty="0"/>
          </a:p>
        </p:txBody>
      </p:sp>
      <p:sp>
        <p:nvSpPr>
          <p:cNvPr id="209" name="Shape 207"/>
          <p:cNvSpPr/>
          <p:nvPr/>
        </p:nvSpPr>
        <p:spPr>
          <a:xfrm>
            <a:off x="9927523" y="5326380"/>
            <a:ext cx="1309714" cy="155448"/>
          </a:xfrm>
          <a:prstGeom prst="rect">
            <a:avLst/>
          </a:prstGeom>
          <a:solidFill>
            <a:srgbClr val="8DA0B8"/>
          </a:solidFill>
          <a:ln/>
        </p:spPr>
      </p:sp>
      <p:sp>
        <p:nvSpPr>
          <p:cNvPr id="210" name="Text 208"/>
          <p:cNvSpPr/>
          <p:nvPr/>
        </p:nvSpPr>
        <p:spPr>
          <a:xfrm>
            <a:off x="9927523" y="5326380"/>
            <a:ext cx="1309714"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56%</a:t>
            </a:r>
            <a:endParaRPr lang="en-US" sz="750" dirty="0"/>
          </a:p>
        </p:txBody>
      </p:sp>
      <p:sp>
        <p:nvSpPr>
          <p:cNvPr id="211" name="Shape 209"/>
          <p:cNvSpPr/>
          <p:nvPr/>
        </p:nvSpPr>
        <p:spPr>
          <a:xfrm>
            <a:off x="11237237" y="5326380"/>
            <a:ext cx="339067" cy="155448"/>
          </a:xfrm>
          <a:prstGeom prst="rect">
            <a:avLst/>
          </a:prstGeom>
          <a:solidFill>
            <a:srgbClr val="C00000"/>
          </a:solidFill>
          <a:ln/>
        </p:spPr>
      </p:sp>
      <p:sp>
        <p:nvSpPr>
          <p:cNvPr id="212" name="Text 210"/>
          <p:cNvSpPr/>
          <p:nvPr/>
        </p:nvSpPr>
        <p:spPr>
          <a:xfrm>
            <a:off x="11237237" y="5326380"/>
            <a:ext cx="339067"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3" name="Text 211"/>
          <p:cNvSpPr/>
          <p:nvPr/>
        </p:nvSpPr>
        <p:spPr>
          <a:xfrm>
            <a:off x="8394192" y="5577840"/>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p>
        </p:txBody>
      </p:sp>
      <p:sp>
        <p:nvSpPr>
          <p:cNvPr id="214" name="Shape 212"/>
          <p:cNvSpPr/>
          <p:nvPr/>
        </p:nvSpPr>
        <p:spPr>
          <a:xfrm>
            <a:off x="9217152" y="5618988"/>
            <a:ext cx="330115" cy="155448"/>
          </a:xfrm>
          <a:prstGeom prst="rect">
            <a:avLst/>
          </a:prstGeom>
          <a:solidFill>
            <a:srgbClr val="1E8E86"/>
          </a:solidFill>
          <a:ln/>
        </p:spPr>
      </p:sp>
      <p:sp>
        <p:nvSpPr>
          <p:cNvPr id="215" name="Text 213"/>
          <p:cNvSpPr/>
          <p:nvPr/>
        </p:nvSpPr>
        <p:spPr>
          <a:xfrm>
            <a:off x="9217152" y="5618988"/>
            <a:ext cx="33011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14%</a:t>
            </a:r>
            <a:endParaRPr lang="en-US" sz="750" dirty="0"/>
          </a:p>
        </p:txBody>
      </p:sp>
      <p:sp>
        <p:nvSpPr>
          <p:cNvPr id="216" name="Shape 214"/>
          <p:cNvSpPr/>
          <p:nvPr/>
        </p:nvSpPr>
        <p:spPr>
          <a:xfrm>
            <a:off x="9547267" y="5618988"/>
            <a:ext cx="1202781" cy="155448"/>
          </a:xfrm>
          <a:prstGeom prst="rect">
            <a:avLst/>
          </a:prstGeom>
          <a:solidFill>
            <a:srgbClr val="8DA0B8"/>
          </a:solidFill>
          <a:ln/>
        </p:spPr>
      </p:sp>
      <p:sp>
        <p:nvSpPr>
          <p:cNvPr id="217" name="Text 215"/>
          <p:cNvSpPr/>
          <p:nvPr/>
        </p:nvSpPr>
        <p:spPr>
          <a:xfrm>
            <a:off x="9547267" y="5618988"/>
            <a:ext cx="1202781"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51%</a:t>
            </a:r>
            <a:endParaRPr lang="en-US" sz="750" dirty="0"/>
          </a:p>
        </p:txBody>
      </p:sp>
      <p:sp>
        <p:nvSpPr>
          <p:cNvPr id="218" name="Shape 216"/>
          <p:cNvSpPr/>
          <p:nvPr/>
        </p:nvSpPr>
        <p:spPr>
          <a:xfrm>
            <a:off x="10750049" y="5618988"/>
            <a:ext cx="826255" cy="155448"/>
          </a:xfrm>
          <a:prstGeom prst="rect">
            <a:avLst/>
          </a:prstGeom>
          <a:solidFill>
            <a:srgbClr val="C00000"/>
          </a:solidFill>
          <a:ln/>
        </p:spPr>
      </p:sp>
      <p:sp>
        <p:nvSpPr>
          <p:cNvPr id="219" name="Text 217"/>
          <p:cNvSpPr/>
          <p:nvPr/>
        </p:nvSpPr>
        <p:spPr>
          <a:xfrm>
            <a:off x="10750049" y="5618988"/>
            <a:ext cx="826255"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35%</a:t>
            </a:r>
            <a:endParaRPr lang="en-US" sz="750" dirty="0"/>
          </a:p>
        </p:txBody>
      </p:sp>
      <p:sp>
        <p:nvSpPr>
          <p:cNvPr id="220" name="Text 218"/>
          <p:cNvSpPr/>
          <p:nvPr/>
        </p:nvSpPr>
        <p:spPr>
          <a:xfrm>
            <a:off x="8394192" y="5870448"/>
            <a:ext cx="768096" cy="237744"/>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Very Low</a:t>
            </a:r>
            <a:endParaRPr lang="en-US" sz="850" dirty="0"/>
          </a:p>
        </p:txBody>
      </p:sp>
      <p:sp>
        <p:nvSpPr>
          <p:cNvPr id="221" name="Shape 219"/>
          <p:cNvSpPr/>
          <p:nvPr/>
        </p:nvSpPr>
        <p:spPr>
          <a:xfrm>
            <a:off x="9217152" y="5911596"/>
            <a:ext cx="367869" cy="155448"/>
          </a:xfrm>
          <a:prstGeom prst="rect">
            <a:avLst/>
          </a:prstGeom>
          <a:solidFill>
            <a:srgbClr val="1E8E86"/>
          </a:solidFill>
          <a:ln/>
        </p:spPr>
      </p:sp>
      <p:sp>
        <p:nvSpPr>
          <p:cNvPr id="222" name="Text 220"/>
          <p:cNvSpPr/>
          <p:nvPr/>
        </p:nvSpPr>
        <p:spPr>
          <a:xfrm>
            <a:off x="9217152" y="5911596"/>
            <a:ext cx="367869"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16%</a:t>
            </a:r>
            <a:endParaRPr lang="en-US" sz="750" dirty="0"/>
          </a:p>
        </p:txBody>
      </p:sp>
      <p:sp>
        <p:nvSpPr>
          <p:cNvPr id="223" name="Shape 221"/>
          <p:cNvSpPr/>
          <p:nvPr/>
        </p:nvSpPr>
        <p:spPr>
          <a:xfrm>
            <a:off x="9585021" y="5911596"/>
            <a:ext cx="1824323" cy="155448"/>
          </a:xfrm>
          <a:prstGeom prst="rect">
            <a:avLst/>
          </a:prstGeom>
          <a:solidFill>
            <a:srgbClr val="8DA0B8"/>
          </a:solidFill>
          <a:ln/>
        </p:spPr>
      </p:sp>
      <p:sp>
        <p:nvSpPr>
          <p:cNvPr id="224" name="Text 222"/>
          <p:cNvSpPr/>
          <p:nvPr/>
        </p:nvSpPr>
        <p:spPr>
          <a:xfrm>
            <a:off x="9585021" y="5911596"/>
            <a:ext cx="1824323"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Graphik TH" pitchFamily="34" charset="0"/>
                <a:ea typeface="Graphik TH" pitchFamily="34" charset="-122"/>
                <a:cs typeface="Graphik TH" pitchFamily="34" charset="-120"/>
              </a:rPr>
              <a:t>77%</a:t>
            </a:r>
            <a:endParaRPr lang="en-US" sz="750" dirty="0"/>
          </a:p>
        </p:txBody>
      </p:sp>
      <p:sp>
        <p:nvSpPr>
          <p:cNvPr id="225" name="Shape 223"/>
          <p:cNvSpPr/>
          <p:nvPr/>
        </p:nvSpPr>
        <p:spPr>
          <a:xfrm>
            <a:off x="11409344" y="5911596"/>
            <a:ext cx="166960" cy="155448"/>
          </a:xfrm>
          <a:prstGeom prst="rect">
            <a:avLst/>
          </a:prstGeom>
          <a:solidFill>
            <a:srgbClr val="C00000"/>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Score confidence : least reliable scores, largest balances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*Every Medium and Low Confidence cell here has no Save Max feed, so confidence appears to track data availability.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Base 320,109   ·   High 41.5% of customers / 61.6% of balance   ·   Medium 55.7% / 29.4%   ·   Low 2.8% / 8.9%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 Confidence is 2.8% of customers but THB 489.9m — an average of THB 54,539, twice the High Confidence average.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1E8E86"/>
                </a:solidFill>
                <a:latin typeface="Graphik TH" pitchFamily="34" charset="0"/>
                <a:ea typeface="Graphik TH" pitchFamily="34" charset="-122"/>
                <a:cs typeface="Graphik TH" pitchFamily="34" charset="-120"/>
              </a:rPr>
              <a:t>41.5%</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confidence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61.6% of balance · avg THB 25,414</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8DA0B8"/>
                </a:solidFill>
                <a:latin typeface="Graphik TH" pitchFamily="34" charset="0"/>
                <a:ea typeface="Graphik TH" pitchFamily="34" charset="-122"/>
                <a:cs typeface="Graphik TH" pitchFamily="34" charset="-120"/>
              </a:rPr>
              <a:t>55.7%</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Medium confidence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29.4% of balance · avg THB 9,040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2.8%</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confidence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8.9% of balance · avg THB 54,539</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489.9m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on Low Confidence scores</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the largest average balance</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Coverage and balance by confidence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in THB m · average balance per customer in THB</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9808" y="3529584"/>
          <a:ext cx="6281928" cy="914400"/>
        </p:xfrm>
        <a:graphic>
          <a:graphicData uri="http://schemas.openxmlformats.org/drawingml/2006/table">
            <a:tbl>
              <a:tblPr/>
              <a:tblGrid>
                <a:gridCol w="1051560"/>
                <a:gridCol w="896112"/>
                <a:gridCol w="713232"/>
                <a:gridCol w="868680"/>
                <a:gridCol w="713232"/>
                <a:gridCol w="1005840"/>
                <a:gridCol w="1033272"/>
              </a:tblGrid>
              <a:tr h="237744">
                <a:tc>
                  <a:txBody>
                    <a:bodyPr/>
                    <a:lstStyle/>
                    <a:p>
                      <a:pPr algn="l" indent="0" marL="0">
                        <a:buNone/>
                      </a:pPr>
                      <a:r>
                        <a:rPr lang="en-US" sz="800" b="1" dirty="0">
                          <a:solidFill>
                            <a:srgbClr val="FFFFFF"/>
                          </a:solidFill>
                          <a:latin typeface="Graphik TH" pitchFamily="34" charset="0"/>
                          <a:ea typeface="Graphik TH" pitchFamily="34" charset="-122"/>
                          <a:cs typeface="Graphik TH" pitchFamily="34" charset="-120"/>
                        </a:rPr>
                        <a:t>Confidence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Customers</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base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Prior</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 book</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Avg bal</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r" indent="0" marL="0">
                        <a:buNone/>
                      </a:pPr>
                      <a:r>
                        <a:rPr lang="en-US" sz="800" b="1" dirty="0">
                          <a:solidFill>
                            <a:srgbClr val="FFFFFF"/>
                          </a:solidFill>
                          <a:latin typeface="Graphik TH" pitchFamily="34" charset="0"/>
                          <a:ea typeface="Graphik TH" pitchFamily="34" charset="-122"/>
                          <a:cs typeface="Graphik TH" pitchFamily="34" charset="-120"/>
                        </a:rPr>
                        <a:t>Change</a:t>
                      </a:r>
                      <a:endParaRPr lang="en-US" sz="80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High</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132,837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41.5%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3376.0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61.6%</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25,414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+124.9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Medium</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178,290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55.7%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1611.7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29.4%</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8DA0B8"/>
                          </a:solidFill>
                          <a:latin typeface="Graphik TH" pitchFamily="34" charset="0"/>
                          <a:ea typeface="Graphik TH" pitchFamily="34" charset="-122"/>
                          <a:cs typeface="Graphik TH" pitchFamily="34" charset="-120"/>
                        </a:rPr>
                        <a:t>9,040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+62.7</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Low</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8,982</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2.8%</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489.9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dirty="0">
                          <a:solidFill>
                            <a:srgbClr val="16233D"/>
                          </a:solidFill>
                          <a:latin typeface="Graphik TH" pitchFamily="34" charset="0"/>
                          <a:ea typeface="Graphik TH" pitchFamily="34" charset="-122"/>
                          <a:cs typeface="Graphik TH" pitchFamily="34" charset="-120"/>
                        </a:rPr>
                        <a:t>8.9%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C00000"/>
                          </a:solidFill>
                          <a:latin typeface="Graphik TH" pitchFamily="34" charset="0"/>
                          <a:ea typeface="Graphik TH" pitchFamily="34" charset="-122"/>
                          <a:cs typeface="Graphik TH" pitchFamily="34" charset="-120"/>
                        </a:rPr>
                        <a:t>54,539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+23.5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6233D"/>
                          </a:solidFill>
                          <a:latin typeface="Graphik TH" pitchFamily="34" charset="0"/>
                          <a:ea typeface="Graphik TH" pitchFamily="34" charset="-122"/>
                          <a:cs typeface="Graphik TH" pitchFamily="34" charset="-120"/>
                        </a:rPr>
                        <a:t>All</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320,109</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5477.5</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100.0%</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6233D"/>
                          </a:solidFill>
                          <a:latin typeface="Graphik TH" pitchFamily="34" charset="0"/>
                          <a:ea typeface="Graphik TH" pitchFamily="34" charset="-122"/>
                          <a:cs typeface="Graphik TH" pitchFamily="34" charset="-120"/>
                        </a:rPr>
                        <a:t>17,111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850" b="1" dirty="0">
                          <a:solidFill>
                            <a:srgbClr val="1E8E86"/>
                          </a:solidFill>
                          <a:latin typeface="Graphik TH" pitchFamily="34" charset="0"/>
                          <a:ea typeface="Graphik TH" pitchFamily="34" charset="-122"/>
                          <a:cs typeface="Graphik TH" pitchFamily="34" charset="-120"/>
                        </a:rPr>
                        <a:t>+211.1</a:t>
                      </a:r>
                      <a:endParaRPr lang="en-US" sz="850" dirty="0">
                        <a:latin typeface="Graphik TH" charset="0"/>
                        <a:ea typeface="Graphik TH" charset="0"/>
                        <a:cs typeface="Graphik TH" charset="0"/>
                      </a:endParaRPr>
                    </a:p>
                  </a:txBody>
                  <a:tcPr marL="54864" marR="54864" marT="9144" marB="9144"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bl>
          </a:graphicData>
        </a:graphic>
      </p:graphicFrame>
      <p:sp>
        <p:nvSpPr>
          <p:cNvPr id="26" name="Text 23"/>
          <p:cNvSpPr/>
          <p:nvPr/>
        </p:nvSpPr>
        <p:spPr>
          <a:xfrm>
            <a:off x="786384" y="4864608"/>
            <a:ext cx="6217920" cy="201168"/>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Low Confidence holds the largest accounts, not the smallest.</a:t>
            </a:r>
            <a:endParaRPr lang="en-US" sz="900" dirty="0"/>
          </a:p>
        </p:txBody>
      </p:sp>
      <p:sp>
        <p:nvSpPr>
          <p:cNvPr id="27" name="Shape 24"/>
          <p:cNvSpPr/>
          <p:nvPr/>
        </p:nvSpPr>
        <p:spPr>
          <a:xfrm>
            <a:off x="7479792" y="2798064"/>
            <a:ext cx="4325112" cy="2322576"/>
          </a:xfrm>
          <a:prstGeom prst="roundRect">
            <a:avLst>
              <a:gd name="adj" fmla="val 3543"/>
            </a:avLst>
          </a:prstGeom>
          <a:solidFill>
            <a:srgbClr val="F1F4F9"/>
          </a:solidFill>
          <a:ln/>
        </p:spPr>
      </p:sp>
      <p:sp>
        <p:nvSpPr>
          <p:cNvPr id="28" name="Text 25"/>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9" name="Text 26"/>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THB, prior period</a:t>
            </a:r>
            <a:endParaRPr lang="en-US" sz="950" dirty="0"/>
          </a:p>
        </p:txBody>
      </p:sp>
      <p:sp>
        <p:nvSpPr>
          <p:cNvPr id="30" name="Text 27"/>
          <p:cNvSpPr/>
          <p:nvPr/>
        </p:nvSpPr>
        <p:spPr>
          <a:xfrm>
            <a:off x="7735824" y="3511296"/>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1" name="Shape 28"/>
          <p:cNvSpPr/>
          <p:nvPr/>
        </p:nvSpPr>
        <p:spPr>
          <a:xfrm>
            <a:off x="8833104" y="3557016"/>
            <a:ext cx="660446" cy="182880"/>
          </a:xfrm>
          <a:prstGeom prst="roundRect">
            <a:avLst>
              <a:gd name="adj" fmla="val 15000"/>
            </a:avLst>
          </a:prstGeom>
          <a:solidFill>
            <a:srgbClr val="1E8E86"/>
          </a:solidFill>
          <a:ln/>
        </p:spPr>
      </p:sp>
      <p:sp>
        <p:nvSpPr>
          <p:cNvPr id="32" name="Text 29"/>
          <p:cNvSpPr/>
          <p:nvPr/>
        </p:nvSpPr>
        <p:spPr>
          <a:xfrm>
            <a:off x="10296144" y="3511296"/>
            <a:ext cx="1252728" cy="274320"/>
          </a:xfrm>
          <a:prstGeom prst="rect">
            <a:avLst/>
          </a:prstGeom>
          <a:noFill/>
          <a:ln/>
        </p:spPr>
        <p:txBody>
          <a:bodyPr wrap="square" lIns="0" tIns="0" rIns="0" bIns="0" rtlCol="0" anchor="ctr"/>
          <a:lstStyle/>
          <a:p>
            <a:pPr algn="r" indent="0" marL="0">
              <a:buNone/>
            </a:pPr>
            <a:r>
              <a:rPr lang="en-US" sz="1050" b="1" dirty="0">
                <a:solidFill>
                  <a:srgbClr val="1E8E86"/>
                </a:solidFill>
                <a:latin typeface="Graphik TH" pitchFamily="34" charset="0"/>
                <a:ea typeface="Graphik TH" pitchFamily="34" charset="-122"/>
                <a:cs typeface="Graphik TH" pitchFamily="34" charset="-120"/>
              </a:rPr>
              <a:t>THB 25,414</a:t>
            </a:r>
            <a:endParaRPr lang="en-US" sz="1050" dirty="0"/>
          </a:p>
        </p:txBody>
      </p:sp>
      <p:sp>
        <p:nvSpPr>
          <p:cNvPr id="33" name="Text 30"/>
          <p:cNvSpPr/>
          <p:nvPr/>
        </p:nvSpPr>
        <p:spPr>
          <a:xfrm>
            <a:off x="7735824" y="3840480"/>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4" name="Shape 31"/>
          <p:cNvSpPr/>
          <p:nvPr/>
        </p:nvSpPr>
        <p:spPr>
          <a:xfrm>
            <a:off x="8833104" y="3886200"/>
            <a:ext cx="234911" cy="182880"/>
          </a:xfrm>
          <a:prstGeom prst="roundRect">
            <a:avLst>
              <a:gd name="adj" fmla="val 15000"/>
            </a:avLst>
          </a:prstGeom>
          <a:solidFill>
            <a:srgbClr val="8DA0B8"/>
          </a:solidFill>
          <a:ln/>
        </p:spPr>
      </p:sp>
      <p:sp>
        <p:nvSpPr>
          <p:cNvPr id="35" name="Text 32"/>
          <p:cNvSpPr/>
          <p:nvPr/>
        </p:nvSpPr>
        <p:spPr>
          <a:xfrm>
            <a:off x="10296144" y="3840480"/>
            <a:ext cx="1252728" cy="274320"/>
          </a:xfrm>
          <a:prstGeom prst="rect">
            <a:avLst/>
          </a:prstGeom>
          <a:noFill/>
          <a:ln/>
        </p:spPr>
        <p:txBody>
          <a:bodyPr wrap="square" lIns="0" tIns="0" rIns="0" bIns="0" rtlCol="0" anchor="ctr"/>
          <a:lstStyle/>
          <a:p>
            <a:pPr algn="r" indent="0" marL="0">
              <a:buNone/>
            </a:pPr>
            <a:r>
              <a:rPr lang="en-US" sz="1050" b="1" dirty="0">
                <a:solidFill>
                  <a:srgbClr val="8DA0B8"/>
                </a:solidFill>
                <a:latin typeface="Graphik TH" pitchFamily="34" charset="0"/>
                <a:ea typeface="Graphik TH" pitchFamily="34" charset="-122"/>
                <a:cs typeface="Graphik TH" pitchFamily="34" charset="-120"/>
              </a:rPr>
              <a:t>THB 9,040</a:t>
            </a:r>
            <a:endParaRPr lang="en-US" sz="1050" dirty="0"/>
          </a:p>
        </p:txBody>
      </p:sp>
      <p:sp>
        <p:nvSpPr>
          <p:cNvPr id="36" name="Text 33"/>
          <p:cNvSpPr/>
          <p:nvPr/>
        </p:nvSpPr>
        <p:spPr>
          <a:xfrm>
            <a:off x="7735824" y="4169664"/>
            <a:ext cx="105156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7" name="Shape 34"/>
          <p:cNvSpPr/>
          <p:nvPr/>
        </p:nvSpPr>
        <p:spPr>
          <a:xfrm>
            <a:off x="8833104" y="4215384"/>
            <a:ext cx="1417320" cy="182880"/>
          </a:xfrm>
          <a:prstGeom prst="roundRect">
            <a:avLst>
              <a:gd name="adj" fmla="val 15000"/>
            </a:avLst>
          </a:prstGeom>
          <a:solidFill>
            <a:srgbClr val="C00000"/>
          </a:solidFill>
          <a:ln/>
        </p:spPr>
      </p:sp>
      <p:sp>
        <p:nvSpPr>
          <p:cNvPr id="38" name="Text 35"/>
          <p:cNvSpPr/>
          <p:nvPr/>
        </p:nvSpPr>
        <p:spPr>
          <a:xfrm>
            <a:off x="10296144" y="4169664"/>
            <a:ext cx="1252728" cy="274320"/>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THB 54,539</a:t>
            </a:r>
            <a:endParaRPr lang="en-US" sz="1050" dirty="0"/>
          </a:p>
        </p:txBody>
      </p:sp>
      <p:sp>
        <p:nvSpPr>
          <p:cNvPr id="39" name="Shape 36"/>
          <p:cNvSpPr/>
          <p:nvPr/>
        </p:nvSpPr>
        <p:spPr>
          <a:xfrm>
            <a:off x="7735824" y="4553712"/>
            <a:ext cx="3813048" cy="512064"/>
          </a:xfrm>
          <a:prstGeom prst="roundRect">
            <a:avLst>
              <a:gd name="adj" fmla="val 16071"/>
            </a:avLst>
          </a:prstGeom>
          <a:solidFill>
            <a:srgbClr val="FBF0E6"/>
          </a:solidFill>
          <a:ln/>
        </p:spPr>
      </p:sp>
      <p:sp>
        <p:nvSpPr>
          <p:cNvPr id="40" name="Text 37"/>
          <p:cNvSpPr/>
          <p:nvPr/>
        </p:nvSpPr>
        <p:spPr>
          <a:xfrm>
            <a:off x="7882128" y="4553712"/>
            <a:ext cx="3520440"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Low Confidence decreases on 41.5% of customers but only 13.8% of its balance — the big accounts sit still.</a:t>
            </a:r>
            <a:endParaRPr lang="en-US" sz="950" dirty="0"/>
          </a:p>
        </p:txBody>
      </p:sp>
      <p:sp>
        <p:nvSpPr>
          <p:cNvPr id="41" name="Shape 38"/>
          <p:cNvSpPr/>
          <p:nvPr/>
        </p:nvSpPr>
        <p:spPr>
          <a:xfrm>
            <a:off x="530352" y="5285232"/>
            <a:ext cx="11274552" cy="786384"/>
          </a:xfrm>
          <a:prstGeom prst="roundRect">
            <a:avLst>
              <a:gd name="adj" fmla="val 10465"/>
            </a:avLst>
          </a:prstGeom>
          <a:solidFill>
            <a:srgbClr val="FBF0E6"/>
          </a:solidFill>
          <a:ln/>
        </p:spPr>
      </p:sp>
      <p:sp>
        <p:nvSpPr>
          <p:cNvPr id="42" name="Text 39"/>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489.9m sits on the scores the framework trusts least</a:t>
            </a:r>
            <a:pPr indent="0" marL="0">
              <a:buNone/>
            </a:pPr>
            <a:r>
              <a:rPr lang="en-US" sz="1100" dirty="0">
                <a:solidFill>
                  <a:srgbClr val="16233D"/>
                </a:solidFill>
                <a:latin typeface="Graphik TH" pitchFamily="34" charset="0"/>
                <a:ea typeface="Graphik TH" pitchFamily="34" charset="-122"/>
                <a:cs typeface="Graphik TH" pitchFamily="34" charset="-120"/>
              </a:rPr>
              <a:t>  —  Low Confidence averages THB 54,539 per customer against THB 25,414 for High. Confidence and balance run in opposite directions, so a score-quality gate applied on headcount would leave the largest exposures unreviewed.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2026-09-28T10:31:13Z</dcterms:created>
  <dcterms:modified xsi:type="dcterms:W3CDTF">2026-09-28T10:31:13Z</dcterms:modified>
</cp:coreProperties>
</file>
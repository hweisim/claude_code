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47,184 customers holding Save Max in the prior period. 6,671 of them (14.1%) now show zero Save Max balance. Save Max fell from THB 685,023,127 to THB 491,897,976, down 28.2%, of which THB 123,073,643 came from movers zeroing out and THB 70,051,509 from non-movers trimming. Total deposit balance nevertheless rose from THB 2,901,915,577 to THB 3,013,181,725, up 3.8%. Save Max fell from 23.6% to 16.3%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3,912 customers, THB 924,465,529 → THB 1,005,619,905, 108.8% retained. Without: 2,759 customers, THB 54,112,917 → THB 14,656,265, only 27.1% retained. Non-movers are stable either way: 106.0% with Save More and 97.6%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rate rises with stickiness, which is the opposite of what the name suggests: Very High 19.2% against Very Low 1.9%. The reason is dormancy, not loyalty - average Save Max balance falls from THB 18,104 in the Very High tier to THB 18 in the Very Low tier, so the low tiers have nothing to move and nobody managing the account. Read the columns, not the rows: the High rate-sensitivity column is hot at every stickiness level, peaking at 56.2% for High stickiness. The fragile quadrant - stickiness &lt; 60 with rate sensitivity &gt;= 60 - is 297 customers holding THB 5,903,833, so the decision view on slide 2 points at an almost empty cell. On predictive value, stickiness adds little once rate sensitivity and the Save More flag are in hand (AUC 0.766 to 0.779), so its practical use is as an eligibility filter to suppress dormant micro-balance accounts from retention campaigns, not as a targeting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of 47,184. Total deposit balance rose from THB 2,901,915,577 to THB 3,013,181,725, +111.3m or +3.8%. Every stickiness tier gained. In absolute terms the gain concentrates in the top two tiers: High +71.4m and Very High +34.9m, together 95.5% of it, which follows from those tiers holding 98.8% of prior balance. In percentage terms the ranking reverses cleanly: Very High +3.2%, High +4.0%, Medium +8.8%, Low +174.7%, Very Low +1549.2%. Average prior balance per customer runs from THB 90,152 in the Very High tier to THB 22 in the Very Low tier, so the low tiers' percentages reflect dormant accounts receiving small deposits rather than material growth. Average change per customer runs Very High +2,871, High +2,702, Medium +571, Low +754, Very Low +341, against +2,358 across the base. That column ranks differently again - the Low tier beats Medium on change per customer despite holding far less balance - so it is the fairest way to compare tiers of very different size. All three readings are kept deliberately: rank on absolute change for materiality, on change per customer for per-head value,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of 320,109. Total deposit balance rose from THB 5,477,500,352 to THB 5,688,588,400, +211.1m or +3.9%. Every stickiness tier gained. In absolute terms the gain concentrates in the top two tiers: High +99.5m and Very High +67.6m, together 79.2% of it, which follows from those tiers holding 95.8% of prior balance. In percentage terms the ranking reverses cleanly: Very High +2.5%, High +3.8%, Medium +11.8%, Low +100.6%, Very Low +143.6%. Average prior balance per customer runs from THB 49,529 in the Very High tier to THB 143 in the Very Low tier, so the low tiers' percentages reflect dormant accounts receiving small deposits rather than material growth. Average change per customer runs Very High +1,257, High +975, Medium +259, Low +372, Very Low +206, against +659 across the base. That column ranks differently again - the Low tier beats Medium on change per customer despite holding far less balance - so it is the fairest way to compare tiers of very different size. All three readings are kept deliberately: rank on absolute change for materiality, on change per customer for per-head value,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Deposit stickiness ranks the two measures consistently: move rate runs 1.9% to 19.2% from Very Low to Very High, and balance change is positive in every tier. The caveat is that this consistency is partly mechanical - the High and Very High tiers hold 98.8% of prior balance and contributed 95.5% of the cohort's gain, so the ranking largely restates where the money is. In percentage terms the picture is flatter and mildly reversed: Very High +3.2%, High +4.0%, Medium +8.8%, with the Low and Very Low tiers unusable because their prior balances are near zero. Rate sensitivity diverges for real: High moves at 49.5% and gained THB 144.7m, while Very High moves at 12.9% and lost THB 36.0m. Very Low also lost, THB 11.0m on a 9.6% move rate. Medium is 4 customers in both scores and is greyed out rather than read. Conclusion for the framework: stickiness can stay as an activity and eligibility filter, but rate-sensitivity cut-offs should be re-fitted on observed outcomes, and the two outcomes - emptying the pocket and losing balance - should be scored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320,109 funded customers holding THB 5,477,500,352. Increase 52,651 customers adding +THB 682m, Decrease 89,898 customers losing −THB 470m, net +THB 211m. Stable is the largest group either way, 55.5% of customers and 57.0% of prior balance, and contributes essentially nothing to the net change. The three-way split explains what the binary sticky flag was hiding. That flag counted Increase and Stable together, so the Very Low tier scored 92% sticky purely because 82% of it is Stable - those accounts average THB 143 and nothing happens in them. By customer the tiers look very different: Very High decreases at 46.4% against Very Low at 7.7%. By balance they converge - 23.4%, 24.9%, 23.4% across the top three tiers. The practical implication is that the stickiness score ranks customers by how active their balance is, not by how much money is at risk, so retention targeting built on it will chase headcount rather than baht.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splits the base 41.5% High, 55.7% Medium, 2.8% Low by customer, but 61.6% / 29.4% / 8.9% by balance. Average prior balance runs THB 25,414 High, THB 9,040 Medium and THB 54,539 Low, so the least reliable scores attach to the largest accounts - the opposite of what a data-quality problem usually looks like. In this extract confidence tracks the Save Max feed exactly: all 108 Medium and Low Confidence cells have prev_bal_save_max of zero and latest_bal_save_max NULL, while all 93 High Confidence cells carry real values. So a Low Confidence score is not a noisy estimate, it is a score computed without one of its inputs, and the missing input is the promotional product the whole framework is built around. Worth confirming at source. Balance change is positive in every band: High +124.9m, Medium +62.7m, Low +23.5m. Low Confidence decreases on 41.5% of its customers but only 13.8% of its balance, so within that band the large accounts are the stable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193m, total balance +THB 111m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now zero. prev / latest balance is the customer's total deposit balance, not Save Max alone.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47,184  ·  Moved 6,671 (14.1%)  ·  Save Max THB 685m → 492m  ·  Total THB 2.90bn → 3.01bn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28%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6,671</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14.1%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193m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−28.2%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30098"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685m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380650"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492m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5618"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2,902m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3,013m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5050"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12.9%</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2,387 of 18,572</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1026" cy="164592"/>
          </a:xfrm>
          <a:prstGeom prst="roundRect">
            <a:avLst>
              <a:gd name="adj" fmla="val 20936"/>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7.2%</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1,553 of 21,676</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176207" cy="164592"/>
          </a:xfrm>
          <a:prstGeom prst="roundRect">
            <a:avLst>
              <a:gd name="adj" fmla="val 16667"/>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9.6%</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169 of 1,754</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193m but the book gained THB 111m</a:t>
            </a:r>
            <a:pPr indent="0" marL="0">
              <a:buNone/>
            </a:pPr>
            <a:r>
              <a:rPr lang="en-US" sz="1100" dirty="0">
                <a:solidFill>
                  <a:srgbClr val="16233D"/>
                </a:solidFill>
                <a:latin typeface="Graphik TH" pitchFamily="34" charset="0"/>
                <a:ea typeface="Graphik TH" pitchFamily="34" charset="-122"/>
                <a:cs typeface="Graphik TH" pitchFamily="34" charset="-120"/>
              </a:rPr>
              <a:t>  —  the 6,671 customers who emptied Save Max took THB 123m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6,671   ·   With Save More 3,912 → +THB 81m (+8.8%)   ·   Without Save More 2,759 → −THB 39m (−72.9%)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3,912</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59%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924m → THB 1.01bn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2,759</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41%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54m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the rule marks 100%</a:t>
            </a:r>
            <a:endParaRPr lang="en-US" sz="950" dirty="0"/>
          </a:p>
        </p:txBody>
      </p:sp>
      <p:sp>
        <p:nvSpPr>
          <p:cNvPr id="25" name="Shape 23"/>
          <p:cNvSpPr/>
          <p:nvPr/>
        </p:nvSpPr>
        <p:spPr>
          <a:xfrm>
            <a:off x="4512148" y="3419856"/>
            <a:ext cx="10973" cy="1499616"/>
          </a:xfrm>
          <a:prstGeom prst="rect">
            <a:avLst/>
          </a:prstGeom>
          <a:solidFill>
            <a:srgbClr val="6B7A90"/>
          </a:solidFill>
          <a:ln/>
        </p:spPr>
      </p:sp>
      <p:sp>
        <p:nvSpPr>
          <p:cNvPr id="26" name="Text 24"/>
          <p:cNvSpPr/>
          <p:nvPr/>
        </p:nvSpPr>
        <p:spPr>
          <a:xfrm>
            <a:off x="786384" y="34747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holds Save More</a:t>
            </a:r>
            <a:endParaRPr lang="en-US" sz="1000" dirty="0"/>
          </a:p>
        </p:txBody>
      </p:sp>
      <p:sp>
        <p:nvSpPr>
          <p:cNvPr id="27" name="Shape 25"/>
          <p:cNvSpPr/>
          <p:nvPr/>
        </p:nvSpPr>
        <p:spPr>
          <a:xfrm>
            <a:off x="2724912" y="3520440"/>
            <a:ext cx="1965960" cy="164592"/>
          </a:xfrm>
          <a:prstGeom prst="roundRect">
            <a:avLst>
              <a:gd name="adj" fmla="val 16667"/>
            </a:avLst>
          </a:prstGeom>
          <a:solidFill>
            <a:srgbClr val="E4E9F0"/>
          </a:solidFill>
          <a:ln/>
        </p:spPr>
      </p:sp>
      <p:sp>
        <p:nvSpPr>
          <p:cNvPr id="28" name="Shape 26"/>
          <p:cNvSpPr/>
          <p:nvPr/>
        </p:nvSpPr>
        <p:spPr>
          <a:xfrm>
            <a:off x="2724912" y="3520440"/>
            <a:ext cx="1944129" cy="164592"/>
          </a:xfrm>
          <a:prstGeom prst="roundRect">
            <a:avLst>
              <a:gd name="adj" fmla="val 16667"/>
            </a:avLst>
          </a:prstGeom>
          <a:solidFill>
            <a:srgbClr val="1E8E86"/>
          </a:solidFill>
          <a:ln/>
        </p:spPr>
      </p:sp>
      <p:sp>
        <p:nvSpPr>
          <p:cNvPr id="29" name="Text 27"/>
          <p:cNvSpPr/>
          <p:nvPr/>
        </p:nvSpPr>
        <p:spPr>
          <a:xfrm>
            <a:off x="4782312" y="3474720"/>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108.8%</a:t>
            </a:r>
            <a:endParaRPr lang="en-US" sz="1000" dirty="0"/>
          </a:p>
        </p:txBody>
      </p:sp>
      <p:sp>
        <p:nvSpPr>
          <p:cNvPr id="30" name="Text 28"/>
          <p:cNvSpPr/>
          <p:nvPr/>
        </p:nvSpPr>
        <p:spPr>
          <a:xfrm>
            <a:off x="786384" y="385876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no Save More</a:t>
            </a:r>
            <a:endParaRPr lang="en-US" sz="1000" dirty="0"/>
          </a:p>
        </p:txBody>
      </p:sp>
      <p:sp>
        <p:nvSpPr>
          <p:cNvPr id="31" name="Shape 29"/>
          <p:cNvSpPr/>
          <p:nvPr/>
        </p:nvSpPr>
        <p:spPr>
          <a:xfrm>
            <a:off x="2724912" y="3904488"/>
            <a:ext cx="1965960" cy="164592"/>
          </a:xfrm>
          <a:prstGeom prst="roundRect">
            <a:avLst>
              <a:gd name="adj" fmla="val 16667"/>
            </a:avLst>
          </a:prstGeom>
          <a:solidFill>
            <a:srgbClr val="E4E9F0"/>
          </a:solidFill>
          <a:ln/>
        </p:spPr>
      </p:sp>
      <p:sp>
        <p:nvSpPr>
          <p:cNvPr id="32" name="Shape 30"/>
          <p:cNvSpPr/>
          <p:nvPr/>
        </p:nvSpPr>
        <p:spPr>
          <a:xfrm>
            <a:off x="2724912" y="3904488"/>
            <a:ext cx="484066" cy="164592"/>
          </a:xfrm>
          <a:prstGeom prst="roundRect">
            <a:avLst>
              <a:gd name="adj" fmla="val 16667"/>
            </a:avLst>
          </a:prstGeom>
          <a:solidFill>
            <a:srgbClr val="C00000"/>
          </a:solidFill>
          <a:ln/>
        </p:spPr>
      </p:sp>
      <p:sp>
        <p:nvSpPr>
          <p:cNvPr id="33" name="Text 31"/>
          <p:cNvSpPr/>
          <p:nvPr/>
        </p:nvSpPr>
        <p:spPr>
          <a:xfrm>
            <a:off x="4782312" y="3858768"/>
            <a:ext cx="10149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27.1%</a:t>
            </a:r>
            <a:endParaRPr lang="en-US" sz="1000" dirty="0"/>
          </a:p>
        </p:txBody>
      </p:sp>
      <p:sp>
        <p:nvSpPr>
          <p:cNvPr id="34" name="Text 32"/>
          <p:cNvSpPr/>
          <p:nvPr/>
        </p:nvSpPr>
        <p:spPr>
          <a:xfrm>
            <a:off x="786384" y="424281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holds Save More</a:t>
            </a:r>
            <a:endParaRPr lang="en-US" sz="1000" dirty="0"/>
          </a:p>
        </p:txBody>
      </p:sp>
      <p:sp>
        <p:nvSpPr>
          <p:cNvPr id="35" name="Shape 33"/>
          <p:cNvSpPr/>
          <p:nvPr/>
        </p:nvSpPr>
        <p:spPr>
          <a:xfrm>
            <a:off x="2724912" y="4288536"/>
            <a:ext cx="1965960" cy="164592"/>
          </a:xfrm>
          <a:prstGeom prst="roundRect">
            <a:avLst>
              <a:gd name="adj" fmla="val 16667"/>
            </a:avLst>
          </a:prstGeom>
          <a:solidFill>
            <a:srgbClr val="E4E9F0"/>
          </a:solidFill>
          <a:ln/>
        </p:spPr>
      </p:sp>
      <p:sp>
        <p:nvSpPr>
          <p:cNvPr id="36" name="Shape 34"/>
          <p:cNvSpPr/>
          <p:nvPr/>
        </p:nvSpPr>
        <p:spPr>
          <a:xfrm>
            <a:off x="2724912" y="4288536"/>
            <a:ext cx="1895287" cy="164592"/>
          </a:xfrm>
          <a:prstGeom prst="roundRect">
            <a:avLst>
              <a:gd name="adj" fmla="val 16667"/>
            </a:avLst>
          </a:prstGeom>
          <a:solidFill>
            <a:srgbClr val="1E8E86"/>
          </a:solidFill>
          <a:ln/>
        </p:spPr>
      </p:sp>
      <p:sp>
        <p:nvSpPr>
          <p:cNvPr id="37" name="Text 35"/>
          <p:cNvSpPr/>
          <p:nvPr/>
        </p:nvSpPr>
        <p:spPr>
          <a:xfrm>
            <a:off x="4782312" y="4242816"/>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106.0%</a:t>
            </a:r>
            <a:endParaRPr lang="en-US" sz="1000" dirty="0"/>
          </a:p>
        </p:txBody>
      </p:sp>
      <p:sp>
        <p:nvSpPr>
          <p:cNvPr id="38" name="Text 36"/>
          <p:cNvSpPr/>
          <p:nvPr/>
        </p:nvSpPr>
        <p:spPr>
          <a:xfrm>
            <a:off x="786384" y="4626864"/>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no Save More</a:t>
            </a:r>
            <a:endParaRPr lang="en-US" sz="1000" dirty="0"/>
          </a:p>
        </p:txBody>
      </p:sp>
      <p:sp>
        <p:nvSpPr>
          <p:cNvPr id="39" name="Shape 37"/>
          <p:cNvSpPr/>
          <p:nvPr/>
        </p:nvSpPr>
        <p:spPr>
          <a:xfrm>
            <a:off x="2724912" y="4672584"/>
            <a:ext cx="1965960" cy="164592"/>
          </a:xfrm>
          <a:prstGeom prst="roundRect">
            <a:avLst>
              <a:gd name="adj" fmla="val 16667"/>
            </a:avLst>
          </a:prstGeom>
          <a:solidFill>
            <a:srgbClr val="E4E9F0"/>
          </a:solidFill>
          <a:ln/>
        </p:spPr>
      </p:sp>
      <p:sp>
        <p:nvSpPr>
          <p:cNvPr id="40" name="Shape 38"/>
          <p:cNvSpPr/>
          <p:nvPr/>
        </p:nvSpPr>
        <p:spPr>
          <a:xfrm>
            <a:off x="2724912" y="4672584"/>
            <a:ext cx="1744873" cy="164592"/>
          </a:xfrm>
          <a:prstGeom prst="roundRect">
            <a:avLst>
              <a:gd name="adj" fmla="val 16667"/>
            </a:avLst>
          </a:prstGeom>
          <a:solidFill>
            <a:srgbClr val="8DA0B8"/>
          </a:solidFill>
          <a:ln/>
        </p:spPr>
      </p:sp>
      <p:sp>
        <p:nvSpPr>
          <p:cNvPr id="41" name="Text 39"/>
          <p:cNvSpPr/>
          <p:nvPr/>
        </p:nvSpPr>
        <p:spPr>
          <a:xfrm>
            <a:off x="4782312" y="4626864"/>
            <a:ext cx="10149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97.6%</a:t>
            </a:r>
            <a:endParaRPr lang="en-US" sz="1000" dirty="0"/>
          </a:p>
        </p:txBody>
      </p:sp>
      <p:sp>
        <p:nvSpPr>
          <p:cNvPr id="42" name="Text 40"/>
          <p:cNvSpPr/>
          <p:nvPr/>
        </p:nvSpPr>
        <p:spPr>
          <a:xfrm>
            <a:off x="4237828" y="4937760"/>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38144"/>
          <a:ext cx="5084064" cy="914400"/>
        </p:xfrm>
        <a:graphic>
          <a:graphicData uri="http://schemas.openxmlformats.org/drawingml/2006/table">
            <a:tbl>
              <a:tblPr/>
              <a:tblGrid>
                <a:gridCol w="1463040"/>
                <a:gridCol w="1810512"/>
                <a:gridCol w="1810512"/>
              </a:tblGrid>
              <a:tr h="36576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3,912</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+8.8%   +THB 81m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Graphik TH" pitchFamily="34" charset="0"/>
                          <a:ea typeface="Graphik TH" pitchFamily="34" charset="-122"/>
                          <a:cs typeface="Graphik TH" pitchFamily="34" charset="-120"/>
                        </a:rPr>
                        <a:t>2,759</a:t>
                      </a:r>
                      <a:endParaRPr lang="en-US" sz="950" dirty="0">
                        <a:latin typeface="Graphik TH" charset="0"/>
                        <a:ea typeface="Graphik TH" charset="0"/>
                        <a:cs typeface="Graphik TH" charset="0"/>
                      </a:endParaRPr>
                    </a:p>
                    <a:p>
                      <a:pPr algn="ctr" indent="0" marL="0">
                        <a:buNone/>
                      </a:pPr>
                      <a:r>
                        <a:rPr lang="en-US" sz="950" b="1" dirty="0">
                          <a:solidFill>
                            <a:srgbClr val="C00000"/>
                          </a:solidFill>
                          <a:latin typeface="Graphik TH" pitchFamily="34" charset="0"/>
                          <a:ea typeface="Graphik TH" pitchFamily="34" charset="-122"/>
                          <a:cs typeface="Graphik TH" pitchFamily="34" charset="-120"/>
                        </a:rPr>
                        <a:t>−72.9%   −THB 39m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6,414</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+6.0%   +THB 83m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34,099</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−2.4%   −THB 13m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47" name="Text 44"/>
          <p:cNvSpPr/>
          <p:nvPr/>
        </p:nvSpPr>
        <p:spPr>
          <a:xfrm>
            <a:off x="6537960" y="4626864"/>
            <a:ext cx="5010912" cy="40233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Save More holders move 37.9% of the time against 7.5% — they move far more often, but into the next pocket rather than out of the bank.</a:t>
            </a:r>
            <a:endParaRPr lang="en-US" sz="950" dirty="0"/>
          </a:p>
        </p:txBody>
      </p:sp>
      <p:sp>
        <p:nvSpPr>
          <p:cNvPr id="48" name="Shape 45"/>
          <p:cNvSpPr/>
          <p:nvPr/>
        </p:nvSpPr>
        <p:spPr>
          <a:xfrm>
            <a:off x="530352" y="5285232"/>
            <a:ext cx="11274552" cy="786384"/>
          </a:xfrm>
          <a:prstGeom prst="roundRect">
            <a:avLst>
              <a:gd name="adj" fmla="val 10465"/>
            </a:avLst>
          </a:prstGeom>
          <a:solidFill>
            <a:srgbClr val="FBF0E6"/>
          </a:solidFill>
          <a:ln/>
        </p:spPr>
      </p:sp>
      <p:sp>
        <p:nvSpPr>
          <p:cNvPr id="49" name="Text 46"/>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2,759 movers with no Save More kept only 27%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39m gone. The same behaviour with a Save More holding grew +8.8%. Cross-holding, not the stickiness score, is what converts a maturing promotion into retained deposits.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Move rate : deposit stickiness against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balance now zero. Each cell shows the move rate with its customer count beneath.</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Moved 6,671 (14.1%)   ·   Hottest cell: High stickiness × High sensitivity 56.2% on 2,788 customers</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Move rate climbs with both scores — the runoff sits in the sticky, rate-sensitive core, not in the low-stickiness corner.</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14.1%</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cohort move rate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6,671 of 47,184 emptied Save Max</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56.2%</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hottest cell</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stickiness × High sensitivity</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98.7%</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walked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6B7A90"/>
                </a:solidFill>
                <a:latin typeface="Graphik TH" pitchFamily="34" charset="0"/>
                <a:ea typeface="Graphik TH" pitchFamily="34" charset="-122"/>
                <a:cs typeface="Graphik TH" pitchFamily="34" charset="-120"/>
              </a:rPr>
              <a:t>297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in the 'fragile' corner</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cell</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deposit stickiness · columns: rate sensitivity · shaded by move rate</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61288"/>
                <a:gridCol w="1024128"/>
                <a:gridCol w="1024128"/>
                <a:gridCol w="1024128"/>
                <a:gridCol w="1024128"/>
                <a:gridCol w="1024128"/>
              </a:tblGrid>
              <a:tr h="23774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890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5C5"/>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5,595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0C1C1"/>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41.8%</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2,340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D04141"/>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14.2%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3,318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FBFB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829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8E3E3"/>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7,809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E0E0"/>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56.2%</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2,788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C00000"/>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12.6%</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15,007</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6C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12.9%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4,791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BEEEE"/>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38.8%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9.7%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236</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4D3D3"/>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2,073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CF4F4"/>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36.4%</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1,408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DF6F6"/>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stickiness</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new dimension, on its own</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1417320"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19.2%</a:t>
            </a:r>
            <a:endParaRPr lang="en-US" sz="1000" dirty="0"/>
          </a:p>
        </p:txBody>
      </p:sp>
      <p:sp>
        <p:nvSpPr>
          <p:cNvPr id="32" name="Text 29"/>
          <p:cNvSpPr/>
          <p:nvPr/>
        </p:nvSpPr>
        <p:spPr>
          <a:xfrm>
            <a:off x="10991088" y="343814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12,145</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128412"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15.3%</a:t>
            </a:r>
            <a:endParaRPr lang="en-US" sz="1000" dirty="0"/>
          </a:p>
        </p:txBody>
      </p:sp>
      <p:sp>
        <p:nvSpPr>
          <p:cNvPr id="36" name="Text 33"/>
          <p:cNvSpPr/>
          <p:nvPr/>
        </p:nvSpPr>
        <p:spPr>
          <a:xfrm>
            <a:off x="10991088" y="371246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26,435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22727"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4.4%</a:t>
            </a:r>
            <a:endParaRPr lang="en-US" sz="1000" dirty="0"/>
          </a:p>
        </p:txBody>
      </p:sp>
      <p:sp>
        <p:nvSpPr>
          <p:cNvPr id="40" name="Text 37"/>
          <p:cNvSpPr/>
          <p:nvPr/>
        </p:nvSpPr>
        <p:spPr>
          <a:xfrm>
            <a:off x="10991088" y="398678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5,107</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98128" cy="164592"/>
          </a:xfrm>
          <a:prstGeom prst="roundRect">
            <a:avLst>
              <a:gd name="adj" fmla="val 16667"/>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2.7%</a:t>
            </a:r>
            <a:endParaRPr lang="en-US" sz="1000" dirty="0"/>
          </a:p>
        </p:txBody>
      </p:sp>
      <p:sp>
        <p:nvSpPr>
          <p:cNvPr id="44" name="Text 41"/>
          <p:cNvSpPr/>
          <p:nvPr/>
        </p:nvSpPr>
        <p:spPr>
          <a:xfrm>
            <a:off x="10991088" y="426110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2,089</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41728" cy="164592"/>
          </a:xfrm>
          <a:prstGeom prst="roundRect">
            <a:avLst>
              <a:gd name="adj" fmla="val 19355"/>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1.9%</a:t>
            </a:r>
            <a:endParaRPr lang="en-US" sz="1000" dirty="0"/>
          </a:p>
        </p:txBody>
      </p:sp>
      <p:sp>
        <p:nvSpPr>
          <p:cNvPr id="48" name="Text 45"/>
          <p:cNvSpPr/>
          <p:nvPr/>
        </p:nvSpPr>
        <p:spPr>
          <a:xfrm>
            <a:off x="10991088" y="453542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1,408</a:t>
            </a:r>
            <a:endParaRPr lang="en-US" sz="850" dirty="0"/>
          </a:p>
        </p:txBody>
      </p:sp>
      <p:sp>
        <p:nvSpPr>
          <p:cNvPr id="49" name="Shape 46"/>
          <p:cNvSpPr/>
          <p:nvPr/>
        </p:nvSpPr>
        <p:spPr>
          <a:xfrm>
            <a:off x="7735824" y="4809744"/>
            <a:ext cx="3813048" cy="274320"/>
          </a:xfrm>
          <a:prstGeom prst="roundRect">
            <a:avLst>
              <a:gd name="adj" fmla="val 30000"/>
            </a:avLst>
          </a:prstGeom>
          <a:solidFill>
            <a:srgbClr val="FBF0E6"/>
          </a:solidFill>
          <a:ln/>
        </p:spPr>
      </p:sp>
      <p:sp>
        <p:nvSpPr>
          <p:cNvPr id="50" name="Text 47"/>
          <p:cNvSpPr/>
          <p:nvPr/>
        </p:nvSpPr>
        <p:spPr>
          <a:xfrm>
            <a:off x="7882128" y="4809744"/>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&lt; 60: 18.2% of customers, 1.6% of pocket.</a:t>
            </a:r>
            <a:endParaRPr lang="en-US" sz="950" dirty="0"/>
          </a:p>
        </p:txBody>
      </p:sp>
      <p:sp>
        <p:nvSpPr>
          <p:cNvPr id="51" name="Shape 48"/>
          <p:cNvSpPr/>
          <p:nvPr/>
        </p:nvSpPr>
        <p:spPr>
          <a:xfrm>
            <a:off x="530352" y="5285232"/>
            <a:ext cx="11274552" cy="786384"/>
          </a:xfrm>
          <a:prstGeom prst="roundRect">
            <a:avLst>
              <a:gd name="adj" fmla="val 10465"/>
            </a:avLst>
          </a:prstGeom>
          <a:solidFill>
            <a:srgbClr val="FBF0E6"/>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98.7% of the Save Max balance that walked came from customers scoring stickiness ≥ 60</a:t>
            </a:r>
            <a:pPr indent="0" marL="0">
              <a:buNone/>
            </a:pPr>
            <a:r>
              <a:rPr lang="en-US" sz="1100" dirty="0">
                <a:solidFill>
                  <a:srgbClr val="16233D"/>
                </a:solidFill>
                <a:latin typeface="Graphik TH" pitchFamily="34" charset="0"/>
                <a:ea typeface="Graphik TH" pitchFamily="34" charset="-122"/>
                <a:cs typeface="Graphik TH" pitchFamily="34" charset="-120"/>
              </a:rPr>
              <a:t>  —  the low-stickiness corner the decision view flags as fragile holds 297 customers and THB 5.9m. Low stickiness here means dormant, not disloyal.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Save Max holders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Prior THB 2.90bn → latest THB 3.01bn   ·   Change +111.3m (+3.8%)</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Every tier gained. The percentages reverse the ranking, but the low tiers grow from near-zero balances.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+111.3m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+71.4m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+4.0%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+1549.2%</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0.03m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95.5%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change per customer in THB</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024128"/>
                <a:gridCol w="868680"/>
                <a:gridCol w="868680"/>
                <a:gridCol w="868680"/>
                <a:gridCol w="868680"/>
                <a:gridCol w="905256"/>
                <a:gridCol w="877824"/>
              </a:tblGrid>
              <a:tr h="228600">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Stickiness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Latest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 %</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Chg / cust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12,145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1094.9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1129.8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+2,871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26,435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1773.1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1844.5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+4.0%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+2,702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5,107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33.0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+8.8%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+571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2,089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0.90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2.48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+174.7%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+754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1,408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0.03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0.51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+1549.2%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 tiers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47,184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2901.9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3013.2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+111.3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+2,358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+111.3m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691841"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31.3%</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+34.9</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64.2%</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+71.4</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57814" cy="164592"/>
          </a:xfrm>
          <a:prstGeom prst="roundRect">
            <a:avLst>
              <a:gd name="adj" fmla="val 47449"/>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2.6%</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31262" cy="164592"/>
          </a:xfrm>
          <a:prstGeom prst="roundRect">
            <a:avLst>
              <a:gd name="adj" fmla="val 87749"/>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1.4%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+1.6</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27432" cy="164592"/>
          </a:xfrm>
          <a:prstGeom prst="roundRect">
            <a:avLst>
              <a:gd name="adj" fmla="val 100000"/>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0.4%</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+0.5</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98.8%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+106.3m of the +111.3m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+174.7% and +1549.2%, but on prior balances of THB 0.90m and THB 0.03m. Rank the tiers on absolute change; read the percentages as a signal that dormant accounts are being funded again.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whole deposit base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*Whole funded deposit base (balance &gt; 0), all customers.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Prior THB 5.48bn → latest THB 5.69bn   ·   Change +211.1m (+3.9%)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same shape at seven times the size — but a fifth of the growth now comes from the three lower tiers.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+211.1m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+3.9%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+99.5m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+143.6%</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5.35m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79.2%</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change per customer in THB</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024128"/>
                <a:gridCol w="868680"/>
                <a:gridCol w="868680"/>
                <a:gridCol w="868680"/>
                <a:gridCol w="868680"/>
                <a:gridCol w="905256"/>
                <a:gridCol w="877824"/>
              </a:tblGrid>
              <a:tr h="228600">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Stickiness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Latest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 %</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Chg / cust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53,783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2663.8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2731.5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+67.6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+1,257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102,005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2585.6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2685.1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+99.5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+975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96,426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211.4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236.3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30,592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11.3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22.7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+100.6%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+372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37,303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13.0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+143.6%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+206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 tiers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320,109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5477.5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5688.6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+211.1m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963748"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32.0%</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+67.6</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47.1%</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+99.5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55231"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11.8%</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+24.9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62359" cy="164592"/>
          </a:xfrm>
          <a:prstGeom prst="roundRect">
            <a:avLst>
              <a:gd name="adj" fmla="val 16896"/>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5.4%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+11.4</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09383" cy="164592"/>
          </a:xfrm>
          <a:prstGeom prst="roundRect">
            <a:avLst>
              <a:gd name="adj" fmla="val 25079"/>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3.6%</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+7.7</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95.8%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+167.1m of the +211.1m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+100.6% and +143.6%, but on prior balances of THB 11.3m and THB 5.35m. Rank the tiers on absolute change; read the percentages as a signal that dormant accounts are being funded again.</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inversion belongs to rate sensitivity, not stickiness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*Move rate = share of tier that emptied Save Max. Percentages suppressed below THB 5m prior balance; tiers under 50 customers greyed.</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 rate 14.1%   ·   Balance +111.3m   ·   Stickiness ≥ 60 contributed +106.3m of it</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ranks both measures the same way; rate sensitivity ranks them in opposite directions.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000" b="1" dirty="0">
                <a:solidFill>
                  <a:srgbClr val="00A896"/>
                </a:solidFill>
                <a:latin typeface="Graphik TH" pitchFamily="34" charset="0"/>
                <a:ea typeface="Graphik TH" pitchFamily="34" charset="-122"/>
                <a:cs typeface="Graphik TH" pitchFamily="34" charset="-120"/>
              </a:rPr>
              <a:t>1.9% → 19.2%</a:t>
            </a:r>
            <a:endParaRPr lang="en-US" sz="20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by stickiness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Very Low tier to Very High tier</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+106.3m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gained by stickiness ≥ 60</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96% of the cohort's total gain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49.5% / 12.9%</a:t>
            </a:r>
            <a:endParaRPr lang="en-US" sz="18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High / V.High</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the score's top band moves least</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+144.7 / −36.0</a:t>
            </a:r>
            <a:endParaRPr lang="en-US" sz="18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change, THB m</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same pair, opposite directions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Deposit stickiness</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rise together — no inversion</a:t>
            </a:r>
            <a:endParaRPr lang="en-US" sz="950" dirty="0"/>
          </a:p>
        </p:txBody>
      </p:sp>
      <p:sp>
        <p:nvSpPr>
          <p:cNvPr id="25" name="Text 23"/>
          <p:cNvSpPr/>
          <p:nvPr/>
        </p:nvSpPr>
        <p:spPr>
          <a:xfrm>
            <a:off x="1755648"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26" name="Text 24"/>
          <p:cNvSpPr/>
          <p:nvPr/>
        </p:nvSpPr>
        <p:spPr>
          <a:xfrm>
            <a:off x="3547872"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27" name="Shape 25"/>
          <p:cNvSpPr/>
          <p:nvPr/>
        </p:nvSpPr>
        <p:spPr>
          <a:xfrm>
            <a:off x="4114800" y="3584448"/>
            <a:ext cx="10973" cy="1444752"/>
          </a:xfrm>
          <a:prstGeom prst="rect">
            <a:avLst/>
          </a:prstGeom>
          <a:solidFill>
            <a:srgbClr val="6B7A90"/>
          </a:solidFill>
          <a:ln/>
        </p:spPr>
      </p:sp>
      <p:sp>
        <p:nvSpPr>
          <p:cNvPr id="28" name="Text 26"/>
          <p:cNvSpPr/>
          <p:nvPr/>
        </p:nvSpPr>
        <p:spPr>
          <a:xfrm>
            <a:off x="786384"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29" name="Shape 27"/>
          <p:cNvSpPr/>
          <p:nvPr/>
        </p:nvSpPr>
        <p:spPr>
          <a:xfrm>
            <a:off x="1755648" y="3666744"/>
            <a:ext cx="1005840" cy="164592"/>
          </a:xfrm>
          <a:prstGeom prst="roundRect">
            <a:avLst>
              <a:gd name="adj" fmla="val 16667"/>
            </a:avLst>
          </a:prstGeom>
          <a:solidFill>
            <a:srgbClr val="165A73"/>
          </a:solidFill>
          <a:ln/>
        </p:spPr>
      </p:sp>
      <p:sp>
        <p:nvSpPr>
          <p:cNvPr id="30" name="Text 28"/>
          <p:cNvSpPr/>
          <p:nvPr/>
        </p:nvSpPr>
        <p:spPr>
          <a:xfrm>
            <a:off x="2798064"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19.2%</a:t>
            </a:r>
            <a:endParaRPr lang="en-US" sz="950" dirty="0"/>
          </a:p>
        </p:txBody>
      </p:sp>
      <p:sp>
        <p:nvSpPr>
          <p:cNvPr id="31" name="Shape 29"/>
          <p:cNvSpPr/>
          <p:nvPr/>
        </p:nvSpPr>
        <p:spPr>
          <a:xfrm>
            <a:off x="4114800" y="3666744"/>
            <a:ext cx="232102" cy="164592"/>
          </a:xfrm>
          <a:prstGeom prst="roundRect">
            <a:avLst>
              <a:gd name="adj" fmla="val 16667"/>
            </a:avLst>
          </a:prstGeom>
          <a:solidFill>
            <a:srgbClr val="1E8E86"/>
          </a:solidFill>
          <a:ln/>
        </p:spPr>
      </p:sp>
      <p:sp>
        <p:nvSpPr>
          <p:cNvPr id="32" name="Text 30"/>
          <p:cNvSpPr/>
          <p:nvPr/>
        </p:nvSpPr>
        <p:spPr>
          <a:xfrm>
            <a:off x="4626864" y="3621024"/>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 (+3.2%)</a:t>
            </a:r>
            <a:endParaRPr lang="en-US" sz="850" dirty="0"/>
          </a:p>
        </p:txBody>
      </p:sp>
      <p:sp>
        <p:nvSpPr>
          <p:cNvPr id="33" name="Text 31"/>
          <p:cNvSpPr/>
          <p:nvPr/>
        </p:nvSpPr>
        <p:spPr>
          <a:xfrm>
            <a:off x="786384"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34" name="Shape 32"/>
          <p:cNvSpPr/>
          <p:nvPr/>
        </p:nvSpPr>
        <p:spPr>
          <a:xfrm>
            <a:off x="1755648" y="3959352"/>
            <a:ext cx="800809" cy="164592"/>
          </a:xfrm>
          <a:prstGeom prst="roundRect">
            <a:avLst>
              <a:gd name="adj" fmla="val 16667"/>
            </a:avLst>
          </a:prstGeom>
          <a:solidFill>
            <a:srgbClr val="165A73"/>
          </a:solidFill>
          <a:ln/>
        </p:spPr>
      </p:sp>
      <p:sp>
        <p:nvSpPr>
          <p:cNvPr id="35" name="Text 33"/>
          <p:cNvSpPr/>
          <p:nvPr/>
        </p:nvSpPr>
        <p:spPr>
          <a:xfrm>
            <a:off x="2798064"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15.3%</a:t>
            </a:r>
            <a:endParaRPr lang="en-US" sz="950" dirty="0"/>
          </a:p>
        </p:txBody>
      </p:sp>
      <p:sp>
        <p:nvSpPr>
          <p:cNvPr id="36" name="Shape 34"/>
          <p:cNvSpPr/>
          <p:nvPr/>
        </p:nvSpPr>
        <p:spPr>
          <a:xfrm>
            <a:off x="4114800" y="3959352"/>
            <a:ext cx="475488" cy="164592"/>
          </a:xfrm>
          <a:prstGeom prst="roundRect">
            <a:avLst>
              <a:gd name="adj" fmla="val 16667"/>
            </a:avLst>
          </a:prstGeom>
          <a:solidFill>
            <a:srgbClr val="1E8E86"/>
          </a:solidFill>
          <a:ln/>
        </p:spPr>
      </p:sp>
      <p:sp>
        <p:nvSpPr>
          <p:cNvPr id="37" name="Text 35"/>
          <p:cNvSpPr/>
          <p:nvPr/>
        </p:nvSpPr>
        <p:spPr>
          <a:xfrm>
            <a:off x="4626864"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 (+4.0%)</a:t>
            </a:r>
            <a:endParaRPr lang="en-US" sz="850" dirty="0"/>
          </a:p>
        </p:txBody>
      </p:sp>
      <p:sp>
        <p:nvSpPr>
          <p:cNvPr id="38" name="Text 36"/>
          <p:cNvSpPr/>
          <p:nvPr/>
        </p:nvSpPr>
        <p:spPr>
          <a:xfrm>
            <a:off x="786384" y="4206240"/>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p>
        </p:txBody>
      </p:sp>
      <p:sp>
        <p:nvSpPr>
          <p:cNvPr id="39" name="Shape 37"/>
          <p:cNvSpPr/>
          <p:nvPr/>
        </p:nvSpPr>
        <p:spPr>
          <a:xfrm>
            <a:off x="1755648" y="4251960"/>
            <a:ext cx="229032" cy="164592"/>
          </a:xfrm>
          <a:prstGeom prst="roundRect">
            <a:avLst>
              <a:gd name="adj" fmla="val 16667"/>
            </a:avLst>
          </a:prstGeom>
          <a:solidFill>
            <a:srgbClr val="165A73"/>
          </a:solidFill>
          <a:ln/>
        </p:spPr>
      </p:sp>
      <p:sp>
        <p:nvSpPr>
          <p:cNvPr id="40" name="Text 38"/>
          <p:cNvSpPr/>
          <p:nvPr/>
        </p:nvSpPr>
        <p:spPr>
          <a:xfrm>
            <a:off x="2798064" y="4206240"/>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4.4%</a:t>
            </a:r>
            <a:endParaRPr lang="en-US" sz="950" dirty="0"/>
          </a:p>
        </p:txBody>
      </p:sp>
      <p:sp>
        <p:nvSpPr>
          <p:cNvPr id="41" name="Shape 39"/>
          <p:cNvSpPr/>
          <p:nvPr/>
        </p:nvSpPr>
        <p:spPr>
          <a:xfrm>
            <a:off x="4114800" y="4251960"/>
            <a:ext cx="27432" cy="164592"/>
          </a:xfrm>
          <a:prstGeom prst="roundRect">
            <a:avLst>
              <a:gd name="adj" fmla="val 100000"/>
            </a:avLst>
          </a:prstGeom>
          <a:solidFill>
            <a:srgbClr val="1E8E86"/>
          </a:solidFill>
          <a:ln/>
        </p:spPr>
      </p:sp>
      <p:sp>
        <p:nvSpPr>
          <p:cNvPr id="42" name="Text 40"/>
          <p:cNvSpPr/>
          <p:nvPr/>
        </p:nvSpPr>
        <p:spPr>
          <a:xfrm>
            <a:off x="4626864" y="4206240"/>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 (+8.8%)</a:t>
            </a:r>
            <a:endParaRPr lang="en-US" sz="850" dirty="0"/>
          </a:p>
        </p:txBody>
      </p:sp>
      <p:sp>
        <p:nvSpPr>
          <p:cNvPr id="43" name="Text 41"/>
          <p:cNvSpPr/>
          <p:nvPr/>
        </p:nvSpPr>
        <p:spPr>
          <a:xfrm>
            <a:off x="786384"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44" name="Shape 42"/>
          <p:cNvSpPr/>
          <p:nvPr/>
        </p:nvSpPr>
        <p:spPr>
          <a:xfrm>
            <a:off x="1755648" y="4544568"/>
            <a:ext cx="140607" cy="164592"/>
          </a:xfrm>
          <a:prstGeom prst="roundRect">
            <a:avLst>
              <a:gd name="adj" fmla="val 19510"/>
            </a:avLst>
          </a:prstGeom>
          <a:solidFill>
            <a:srgbClr val="165A73"/>
          </a:solidFill>
          <a:ln/>
        </p:spPr>
      </p:sp>
      <p:sp>
        <p:nvSpPr>
          <p:cNvPr id="45" name="Text 43"/>
          <p:cNvSpPr/>
          <p:nvPr/>
        </p:nvSpPr>
        <p:spPr>
          <a:xfrm>
            <a:off x="2798064"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2.7%</a:t>
            </a:r>
            <a:endParaRPr lang="en-US" sz="950" dirty="0"/>
          </a:p>
        </p:txBody>
      </p:sp>
      <p:sp>
        <p:nvSpPr>
          <p:cNvPr id="46" name="Shape 44"/>
          <p:cNvSpPr/>
          <p:nvPr/>
        </p:nvSpPr>
        <p:spPr>
          <a:xfrm>
            <a:off x="4114800" y="4544568"/>
            <a:ext cx="27432" cy="164592"/>
          </a:xfrm>
          <a:prstGeom prst="roundRect">
            <a:avLst>
              <a:gd name="adj" fmla="val 100000"/>
            </a:avLst>
          </a:prstGeom>
          <a:solidFill>
            <a:srgbClr val="1E8E86"/>
          </a:solidFill>
          <a:ln/>
        </p:spPr>
      </p:sp>
      <p:sp>
        <p:nvSpPr>
          <p:cNvPr id="47" name="Text 45"/>
          <p:cNvSpPr/>
          <p:nvPr/>
        </p:nvSpPr>
        <p:spPr>
          <a:xfrm>
            <a:off x="4626864"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p>
        </p:txBody>
      </p:sp>
      <p:sp>
        <p:nvSpPr>
          <p:cNvPr id="48" name="Text 46"/>
          <p:cNvSpPr/>
          <p:nvPr/>
        </p:nvSpPr>
        <p:spPr>
          <a:xfrm>
            <a:off x="786384"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49" name="Shape 47"/>
          <p:cNvSpPr/>
          <p:nvPr/>
        </p:nvSpPr>
        <p:spPr>
          <a:xfrm>
            <a:off x="1755648" y="4837176"/>
            <a:ext cx="100581" cy="164592"/>
          </a:xfrm>
          <a:prstGeom prst="roundRect">
            <a:avLst>
              <a:gd name="adj" fmla="val 27274"/>
            </a:avLst>
          </a:prstGeom>
          <a:solidFill>
            <a:srgbClr val="165A73"/>
          </a:solidFill>
          <a:ln/>
        </p:spPr>
      </p:sp>
      <p:sp>
        <p:nvSpPr>
          <p:cNvPr id="50" name="Text 48"/>
          <p:cNvSpPr/>
          <p:nvPr/>
        </p:nvSpPr>
        <p:spPr>
          <a:xfrm>
            <a:off x="2798064"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a:t>
            </a:r>
            <a:endParaRPr lang="en-US" sz="950" dirty="0"/>
          </a:p>
        </p:txBody>
      </p:sp>
      <p:sp>
        <p:nvSpPr>
          <p:cNvPr id="51" name="Shape 49"/>
          <p:cNvSpPr/>
          <p:nvPr/>
        </p:nvSpPr>
        <p:spPr>
          <a:xfrm>
            <a:off x="4114800" y="4837176"/>
            <a:ext cx="27432" cy="164592"/>
          </a:xfrm>
          <a:prstGeom prst="roundRect">
            <a:avLst>
              <a:gd name="adj" fmla="val 100000"/>
            </a:avLst>
          </a:prstGeom>
          <a:solidFill>
            <a:srgbClr val="1E8E86"/>
          </a:solidFill>
          <a:ln/>
        </p:spPr>
      </p:sp>
      <p:sp>
        <p:nvSpPr>
          <p:cNvPr id="52" name="Text 50"/>
          <p:cNvSpPr/>
          <p:nvPr/>
        </p:nvSpPr>
        <p:spPr>
          <a:xfrm>
            <a:off x="4626864" y="4791456"/>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p>
        </p:txBody>
      </p:sp>
      <p:sp>
        <p:nvSpPr>
          <p:cNvPr id="53" name="Shape 51"/>
          <p:cNvSpPr/>
          <p:nvPr/>
        </p:nvSpPr>
        <p:spPr>
          <a:xfrm>
            <a:off x="6281928" y="2798064"/>
            <a:ext cx="5522976" cy="2322576"/>
          </a:xfrm>
          <a:prstGeom prst="roundRect">
            <a:avLst>
              <a:gd name="adj" fmla="val 3543"/>
            </a:avLst>
          </a:prstGeom>
          <a:solidFill>
            <a:srgbClr val="F1F4F9"/>
          </a:solidFill>
          <a:ln/>
        </p:spPr>
      </p:sp>
      <p:sp>
        <p:nvSpPr>
          <p:cNvPr id="54" name="Text 5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Rate sensitivity</a:t>
            </a:r>
            <a:endParaRPr lang="en-US" sz="1400" dirty="0"/>
          </a:p>
        </p:txBody>
      </p:sp>
      <p:sp>
        <p:nvSpPr>
          <p:cNvPr id="55" name="Text 5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two measures point in opposite directions</a:t>
            </a:r>
            <a:endParaRPr lang="en-US" sz="950" dirty="0"/>
          </a:p>
        </p:txBody>
      </p:sp>
      <p:sp>
        <p:nvSpPr>
          <p:cNvPr id="56" name="Text 54"/>
          <p:cNvSpPr/>
          <p:nvPr/>
        </p:nvSpPr>
        <p:spPr>
          <a:xfrm>
            <a:off x="7507224"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57" name="Text 55"/>
          <p:cNvSpPr/>
          <p:nvPr/>
        </p:nvSpPr>
        <p:spPr>
          <a:xfrm>
            <a:off x="9299448"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58" name="Shape 56"/>
          <p:cNvSpPr/>
          <p:nvPr/>
        </p:nvSpPr>
        <p:spPr>
          <a:xfrm>
            <a:off x="9866376" y="3584448"/>
            <a:ext cx="10973" cy="1444752"/>
          </a:xfrm>
          <a:prstGeom prst="rect">
            <a:avLst/>
          </a:prstGeom>
          <a:solidFill>
            <a:srgbClr val="6B7A90"/>
          </a:solidFill>
          <a:ln/>
        </p:spPr>
      </p:sp>
      <p:sp>
        <p:nvSpPr>
          <p:cNvPr id="59" name="Text 57"/>
          <p:cNvSpPr/>
          <p:nvPr/>
        </p:nvSpPr>
        <p:spPr>
          <a:xfrm>
            <a:off x="6537960"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60" name="Shape 58"/>
          <p:cNvSpPr/>
          <p:nvPr/>
        </p:nvSpPr>
        <p:spPr>
          <a:xfrm>
            <a:off x="7507224" y="3666744"/>
            <a:ext cx="261280" cy="164592"/>
          </a:xfrm>
          <a:prstGeom prst="roundRect">
            <a:avLst>
              <a:gd name="adj" fmla="val 16667"/>
            </a:avLst>
          </a:prstGeom>
          <a:solidFill>
            <a:srgbClr val="165A73"/>
          </a:solidFill>
          <a:ln/>
        </p:spPr>
      </p:sp>
      <p:sp>
        <p:nvSpPr>
          <p:cNvPr id="61" name="Text 59"/>
          <p:cNvSpPr/>
          <p:nvPr/>
        </p:nvSpPr>
        <p:spPr>
          <a:xfrm>
            <a:off x="8549640"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12.9%</a:t>
            </a:r>
            <a:endParaRPr lang="en-US" sz="950" dirty="0"/>
          </a:p>
        </p:txBody>
      </p:sp>
      <p:sp>
        <p:nvSpPr>
          <p:cNvPr id="62" name="Shape 60"/>
          <p:cNvSpPr/>
          <p:nvPr/>
        </p:nvSpPr>
        <p:spPr>
          <a:xfrm>
            <a:off x="9748140" y="3666744"/>
            <a:ext cx="118236" cy="164592"/>
          </a:xfrm>
          <a:prstGeom prst="roundRect">
            <a:avLst>
              <a:gd name="adj" fmla="val 23201"/>
            </a:avLst>
          </a:prstGeom>
          <a:solidFill>
            <a:srgbClr val="C00000"/>
          </a:solidFill>
          <a:ln/>
        </p:spPr>
      </p:sp>
      <p:sp>
        <p:nvSpPr>
          <p:cNvPr id="63" name="Text 61"/>
          <p:cNvSpPr/>
          <p:nvPr/>
        </p:nvSpPr>
        <p:spPr>
          <a:xfrm>
            <a:off x="10378440" y="3621024"/>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−36.0 (−2.5%)</a:t>
            </a:r>
            <a:endParaRPr lang="en-US" sz="850" dirty="0"/>
          </a:p>
        </p:txBody>
      </p:sp>
      <p:sp>
        <p:nvSpPr>
          <p:cNvPr id="64" name="Text 62"/>
          <p:cNvSpPr/>
          <p:nvPr/>
        </p:nvSpPr>
        <p:spPr>
          <a:xfrm>
            <a:off x="6537960"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65" name="Shape 63"/>
          <p:cNvSpPr/>
          <p:nvPr/>
        </p:nvSpPr>
        <p:spPr>
          <a:xfrm>
            <a:off x="7507224" y="3959352"/>
            <a:ext cx="1005840" cy="164592"/>
          </a:xfrm>
          <a:prstGeom prst="roundRect">
            <a:avLst>
              <a:gd name="adj" fmla="val 16667"/>
            </a:avLst>
          </a:prstGeom>
          <a:solidFill>
            <a:srgbClr val="165A73"/>
          </a:solidFill>
          <a:ln/>
        </p:spPr>
      </p:sp>
      <p:sp>
        <p:nvSpPr>
          <p:cNvPr id="66" name="Text 64"/>
          <p:cNvSpPr/>
          <p:nvPr/>
        </p:nvSpPr>
        <p:spPr>
          <a:xfrm>
            <a:off x="8549640"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49.5%</a:t>
            </a:r>
            <a:endParaRPr lang="en-US" sz="950" dirty="0"/>
          </a:p>
        </p:txBody>
      </p:sp>
      <p:sp>
        <p:nvSpPr>
          <p:cNvPr id="67" name="Shape 65"/>
          <p:cNvSpPr/>
          <p:nvPr/>
        </p:nvSpPr>
        <p:spPr>
          <a:xfrm>
            <a:off x="9866376" y="3959352"/>
            <a:ext cx="475488" cy="164592"/>
          </a:xfrm>
          <a:prstGeom prst="roundRect">
            <a:avLst>
              <a:gd name="adj" fmla="val 16667"/>
            </a:avLst>
          </a:prstGeom>
          <a:solidFill>
            <a:srgbClr val="1E8E86"/>
          </a:solidFill>
          <a:ln/>
        </p:spPr>
      </p:sp>
      <p:sp>
        <p:nvSpPr>
          <p:cNvPr id="68" name="Text 66"/>
          <p:cNvSpPr/>
          <p:nvPr/>
        </p:nvSpPr>
        <p:spPr>
          <a:xfrm>
            <a:off x="10378440"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+144.7 (+12.4%)</a:t>
            </a:r>
            <a:endParaRPr lang="en-US" sz="850" dirty="0"/>
          </a:p>
        </p:txBody>
      </p:sp>
      <p:sp>
        <p:nvSpPr>
          <p:cNvPr id="69" name="Text 67"/>
          <p:cNvSpPr/>
          <p:nvPr/>
        </p:nvSpPr>
        <p:spPr>
          <a:xfrm>
            <a:off x="6537960" y="4206240"/>
            <a:ext cx="914400" cy="256032"/>
          </a:xfrm>
          <a:prstGeom prst="rect">
            <a:avLst/>
          </a:prstGeom>
          <a:noFill/>
          <a:ln/>
        </p:spPr>
        <p:txBody>
          <a:bodyPr wrap="square" lIns="0" tIns="0" rIns="0" bIns="0" rtlCol="0" anchor="ctr"/>
          <a:lstStyle/>
          <a:p>
            <a:pPr indent="0" marL="0">
              <a:buNone/>
            </a:pPr>
            <a:r>
              <a:rPr lang="en-US" sz="950" b="1" dirty="0">
                <a:solidFill>
                  <a:srgbClr val="6B7A90"/>
                </a:solidFill>
                <a:latin typeface="Graphik TH" pitchFamily="34" charset="0"/>
                <a:ea typeface="Graphik TH" pitchFamily="34" charset="-122"/>
                <a:cs typeface="Graphik TH" pitchFamily="34" charset="-120"/>
              </a:rPr>
              <a:t>Medium</a:t>
            </a:r>
            <a:endParaRPr lang="en-US" sz="950" dirty="0"/>
          </a:p>
        </p:txBody>
      </p:sp>
      <p:sp>
        <p:nvSpPr>
          <p:cNvPr id="70" name="Shape 68"/>
          <p:cNvSpPr/>
          <p:nvPr/>
        </p:nvSpPr>
        <p:spPr>
          <a:xfrm>
            <a:off x="7507224" y="4251960"/>
            <a:ext cx="27432" cy="164592"/>
          </a:xfrm>
          <a:prstGeom prst="roundRect">
            <a:avLst>
              <a:gd name="adj" fmla="val 100000"/>
            </a:avLst>
          </a:prstGeom>
          <a:solidFill>
            <a:srgbClr val="D8DFE9"/>
          </a:solidFill>
          <a:ln/>
        </p:spPr>
      </p:sp>
      <p:sp>
        <p:nvSpPr>
          <p:cNvPr id="71" name="Text 69"/>
          <p:cNvSpPr/>
          <p:nvPr/>
        </p:nvSpPr>
        <p:spPr>
          <a:xfrm>
            <a:off x="8549640" y="4206240"/>
            <a:ext cx="512064" cy="256032"/>
          </a:xfrm>
          <a:prstGeom prst="rect">
            <a:avLst/>
          </a:prstGeom>
          <a:noFill/>
          <a:ln/>
        </p:spPr>
        <p:txBody>
          <a:bodyPr wrap="square" lIns="0" tIns="0" rIns="0" bIns="0" rtlCol="0" anchor="ctr"/>
          <a:lstStyle/>
          <a:p>
            <a:pPr algn="r" indent="0" marL="0">
              <a:buNone/>
            </a:pPr>
            <a:r>
              <a:rPr lang="en-US" sz="950" b="1" dirty="0">
                <a:solidFill>
                  <a:srgbClr val="6B7A90"/>
                </a:solidFill>
                <a:latin typeface="Graphik TH" pitchFamily="34" charset="0"/>
                <a:ea typeface="Graphik TH" pitchFamily="34" charset="-122"/>
                <a:cs typeface="Graphik TH" pitchFamily="34" charset="-120"/>
              </a:rPr>
              <a:t>0.0%</a:t>
            </a:r>
            <a:endParaRPr lang="en-US" sz="950" dirty="0"/>
          </a:p>
        </p:txBody>
      </p:sp>
      <p:sp>
        <p:nvSpPr>
          <p:cNvPr id="72" name="Shape 70"/>
          <p:cNvSpPr/>
          <p:nvPr/>
        </p:nvSpPr>
        <p:spPr>
          <a:xfrm>
            <a:off x="9838944" y="4251960"/>
            <a:ext cx="27432" cy="164592"/>
          </a:xfrm>
          <a:prstGeom prst="roundRect">
            <a:avLst>
              <a:gd name="adj" fmla="val 100000"/>
            </a:avLst>
          </a:prstGeom>
          <a:solidFill>
            <a:srgbClr val="D8DFE9"/>
          </a:solidFill>
          <a:ln/>
        </p:spPr>
      </p:sp>
      <p:sp>
        <p:nvSpPr>
          <p:cNvPr id="73" name="Text 71"/>
          <p:cNvSpPr/>
          <p:nvPr/>
        </p:nvSpPr>
        <p:spPr>
          <a:xfrm>
            <a:off x="10378440" y="4206240"/>
            <a:ext cx="1170432" cy="256032"/>
          </a:xfrm>
          <a:prstGeom prst="rect">
            <a:avLst/>
          </a:prstGeom>
          <a:noFill/>
          <a:ln/>
        </p:spPr>
        <p:txBody>
          <a:bodyPr wrap="square" lIns="0" tIns="0" rIns="0" bIns="0" rtlCol="0" anchor="ctr"/>
          <a:lstStyle/>
          <a:p>
            <a:pPr algn="r" indent="0" marL="0">
              <a:buNone/>
            </a:pPr>
            <a:r>
              <a:rPr lang="en-US" sz="850" b="1" dirty="0">
                <a:solidFill>
                  <a:srgbClr val="6B7A90"/>
                </a:solidFill>
                <a:latin typeface="Graphik TH" pitchFamily="34" charset="0"/>
                <a:ea typeface="Graphik TH" pitchFamily="34" charset="-122"/>
                <a:cs typeface="Graphik TH" pitchFamily="34" charset="-120"/>
              </a:rPr>
              <a:t>−1.2 (−19.0%)</a:t>
            </a:r>
            <a:endParaRPr lang="en-US" sz="850" dirty="0"/>
          </a:p>
        </p:txBody>
      </p:sp>
      <p:sp>
        <p:nvSpPr>
          <p:cNvPr id="74" name="Text 72"/>
          <p:cNvSpPr/>
          <p:nvPr/>
        </p:nvSpPr>
        <p:spPr>
          <a:xfrm>
            <a:off x="6537960"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75" name="Shape 73"/>
          <p:cNvSpPr/>
          <p:nvPr/>
        </p:nvSpPr>
        <p:spPr>
          <a:xfrm>
            <a:off x="7507224" y="4544568"/>
            <a:ext cx="145648" cy="164592"/>
          </a:xfrm>
          <a:prstGeom prst="roundRect">
            <a:avLst>
              <a:gd name="adj" fmla="val 18834"/>
            </a:avLst>
          </a:prstGeom>
          <a:solidFill>
            <a:srgbClr val="165A73"/>
          </a:solidFill>
          <a:ln/>
        </p:spPr>
      </p:sp>
      <p:sp>
        <p:nvSpPr>
          <p:cNvPr id="76" name="Text 74"/>
          <p:cNvSpPr/>
          <p:nvPr/>
        </p:nvSpPr>
        <p:spPr>
          <a:xfrm>
            <a:off x="8549640"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7.2%</a:t>
            </a:r>
            <a:endParaRPr lang="en-US" sz="950" dirty="0"/>
          </a:p>
        </p:txBody>
      </p:sp>
      <p:sp>
        <p:nvSpPr>
          <p:cNvPr id="77" name="Shape 75"/>
          <p:cNvSpPr/>
          <p:nvPr/>
        </p:nvSpPr>
        <p:spPr>
          <a:xfrm>
            <a:off x="9866376" y="4544568"/>
            <a:ext cx="48491" cy="164592"/>
          </a:xfrm>
          <a:prstGeom prst="roundRect">
            <a:avLst>
              <a:gd name="adj" fmla="val 56571"/>
            </a:avLst>
          </a:prstGeom>
          <a:solidFill>
            <a:srgbClr val="1E8E86"/>
          </a:solidFill>
          <a:ln/>
        </p:spPr>
      </p:sp>
      <p:sp>
        <p:nvSpPr>
          <p:cNvPr id="78" name="Text 76"/>
          <p:cNvSpPr/>
          <p:nvPr/>
        </p:nvSpPr>
        <p:spPr>
          <a:xfrm>
            <a:off x="10378440"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+14.8 (+11.4%)</a:t>
            </a:r>
            <a:endParaRPr lang="en-US" sz="850" dirty="0"/>
          </a:p>
        </p:txBody>
      </p:sp>
      <p:sp>
        <p:nvSpPr>
          <p:cNvPr id="79" name="Text 77"/>
          <p:cNvSpPr/>
          <p:nvPr/>
        </p:nvSpPr>
        <p:spPr>
          <a:xfrm>
            <a:off x="6537960"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80" name="Shape 78"/>
          <p:cNvSpPr/>
          <p:nvPr/>
        </p:nvSpPr>
        <p:spPr>
          <a:xfrm>
            <a:off x="7507224" y="4837176"/>
            <a:ext cx="195870" cy="164592"/>
          </a:xfrm>
          <a:prstGeom prst="roundRect">
            <a:avLst>
              <a:gd name="adj" fmla="val 16667"/>
            </a:avLst>
          </a:prstGeom>
          <a:solidFill>
            <a:srgbClr val="165A73"/>
          </a:solidFill>
          <a:ln/>
        </p:spPr>
      </p:sp>
      <p:sp>
        <p:nvSpPr>
          <p:cNvPr id="81" name="Text 79"/>
          <p:cNvSpPr/>
          <p:nvPr/>
        </p:nvSpPr>
        <p:spPr>
          <a:xfrm>
            <a:off x="8549640"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9.6%</a:t>
            </a:r>
            <a:endParaRPr lang="en-US" sz="950" dirty="0"/>
          </a:p>
        </p:txBody>
      </p:sp>
      <p:sp>
        <p:nvSpPr>
          <p:cNvPr id="82" name="Shape 80"/>
          <p:cNvSpPr/>
          <p:nvPr/>
        </p:nvSpPr>
        <p:spPr>
          <a:xfrm>
            <a:off x="9830126" y="4837176"/>
            <a:ext cx="36250" cy="164592"/>
          </a:xfrm>
          <a:prstGeom prst="roundRect">
            <a:avLst>
              <a:gd name="adj" fmla="val 75674"/>
            </a:avLst>
          </a:prstGeom>
          <a:solidFill>
            <a:srgbClr val="C00000"/>
          </a:solidFill>
          <a:ln/>
        </p:spPr>
      </p:sp>
      <p:sp>
        <p:nvSpPr>
          <p:cNvPr id="83" name="Text 81"/>
          <p:cNvSpPr/>
          <p:nvPr/>
        </p:nvSpPr>
        <p:spPr>
          <a:xfrm>
            <a:off x="10378440" y="4791456"/>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−11.0 (−6.9%)</a:t>
            </a:r>
            <a:endParaRPr lang="en-US" sz="850" dirty="0"/>
          </a:p>
        </p:txBody>
      </p:sp>
      <p:sp>
        <p:nvSpPr>
          <p:cNvPr id="84" name="Shape 82"/>
          <p:cNvSpPr/>
          <p:nvPr/>
        </p:nvSpPr>
        <p:spPr>
          <a:xfrm>
            <a:off x="530352" y="5285232"/>
            <a:ext cx="11274552" cy="786384"/>
          </a:xfrm>
          <a:prstGeom prst="roundRect">
            <a:avLst>
              <a:gd name="adj" fmla="val 10465"/>
            </a:avLst>
          </a:prstGeom>
          <a:solidFill>
            <a:srgbClr val="FBF0E6"/>
          </a:solidFill>
          <a:ln/>
        </p:spPr>
      </p:sp>
      <p:sp>
        <p:nvSpPr>
          <p:cNvPr id="85" name="Text 8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Only rate sensitivity needs re-fitting</a:t>
            </a:r>
            <a:pPr indent="0" marL="0">
              <a:buNone/>
            </a:pPr>
            <a:r>
              <a:rPr lang="en-US" sz="1100" dirty="0">
                <a:solidFill>
                  <a:srgbClr val="16233D"/>
                </a:solidFill>
                <a:latin typeface="Graphik TH" pitchFamily="34" charset="0"/>
                <a:ea typeface="Graphik TH" pitchFamily="34" charset="-122"/>
                <a:cs typeface="Graphik TH" pitchFamily="34" charset="-120"/>
              </a:rPr>
              <a:t>  —  stickiness is directionally consistent, though its alignment is partly a size effect: the two top tiers hold 98.8% of the balance. Rate sensitivity genuinely diverges — High gained +144.7m while Very High lost 36.0m.</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movement by deposit stickiness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balance &gt; 0. Movement is measured against a band of 5% of prior balance or THB 100, whichever is larger.</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Increase 16.4%   ·   Stable 55.5%   ·   Decrease 28.1%   ·   Net +THB 211m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Decrease covers 46% of Very High stickiness customers but only 23% of their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1E8E86"/>
                </a:solidFill>
                <a:latin typeface="Graphik TH" pitchFamily="34" charset="0"/>
                <a:ea typeface="Graphik TH" pitchFamily="34" charset="-122"/>
                <a:cs typeface="Graphik TH" pitchFamily="34" charset="-120"/>
              </a:rPr>
              <a:t>16.4%</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increased</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682m added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8DA0B8"/>
                </a:solidFill>
                <a:latin typeface="Graphik TH" pitchFamily="34" charset="0"/>
                <a:ea typeface="Graphik TH" pitchFamily="34" charset="-122"/>
                <a:cs typeface="Graphik TH" pitchFamily="34" charset="-120"/>
              </a:rPr>
              <a:t>55.5%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stable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balance held within the band</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28.1%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decreased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470m lost</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211m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net change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3.9% across the base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 to 100% · Very High decreases most</a:t>
            </a:r>
            <a:endParaRPr lang="en-US" sz="950" dirty="0"/>
          </a:p>
        </p:txBody>
      </p:sp>
      <p:sp>
        <p:nvSpPr>
          <p:cNvPr id="25" name="Text 23"/>
          <p:cNvSpPr/>
          <p:nvPr/>
        </p:nvSpPr>
        <p:spPr>
          <a:xfrm>
            <a:off x="786384" y="3456432"/>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26" name="Shape 24"/>
          <p:cNvSpPr/>
          <p:nvPr/>
        </p:nvSpPr>
        <p:spPr>
          <a:xfrm>
            <a:off x="1920240" y="3502152"/>
            <a:ext cx="988673" cy="173736"/>
          </a:xfrm>
          <a:prstGeom prst="rect">
            <a:avLst/>
          </a:prstGeom>
          <a:solidFill>
            <a:srgbClr val="1E8E86"/>
          </a:solidFill>
          <a:ln/>
        </p:spPr>
      </p:sp>
      <p:sp>
        <p:nvSpPr>
          <p:cNvPr id="27" name="Text 25"/>
          <p:cNvSpPr/>
          <p:nvPr/>
        </p:nvSpPr>
        <p:spPr>
          <a:xfrm>
            <a:off x="1920240" y="3502152"/>
            <a:ext cx="988673"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26%</a:t>
            </a:r>
            <a:endParaRPr lang="en-US" sz="800" dirty="0"/>
          </a:p>
        </p:txBody>
      </p:sp>
      <p:sp>
        <p:nvSpPr>
          <p:cNvPr id="28" name="Shape 26"/>
          <p:cNvSpPr/>
          <p:nvPr/>
        </p:nvSpPr>
        <p:spPr>
          <a:xfrm>
            <a:off x="2908913" y="3502152"/>
            <a:ext cx="1091325" cy="173736"/>
          </a:xfrm>
          <a:prstGeom prst="rect">
            <a:avLst/>
          </a:prstGeom>
          <a:solidFill>
            <a:srgbClr val="8DA0B8"/>
          </a:solidFill>
          <a:ln/>
        </p:spPr>
      </p:sp>
      <p:sp>
        <p:nvSpPr>
          <p:cNvPr id="29" name="Text 27"/>
          <p:cNvSpPr/>
          <p:nvPr/>
        </p:nvSpPr>
        <p:spPr>
          <a:xfrm>
            <a:off x="2908913" y="3502152"/>
            <a:ext cx="1091325"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28%</a:t>
            </a:r>
            <a:endParaRPr lang="en-US" sz="800" dirty="0"/>
          </a:p>
        </p:txBody>
      </p:sp>
      <p:sp>
        <p:nvSpPr>
          <p:cNvPr id="30" name="Shape 28"/>
          <p:cNvSpPr/>
          <p:nvPr/>
        </p:nvSpPr>
        <p:spPr>
          <a:xfrm>
            <a:off x="4000239" y="3502152"/>
            <a:ext cx="1797057" cy="173736"/>
          </a:xfrm>
          <a:prstGeom prst="rect">
            <a:avLst/>
          </a:prstGeom>
          <a:solidFill>
            <a:srgbClr val="C00000"/>
          </a:solidFill>
          <a:ln/>
        </p:spPr>
      </p:sp>
      <p:sp>
        <p:nvSpPr>
          <p:cNvPr id="31" name="Text 29"/>
          <p:cNvSpPr/>
          <p:nvPr/>
        </p:nvSpPr>
        <p:spPr>
          <a:xfrm>
            <a:off x="4000239" y="3502152"/>
            <a:ext cx="1797057"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46%</a:t>
            </a:r>
            <a:endParaRPr lang="en-US" sz="800" dirty="0"/>
          </a:p>
        </p:txBody>
      </p:sp>
      <p:sp>
        <p:nvSpPr>
          <p:cNvPr id="32" name="Text 30"/>
          <p:cNvSpPr/>
          <p:nvPr/>
        </p:nvSpPr>
        <p:spPr>
          <a:xfrm>
            <a:off x="786384" y="3749040"/>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33" name="Shape 31"/>
          <p:cNvSpPr/>
          <p:nvPr/>
        </p:nvSpPr>
        <p:spPr>
          <a:xfrm>
            <a:off x="1920240" y="3794760"/>
            <a:ext cx="669938" cy="173736"/>
          </a:xfrm>
          <a:prstGeom prst="rect">
            <a:avLst/>
          </a:prstGeom>
          <a:solidFill>
            <a:srgbClr val="1E8E86"/>
          </a:solidFill>
          <a:ln/>
        </p:spPr>
      </p:sp>
      <p:sp>
        <p:nvSpPr>
          <p:cNvPr id="34" name="Text 32"/>
          <p:cNvSpPr/>
          <p:nvPr/>
        </p:nvSpPr>
        <p:spPr>
          <a:xfrm>
            <a:off x="1920240" y="3794760"/>
            <a:ext cx="669938"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17%</a:t>
            </a:r>
            <a:endParaRPr lang="en-US" sz="800" dirty="0"/>
          </a:p>
        </p:txBody>
      </p:sp>
      <p:sp>
        <p:nvSpPr>
          <p:cNvPr id="35" name="Shape 33"/>
          <p:cNvSpPr/>
          <p:nvPr/>
        </p:nvSpPr>
        <p:spPr>
          <a:xfrm>
            <a:off x="2590178" y="3794760"/>
            <a:ext cx="1915856" cy="173736"/>
          </a:xfrm>
          <a:prstGeom prst="rect">
            <a:avLst/>
          </a:prstGeom>
          <a:solidFill>
            <a:srgbClr val="8DA0B8"/>
          </a:solidFill>
          <a:ln/>
        </p:spPr>
      </p:sp>
      <p:sp>
        <p:nvSpPr>
          <p:cNvPr id="36" name="Text 34"/>
          <p:cNvSpPr/>
          <p:nvPr/>
        </p:nvSpPr>
        <p:spPr>
          <a:xfrm>
            <a:off x="2590178" y="3794760"/>
            <a:ext cx="1915856"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49%</a:t>
            </a:r>
            <a:endParaRPr lang="en-US" sz="800" dirty="0"/>
          </a:p>
        </p:txBody>
      </p:sp>
      <p:sp>
        <p:nvSpPr>
          <p:cNvPr id="37" name="Shape 35"/>
          <p:cNvSpPr/>
          <p:nvPr/>
        </p:nvSpPr>
        <p:spPr>
          <a:xfrm>
            <a:off x="4506034" y="3794760"/>
            <a:ext cx="1291262" cy="173736"/>
          </a:xfrm>
          <a:prstGeom prst="rect">
            <a:avLst/>
          </a:prstGeom>
          <a:solidFill>
            <a:srgbClr val="C00000"/>
          </a:solidFill>
          <a:ln/>
        </p:spPr>
      </p:sp>
      <p:sp>
        <p:nvSpPr>
          <p:cNvPr id="38" name="Text 36"/>
          <p:cNvSpPr/>
          <p:nvPr/>
        </p:nvSpPr>
        <p:spPr>
          <a:xfrm>
            <a:off x="4506034" y="3794760"/>
            <a:ext cx="1291262"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33%</a:t>
            </a:r>
            <a:endParaRPr lang="en-US" sz="800" dirty="0"/>
          </a:p>
        </p:txBody>
      </p:sp>
      <p:sp>
        <p:nvSpPr>
          <p:cNvPr id="39" name="Text 37"/>
          <p:cNvSpPr/>
          <p:nvPr/>
        </p:nvSpPr>
        <p:spPr>
          <a:xfrm>
            <a:off x="786384" y="4041648"/>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p>
        </p:txBody>
      </p:sp>
      <p:sp>
        <p:nvSpPr>
          <p:cNvPr id="40" name="Shape 38"/>
          <p:cNvSpPr/>
          <p:nvPr/>
        </p:nvSpPr>
        <p:spPr>
          <a:xfrm>
            <a:off x="1920240" y="4087368"/>
            <a:ext cx="474449" cy="173736"/>
          </a:xfrm>
          <a:prstGeom prst="rect">
            <a:avLst/>
          </a:prstGeom>
          <a:solidFill>
            <a:srgbClr val="1E8E86"/>
          </a:solidFill>
          <a:ln/>
        </p:spPr>
      </p:sp>
      <p:sp>
        <p:nvSpPr>
          <p:cNvPr id="41" name="Text 39"/>
          <p:cNvSpPr/>
          <p:nvPr/>
        </p:nvSpPr>
        <p:spPr>
          <a:xfrm>
            <a:off x="1920240" y="4087368"/>
            <a:ext cx="474449"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12%</a:t>
            </a:r>
            <a:endParaRPr lang="en-US" sz="800" dirty="0"/>
          </a:p>
        </p:txBody>
      </p:sp>
      <p:sp>
        <p:nvSpPr>
          <p:cNvPr id="42" name="Shape 40"/>
          <p:cNvSpPr/>
          <p:nvPr/>
        </p:nvSpPr>
        <p:spPr>
          <a:xfrm>
            <a:off x="2394689" y="4087368"/>
            <a:ext cx="2545421" cy="173736"/>
          </a:xfrm>
          <a:prstGeom prst="rect">
            <a:avLst/>
          </a:prstGeom>
          <a:solidFill>
            <a:srgbClr val="8DA0B8"/>
          </a:solidFill>
          <a:ln/>
        </p:spPr>
      </p:sp>
      <p:sp>
        <p:nvSpPr>
          <p:cNvPr id="43" name="Text 41"/>
          <p:cNvSpPr/>
          <p:nvPr/>
        </p:nvSpPr>
        <p:spPr>
          <a:xfrm>
            <a:off x="2394689" y="4087368"/>
            <a:ext cx="2545421"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66%</a:t>
            </a:r>
            <a:endParaRPr lang="en-US" sz="800" dirty="0"/>
          </a:p>
        </p:txBody>
      </p:sp>
      <p:sp>
        <p:nvSpPr>
          <p:cNvPr id="44" name="Shape 42"/>
          <p:cNvSpPr/>
          <p:nvPr/>
        </p:nvSpPr>
        <p:spPr>
          <a:xfrm>
            <a:off x="4940111" y="4087368"/>
            <a:ext cx="857185" cy="173736"/>
          </a:xfrm>
          <a:prstGeom prst="rect">
            <a:avLst/>
          </a:prstGeom>
          <a:solidFill>
            <a:srgbClr val="C00000"/>
          </a:solidFill>
          <a:ln/>
        </p:spPr>
      </p:sp>
      <p:sp>
        <p:nvSpPr>
          <p:cNvPr id="45" name="Text 43"/>
          <p:cNvSpPr/>
          <p:nvPr/>
        </p:nvSpPr>
        <p:spPr>
          <a:xfrm>
            <a:off x="4940111" y="4087368"/>
            <a:ext cx="857185"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22%</a:t>
            </a:r>
            <a:endParaRPr lang="en-US" sz="800" dirty="0"/>
          </a:p>
        </p:txBody>
      </p:sp>
      <p:sp>
        <p:nvSpPr>
          <p:cNvPr id="46" name="Text 44"/>
          <p:cNvSpPr/>
          <p:nvPr/>
        </p:nvSpPr>
        <p:spPr>
          <a:xfrm>
            <a:off x="786384" y="4334256"/>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47" name="Shape 45"/>
          <p:cNvSpPr/>
          <p:nvPr/>
        </p:nvSpPr>
        <p:spPr>
          <a:xfrm>
            <a:off x="1920240" y="4379976"/>
            <a:ext cx="724667" cy="173736"/>
          </a:xfrm>
          <a:prstGeom prst="rect">
            <a:avLst/>
          </a:prstGeom>
          <a:solidFill>
            <a:srgbClr val="1E8E86"/>
          </a:solidFill>
          <a:ln/>
        </p:spPr>
      </p:sp>
      <p:sp>
        <p:nvSpPr>
          <p:cNvPr id="48" name="Text 46"/>
          <p:cNvSpPr/>
          <p:nvPr/>
        </p:nvSpPr>
        <p:spPr>
          <a:xfrm>
            <a:off x="1920240" y="4379976"/>
            <a:ext cx="724667"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19%</a:t>
            </a:r>
            <a:endParaRPr lang="en-US" sz="800" dirty="0"/>
          </a:p>
        </p:txBody>
      </p:sp>
      <p:sp>
        <p:nvSpPr>
          <p:cNvPr id="49" name="Shape 47"/>
          <p:cNvSpPr/>
          <p:nvPr/>
        </p:nvSpPr>
        <p:spPr>
          <a:xfrm>
            <a:off x="2644907" y="4379976"/>
            <a:ext cx="2291737" cy="173736"/>
          </a:xfrm>
          <a:prstGeom prst="rect">
            <a:avLst/>
          </a:prstGeom>
          <a:solidFill>
            <a:srgbClr val="8DA0B8"/>
          </a:solidFill>
          <a:ln/>
        </p:spPr>
      </p:sp>
      <p:sp>
        <p:nvSpPr>
          <p:cNvPr id="50" name="Text 48"/>
          <p:cNvSpPr/>
          <p:nvPr/>
        </p:nvSpPr>
        <p:spPr>
          <a:xfrm>
            <a:off x="2644907" y="4379976"/>
            <a:ext cx="2291737"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59%</a:t>
            </a:r>
            <a:endParaRPr lang="en-US" sz="800" dirty="0"/>
          </a:p>
        </p:txBody>
      </p:sp>
      <p:sp>
        <p:nvSpPr>
          <p:cNvPr id="51" name="Shape 49"/>
          <p:cNvSpPr/>
          <p:nvPr/>
        </p:nvSpPr>
        <p:spPr>
          <a:xfrm>
            <a:off x="4936643" y="4379976"/>
            <a:ext cx="860653" cy="173736"/>
          </a:xfrm>
          <a:prstGeom prst="rect">
            <a:avLst/>
          </a:prstGeom>
          <a:solidFill>
            <a:srgbClr val="C00000"/>
          </a:solidFill>
          <a:ln/>
        </p:spPr>
      </p:sp>
      <p:sp>
        <p:nvSpPr>
          <p:cNvPr id="52" name="Text 50"/>
          <p:cNvSpPr/>
          <p:nvPr/>
        </p:nvSpPr>
        <p:spPr>
          <a:xfrm>
            <a:off x="4936643" y="4379976"/>
            <a:ext cx="860653"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22%</a:t>
            </a:r>
            <a:endParaRPr lang="en-US" sz="800" dirty="0"/>
          </a:p>
        </p:txBody>
      </p:sp>
      <p:sp>
        <p:nvSpPr>
          <p:cNvPr id="53" name="Text 51"/>
          <p:cNvSpPr/>
          <p:nvPr/>
        </p:nvSpPr>
        <p:spPr>
          <a:xfrm>
            <a:off x="786384" y="4626864"/>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54" name="Shape 52"/>
          <p:cNvSpPr/>
          <p:nvPr/>
        </p:nvSpPr>
        <p:spPr>
          <a:xfrm>
            <a:off x="1920240" y="4672584"/>
            <a:ext cx="394118" cy="173736"/>
          </a:xfrm>
          <a:prstGeom prst="rect">
            <a:avLst/>
          </a:prstGeom>
          <a:solidFill>
            <a:srgbClr val="1E8E86"/>
          </a:solidFill>
          <a:ln/>
        </p:spPr>
      </p:sp>
      <p:sp>
        <p:nvSpPr>
          <p:cNvPr id="55" name="Text 53"/>
          <p:cNvSpPr/>
          <p:nvPr/>
        </p:nvSpPr>
        <p:spPr>
          <a:xfrm>
            <a:off x="1920240" y="4672584"/>
            <a:ext cx="394118"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10%</a:t>
            </a:r>
            <a:endParaRPr lang="en-US" sz="800" dirty="0"/>
          </a:p>
        </p:txBody>
      </p:sp>
      <p:sp>
        <p:nvSpPr>
          <p:cNvPr id="56" name="Shape 54"/>
          <p:cNvSpPr/>
          <p:nvPr/>
        </p:nvSpPr>
        <p:spPr>
          <a:xfrm>
            <a:off x="2314358" y="4672584"/>
            <a:ext cx="3182984" cy="173736"/>
          </a:xfrm>
          <a:prstGeom prst="rect">
            <a:avLst/>
          </a:prstGeom>
          <a:solidFill>
            <a:srgbClr val="8DA0B8"/>
          </a:solidFill>
          <a:ln/>
        </p:spPr>
      </p:sp>
      <p:sp>
        <p:nvSpPr>
          <p:cNvPr id="57" name="Text 55"/>
          <p:cNvSpPr/>
          <p:nvPr/>
        </p:nvSpPr>
        <p:spPr>
          <a:xfrm>
            <a:off x="2314358" y="4672584"/>
            <a:ext cx="3182984"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82%</a:t>
            </a:r>
            <a:endParaRPr lang="en-US" sz="800" dirty="0"/>
          </a:p>
        </p:txBody>
      </p:sp>
      <p:sp>
        <p:nvSpPr>
          <p:cNvPr id="58" name="Shape 56"/>
          <p:cNvSpPr/>
          <p:nvPr/>
        </p:nvSpPr>
        <p:spPr>
          <a:xfrm>
            <a:off x="5497342" y="4672584"/>
            <a:ext cx="299954" cy="173736"/>
          </a:xfrm>
          <a:prstGeom prst="rect">
            <a:avLst/>
          </a:prstGeom>
          <a:solidFill>
            <a:srgbClr val="C00000"/>
          </a:solidFill>
          <a:ln/>
        </p:spPr>
      </p:sp>
      <p:sp>
        <p:nvSpPr>
          <p:cNvPr id="59" name="Shape 57"/>
          <p:cNvSpPr/>
          <p:nvPr/>
        </p:nvSpPr>
        <p:spPr>
          <a:xfrm>
            <a:off x="1920240" y="4956048"/>
            <a:ext cx="146304" cy="118872"/>
          </a:xfrm>
          <a:prstGeom prst="rect">
            <a:avLst/>
          </a:prstGeom>
          <a:solidFill>
            <a:srgbClr val="1E8E86"/>
          </a:solidFill>
          <a:ln/>
        </p:spPr>
      </p:sp>
      <p:sp>
        <p:nvSpPr>
          <p:cNvPr id="60" name="Text 58"/>
          <p:cNvSpPr/>
          <p:nvPr/>
        </p:nvSpPr>
        <p:spPr>
          <a:xfrm>
            <a:off x="2121408" y="4910328"/>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Increase</a:t>
            </a:r>
            <a:endParaRPr lang="en-US" sz="850" dirty="0"/>
          </a:p>
        </p:txBody>
      </p:sp>
      <p:sp>
        <p:nvSpPr>
          <p:cNvPr id="61" name="Shape 59"/>
          <p:cNvSpPr/>
          <p:nvPr/>
        </p:nvSpPr>
        <p:spPr>
          <a:xfrm>
            <a:off x="3108960" y="4956048"/>
            <a:ext cx="146304" cy="118872"/>
          </a:xfrm>
          <a:prstGeom prst="rect">
            <a:avLst/>
          </a:prstGeom>
          <a:solidFill>
            <a:srgbClr val="8DA0B8"/>
          </a:solidFill>
          <a:ln/>
        </p:spPr>
      </p:sp>
      <p:sp>
        <p:nvSpPr>
          <p:cNvPr id="62" name="Text 60"/>
          <p:cNvSpPr/>
          <p:nvPr/>
        </p:nvSpPr>
        <p:spPr>
          <a:xfrm>
            <a:off x="3310128" y="4910328"/>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Stable</a:t>
            </a:r>
            <a:endParaRPr lang="en-US" sz="850" dirty="0"/>
          </a:p>
        </p:txBody>
      </p:sp>
      <p:sp>
        <p:nvSpPr>
          <p:cNvPr id="63" name="Shape 61"/>
          <p:cNvSpPr/>
          <p:nvPr/>
        </p:nvSpPr>
        <p:spPr>
          <a:xfrm>
            <a:off x="4297680" y="4956048"/>
            <a:ext cx="146304" cy="118872"/>
          </a:xfrm>
          <a:prstGeom prst="rect">
            <a:avLst/>
          </a:prstGeom>
          <a:solidFill>
            <a:srgbClr val="C00000"/>
          </a:solidFill>
          <a:ln/>
        </p:spPr>
      </p:sp>
      <p:sp>
        <p:nvSpPr>
          <p:cNvPr id="64" name="Text 62"/>
          <p:cNvSpPr/>
          <p:nvPr/>
        </p:nvSpPr>
        <p:spPr>
          <a:xfrm>
            <a:off x="4498848" y="4910328"/>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Decrease</a:t>
            </a:r>
            <a:endParaRPr lang="en-US" sz="850" dirty="0"/>
          </a:p>
        </p:txBody>
      </p:sp>
      <p:sp>
        <p:nvSpPr>
          <p:cNvPr id="65" name="Shape 63"/>
          <p:cNvSpPr/>
          <p:nvPr/>
        </p:nvSpPr>
        <p:spPr>
          <a:xfrm>
            <a:off x="6281928" y="2798064"/>
            <a:ext cx="5522976" cy="2322576"/>
          </a:xfrm>
          <a:prstGeom prst="roundRect">
            <a:avLst>
              <a:gd name="adj" fmla="val 3543"/>
            </a:avLst>
          </a:prstGeom>
          <a:solidFill>
            <a:srgbClr val="F1F4F9"/>
          </a:solidFill>
          <a:ln/>
        </p:spPr>
      </p:sp>
      <p:sp>
        <p:nvSpPr>
          <p:cNvPr id="66" name="Text 6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prior balance</a:t>
            </a:r>
            <a:endParaRPr lang="en-US" sz="1400" dirty="0"/>
          </a:p>
        </p:txBody>
      </p:sp>
      <p:sp>
        <p:nvSpPr>
          <p:cNvPr id="67" name="Text 6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Same tiers, weighted by money</a:t>
            </a:r>
            <a:endParaRPr lang="en-US" sz="950" dirty="0"/>
          </a:p>
        </p:txBody>
      </p:sp>
      <p:sp>
        <p:nvSpPr>
          <p:cNvPr id="68" name="Text 66"/>
          <p:cNvSpPr/>
          <p:nvPr/>
        </p:nvSpPr>
        <p:spPr>
          <a:xfrm>
            <a:off x="6537960" y="3456432"/>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69" name="Shape 67"/>
          <p:cNvSpPr/>
          <p:nvPr/>
        </p:nvSpPr>
        <p:spPr>
          <a:xfrm>
            <a:off x="7671816" y="3502152"/>
            <a:ext cx="827460" cy="173736"/>
          </a:xfrm>
          <a:prstGeom prst="rect">
            <a:avLst/>
          </a:prstGeom>
          <a:solidFill>
            <a:srgbClr val="1E8E86"/>
          </a:solidFill>
          <a:ln/>
        </p:spPr>
      </p:sp>
      <p:sp>
        <p:nvSpPr>
          <p:cNvPr id="70" name="Text 68"/>
          <p:cNvSpPr/>
          <p:nvPr/>
        </p:nvSpPr>
        <p:spPr>
          <a:xfrm>
            <a:off x="7671816" y="3502152"/>
            <a:ext cx="827460"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21%</a:t>
            </a:r>
            <a:endParaRPr lang="en-US" sz="800" dirty="0"/>
          </a:p>
        </p:txBody>
      </p:sp>
      <p:sp>
        <p:nvSpPr>
          <p:cNvPr id="71" name="Shape 69"/>
          <p:cNvSpPr/>
          <p:nvPr/>
        </p:nvSpPr>
        <p:spPr>
          <a:xfrm>
            <a:off x="8499276" y="3502152"/>
            <a:ext cx="2142971" cy="173736"/>
          </a:xfrm>
          <a:prstGeom prst="rect">
            <a:avLst/>
          </a:prstGeom>
          <a:solidFill>
            <a:srgbClr val="8DA0B8"/>
          </a:solidFill>
          <a:ln/>
        </p:spPr>
      </p:sp>
      <p:sp>
        <p:nvSpPr>
          <p:cNvPr id="72" name="Text 70"/>
          <p:cNvSpPr/>
          <p:nvPr/>
        </p:nvSpPr>
        <p:spPr>
          <a:xfrm>
            <a:off x="8499276" y="3502152"/>
            <a:ext cx="2142971"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55%</a:t>
            </a:r>
            <a:endParaRPr lang="en-US" sz="800" dirty="0"/>
          </a:p>
        </p:txBody>
      </p:sp>
      <p:sp>
        <p:nvSpPr>
          <p:cNvPr id="73" name="Shape 71"/>
          <p:cNvSpPr/>
          <p:nvPr/>
        </p:nvSpPr>
        <p:spPr>
          <a:xfrm>
            <a:off x="10642246" y="3502152"/>
            <a:ext cx="906626" cy="173736"/>
          </a:xfrm>
          <a:prstGeom prst="rect">
            <a:avLst/>
          </a:prstGeom>
          <a:solidFill>
            <a:srgbClr val="C00000"/>
          </a:solidFill>
          <a:ln/>
        </p:spPr>
      </p:sp>
      <p:sp>
        <p:nvSpPr>
          <p:cNvPr id="74" name="Text 72"/>
          <p:cNvSpPr/>
          <p:nvPr/>
        </p:nvSpPr>
        <p:spPr>
          <a:xfrm>
            <a:off x="10642246" y="3502152"/>
            <a:ext cx="906626"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23%</a:t>
            </a:r>
            <a:endParaRPr lang="en-US" sz="800" dirty="0"/>
          </a:p>
        </p:txBody>
      </p:sp>
      <p:sp>
        <p:nvSpPr>
          <p:cNvPr id="75" name="Text 73"/>
          <p:cNvSpPr/>
          <p:nvPr/>
        </p:nvSpPr>
        <p:spPr>
          <a:xfrm>
            <a:off x="6537960" y="3749040"/>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76" name="Shape 74"/>
          <p:cNvSpPr/>
          <p:nvPr/>
        </p:nvSpPr>
        <p:spPr>
          <a:xfrm>
            <a:off x="7671816" y="3794760"/>
            <a:ext cx="636050" cy="173736"/>
          </a:xfrm>
          <a:prstGeom prst="rect">
            <a:avLst/>
          </a:prstGeom>
          <a:solidFill>
            <a:srgbClr val="1E8E86"/>
          </a:solidFill>
          <a:ln/>
        </p:spPr>
      </p:sp>
      <p:sp>
        <p:nvSpPr>
          <p:cNvPr id="77" name="Text 75"/>
          <p:cNvSpPr/>
          <p:nvPr/>
        </p:nvSpPr>
        <p:spPr>
          <a:xfrm>
            <a:off x="7671816" y="3794760"/>
            <a:ext cx="636050"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16%</a:t>
            </a:r>
            <a:endParaRPr lang="en-US" sz="800" dirty="0"/>
          </a:p>
        </p:txBody>
      </p:sp>
      <p:sp>
        <p:nvSpPr>
          <p:cNvPr id="78" name="Shape 76"/>
          <p:cNvSpPr/>
          <p:nvPr/>
        </p:nvSpPr>
        <p:spPr>
          <a:xfrm>
            <a:off x="8307866" y="3794760"/>
            <a:ext cx="2275111" cy="173736"/>
          </a:xfrm>
          <a:prstGeom prst="rect">
            <a:avLst/>
          </a:prstGeom>
          <a:solidFill>
            <a:srgbClr val="8DA0B8"/>
          </a:solidFill>
          <a:ln/>
        </p:spPr>
      </p:sp>
      <p:sp>
        <p:nvSpPr>
          <p:cNvPr id="79" name="Text 77"/>
          <p:cNvSpPr/>
          <p:nvPr/>
        </p:nvSpPr>
        <p:spPr>
          <a:xfrm>
            <a:off x="8307866" y="3794760"/>
            <a:ext cx="2275111"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59%</a:t>
            </a:r>
            <a:endParaRPr lang="en-US" sz="800" dirty="0"/>
          </a:p>
        </p:txBody>
      </p:sp>
      <p:sp>
        <p:nvSpPr>
          <p:cNvPr id="80" name="Shape 78"/>
          <p:cNvSpPr/>
          <p:nvPr/>
        </p:nvSpPr>
        <p:spPr>
          <a:xfrm>
            <a:off x="10582977" y="3794760"/>
            <a:ext cx="965895" cy="173736"/>
          </a:xfrm>
          <a:prstGeom prst="rect">
            <a:avLst/>
          </a:prstGeom>
          <a:solidFill>
            <a:srgbClr val="C00000"/>
          </a:solidFill>
          <a:ln/>
        </p:spPr>
      </p:sp>
      <p:sp>
        <p:nvSpPr>
          <p:cNvPr id="81" name="Text 79"/>
          <p:cNvSpPr/>
          <p:nvPr/>
        </p:nvSpPr>
        <p:spPr>
          <a:xfrm>
            <a:off x="10582977" y="3794760"/>
            <a:ext cx="965895"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25%</a:t>
            </a:r>
            <a:endParaRPr lang="en-US" sz="800" dirty="0"/>
          </a:p>
        </p:txBody>
      </p:sp>
      <p:sp>
        <p:nvSpPr>
          <p:cNvPr id="82" name="Text 80"/>
          <p:cNvSpPr/>
          <p:nvPr/>
        </p:nvSpPr>
        <p:spPr>
          <a:xfrm>
            <a:off x="6537960" y="4041648"/>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p>
        </p:txBody>
      </p:sp>
      <p:sp>
        <p:nvSpPr>
          <p:cNvPr id="83" name="Shape 81"/>
          <p:cNvSpPr/>
          <p:nvPr/>
        </p:nvSpPr>
        <p:spPr>
          <a:xfrm>
            <a:off x="7671816" y="4087368"/>
            <a:ext cx="668617" cy="173736"/>
          </a:xfrm>
          <a:prstGeom prst="rect">
            <a:avLst/>
          </a:prstGeom>
          <a:solidFill>
            <a:srgbClr val="1E8E86"/>
          </a:solidFill>
          <a:ln/>
        </p:spPr>
      </p:sp>
      <p:sp>
        <p:nvSpPr>
          <p:cNvPr id="84" name="Text 82"/>
          <p:cNvSpPr/>
          <p:nvPr/>
        </p:nvSpPr>
        <p:spPr>
          <a:xfrm>
            <a:off x="7671816" y="4087368"/>
            <a:ext cx="668617"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17%</a:t>
            </a:r>
            <a:endParaRPr lang="en-US" sz="800" dirty="0"/>
          </a:p>
        </p:txBody>
      </p:sp>
      <p:sp>
        <p:nvSpPr>
          <p:cNvPr id="85" name="Shape 83"/>
          <p:cNvSpPr/>
          <p:nvPr/>
        </p:nvSpPr>
        <p:spPr>
          <a:xfrm>
            <a:off x="8340433" y="4087368"/>
            <a:ext cx="2303089" cy="173736"/>
          </a:xfrm>
          <a:prstGeom prst="rect">
            <a:avLst/>
          </a:prstGeom>
          <a:solidFill>
            <a:srgbClr val="8DA0B8"/>
          </a:solidFill>
          <a:ln/>
        </p:spPr>
      </p:sp>
      <p:sp>
        <p:nvSpPr>
          <p:cNvPr id="86" name="Text 84"/>
          <p:cNvSpPr/>
          <p:nvPr/>
        </p:nvSpPr>
        <p:spPr>
          <a:xfrm>
            <a:off x="8340433" y="4087368"/>
            <a:ext cx="2303089"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59%</a:t>
            </a:r>
            <a:endParaRPr lang="en-US" sz="800" dirty="0"/>
          </a:p>
        </p:txBody>
      </p:sp>
      <p:sp>
        <p:nvSpPr>
          <p:cNvPr id="87" name="Shape 85"/>
          <p:cNvSpPr/>
          <p:nvPr/>
        </p:nvSpPr>
        <p:spPr>
          <a:xfrm>
            <a:off x="10643522" y="4087368"/>
            <a:ext cx="905350" cy="173736"/>
          </a:xfrm>
          <a:prstGeom prst="rect">
            <a:avLst/>
          </a:prstGeom>
          <a:solidFill>
            <a:srgbClr val="C00000"/>
          </a:solidFill>
          <a:ln/>
        </p:spPr>
      </p:sp>
      <p:sp>
        <p:nvSpPr>
          <p:cNvPr id="88" name="Text 86"/>
          <p:cNvSpPr/>
          <p:nvPr/>
        </p:nvSpPr>
        <p:spPr>
          <a:xfrm>
            <a:off x="10643522" y="4087368"/>
            <a:ext cx="905350"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23%</a:t>
            </a:r>
            <a:endParaRPr lang="en-US" sz="800" dirty="0"/>
          </a:p>
        </p:txBody>
      </p:sp>
      <p:sp>
        <p:nvSpPr>
          <p:cNvPr id="89" name="Text 87"/>
          <p:cNvSpPr/>
          <p:nvPr/>
        </p:nvSpPr>
        <p:spPr>
          <a:xfrm>
            <a:off x="6537960" y="4334256"/>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90" name="Shape 88"/>
          <p:cNvSpPr/>
          <p:nvPr/>
        </p:nvSpPr>
        <p:spPr>
          <a:xfrm>
            <a:off x="7671816" y="4379976"/>
            <a:ext cx="511892" cy="173736"/>
          </a:xfrm>
          <a:prstGeom prst="rect">
            <a:avLst/>
          </a:prstGeom>
          <a:solidFill>
            <a:srgbClr val="1E8E86"/>
          </a:solidFill>
          <a:ln/>
        </p:spPr>
      </p:sp>
      <p:sp>
        <p:nvSpPr>
          <p:cNvPr id="91" name="Text 89"/>
          <p:cNvSpPr/>
          <p:nvPr/>
        </p:nvSpPr>
        <p:spPr>
          <a:xfrm>
            <a:off x="7671816" y="4379976"/>
            <a:ext cx="511892"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13%</a:t>
            </a:r>
            <a:endParaRPr lang="en-US" sz="800" dirty="0"/>
          </a:p>
        </p:txBody>
      </p:sp>
      <p:sp>
        <p:nvSpPr>
          <p:cNvPr id="92" name="Shape 90"/>
          <p:cNvSpPr/>
          <p:nvPr/>
        </p:nvSpPr>
        <p:spPr>
          <a:xfrm>
            <a:off x="8183708" y="4379976"/>
            <a:ext cx="1770309" cy="173736"/>
          </a:xfrm>
          <a:prstGeom prst="rect">
            <a:avLst/>
          </a:prstGeom>
          <a:solidFill>
            <a:srgbClr val="8DA0B8"/>
          </a:solidFill>
          <a:ln/>
        </p:spPr>
      </p:sp>
      <p:sp>
        <p:nvSpPr>
          <p:cNvPr id="93" name="Text 91"/>
          <p:cNvSpPr/>
          <p:nvPr/>
        </p:nvSpPr>
        <p:spPr>
          <a:xfrm>
            <a:off x="8183708" y="4379976"/>
            <a:ext cx="1770309"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46%</a:t>
            </a:r>
            <a:endParaRPr lang="en-US" sz="800" dirty="0"/>
          </a:p>
        </p:txBody>
      </p:sp>
      <p:sp>
        <p:nvSpPr>
          <p:cNvPr id="94" name="Shape 92"/>
          <p:cNvSpPr/>
          <p:nvPr/>
        </p:nvSpPr>
        <p:spPr>
          <a:xfrm>
            <a:off x="9954017" y="4379976"/>
            <a:ext cx="1594855" cy="173736"/>
          </a:xfrm>
          <a:prstGeom prst="rect">
            <a:avLst/>
          </a:prstGeom>
          <a:solidFill>
            <a:srgbClr val="C00000"/>
          </a:solidFill>
          <a:ln/>
        </p:spPr>
      </p:sp>
      <p:sp>
        <p:nvSpPr>
          <p:cNvPr id="95" name="Text 93"/>
          <p:cNvSpPr/>
          <p:nvPr/>
        </p:nvSpPr>
        <p:spPr>
          <a:xfrm>
            <a:off x="9954017" y="4379976"/>
            <a:ext cx="1594855"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41%</a:t>
            </a:r>
            <a:endParaRPr lang="en-US" sz="800" dirty="0"/>
          </a:p>
        </p:txBody>
      </p:sp>
      <p:sp>
        <p:nvSpPr>
          <p:cNvPr id="96" name="Text 94"/>
          <p:cNvSpPr/>
          <p:nvPr/>
        </p:nvSpPr>
        <p:spPr>
          <a:xfrm>
            <a:off x="6537960" y="4626864"/>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97" name="Shape 95"/>
          <p:cNvSpPr/>
          <p:nvPr/>
        </p:nvSpPr>
        <p:spPr>
          <a:xfrm>
            <a:off x="7671816" y="4672584"/>
            <a:ext cx="598513" cy="173736"/>
          </a:xfrm>
          <a:prstGeom prst="rect">
            <a:avLst/>
          </a:prstGeom>
          <a:solidFill>
            <a:srgbClr val="1E8E86"/>
          </a:solidFill>
          <a:ln/>
        </p:spPr>
      </p:sp>
      <p:sp>
        <p:nvSpPr>
          <p:cNvPr id="98" name="Text 96"/>
          <p:cNvSpPr/>
          <p:nvPr/>
        </p:nvSpPr>
        <p:spPr>
          <a:xfrm>
            <a:off x="7671816" y="4672584"/>
            <a:ext cx="598513"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15%</a:t>
            </a:r>
            <a:endParaRPr lang="en-US" sz="800" dirty="0"/>
          </a:p>
        </p:txBody>
      </p:sp>
      <p:sp>
        <p:nvSpPr>
          <p:cNvPr id="99" name="Shape 97"/>
          <p:cNvSpPr/>
          <p:nvPr/>
        </p:nvSpPr>
        <p:spPr>
          <a:xfrm>
            <a:off x="8270329" y="4672584"/>
            <a:ext cx="2942505" cy="173736"/>
          </a:xfrm>
          <a:prstGeom prst="rect">
            <a:avLst/>
          </a:prstGeom>
          <a:solidFill>
            <a:srgbClr val="8DA0B8"/>
          </a:solidFill>
          <a:ln/>
        </p:spPr>
      </p:sp>
      <p:sp>
        <p:nvSpPr>
          <p:cNvPr id="100" name="Text 98"/>
          <p:cNvSpPr/>
          <p:nvPr/>
        </p:nvSpPr>
        <p:spPr>
          <a:xfrm>
            <a:off x="8270329" y="4672584"/>
            <a:ext cx="2942505"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76%</a:t>
            </a:r>
            <a:endParaRPr lang="en-US" sz="800" dirty="0"/>
          </a:p>
        </p:txBody>
      </p:sp>
      <p:sp>
        <p:nvSpPr>
          <p:cNvPr id="101" name="Shape 99"/>
          <p:cNvSpPr/>
          <p:nvPr/>
        </p:nvSpPr>
        <p:spPr>
          <a:xfrm>
            <a:off x="11212834" y="4672584"/>
            <a:ext cx="336038" cy="173736"/>
          </a:xfrm>
          <a:prstGeom prst="rect">
            <a:avLst/>
          </a:prstGeom>
          <a:solidFill>
            <a:srgbClr val="C00000"/>
          </a:solidFill>
          <a:ln/>
        </p:spPr>
      </p:sp>
      <p:sp>
        <p:nvSpPr>
          <p:cNvPr id="102" name="Shape 100"/>
          <p:cNvSpPr/>
          <p:nvPr/>
        </p:nvSpPr>
        <p:spPr>
          <a:xfrm>
            <a:off x="7671816" y="4956048"/>
            <a:ext cx="146304" cy="118872"/>
          </a:xfrm>
          <a:prstGeom prst="rect">
            <a:avLst/>
          </a:prstGeom>
          <a:solidFill>
            <a:srgbClr val="1E8E86"/>
          </a:solidFill>
          <a:ln/>
        </p:spPr>
      </p:sp>
      <p:sp>
        <p:nvSpPr>
          <p:cNvPr id="103" name="Text 101"/>
          <p:cNvSpPr/>
          <p:nvPr/>
        </p:nvSpPr>
        <p:spPr>
          <a:xfrm>
            <a:off x="7872984" y="4910328"/>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Increase</a:t>
            </a:r>
            <a:endParaRPr lang="en-US" sz="850" dirty="0"/>
          </a:p>
        </p:txBody>
      </p:sp>
      <p:sp>
        <p:nvSpPr>
          <p:cNvPr id="104" name="Shape 102"/>
          <p:cNvSpPr/>
          <p:nvPr/>
        </p:nvSpPr>
        <p:spPr>
          <a:xfrm>
            <a:off x="8860536" y="4956048"/>
            <a:ext cx="146304" cy="118872"/>
          </a:xfrm>
          <a:prstGeom prst="rect">
            <a:avLst/>
          </a:prstGeom>
          <a:solidFill>
            <a:srgbClr val="8DA0B8"/>
          </a:solidFill>
          <a:ln/>
        </p:spPr>
      </p:sp>
      <p:sp>
        <p:nvSpPr>
          <p:cNvPr id="105" name="Text 103"/>
          <p:cNvSpPr/>
          <p:nvPr/>
        </p:nvSpPr>
        <p:spPr>
          <a:xfrm>
            <a:off x="9061704" y="4910328"/>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Stable</a:t>
            </a:r>
            <a:endParaRPr lang="en-US" sz="850" dirty="0"/>
          </a:p>
        </p:txBody>
      </p:sp>
      <p:sp>
        <p:nvSpPr>
          <p:cNvPr id="106" name="Shape 104"/>
          <p:cNvSpPr/>
          <p:nvPr/>
        </p:nvSpPr>
        <p:spPr>
          <a:xfrm>
            <a:off x="10049256" y="4956048"/>
            <a:ext cx="146304" cy="118872"/>
          </a:xfrm>
          <a:prstGeom prst="rect">
            <a:avLst/>
          </a:prstGeom>
          <a:solidFill>
            <a:srgbClr val="C00000"/>
          </a:solidFill>
          <a:ln/>
        </p:spPr>
      </p:sp>
      <p:sp>
        <p:nvSpPr>
          <p:cNvPr id="107" name="Text 105"/>
          <p:cNvSpPr/>
          <p:nvPr/>
        </p:nvSpPr>
        <p:spPr>
          <a:xfrm>
            <a:off x="10250424" y="4910328"/>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Decrease</a:t>
            </a:r>
            <a:endParaRPr lang="en-US" sz="850" dirty="0"/>
          </a:p>
        </p:txBody>
      </p:sp>
      <p:sp>
        <p:nvSpPr>
          <p:cNvPr id="108" name="Shape 106"/>
          <p:cNvSpPr/>
          <p:nvPr/>
        </p:nvSpPr>
        <p:spPr>
          <a:xfrm>
            <a:off x="530352" y="5285232"/>
            <a:ext cx="11274552" cy="786384"/>
          </a:xfrm>
          <a:prstGeom prst="roundRect">
            <a:avLst>
              <a:gd name="adj" fmla="val 10465"/>
            </a:avLst>
          </a:prstGeom>
          <a:solidFill>
            <a:srgbClr val="FBF0E6"/>
          </a:solidFill>
          <a:ln/>
        </p:spPr>
      </p:sp>
      <p:sp>
        <p:nvSpPr>
          <p:cNvPr id="109" name="Text 10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Weighted by money the score barely discriminates</a:t>
            </a:r>
            <a:pPr indent="0" marL="0">
              <a:buNone/>
            </a:pPr>
            <a:r>
              <a:rPr lang="en-US" sz="1100" dirty="0">
                <a:solidFill>
                  <a:srgbClr val="16233D"/>
                </a:solidFill>
                <a:latin typeface="Graphik TH" pitchFamily="34" charset="0"/>
                <a:ea typeface="Graphik TH" pitchFamily="34" charset="-122"/>
                <a:cs typeface="Graphik TH" pitchFamily="34" charset="-120"/>
              </a:rPr>
              <a:t>  —  the top three tiers lose 23.4%, 24.9%, 23.4% of their balance, against decrease rates of 46.4%, 33.3%, 22.1% by customer. The customer gap is six-fold; the money gap is not.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Score confidence : least reliable scores, largest balances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*Every Medium and Low Confidence cell here has no Save Max feed, so confidence appears to track data availability.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High 41.5% of customers / 61.6% of balance   ·   Medium 55.7% / 29.4%   ·   Low 2.8% / 8.9%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 Confidence is 2.8% of customers but THB 489.9m — an average of THB 54,539, twice the High Confidence average.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1E8E86"/>
                </a:solidFill>
                <a:latin typeface="Graphik TH" pitchFamily="34" charset="0"/>
                <a:ea typeface="Graphik TH" pitchFamily="34" charset="-122"/>
                <a:cs typeface="Graphik TH" pitchFamily="34" charset="-120"/>
              </a:rPr>
              <a:t>41.5%</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confidence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61.6% of balance · avg THB 25,414</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8DA0B8"/>
                </a:solidFill>
                <a:latin typeface="Graphik TH" pitchFamily="34" charset="0"/>
                <a:ea typeface="Graphik TH" pitchFamily="34" charset="-122"/>
                <a:cs typeface="Graphik TH" pitchFamily="34" charset="-120"/>
              </a:rPr>
              <a:t>55.7%</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Medium confidence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29.4% of balance · avg THB 9,040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2.8%</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confidence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8.9% of balance · avg THB 54,539</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489.9m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on Low Confidence scores</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the largest average balance</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Coverage and balance by confidence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average balance per customer in THB</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9808" y="3529584"/>
          <a:ext cx="6281928" cy="914400"/>
        </p:xfrm>
        <a:graphic>
          <a:graphicData uri="http://schemas.openxmlformats.org/drawingml/2006/table">
            <a:tbl>
              <a:tblPr/>
              <a:tblGrid>
                <a:gridCol w="1051560"/>
                <a:gridCol w="896112"/>
                <a:gridCol w="713232"/>
                <a:gridCol w="868680"/>
                <a:gridCol w="713232"/>
                <a:gridCol w="1005840"/>
                <a:gridCol w="1033272"/>
              </a:tblGrid>
              <a:tr h="237744">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Confidence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 base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 book</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Avg bal</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132,837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41.5%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3376.0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61.6%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25,414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+124.9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178,290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55.7%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1611.7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29.4%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8DA0B8"/>
                          </a:solidFill>
                          <a:latin typeface="Graphik TH" pitchFamily="34" charset="0"/>
                          <a:ea typeface="Graphik TH" pitchFamily="34" charset="-122"/>
                          <a:cs typeface="Graphik TH" pitchFamily="34" charset="-120"/>
                        </a:rPr>
                        <a:t>9,040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+62.7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8,982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489.9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8.9%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C00000"/>
                          </a:solidFill>
                          <a:latin typeface="Graphik TH" pitchFamily="34" charset="0"/>
                          <a:ea typeface="Graphik TH" pitchFamily="34" charset="-122"/>
                          <a:cs typeface="Graphik TH" pitchFamily="34" charset="-120"/>
                        </a:rPr>
                        <a:t>54,539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320,109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100.0%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5477.5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100.0%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17,111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Text 23"/>
          <p:cNvSpPr/>
          <p:nvPr/>
        </p:nvSpPr>
        <p:spPr>
          <a:xfrm>
            <a:off x="786384" y="4864608"/>
            <a:ext cx="6217920" cy="201168"/>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Low Confidence holds the largest accounts, not the smallest.</a:t>
            </a:r>
            <a:endParaRPr lang="en-US" sz="900" dirty="0"/>
          </a:p>
        </p:txBody>
      </p:sp>
      <p:sp>
        <p:nvSpPr>
          <p:cNvPr id="27" name="Shape 24"/>
          <p:cNvSpPr/>
          <p:nvPr/>
        </p:nvSpPr>
        <p:spPr>
          <a:xfrm>
            <a:off x="7479792" y="2798064"/>
            <a:ext cx="4325112" cy="2322576"/>
          </a:xfrm>
          <a:prstGeom prst="roundRect">
            <a:avLst>
              <a:gd name="adj" fmla="val 3543"/>
            </a:avLst>
          </a:prstGeom>
          <a:solidFill>
            <a:srgbClr val="F1F4F9"/>
          </a:solidFill>
          <a:ln/>
        </p:spPr>
      </p:sp>
      <p:sp>
        <p:nvSpPr>
          <p:cNvPr id="28" name="Text 25"/>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9" name="Text 26"/>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THB, prior period</a:t>
            </a:r>
            <a:endParaRPr lang="en-US" sz="950" dirty="0"/>
          </a:p>
        </p:txBody>
      </p:sp>
      <p:sp>
        <p:nvSpPr>
          <p:cNvPr id="30" name="Text 27"/>
          <p:cNvSpPr/>
          <p:nvPr/>
        </p:nvSpPr>
        <p:spPr>
          <a:xfrm>
            <a:off x="7735824" y="3511296"/>
            <a:ext cx="105156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1" name="Shape 28"/>
          <p:cNvSpPr/>
          <p:nvPr/>
        </p:nvSpPr>
        <p:spPr>
          <a:xfrm>
            <a:off x="8833104" y="3557016"/>
            <a:ext cx="660446" cy="182880"/>
          </a:xfrm>
          <a:prstGeom prst="roundRect">
            <a:avLst>
              <a:gd name="adj" fmla="val 15000"/>
            </a:avLst>
          </a:prstGeom>
          <a:solidFill>
            <a:srgbClr val="1E8E86"/>
          </a:solidFill>
          <a:ln/>
        </p:spPr>
      </p:sp>
      <p:sp>
        <p:nvSpPr>
          <p:cNvPr id="32" name="Text 29"/>
          <p:cNvSpPr/>
          <p:nvPr/>
        </p:nvSpPr>
        <p:spPr>
          <a:xfrm>
            <a:off x="10296144" y="3511296"/>
            <a:ext cx="1252728" cy="274320"/>
          </a:xfrm>
          <a:prstGeom prst="rect">
            <a:avLst/>
          </a:prstGeom>
          <a:noFill/>
          <a:ln/>
        </p:spPr>
        <p:txBody>
          <a:bodyPr wrap="square" lIns="0" tIns="0" rIns="0" bIns="0" rtlCol="0" anchor="ctr"/>
          <a:lstStyle/>
          <a:p>
            <a:pPr algn="r" indent="0" marL="0">
              <a:buNone/>
            </a:pPr>
            <a:r>
              <a:rPr lang="en-US" sz="1050" b="1" dirty="0">
                <a:solidFill>
                  <a:srgbClr val="1E8E86"/>
                </a:solidFill>
                <a:latin typeface="Graphik TH" pitchFamily="34" charset="0"/>
                <a:ea typeface="Graphik TH" pitchFamily="34" charset="-122"/>
                <a:cs typeface="Graphik TH" pitchFamily="34" charset="-120"/>
              </a:rPr>
              <a:t>THB 25,414</a:t>
            </a:r>
            <a:endParaRPr lang="en-US" sz="1050" dirty="0"/>
          </a:p>
        </p:txBody>
      </p:sp>
      <p:sp>
        <p:nvSpPr>
          <p:cNvPr id="33" name="Text 30"/>
          <p:cNvSpPr/>
          <p:nvPr/>
        </p:nvSpPr>
        <p:spPr>
          <a:xfrm>
            <a:off x="7735824" y="3840480"/>
            <a:ext cx="105156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4" name="Shape 31"/>
          <p:cNvSpPr/>
          <p:nvPr/>
        </p:nvSpPr>
        <p:spPr>
          <a:xfrm>
            <a:off x="8833104" y="3886200"/>
            <a:ext cx="234911" cy="182880"/>
          </a:xfrm>
          <a:prstGeom prst="roundRect">
            <a:avLst>
              <a:gd name="adj" fmla="val 15000"/>
            </a:avLst>
          </a:prstGeom>
          <a:solidFill>
            <a:srgbClr val="8DA0B8"/>
          </a:solidFill>
          <a:ln/>
        </p:spPr>
      </p:sp>
      <p:sp>
        <p:nvSpPr>
          <p:cNvPr id="35" name="Text 32"/>
          <p:cNvSpPr/>
          <p:nvPr/>
        </p:nvSpPr>
        <p:spPr>
          <a:xfrm>
            <a:off x="10296144" y="3840480"/>
            <a:ext cx="1252728" cy="274320"/>
          </a:xfrm>
          <a:prstGeom prst="rect">
            <a:avLst/>
          </a:prstGeom>
          <a:noFill/>
          <a:ln/>
        </p:spPr>
        <p:txBody>
          <a:bodyPr wrap="square" lIns="0" tIns="0" rIns="0" bIns="0" rtlCol="0" anchor="ctr"/>
          <a:lstStyle/>
          <a:p>
            <a:pPr algn="r" indent="0" marL="0">
              <a:buNone/>
            </a:pPr>
            <a:r>
              <a:rPr lang="en-US" sz="1050" b="1" dirty="0">
                <a:solidFill>
                  <a:srgbClr val="8DA0B8"/>
                </a:solidFill>
                <a:latin typeface="Graphik TH" pitchFamily="34" charset="0"/>
                <a:ea typeface="Graphik TH" pitchFamily="34" charset="-122"/>
                <a:cs typeface="Graphik TH" pitchFamily="34" charset="-120"/>
              </a:rPr>
              <a:t>THB 9,040</a:t>
            </a:r>
            <a:endParaRPr lang="en-US" sz="1050" dirty="0"/>
          </a:p>
        </p:txBody>
      </p:sp>
      <p:sp>
        <p:nvSpPr>
          <p:cNvPr id="36" name="Text 33"/>
          <p:cNvSpPr/>
          <p:nvPr/>
        </p:nvSpPr>
        <p:spPr>
          <a:xfrm>
            <a:off x="7735824" y="4169664"/>
            <a:ext cx="105156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7" name="Shape 34"/>
          <p:cNvSpPr/>
          <p:nvPr/>
        </p:nvSpPr>
        <p:spPr>
          <a:xfrm>
            <a:off x="8833104" y="4215384"/>
            <a:ext cx="1417320" cy="182880"/>
          </a:xfrm>
          <a:prstGeom prst="roundRect">
            <a:avLst>
              <a:gd name="adj" fmla="val 15000"/>
            </a:avLst>
          </a:prstGeom>
          <a:solidFill>
            <a:srgbClr val="C00000"/>
          </a:solidFill>
          <a:ln/>
        </p:spPr>
      </p:sp>
      <p:sp>
        <p:nvSpPr>
          <p:cNvPr id="38" name="Text 35"/>
          <p:cNvSpPr/>
          <p:nvPr/>
        </p:nvSpPr>
        <p:spPr>
          <a:xfrm>
            <a:off x="10296144" y="4169664"/>
            <a:ext cx="1252728" cy="274320"/>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THB 54,539</a:t>
            </a:r>
            <a:endParaRPr lang="en-US" sz="1050" dirty="0"/>
          </a:p>
        </p:txBody>
      </p:sp>
      <p:sp>
        <p:nvSpPr>
          <p:cNvPr id="39" name="Shape 36"/>
          <p:cNvSpPr/>
          <p:nvPr/>
        </p:nvSpPr>
        <p:spPr>
          <a:xfrm>
            <a:off x="7735824" y="4553712"/>
            <a:ext cx="3813048" cy="512064"/>
          </a:xfrm>
          <a:prstGeom prst="roundRect">
            <a:avLst>
              <a:gd name="adj" fmla="val 16071"/>
            </a:avLst>
          </a:prstGeom>
          <a:solidFill>
            <a:srgbClr val="FBF0E6"/>
          </a:solidFill>
          <a:ln/>
        </p:spPr>
      </p:sp>
      <p:sp>
        <p:nvSpPr>
          <p:cNvPr id="40" name="Text 37"/>
          <p:cNvSpPr/>
          <p:nvPr/>
        </p:nvSpPr>
        <p:spPr>
          <a:xfrm>
            <a:off x="7882128" y="4553712"/>
            <a:ext cx="3520440"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Low Confidence decreases on 41.5% of customers but only 13.8% of its balance — the big accounts sit still.</a:t>
            </a:r>
            <a:endParaRPr lang="en-US" sz="950" dirty="0"/>
          </a:p>
        </p:txBody>
      </p:sp>
      <p:sp>
        <p:nvSpPr>
          <p:cNvPr id="41" name="Shape 38"/>
          <p:cNvSpPr/>
          <p:nvPr/>
        </p:nvSpPr>
        <p:spPr>
          <a:xfrm>
            <a:off x="530352" y="5285232"/>
            <a:ext cx="11274552" cy="786384"/>
          </a:xfrm>
          <a:prstGeom prst="roundRect">
            <a:avLst>
              <a:gd name="adj" fmla="val 10465"/>
            </a:avLst>
          </a:prstGeom>
          <a:solidFill>
            <a:srgbClr val="FBF0E6"/>
          </a:solidFill>
          <a:ln/>
        </p:spPr>
      </p:sp>
      <p:sp>
        <p:nvSpPr>
          <p:cNvPr id="42" name="Text 3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489.9m sits on the scores the framework trusts least</a:t>
            </a:r>
            <a:pPr indent="0" marL="0">
              <a:buNone/>
            </a:pPr>
            <a:r>
              <a:rPr lang="en-US" sz="1100" dirty="0">
                <a:solidFill>
                  <a:srgbClr val="16233D"/>
                </a:solidFill>
                <a:latin typeface="Graphik TH" pitchFamily="34" charset="0"/>
                <a:ea typeface="Graphik TH" pitchFamily="34" charset="-122"/>
                <a:cs typeface="Graphik TH" pitchFamily="34" charset="-120"/>
              </a:rPr>
              <a:t>  —  Low Confidence averages THB 54,539 per customer against THB 25,414 for High. Confidence and balance run in opposite directions, so a score-quality gate applied on headcount would leave the largest exposures unreviewed.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2026-09-28T10:25:34Z</dcterms:created>
  <dcterms:modified xsi:type="dcterms:W3CDTF">2026-09-28T10:25:34Z</dcterms:modified>
</cp:coreProperties>
</file>
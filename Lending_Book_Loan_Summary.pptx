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Sheet1!$B$2:$B$5</c:f>
              <c:numCache>
                <c:formatCode>General</c:formatCode>
                <c:ptCount val="4"/>
                <c:pt idx="0">
                  <c:v>2</c:v>
                </c:pt>
                <c:pt idx="1">
                  <c:v>6</c:v>
                </c:pt>
                <c:pt idx="2">
                  <c:v>13</c:v>
                </c:pt>
                <c:pt idx="3">
                  <c:v>18</c:v>
                </c:pt>
              </c:numCache>
            </c:numRef>
          </c:val>
        </c:ser>
        <c:ser>
          <c:idx val="1"/>
          <c:order val="1"/>
          <c:tx>
            <c:strRef>
              <c:f>Sheet1!$C$1</c:f>
              <c:strCache>
                <c:ptCount val="1"/>
                <c:pt idx="0">
                  <c:v>Low</c:v>
                </c:pt>
              </c:strCache>
            </c:strRef>
          </c:tx>
          <c:spPr>
            <a:solidFill>
              <a:srgbClr val="3FB89F"/>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Sheet1!$C$2:$C$5</c:f>
              <c:numCache>
                <c:formatCode>General</c:formatCode>
                <c:ptCount val="4"/>
                <c:pt idx="0">
                  <c:v>29</c:v>
                </c:pt>
                <c:pt idx="1">
                  <c:v>31</c:v>
                </c:pt>
                <c:pt idx="2">
                  <c:v>5</c:v>
                </c:pt>
                <c:pt idx="3">
                  <c:v>9</c:v>
                </c:pt>
              </c:numCache>
            </c:numRef>
          </c:val>
        </c:ser>
        <c:ser>
          <c:idx val="2"/>
          <c:order val="2"/>
          <c:tx>
            <c:strRef>
              <c:f>Sheet1!$D$1</c:f>
              <c:strCache>
                <c:ptCount val="1"/>
                <c:pt idx="0">
                  <c:v>Mid</c:v>
                </c:pt>
              </c:strCache>
            </c:strRef>
          </c:tx>
          <c:spPr>
            <a:solidFill>
              <a:srgbClr val="1E8E86"/>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Sheet1!$D$2:$D$5</c:f>
              <c:numCache>
                <c:formatCode>General</c:formatCode>
                <c:ptCount val="4"/>
                <c:pt idx="0">
                  <c:v>25</c:v>
                </c:pt>
                <c:pt idx="1">
                  <c:v>23</c:v>
                </c:pt>
                <c:pt idx="2">
                  <c:v>16</c:v>
                </c:pt>
                <c:pt idx="3">
                  <c:v>21</c:v>
                </c:pt>
              </c:numCache>
            </c:numRef>
          </c:val>
        </c:ser>
        <c:ser>
          <c:idx val="3"/>
          <c:order val="3"/>
          <c:tx>
            <c:strRef>
              <c:f>Sheet1!$E$1</c:f>
              <c:strCache>
                <c:ptCount val="1"/>
                <c:pt idx="0">
                  <c:v>High</c:v>
                </c:pt>
              </c:strCache>
            </c:strRef>
          </c:tx>
          <c:spPr>
            <a:solidFill>
              <a:srgbClr val="165A73"/>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Sheet1!$E$2:$E$5</c:f>
              <c:numCache>
                <c:formatCode>General</c:formatCode>
                <c:ptCount val="4"/>
                <c:pt idx="0">
                  <c:v>44</c:v>
                </c:pt>
                <c:pt idx="1">
                  <c:v>40</c:v>
                </c:pt>
                <c:pt idx="2">
                  <c:v>66</c:v>
                </c:pt>
                <c:pt idx="3">
                  <c:v>52</c:v>
                </c:pt>
              </c:numCache>
            </c:numRef>
          </c:val>
        </c:ser>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7.3</c:v>
                </c:pt>
                <c:pt idx="1">
                  <c:v>6.9</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30.9</c:v>
                </c:pt>
                <c:pt idx="1">
                  <c:v>46</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Sheet1!$D$2:$D$3</c:f>
              <c:numCache>
                <c:formatCode>General</c:formatCode>
                <c:ptCount val="2"/>
                <c:pt idx="0">
                  <c:v>61.8</c:v>
                </c:pt>
                <c:pt idx="1">
                  <c:v>47.2</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7.8</c:v>
                </c:pt>
                <c:pt idx="1">
                  <c:v>7.5</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32.6</c:v>
                </c:pt>
                <c:pt idx="1">
                  <c:v>52.2</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Sheet1!$D$2:$D$3</c:f>
              <c:numCache>
                <c:formatCode>General</c:formatCode>
                <c:ptCount val="2"/>
                <c:pt idx="0">
                  <c:v>59.6</c:v>
                </c:pt>
                <c:pt idx="1">
                  <c:v>40.4</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9</c:v>
                </c:pt>
                <c:pt idx="1">
                  <c:v>9</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19.7</c:v>
                </c:pt>
                <c:pt idx="1">
                  <c:v>20.9</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Sheet1!$D$2:$D$3</c:f>
              <c:numCache>
                <c:formatCode>General</c:formatCode>
                <c:ptCount val="2"/>
                <c:pt idx="0">
                  <c:v>71.3</c:v>
                </c:pt>
                <c:pt idx="1">
                  <c:v>70.2</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9.7</c:v>
                </c:pt>
                <c:pt idx="1">
                  <c:v>10.6</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20.6</c:v>
                </c:pt>
                <c:pt idx="1">
                  <c:v>22.1</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Sheet1!$D$2:$D$3</c:f>
              <c:numCache>
                <c:formatCode>General</c:formatCode>
                <c:ptCount val="2"/>
                <c:pt idx="0">
                  <c:v>69.7</c:v>
                </c:pt>
                <c:pt idx="1">
                  <c:v>67.3</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33.4</c:v>
                </c:pt>
                <c:pt idx="1">
                  <c:v>46.6</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66.6</c:v>
                </c:pt>
                <c:pt idx="1">
                  <c:v>53.4</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34.1</c:v>
                </c:pt>
                <c:pt idx="1">
                  <c:v>46.9</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65.9</c:v>
                </c:pt>
                <c:pt idx="1">
                  <c:v>53.1</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26.7</c:v>
                </c:pt>
                <c:pt idx="1">
                  <c:v>33</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73.3</c:v>
                </c:pt>
                <c:pt idx="1">
                  <c:v>67</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28</c:v>
                </c:pt>
                <c:pt idx="1">
                  <c:v>36.5</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72</c:v>
                </c:pt>
                <c:pt idx="1">
                  <c:v>63.5</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Bookings (K)</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9.5</c:v>
                </c:pt>
                <c:pt idx="1">
                  <c:v>7.2</c:v>
                </c:pt>
                <c:pt idx="2">
                  <c:v>2.1</c:v>
                </c:pt>
                <c:pt idx="3">
                  <c:v>32.2</c:v>
                </c:pt>
                <c:pt idx="4">
                  <c:v>12.2</c:v>
                </c:pt>
                <c:pt idx="5">
                  <c:v>0.6</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4.3</c:v>
                </c:pt>
                <c:pt idx="1">
                  <c:v>0.4</c:v>
                </c:pt>
                <c:pt idx="2">
                  <c:v>0.1</c:v>
                </c:pt>
                <c:pt idx="3">
                  <c:v>1.2</c:v>
                </c:pt>
                <c:pt idx="4">
                  <c:v>0.4</c:v>
                </c:pt>
                <c:pt idx="5">
                  <c:v>0.1</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4.9</c:v>
                </c:pt>
                <c:pt idx="1">
                  <c:v>6.9</c:v>
                </c:pt>
                <c:pt idx="2">
                  <c:v>7.6</c:v>
                </c:pt>
                <c:pt idx="3">
                  <c:v>6.9</c:v>
                </c:pt>
                <c:pt idx="4">
                  <c:v>6.9</c:v>
                </c:pt>
                <c:pt idx="5">
                  <c:v>3.8</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c:v>
                </c:pt>
                <c:pt idx="1">
                  <c:v>47.9</c:v>
                </c:pt>
                <c:pt idx="2">
                  <c:v>47.9</c:v>
                </c:pt>
                <c:pt idx="3">
                  <c:v>49.4</c:v>
                </c:pt>
                <c:pt idx="4">
                  <c:v>46.4</c:v>
                </c:pt>
                <c:pt idx="5">
                  <c:v>17.5</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40.1</c:v>
                </c:pt>
                <c:pt idx="1">
                  <c:v>45.1</c:v>
                </c:pt>
                <c:pt idx="2">
                  <c:v>44.5</c:v>
                </c:pt>
                <c:pt idx="3">
                  <c:v>43.8</c:v>
                </c:pt>
                <c:pt idx="4">
                  <c:v>46.7</c:v>
                </c:pt>
                <c:pt idx="5">
                  <c:v>78.7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9.7</c:v>
                </c:pt>
                <c:pt idx="1">
                  <c:v>10.5</c:v>
                </c:pt>
                <c:pt idx="2">
                  <c:v>10.9</c:v>
                </c:pt>
                <c:pt idx="3">
                  <c:v>11.6</c:v>
                </c:pt>
                <c:pt idx="4">
                  <c:v>11.6</c:v>
                </c:pt>
                <c:pt idx="5">
                  <c:v>4.4</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21.9</c:v>
                </c:pt>
                <c:pt idx="1">
                  <c:v>22.7</c:v>
                </c:pt>
                <c:pt idx="2">
                  <c:v>23.1</c:v>
                </c:pt>
                <c:pt idx="3">
                  <c:v>23.3</c:v>
                </c:pt>
                <c:pt idx="4">
                  <c:v>22.7</c:v>
                </c:pt>
                <c:pt idx="5">
                  <c:v>14.7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68.4</c:v>
                </c:pt>
                <c:pt idx="1">
                  <c:v>66.8</c:v>
                </c:pt>
                <c:pt idx="2">
                  <c:v>66</c:v>
                </c:pt>
                <c:pt idx="3">
                  <c:v>65.1</c:v>
                </c:pt>
                <c:pt idx="4">
                  <c:v>65.7</c:v>
                </c:pt>
                <c:pt idx="5">
                  <c:v>80.9</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44.7</c:v>
                </c:pt>
                <c:pt idx="1">
                  <c:v>39.6</c:v>
                </c:pt>
                <c:pt idx="2">
                  <c:v>36.8</c:v>
                </c:pt>
                <c:pt idx="3">
                  <c:v>38</c:v>
                </c:pt>
                <c:pt idx="4">
                  <c:v>35.2</c:v>
                </c:pt>
                <c:pt idx="5">
                  <c:v>37.1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55.3</c:v>
                </c:pt>
                <c:pt idx="1">
                  <c:v>60.4</c:v>
                </c:pt>
                <c:pt idx="2">
                  <c:v>63.2</c:v>
                </c:pt>
                <c:pt idx="3">
                  <c:v>62</c:v>
                </c:pt>
                <c:pt idx="4">
                  <c:v>64.8</c:v>
                </c:pt>
                <c:pt idx="5">
                  <c:v>62.9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33.4</c:v>
                </c:pt>
                <c:pt idx="1">
                  <c:v>32.7</c:v>
                </c:pt>
                <c:pt idx="2">
                  <c:v>31.3</c:v>
                </c:pt>
                <c:pt idx="3">
                  <c:v>31.9</c:v>
                </c:pt>
                <c:pt idx="4">
                  <c:v>29.7</c:v>
                </c:pt>
                <c:pt idx="5">
                  <c:v>18.1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66.6</c:v>
                </c:pt>
                <c:pt idx="1">
                  <c:v>67.3</c:v>
                </c:pt>
                <c:pt idx="2">
                  <c:v>68.7</c:v>
                </c:pt>
                <c:pt idx="3">
                  <c:v>68.1</c:v>
                </c:pt>
                <c:pt idx="4">
                  <c:v>70.3</c:v>
                </c:pt>
                <c:pt idx="5">
                  <c:v>81.9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6.1</c:v>
                </c:pt>
                <c:pt idx="1">
                  <c:v>7.5</c:v>
                </c:pt>
                <c:pt idx="2">
                  <c:v>8.5</c:v>
                </c:pt>
                <c:pt idx="3">
                  <c:v>7.6</c:v>
                </c:pt>
                <c:pt idx="4">
                  <c:v>7.8</c:v>
                </c:pt>
                <c:pt idx="5">
                  <c:v>5.6</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44.3</c:v>
                </c:pt>
                <c:pt idx="1">
                  <c:v>32.6</c:v>
                </c:pt>
                <c:pt idx="2">
                  <c:v>34.3</c:v>
                </c:pt>
                <c:pt idx="3">
                  <c:v>32.9</c:v>
                </c:pt>
                <c:pt idx="4">
                  <c:v>30.1</c:v>
                </c:pt>
                <c:pt idx="5">
                  <c:v>8.8</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Sheet1!$D$2:$D$7</c:f>
              <c:numCache>
                <c:formatCode>General</c:formatCode>
                <c:ptCount val="6"/>
                <c:pt idx="0">
                  <c:v>49.6</c:v>
                </c:pt>
                <c:pt idx="1">
                  <c:v>59.9</c:v>
                </c:pt>
                <c:pt idx="2">
                  <c:v>57.2</c:v>
                </c:pt>
                <c:pt idx="3">
                  <c:v>59.5</c:v>
                </c:pt>
                <c:pt idx="4">
                  <c:v>62.1</c:v>
                </c:pt>
                <c:pt idx="5">
                  <c:v>85.6</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6.6</c:v>
                </c:pt>
                <c:pt idx="1">
                  <c:v>8.4</c:v>
                </c:pt>
                <c:pt idx="2">
                  <c:v>8.8</c:v>
                </c:pt>
                <c:pt idx="3">
                  <c:v>7.9</c:v>
                </c:pt>
                <c:pt idx="4">
                  <c:v>7.9</c:v>
                </c:pt>
                <c:pt idx="5">
                  <c:v>7.2</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50.3</c:v>
                </c:pt>
                <c:pt idx="1">
                  <c:v>36</c:v>
                </c:pt>
                <c:pt idx="2">
                  <c:v>35.1</c:v>
                </c:pt>
                <c:pt idx="3">
                  <c:v>34.8</c:v>
                </c:pt>
                <c:pt idx="4">
                  <c:v>31.7</c:v>
                </c:pt>
                <c:pt idx="5">
                  <c:v>9.6</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Sheet1!$D$2:$D$7</c:f>
              <c:numCache>
                <c:formatCode>General</c:formatCode>
                <c:ptCount val="6"/>
                <c:pt idx="0">
                  <c:v>43.1</c:v>
                </c:pt>
                <c:pt idx="1">
                  <c:v>55.6</c:v>
                </c:pt>
                <c:pt idx="2">
                  <c:v>56.1</c:v>
                </c:pt>
                <c:pt idx="3">
                  <c:v>57.2</c:v>
                </c:pt>
                <c:pt idx="4">
                  <c:v>60.4</c:v>
                </c:pt>
                <c:pt idx="5">
                  <c:v>83.2</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8.3</c:v>
                </c:pt>
                <c:pt idx="1">
                  <c:v>8.4</c:v>
                </c:pt>
                <c:pt idx="2">
                  <c:v>9</c:v>
                </c:pt>
                <c:pt idx="3">
                  <c:v>9.8</c:v>
                </c:pt>
                <c:pt idx="4">
                  <c:v>9.3</c:v>
                </c:pt>
                <c:pt idx="5">
                  <c:v>4.8</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20.7</c:v>
                </c:pt>
                <c:pt idx="1">
                  <c:v>19.5</c:v>
                </c:pt>
                <c:pt idx="2">
                  <c:v>20.6</c:v>
                </c:pt>
                <c:pt idx="3">
                  <c:v>20.1</c:v>
                </c:pt>
                <c:pt idx="4">
                  <c:v>20.2</c:v>
                </c:pt>
                <c:pt idx="5">
                  <c:v>11.4</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Sheet1!$D$2:$D$7</c:f>
              <c:numCache>
                <c:formatCode>General</c:formatCode>
                <c:ptCount val="6"/>
                <c:pt idx="0">
                  <c:v>71</c:v>
                </c:pt>
                <c:pt idx="1">
                  <c:v>72.1</c:v>
                </c:pt>
                <c:pt idx="2">
                  <c:v>70.4</c:v>
                </c:pt>
                <c:pt idx="3">
                  <c:v>70.2</c:v>
                </c:pt>
                <c:pt idx="4">
                  <c:v>70.5</c:v>
                </c:pt>
                <c:pt idx="5">
                  <c:v>83.7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9.8</c:v>
                </c:pt>
                <c:pt idx="1">
                  <c:v>9</c:v>
                </c:pt>
                <c:pt idx="2">
                  <c:v>9.9</c:v>
                </c:pt>
                <c:pt idx="3">
                  <c:v>10.3</c:v>
                </c:pt>
                <c:pt idx="4">
                  <c:v>9.7</c:v>
                </c:pt>
                <c:pt idx="5">
                  <c:v>7.1</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21.6</c:v>
                </c:pt>
                <c:pt idx="1">
                  <c:v>21.4</c:v>
                </c:pt>
                <c:pt idx="2">
                  <c:v>21</c:v>
                </c:pt>
                <c:pt idx="3">
                  <c:v>21</c:v>
                </c:pt>
                <c:pt idx="4">
                  <c:v>20.7</c:v>
                </c:pt>
                <c:pt idx="5">
                  <c:v>10.7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Sheet1!$D$2:$D$7</c:f>
              <c:numCache>
                <c:formatCode>General</c:formatCode>
                <c:ptCount val="6"/>
                <c:pt idx="0">
                  <c:v>68.6</c:v>
                </c:pt>
                <c:pt idx="1">
                  <c:v>69.5</c:v>
                </c:pt>
                <c:pt idx="2">
                  <c:v>69.1</c:v>
                </c:pt>
                <c:pt idx="3">
                  <c:v>68.7</c:v>
                </c:pt>
                <c:pt idx="4">
                  <c:v>69.5</c:v>
                </c:pt>
                <c:pt idx="5">
                  <c:v>82.1</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45.5</c:v>
                </c:pt>
                <c:pt idx="1">
                  <c:v>35.7</c:v>
                </c:pt>
                <c:pt idx="2">
                  <c:v>32.9</c:v>
                </c:pt>
                <c:pt idx="3">
                  <c:v>34</c:v>
                </c:pt>
                <c:pt idx="4">
                  <c:v>30.9</c:v>
                </c:pt>
                <c:pt idx="5">
                  <c:v>45.2</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54.5</c:v>
                </c:pt>
                <c:pt idx="1">
                  <c:v>64.3</c:v>
                </c:pt>
                <c:pt idx="2">
                  <c:v>67.1</c:v>
                </c:pt>
                <c:pt idx="3">
                  <c:v>66</c:v>
                </c:pt>
                <c:pt idx="4">
                  <c:v>69.1</c:v>
                </c:pt>
                <c:pt idx="5">
                  <c:v>54.8</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47.4</c:v>
                </c:pt>
                <c:pt idx="1">
                  <c:v>37</c:v>
                </c:pt>
                <c:pt idx="2">
                  <c:v>34</c:v>
                </c:pt>
                <c:pt idx="3">
                  <c:v>34.9</c:v>
                </c:pt>
                <c:pt idx="4">
                  <c:v>31.5</c:v>
                </c:pt>
                <c:pt idx="5">
                  <c:v>41.4</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52.6</c:v>
                </c:pt>
                <c:pt idx="1">
                  <c:v>63</c:v>
                </c:pt>
                <c:pt idx="2">
                  <c:v>66</c:v>
                </c:pt>
                <c:pt idx="3">
                  <c:v>65.1</c:v>
                </c:pt>
                <c:pt idx="4">
                  <c:v>68.5</c:v>
                </c:pt>
                <c:pt idx="5">
                  <c:v>58.6</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32.3</c:v>
                </c:pt>
                <c:pt idx="1">
                  <c:v>28.2</c:v>
                </c:pt>
                <c:pt idx="2">
                  <c:v>28.9</c:v>
                </c:pt>
                <c:pt idx="3">
                  <c:v>27.7</c:v>
                </c:pt>
                <c:pt idx="4">
                  <c:v>25.6</c:v>
                </c:pt>
                <c:pt idx="5">
                  <c:v>14.6</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67.7</c:v>
                </c:pt>
                <c:pt idx="1">
                  <c:v>71.8</c:v>
                </c:pt>
                <c:pt idx="2">
                  <c:v>71.1</c:v>
                </c:pt>
                <c:pt idx="3">
                  <c:v>72.3</c:v>
                </c:pt>
                <c:pt idx="4">
                  <c:v>74.4</c:v>
                </c:pt>
                <c:pt idx="5">
                  <c:v>85.4</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35.6</c:v>
                </c:pt>
                <c:pt idx="1">
                  <c:v>30.5</c:v>
                </c:pt>
                <c:pt idx="2">
                  <c:v>28.7</c:v>
                </c:pt>
                <c:pt idx="3">
                  <c:v>29.3</c:v>
                </c:pt>
                <c:pt idx="4">
                  <c:v>26.3</c:v>
                </c:pt>
                <c:pt idx="5">
                  <c:v>17</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64.4</c:v>
                </c:pt>
                <c:pt idx="1">
                  <c:v>69.5</c:v>
                </c:pt>
                <c:pt idx="2">
                  <c:v>71.3</c:v>
                </c:pt>
                <c:pt idx="3">
                  <c:v>70.7</c:v>
                </c:pt>
                <c:pt idx="4">
                  <c:v>73.7</c:v>
                </c:pt>
                <c:pt idx="5">
                  <c:v>83</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Sheet1!$B$2:$B$3</c:f>
              <c:numCache>
                <c:formatCode>General</c:formatCode>
                <c:ptCount val="2"/>
                <c:pt idx="0">
                  <c:v>12.4</c:v>
                </c:pt>
                <c:pt idx="1">
                  <c:v>16</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Sheet1!$C$2:$C$3</c:f>
              <c:numCache>
                <c:formatCode>General</c:formatCode>
                <c:ptCount val="2"/>
                <c:pt idx="0">
                  <c:v>4.6</c:v>
                </c:pt>
                <c:pt idx="1">
                  <c:v>9.7</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Sheet1!$D$2:$D$3</c:f>
              <c:numCache>
                <c:formatCode>General</c:formatCode>
                <c:ptCount val="2"/>
                <c:pt idx="0">
                  <c:v>15.2</c:v>
                </c:pt>
                <c:pt idx="1">
                  <c:v>22.2</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Sheet1!$E$2:$E$3</c:f>
              <c:numCache>
                <c:formatCode>General</c:formatCode>
                <c:ptCount val="2"/>
                <c:pt idx="0">
                  <c:v>67.8</c:v>
                </c:pt>
                <c:pt idx="1">
                  <c:v>52.2</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Sheet1!$B$2:$B$3</c:f>
              <c:numCache>
                <c:formatCode>General</c:formatCode>
                <c:ptCount val="2"/>
                <c:pt idx="0">
                  <c:v>13</c:v>
                </c:pt>
                <c:pt idx="1">
                  <c:v>16.6</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Sheet1!$C$2:$C$3</c:f>
              <c:numCache>
                <c:formatCode>General</c:formatCode>
                <c:ptCount val="2"/>
                <c:pt idx="0">
                  <c:v>4.4</c:v>
                </c:pt>
                <c:pt idx="1">
                  <c:v>8.6</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Sheet1!$D$2:$D$3</c:f>
              <c:numCache>
                <c:formatCode>General</c:formatCode>
                <c:ptCount val="2"/>
                <c:pt idx="0">
                  <c:v>14</c:v>
                </c:pt>
                <c:pt idx="1">
                  <c:v>19.1</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Sheet1!$E$2:$E$3</c:f>
              <c:numCache>
                <c:formatCode>General</c:formatCode>
                <c:ptCount val="2"/>
                <c:pt idx="0">
                  <c:v>68.6</c:v>
                </c:pt>
                <c:pt idx="1">
                  <c:v>55.7</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Sheet1!$B$2:$B$3</c:f>
              <c:numCache>
                <c:formatCode>General</c:formatCode>
                <c:ptCount val="2"/>
                <c:pt idx="0">
                  <c:v>1.6</c:v>
                </c:pt>
                <c:pt idx="1">
                  <c:v>4.9</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Sheet1!$C$2:$C$3</c:f>
              <c:numCache>
                <c:formatCode>General</c:formatCode>
                <c:ptCount val="2"/>
                <c:pt idx="0">
                  <c:v>35.8</c:v>
                </c:pt>
                <c:pt idx="1">
                  <c:v>39.9</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Sheet1!$D$2:$D$3</c:f>
              <c:numCache>
                <c:formatCode>General</c:formatCode>
                <c:ptCount val="2"/>
                <c:pt idx="0">
                  <c:v>26.3</c:v>
                </c:pt>
                <c:pt idx="1">
                  <c:v>23.4</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Sheet1!$E$2:$E$3</c:f>
              <c:numCache>
                <c:formatCode>General</c:formatCode>
                <c:ptCount val="2"/>
                <c:pt idx="0">
                  <c:v>36.3</c:v>
                </c:pt>
                <c:pt idx="1">
                  <c:v>31.7</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Sheet1!$B$2:$B$3</c:f>
              <c:numCache>
                <c:formatCode>General</c:formatCode>
                <c:ptCount val="2"/>
                <c:pt idx="0">
                  <c:v>1.7</c:v>
                </c:pt>
                <c:pt idx="1">
                  <c:v>5.4</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Sheet1!$C$2:$C$3</c:f>
              <c:numCache>
                <c:formatCode>General</c:formatCode>
                <c:ptCount val="2"/>
                <c:pt idx="0">
                  <c:v>33.1</c:v>
                </c:pt>
                <c:pt idx="1">
                  <c:v>34.3</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Sheet1!$D$2:$D$3</c:f>
              <c:numCache>
                <c:formatCode>General</c:formatCode>
                <c:ptCount val="2"/>
                <c:pt idx="0">
                  <c:v>26.1</c:v>
                </c:pt>
                <c:pt idx="1">
                  <c:v>23.3</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Sheet1!$E$2:$E$3</c:f>
              <c:numCache>
                <c:formatCode>General</c:formatCode>
                <c:ptCount val="2"/>
                <c:pt idx="0">
                  <c:v>39.1</c:v>
                </c:pt>
                <c:pt idx="1">
                  <c:v>36.9</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with credit line and outstanding split into labelled blocks. Charge type is the only mix that moves materially: DL prepaid falls from 48.8% of customers to 30.9% of credit line while postpaid rises 44.7% to 61.8%. The other three shift only a few points toward the favourable category: tenure 5+ years 66.3% to 71.3% of DL line, nano Y 61.8% to 66.6%, TRUE Y 68.5% to 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the two earlier book-date slides into one, in the same tall-panel layout as the value slide that follows. 2 Aug alone is 33,341 of the 70,100 AIS bookings (47.6%); PL is back-loaded, with 4,255 of its 6,340 bookings on 5 Aug. Nano-loan Y falls from 64.8% on 1 Aug to 55.3% on 5 Aug (9.5pt); TRUE Y drifts 70.3% to 66.6%. Charge type and tenure barely move - prepaid 46-55%, tenure 5+ years 65-68%.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line and outstanding are now separate labelled blocks within each dimension panel. In every August cohort the prepaid share of outstanding exceeds its share of credit line - by 1.6pt on 1 Aug widening to 6.0pt on 5 Aug - and the same direction holds for 0-1 year tenure, no-nano and non-TRUE. The segments granted smaller lines draw a higher fraction of them, so outstanding is tilted toward the weaker end of every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chart form as slide 1, on value instead of headcount, with credit line and outstanding as labelled blocks. Risk: High rises from 36.3% of DL credit line to 39.1% of outstanding, and 31.7% to 36.9% on PL; Low falls 35.8% to 33.1% and 39.9% to 34.3%. Cash need moves less - High 67.8% to 68.6% on DL, 52.2% to 55.7% on PL. Same direction as the book-date cuts: the weaker segment of every dimension draws a higher fraction of its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chart" Target="/ppt/charts/chart18.xml"/><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chart" Target="/ppt/charts/chart25.xml"/><Relationship Id="rId8" Type="http://schemas.openxmlformats.org/officeDocument/2006/relationships/chart" Target="/ppt/charts/chart26.xml"/><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26464"/>
            <a:ext cx="2628900" cy="4517136"/>
          </a:xfrm>
          <a:prstGeom prst="roundRect">
            <a:avLst>
              <a:gd name="adj" fmla="val 3130"/>
            </a:avLst>
          </a:prstGeom>
          <a:solidFill>
            <a:srgbClr val="F1F4F9"/>
          </a:solidFill>
          <a:ln/>
        </p:spPr>
      </p:sp>
      <p:sp>
        <p:nvSpPr>
          <p:cNvPr id="6" name="Text 4"/>
          <p:cNvSpPr/>
          <p:nvPr/>
        </p:nvSpPr>
        <p:spPr>
          <a:xfrm>
            <a:off x="64008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Charge type</a:t>
            </a:r>
            <a:endParaRPr lang="en-US" sz="1200" dirty="0"/>
          </a:p>
        </p:txBody>
      </p:sp>
      <p:graphicFrame>
        <p:nvGraphicFramePr>
          <p:cNvPr id="7" name="Chart 0" descr=""/>
          <p:cNvGraphicFramePr/>
          <p:nvPr/>
        </p:nvGraphicFramePr>
        <p:xfrm>
          <a:off x="630936" y="1810512"/>
          <a:ext cx="2464308" cy="1778325"/>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88837"/>
          <a:ext cx="2464308" cy="226332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3360420" y="1426464"/>
            <a:ext cx="2628900" cy="4517136"/>
          </a:xfrm>
          <a:prstGeom prst="roundRect">
            <a:avLst>
              <a:gd name="adj" fmla="val 3130"/>
            </a:avLst>
          </a:prstGeom>
          <a:solidFill>
            <a:srgbClr val="F1F4F9"/>
          </a:solidFill>
          <a:ln/>
        </p:spPr>
      </p:sp>
      <p:sp>
        <p:nvSpPr>
          <p:cNvPr id="10" name="Text 6"/>
          <p:cNvSpPr/>
          <p:nvPr/>
        </p:nvSpPr>
        <p:spPr>
          <a:xfrm>
            <a:off x="345186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Tenure in years</a:t>
            </a:r>
            <a:endParaRPr lang="en-US" sz="1200" dirty="0"/>
          </a:p>
        </p:txBody>
      </p:sp>
      <p:graphicFrame>
        <p:nvGraphicFramePr>
          <p:cNvPr id="11" name="Chart 2" descr=""/>
          <p:cNvGraphicFramePr/>
          <p:nvPr/>
        </p:nvGraphicFramePr>
        <p:xfrm>
          <a:off x="3442716" y="1810512"/>
          <a:ext cx="2464308" cy="1778325"/>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3442716" y="3588837"/>
          <a:ext cx="2464308" cy="2263323"/>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6172200" y="1426464"/>
            <a:ext cx="2628900" cy="4517136"/>
          </a:xfrm>
          <a:prstGeom prst="roundRect">
            <a:avLst>
              <a:gd name="adj" fmla="val 3130"/>
            </a:avLst>
          </a:prstGeom>
          <a:solidFill>
            <a:srgbClr val="F1F4F9"/>
          </a:solidFill>
          <a:ln/>
        </p:spPr>
      </p:sp>
      <p:sp>
        <p:nvSpPr>
          <p:cNvPr id="14" name="Text 8"/>
          <p:cNvSpPr/>
          <p:nvPr/>
        </p:nvSpPr>
        <p:spPr>
          <a:xfrm>
            <a:off x="626364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Nano-loan flag</a:t>
            </a:r>
            <a:endParaRPr lang="en-US" sz="1200" dirty="0"/>
          </a:p>
        </p:txBody>
      </p:sp>
      <p:graphicFrame>
        <p:nvGraphicFramePr>
          <p:cNvPr id="15" name="Chart 4" descr=""/>
          <p:cNvGraphicFramePr/>
          <p:nvPr/>
        </p:nvGraphicFramePr>
        <p:xfrm>
          <a:off x="6254496" y="1810512"/>
          <a:ext cx="2464308" cy="1778325"/>
        </p:xfrm>
        <a:graphic xmlns:a="http://schemas.openxmlformats.org/drawingml/2006/main">
          <a:graphicData uri="http://schemas.openxmlformats.org/drawingml/2006/chart">
            <c:chart xmlns:c="http://schemas.openxmlformats.org/drawingml/2006/chart" r:id="rId5"/>
          </a:graphicData>
        </a:graphic>
      </p:graphicFrame>
      <p:graphicFrame>
        <p:nvGraphicFramePr>
          <p:cNvPr id="16" name="Chart 5" descr=""/>
          <p:cNvGraphicFramePr/>
          <p:nvPr/>
        </p:nvGraphicFramePr>
        <p:xfrm>
          <a:off x="6254496" y="3588837"/>
          <a:ext cx="2464308" cy="2263323"/>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1426464"/>
            <a:ext cx="2628900" cy="4517136"/>
          </a:xfrm>
          <a:prstGeom prst="roundRect">
            <a:avLst>
              <a:gd name="adj" fmla="val 3130"/>
            </a:avLst>
          </a:prstGeom>
          <a:solidFill>
            <a:srgbClr val="F1F4F9"/>
          </a:solidFill>
          <a:ln/>
        </p:spPr>
      </p:sp>
      <p:sp>
        <p:nvSpPr>
          <p:cNvPr id="18" name="Text 10"/>
          <p:cNvSpPr/>
          <p:nvPr/>
        </p:nvSpPr>
        <p:spPr>
          <a:xfrm>
            <a:off x="907542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TRUE ecosystem</a:t>
            </a:r>
            <a:endParaRPr lang="en-US" sz="1200" dirty="0"/>
          </a:p>
        </p:txBody>
      </p:sp>
      <p:graphicFrame>
        <p:nvGraphicFramePr>
          <p:cNvPr id="19" name="Chart 6" descr=""/>
          <p:cNvGraphicFramePr/>
          <p:nvPr/>
        </p:nvGraphicFramePr>
        <p:xfrm>
          <a:off x="9066276" y="1810512"/>
          <a:ext cx="2464308" cy="1778325"/>
        </p:xfrm>
        <a:graphic xmlns:a="http://schemas.openxmlformats.org/drawingml/2006/main">
          <a:graphicData uri="http://schemas.openxmlformats.org/drawingml/2006/chart">
            <c:chart xmlns:c="http://schemas.openxmlformats.org/drawingml/2006/chart" r:id="rId7"/>
          </a:graphicData>
        </a:graphic>
      </p:graphicFrame>
      <p:graphicFrame>
        <p:nvGraphicFramePr>
          <p:cNvPr id="20" name="Chart 7" descr=""/>
          <p:cNvGraphicFramePr/>
          <p:nvPr/>
        </p:nvGraphicFramePr>
        <p:xfrm>
          <a:off x="9066276" y="3588837"/>
          <a:ext cx="2464308" cy="2263323"/>
        </p:xfrm>
        <a:graphic xmlns:a="http://schemas.openxmlformats.org/drawingml/2006/main">
          <a:graphicData uri="http://schemas.openxmlformats.org/drawingml/2006/chart">
            <c:chart xmlns:c="http://schemas.openxmlformats.org/drawingml/2006/chart" r:id="rId8"/>
          </a:graphicData>
        </a:graphic>
      </p:graphicFrame>
      <p:sp>
        <p:nvSpPr>
          <p:cNvPr id="21" name="Text 11"/>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every bar reads to 100%. The figure beside each bar is that bar's total for the measure shown. Segments too narrow to hold a label are left blank. Slide 2 shows the same four splits by customer count.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CUSTOMER COUNT</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Nearly half the base booked on 2 August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PL arrives almost entirely on 5 Aug; the nano-loan flag falls 9.5 points across the cohorts while charge type and tenure barely move.</a:t>
            </a:r>
            <a:endParaRPr lang="en-US" sz="1200" dirty="0"/>
          </a:p>
        </p:txBody>
      </p:sp>
      <p:sp>
        <p:nvSpPr>
          <p:cNvPr id="5" name="Shape 3"/>
          <p:cNvSpPr/>
          <p:nvPr/>
        </p:nvSpPr>
        <p:spPr>
          <a:xfrm>
            <a:off x="548640" y="1426464"/>
            <a:ext cx="2081174" cy="4517136"/>
          </a:xfrm>
          <a:prstGeom prst="roundRect">
            <a:avLst>
              <a:gd name="adj" fmla="val 3954"/>
            </a:avLst>
          </a:prstGeom>
          <a:solidFill>
            <a:srgbClr val="F1F4F9"/>
          </a:solidFill>
          <a:ln/>
        </p:spPr>
      </p:sp>
      <p:graphicFrame>
        <p:nvGraphicFramePr>
          <p:cNvPr id="6" name="Chart 0" descr=""/>
          <p:cNvGraphicFramePr/>
          <p:nvPr/>
        </p:nvGraphicFramePr>
        <p:xfrm>
          <a:off x="630936" y="1499616"/>
          <a:ext cx="1916582"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2794406" y="1426464"/>
            <a:ext cx="2081174" cy="4517136"/>
          </a:xfrm>
          <a:prstGeom prst="roundRect">
            <a:avLst>
              <a:gd name="adj" fmla="val 3954"/>
            </a:avLst>
          </a:prstGeom>
          <a:solidFill>
            <a:srgbClr val="F1F4F9"/>
          </a:solidFill>
          <a:ln/>
        </p:spPr>
      </p:sp>
      <p:graphicFrame>
        <p:nvGraphicFramePr>
          <p:cNvPr id="8" name="Chart 1" descr=""/>
          <p:cNvGraphicFramePr/>
          <p:nvPr/>
        </p:nvGraphicFramePr>
        <p:xfrm>
          <a:off x="2876702" y="1499616"/>
          <a:ext cx="1916582"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40173" y="1426464"/>
            <a:ext cx="2081174" cy="4517136"/>
          </a:xfrm>
          <a:prstGeom prst="roundRect">
            <a:avLst>
              <a:gd name="adj" fmla="val 3954"/>
            </a:avLst>
          </a:prstGeom>
          <a:solidFill>
            <a:srgbClr val="F1F4F9"/>
          </a:solidFill>
          <a:ln/>
        </p:spPr>
      </p:sp>
      <p:graphicFrame>
        <p:nvGraphicFramePr>
          <p:cNvPr id="10" name="Chart 2" descr=""/>
          <p:cNvGraphicFramePr/>
          <p:nvPr/>
        </p:nvGraphicFramePr>
        <p:xfrm>
          <a:off x="5122469" y="1499616"/>
          <a:ext cx="1916582"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7285939" y="1426464"/>
            <a:ext cx="2081174" cy="4517136"/>
          </a:xfrm>
          <a:prstGeom prst="roundRect">
            <a:avLst>
              <a:gd name="adj" fmla="val 3954"/>
            </a:avLst>
          </a:prstGeom>
          <a:solidFill>
            <a:srgbClr val="F1F4F9"/>
          </a:solidFill>
          <a:ln/>
        </p:spPr>
      </p:sp>
      <p:graphicFrame>
        <p:nvGraphicFramePr>
          <p:cNvPr id="12" name="Chart 3" descr=""/>
          <p:cNvGraphicFramePr/>
          <p:nvPr/>
        </p:nvGraphicFramePr>
        <p:xfrm>
          <a:off x="7368235" y="1499616"/>
          <a:ext cx="1916582" cy="4370832"/>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9531706" y="1426464"/>
            <a:ext cx="2081174" cy="4517136"/>
          </a:xfrm>
          <a:prstGeom prst="roundRect">
            <a:avLst>
              <a:gd name="adj" fmla="val 3954"/>
            </a:avLst>
          </a:prstGeom>
          <a:solidFill>
            <a:srgbClr val="F1F4F9"/>
          </a:solidFill>
          <a:ln/>
        </p:spPr>
      </p:sp>
      <p:graphicFrame>
        <p:nvGraphicFramePr>
          <p:cNvPr id="14" name="Chart 4" descr=""/>
          <p:cNvGraphicFramePr/>
          <p:nvPr/>
        </p:nvGraphicFramePr>
        <p:xfrm>
          <a:off x="9614002" y="1499616"/>
          <a:ext cx="1916582" cy="4370832"/>
        </p:xfrm>
        <a:graphic xmlns:a="http://schemas.openxmlformats.org/drawingml/2006/main">
          <a:graphicData uri="http://schemas.openxmlformats.org/drawingml/2006/chart">
            <c:chart xmlns:c="http://schemas.openxmlformats.org/drawingml/2006/chart" r:id="rId5"/>
          </a:graphicData>
        </a:graphic>
      </p:graphicFrame>
      <p:sp>
        <p:nvSpPr>
          <p:cNvPr id="15" name="Text 8"/>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mixes combine DL and PL, bookings are split by loan type. Segments too narrow to hold a label are left blank — exact values are in the tables. 'bef 1 Aug' holds only 708 customers, so its mix is a small-sample outlier. The next slide shows the same four cuts on credit line and outstanding.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Weaker segments draw more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short tenure, no nano flag and non-TRUE each take a larger share of OS than of CL — they use more of what they are granted.</a:t>
            </a:r>
            <a:endParaRPr lang="en-US" sz="1200" dirty="0"/>
          </a:p>
        </p:txBody>
      </p:sp>
      <p:sp>
        <p:nvSpPr>
          <p:cNvPr id="5" name="Shape 3"/>
          <p:cNvSpPr/>
          <p:nvPr/>
        </p:nvSpPr>
        <p:spPr>
          <a:xfrm>
            <a:off x="548640" y="1426464"/>
            <a:ext cx="2628900" cy="4517136"/>
          </a:xfrm>
          <a:prstGeom prst="roundRect">
            <a:avLst>
              <a:gd name="adj" fmla="val 3130"/>
            </a:avLst>
          </a:prstGeom>
          <a:solidFill>
            <a:srgbClr val="F1F4F9"/>
          </a:solidFill>
          <a:ln/>
        </p:spPr>
      </p:sp>
      <p:sp>
        <p:nvSpPr>
          <p:cNvPr id="6" name="Text 4"/>
          <p:cNvSpPr/>
          <p:nvPr/>
        </p:nvSpPr>
        <p:spPr>
          <a:xfrm>
            <a:off x="64008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Charge type</a:t>
            </a:r>
            <a:endParaRPr lang="en-US" sz="1200" dirty="0"/>
          </a:p>
        </p:txBody>
      </p:sp>
      <p:graphicFrame>
        <p:nvGraphicFramePr>
          <p:cNvPr id="7" name="Chart 0" descr=""/>
          <p:cNvGraphicFramePr/>
          <p:nvPr/>
        </p:nvGraphicFramePr>
        <p:xfrm>
          <a:off x="630936" y="1810512"/>
          <a:ext cx="2464308" cy="1778325"/>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88837"/>
          <a:ext cx="2464308" cy="226332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3360420" y="1426464"/>
            <a:ext cx="2628900" cy="4517136"/>
          </a:xfrm>
          <a:prstGeom prst="roundRect">
            <a:avLst>
              <a:gd name="adj" fmla="val 3130"/>
            </a:avLst>
          </a:prstGeom>
          <a:solidFill>
            <a:srgbClr val="F1F4F9"/>
          </a:solidFill>
          <a:ln/>
        </p:spPr>
      </p:sp>
      <p:sp>
        <p:nvSpPr>
          <p:cNvPr id="10" name="Text 6"/>
          <p:cNvSpPr/>
          <p:nvPr/>
        </p:nvSpPr>
        <p:spPr>
          <a:xfrm>
            <a:off x="345186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Tenure in years</a:t>
            </a:r>
            <a:endParaRPr lang="en-US" sz="1200" dirty="0"/>
          </a:p>
        </p:txBody>
      </p:sp>
      <p:graphicFrame>
        <p:nvGraphicFramePr>
          <p:cNvPr id="11" name="Chart 2" descr=""/>
          <p:cNvGraphicFramePr/>
          <p:nvPr/>
        </p:nvGraphicFramePr>
        <p:xfrm>
          <a:off x="3442716" y="1810512"/>
          <a:ext cx="2464308" cy="1778325"/>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3442716" y="3588837"/>
          <a:ext cx="2464308" cy="2263323"/>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6172200" y="1426464"/>
            <a:ext cx="2628900" cy="4517136"/>
          </a:xfrm>
          <a:prstGeom prst="roundRect">
            <a:avLst>
              <a:gd name="adj" fmla="val 3130"/>
            </a:avLst>
          </a:prstGeom>
          <a:solidFill>
            <a:srgbClr val="F1F4F9"/>
          </a:solidFill>
          <a:ln/>
        </p:spPr>
      </p:sp>
      <p:sp>
        <p:nvSpPr>
          <p:cNvPr id="14" name="Text 8"/>
          <p:cNvSpPr/>
          <p:nvPr/>
        </p:nvSpPr>
        <p:spPr>
          <a:xfrm>
            <a:off x="626364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Nano-loan flag</a:t>
            </a:r>
            <a:endParaRPr lang="en-US" sz="1200" dirty="0"/>
          </a:p>
        </p:txBody>
      </p:sp>
      <p:graphicFrame>
        <p:nvGraphicFramePr>
          <p:cNvPr id="15" name="Chart 4" descr=""/>
          <p:cNvGraphicFramePr/>
          <p:nvPr/>
        </p:nvGraphicFramePr>
        <p:xfrm>
          <a:off x="6254496" y="1810512"/>
          <a:ext cx="2464308" cy="1778325"/>
        </p:xfrm>
        <a:graphic xmlns:a="http://schemas.openxmlformats.org/drawingml/2006/main">
          <a:graphicData uri="http://schemas.openxmlformats.org/drawingml/2006/chart">
            <c:chart xmlns:c="http://schemas.openxmlformats.org/drawingml/2006/chart" r:id="rId5"/>
          </a:graphicData>
        </a:graphic>
      </p:graphicFrame>
      <p:graphicFrame>
        <p:nvGraphicFramePr>
          <p:cNvPr id="16" name="Chart 5" descr=""/>
          <p:cNvGraphicFramePr/>
          <p:nvPr/>
        </p:nvGraphicFramePr>
        <p:xfrm>
          <a:off x="6254496" y="3588837"/>
          <a:ext cx="2464308" cy="2263323"/>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1426464"/>
            <a:ext cx="2628900" cy="4517136"/>
          </a:xfrm>
          <a:prstGeom prst="roundRect">
            <a:avLst>
              <a:gd name="adj" fmla="val 3130"/>
            </a:avLst>
          </a:prstGeom>
          <a:solidFill>
            <a:srgbClr val="F1F4F9"/>
          </a:solidFill>
          <a:ln/>
        </p:spPr>
      </p:sp>
      <p:sp>
        <p:nvSpPr>
          <p:cNvPr id="18" name="Text 10"/>
          <p:cNvSpPr/>
          <p:nvPr/>
        </p:nvSpPr>
        <p:spPr>
          <a:xfrm>
            <a:off x="907542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TRUE ecosystem</a:t>
            </a:r>
            <a:endParaRPr lang="en-US" sz="1200" dirty="0"/>
          </a:p>
        </p:txBody>
      </p:sp>
      <p:graphicFrame>
        <p:nvGraphicFramePr>
          <p:cNvPr id="19" name="Chart 6" descr=""/>
          <p:cNvGraphicFramePr/>
          <p:nvPr/>
        </p:nvGraphicFramePr>
        <p:xfrm>
          <a:off x="9066276" y="1810512"/>
          <a:ext cx="2464308" cy="1778325"/>
        </p:xfrm>
        <a:graphic xmlns:a="http://schemas.openxmlformats.org/drawingml/2006/main">
          <a:graphicData uri="http://schemas.openxmlformats.org/drawingml/2006/chart">
            <c:chart xmlns:c="http://schemas.openxmlformats.org/drawingml/2006/chart" r:id="rId7"/>
          </a:graphicData>
        </a:graphic>
      </p:graphicFrame>
      <p:graphicFrame>
        <p:nvGraphicFramePr>
          <p:cNvPr id="20" name="Chart 7" descr=""/>
          <p:cNvGraphicFramePr/>
          <p:nvPr/>
        </p:nvGraphicFramePr>
        <p:xfrm>
          <a:off x="9066276" y="3588837"/>
          <a:ext cx="2464308" cy="2263323"/>
        </p:xfrm>
        <a:graphic xmlns:a="http://schemas.openxmlformats.org/drawingml/2006/main">
          <a:graphicData uri="http://schemas.openxmlformats.org/drawingml/2006/chart">
            <c:chart xmlns:c="http://schemas.openxmlformats.org/drawingml/2006/chart" r:id="rId8"/>
          </a:graphicData>
        </a:graphic>
      </p:graphicFrame>
      <p:sp>
        <p:nvSpPr>
          <p:cNvPr id="21" name="Text 11"/>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Each bar is a mix within that date and measure, so every bar reads to 100%; the figure beside each bar is that cohort's total for the measure shown, and narrow segments are left unlabelled. The OS-above-CL pattern holds in all five August cohorts on charge type and tenure, and in four of five on the nano and TRUE flags — the exceptions are the 708-customer pre-August cohort and a 0.2-point wobble on TRUE on 3 Aug. The previous slide shows the same four cuts by customer count.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Riskier customers draw a bigger share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risk is 36.3% of DL credit line but 39.1% of DL outstanding, while low risk falls from 35.8% to 33.1%.</a:t>
            </a:r>
            <a:endParaRPr lang="en-US" sz="1200" dirty="0"/>
          </a:p>
        </p:txBody>
      </p:sp>
      <p:sp>
        <p:nvSpPr>
          <p:cNvPr id="5" name="Shape 3"/>
          <p:cNvSpPr/>
          <p:nvPr/>
        </p:nvSpPr>
        <p:spPr>
          <a:xfrm>
            <a:off x="548640" y="1444752"/>
            <a:ext cx="5440680" cy="4297680"/>
          </a:xfrm>
          <a:prstGeom prst="roundRect">
            <a:avLst>
              <a:gd name="adj" fmla="val 1915"/>
            </a:avLst>
          </a:prstGeom>
          <a:solidFill>
            <a:srgbClr val="F1F4F9"/>
          </a:solidFill>
          <a:ln/>
        </p:spPr>
      </p:sp>
      <p:sp>
        <p:nvSpPr>
          <p:cNvPr id="6" name="Text 4"/>
          <p:cNvSpPr/>
          <p:nvPr/>
        </p:nvSpPr>
        <p:spPr>
          <a:xfrm>
            <a:off x="640080" y="1554480"/>
            <a:ext cx="525780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Cash need</a:t>
            </a:r>
            <a:endParaRPr lang="en-US" sz="1200" dirty="0"/>
          </a:p>
        </p:txBody>
      </p:sp>
      <p:graphicFrame>
        <p:nvGraphicFramePr>
          <p:cNvPr id="7" name="Chart 0" descr=""/>
          <p:cNvGraphicFramePr/>
          <p:nvPr/>
        </p:nvGraphicFramePr>
        <p:xfrm>
          <a:off x="630936" y="1828800"/>
          <a:ext cx="5276088" cy="1681764"/>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10564"/>
          <a:ext cx="5276088" cy="214042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1444752"/>
            <a:ext cx="5440680" cy="4297680"/>
          </a:xfrm>
          <a:prstGeom prst="roundRect">
            <a:avLst>
              <a:gd name="adj" fmla="val 1915"/>
            </a:avLst>
          </a:prstGeom>
          <a:solidFill>
            <a:srgbClr val="F1F4F9"/>
          </a:solidFill>
          <a:ln/>
        </p:spPr>
      </p:sp>
      <p:sp>
        <p:nvSpPr>
          <p:cNvPr id="10" name="Text 6"/>
          <p:cNvSpPr/>
          <p:nvPr/>
        </p:nvSpPr>
        <p:spPr>
          <a:xfrm>
            <a:off x="6263640" y="1554480"/>
            <a:ext cx="525780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Risk level</a:t>
            </a:r>
            <a:endParaRPr lang="en-US" sz="1200" dirty="0"/>
          </a:p>
        </p:txBody>
      </p:sp>
      <p:graphicFrame>
        <p:nvGraphicFramePr>
          <p:cNvPr id="11" name="Chart 2" descr=""/>
          <p:cNvGraphicFramePr/>
          <p:nvPr/>
        </p:nvGraphicFramePr>
        <p:xfrm>
          <a:off x="6254496" y="1828800"/>
          <a:ext cx="5276088" cy="1681764"/>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6254496" y="3510564"/>
          <a:ext cx="5276088" cy="2140428"/>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5888736"/>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bar is a mix within that loan type and measure, so every bar reads to 100%. The figure beside each bar is that bar's total for the measure shown. Segments too narrow to hold a label are left blank. Slide 1 shows the same two cuts by customer count.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2026-09-03T09:52:17Z</dcterms:created>
  <dcterms:modified xsi:type="dcterms:W3CDTF">2026-09-03T09:52:17Z</dcterms:modified>
</cp:coreProperties>
</file>
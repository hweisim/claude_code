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charts/chart1.xml" ContentType="application/vnd.openxmlformats-officedocument.drawingml.chart+xml"/>
  <Override PartName="/ppt/slideMasters/slideMaster2.xml" ContentType="application/vnd.openxmlformats-officedocument.presentationml.slideMaster+xml"/>
  <Override PartName="/ppt/slides/slide2.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slideMasters/slideMaster3.xml" ContentType="application/vnd.openxmlformats-officedocument.presentationml.slideMaster+xml"/>
  <Override PartName="/ppt/slides/slide3.xml" ContentType="application/vnd.openxmlformats-officedocument.presentationml.slide+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Lst>
  <p:notesMasterIdLst>
    <p:notesMasterId r:id="rId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notesMaster" Target="notesMasters/notesMaster1.xml"/><Relationship Id="rId6" Type="http://schemas.openxmlformats.org/officeDocument/2006/relationships/presProps" Target="presProps.xml"/><Relationship Id="rId7" Type="http://schemas.openxmlformats.org/officeDocument/2006/relationships/viewProps" Target="viewProps.xml"/><Relationship Id="rId8" Type="http://schemas.openxmlformats.org/officeDocument/2006/relationships/theme" Target="theme/theme1.xml"/><Relationship Id="rId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Cash need and risk mix (% of customers)</a:t>
            </a:r>
          </a:p>
        </c:rich>
      </c:tx>
      <c:layout/>
      <c:overlay val="0"/>
    </c:title>
    <c:autoTitleDeleted val="0"/>
    <c:plotArea>
      <c:layout/>
      <c:barChart>
        <c:barDir val="bar"/>
        <c:grouping val="percentStacked"/>
        <c:varyColors val="0"/>
        <c:ser>
          <c:idx val="0"/>
          <c:order val="0"/>
          <c:tx>
            <c:strRef>
              <c:f>Sheet1!$B$1</c:f>
              <c:strCache>
                <c:ptCount val="1"/>
                <c:pt idx="0">
                  <c:v>Null</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Sheet1!$B$2:$B$5</c:f>
              <c:numCache>
                <c:formatCode>General</c:formatCode>
                <c:ptCount val="4"/>
                <c:pt idx="0">
                  <c:v>13</c:v>
                </c:pt>
                <c:pt idx="1">
                  <c:v>18</c:v>
                </c:pt>
                <c:pt idx="2">
                  <c:v>2</c:v>
                </c:pt>
                <c:pt idx="3">
                  <c:v>6</c:v>
                </c:pt>
              </c:numCache>
            </c:numRef>
          </c:val>
        </c:ser>
        <c:ser>
          <c:idx val="1"/>
          <c:order val="1"/>
          <c:tx>
            <c:strRef>
              <c:f>Sheet1!$C$1</c:f>
              <c:strCache>
                <c:ptCount val="1"/>
                <c:pt idx="0">
                  <c:v>Low</c:v>
                </c:pt>
              </c:strCache>
            </c:strRef>
          </c:tx>
          <c:spPr>
            <a:solidFill>
              <a:srgbClr val="3FB89F"/>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Sheet1!$C$2:$C$5</c:f>
              <c:numCache>
                <c:formatCode>General</c:formatCode>
                <c:ptCount val="4"/>
                <c:pt idx="0">
                  <c:v>5</c:v>
                </c:pt>
                <c:pt idx="1">
                  <c:v>9</c:v>
                </c:pt>
                <c:pt idx="2">
                  <c:v>29</c:v>
                </c:pt>
                <c:pt idx="3">
                  <c:v>31</c:v>
                </c:pt>
              </c:numCache>
            </c:numRef>
          </c:val>
        </c:ser>
        <c:ser>
          <c:idx val="2"/>
          <c:order val="2"/>
          <c:tx>
            <c:strRef>
              <c:f>Sheet1!$D$1</c:f>
              <c:strCache>
                <c:ptCount val="1"/>
                <c:pt idx="0">
                  <c:v>Mid</c:v>
                </c:pt>
              </c:strCache>
            </c:strRef>
          </c:tx>
          <c:spPr>
            <a:solidFill>
              <a:srgbClr val="1E8E86"/>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Sheet1!$D$2:$D$5</c:f>
              <c:numCache>
                <c:formatCode>General</c:formatCode>
                <c:ptCount val="4"/>
                <c:pt idx="0">
                  <c:v>16</c:v>
                </c:pt>
                <c:pt idx="1">
                  <c:v>21</c:v>
                </c:pt>
                <c:pt idx="2">
                  <c:v>25</c:v>
                </c:pt>
                <c:pt idx="3">
                  <c:v>23</c:v>
                </c:pt>
              </c:numCache>
            </c:numRef>
          </c:val>
        </c:ser>
        <c:ser>
          <c:idx val="3"/>
          <c:order val="3"/>
          <c:tx>
            <c:strRef>
              <c:f>Sheet1!$E$1</c:f>
              <c:strCache>
                <c:ptCount val="1"/>
                <c:pt idx="0">
                  <c:v>High</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Sheet1!$A$2:$A$5</c:f>
              <c:multiLvlStrCache>
                <c:ptCount val="4"/>
                <c:lvl>
                  <c:pt idx="0">
                    <c:v>Cash need · DL</c:v>
                  </c:pt>
                  <c:pt idx="1">
                    <c:v>Cash need · PL</c:v>
                  </c:pt>
                  <c:pt idx="2">
                    <c:v>Risk · DL</c:v>
                  </c:pt>
                  <c:pt idx="3">
                    <c:v>Risk · PL</c:v>
                  </c:pt>
                </c:lvl>
              </c:multiLvlStrCache>
            </c:multiLvlStrRef>
          </c:cat>
          <c:val>
            <c:numRef>
              <c:f>Sheet1!$E$2:$E$5</c:f>
              <c:numCache>
                <c:formatCode>General</c:formatCode>
                <c:ptCount val="4"/>
                <c:pt idx="0">
                  <c:v>66</c:v>
                </c:pt>
                <c:pt idx="1">
                  <c:v>52</c:v>
                </c:pt>
                <c:pt idx="2">
                  <c:v>44</c:v>
                </c:pt>
                <c:pt idx="3">
                  <c:v>40</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5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Charge type (% of customers)</a:t>
            </a:r>
          </a:p>
        </c:rich>
      </c:tx>
      <c:layout/>
      <c:overlay val="0"/>
    </c:title>
    <c:autoTitleDeleted val="0"/>
    <c:plotArea>
      <c:layout/>
      <c:barChart>
        <c:barDir val="bar"/>
        <c:grouping val="percentStacked"/>
        <c:varyColors val="0"/>
        <c:ser>
          <c:idx val="0"/>
          <c:order val="0"/>
          <c:tx>
            <c:strRef>
              <c:f>Sheet1!$B$1</c:f>
              <c:strCache>
                <c:ptCount val="1"/>
                <c:pt idx="0">
                  <c:v>FBB</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6.5</c:v>
                </c:pt>
                <c:pt idx="1">
                  <c:v>6.2</c:v>
                </c:pt>
              </c:numCache>
            </c:numRef>
          </c:val>
        </c:ser>
        <c:ser>
          <c:idx val="1"/>
          <c:order val="1"/>
          <c:tx>
            <c:strRef>
              <c:f>Sheet1!$C$1</c:f>
              <c:strCache>
                <c:ptCount val="1"/>
                <c:pt idx="0">
                  <c:v>Prepaid</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48.8</c:v>
                </c:pt>
                <c:pt idx="1">
                  <c:v>56</c:v>
                </c:pt>
              </c:numCache>
            </c:numRef>
          </c:val>
        </c:ser>
        <c:ser>
          <c:idx val="2"/>
          <c:order val="2"/>
          <c:tx>
            <c:strRef>
              <c:f>Sheet1!$D$1</c:f>
              <c:strCache>
                <c:ptCount val="1"/>
                <c:pt idx="0">
                  <c:v>Postpaid</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44.7</c:v>
                </c:pt>
                <c:pt idx="1">
                  <c:v>37.8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Tenure in years (% of customers)</a:t>
            </a:r>
          </a:p>
        </c:rich>
      </c:tx>
      <c:layout/>
      <c:overlay val="0"/>
    </c:title>
    <c:autoTitleDeleted val="0"/>
    <c:plotArea>
      <c:layout/>
      <c:barChart>
        <c:barDir val="bar"/>
        <c:grouping val="percentStacked"/>
        <c:varyColors val="0"/>
        <c:ser>
          <c:idx val="0"/>
          <c:order val="0"/>
          <c:tx>
            <c:strRef>
              <c:f>Sheet1!$B$1</c:f>
              <c:strCache>
                <c:ptCount val="1"/>
                <c:pt idx="0">
                  <c:v>0–1</c:v>
                </c:pt>
              </c:strCache>
            </c:strRef>
          </c:tx>
          <c:spPr>
            <a:solidFill>
              <a:srgbClr val="3FB89F"/>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11</c:v>
                </c:pt>
                <c:pt idx="1">
                  <c:v>10.8</c:v>
                </c:pt>
              </c:numCache>
            </c:numRef>
          </c:val>
        </c:ser>
        <c:ser>
          <c:idx val="1"/>
          <c:order val="1"/>
          <c:tx>
            <c:strRef>
              <c:f>Sheet1!$C$1</c:f>
              <c:strCache>
                <c:ptCount val="1"/>
                <c:pt idx="0">
                  <c:v>2–4</c:v>
                </c:pt>
              </c:strCache>
            </c:strRef>
          </c:tx>
          <c:spPr>
            <a:solidFill>
              <a:srgbClr val="1E8E86"/>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22.7</c:v>
                </c:pt>
                <c:pt idx="1">
                  <c:v>23.6</c:v>
                </c:pt>
              </c:numCache>
            </c:numRef>
          </c:val>
        </c:ser>
        <c:ser>
          <c:idx val="2"/>
          <c:order val="2"/>
          <c:tx>
            <c:strRef>
              <c:f>Sheet1!$D$1</c:f>
              <c:strCache>
                <c:ptCount val="1"/>
                <c:pt idx="0">
                  <c:v>5 or more</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Sheet1!$D$2:$D$3</c:f>
              <c:numCache>
                <c:formatCode>General</c:formatCode>
                <c:ptCount val="2"/>
                <c:pt idx="0">
                  <c:v>66.3</c:v>
                </c:pt>
                <c:pt idx="1">
                  <c:v>65.6</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38.2</c:v>
                </c:pt>
                <c:pt idx="1">
                  <c:v>46.2</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61.8</c:v>
                </c:pt>
                <c:pt idx="1">
                  <c:v>53.8</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 of customers)</a:t>
            </a:r>
          </a:p>
        </c:rich>
      </c:tx>
      <c:layout/>
      <c:overlay val="0"/>
    </c:title>
    <c:autoTitleDeleted val="0"/>
    <c:plotArea>
      <c:layout/>
      <c:barChart>
        <c:barDir val="bar"/>
        <c:grouping val="percentStacked"/>
        <c:varyColors val="0"/>
        <c:ser>
          <c:idx val="0"/>
          <c:order val="0"/>
          <c:tx>
            <c:strRef>
              <c:f>Sheet1!$B$1</c:f>
              <c:strCache>
                <c:ptCount val="1"/>
                <c:pt idx="0">
                  <c:v>N</c:v>
                </c:pt>
              </c:strCache>
            </c:strRef>
          </c:tx>
          <c:spPr>
            <a:solidFill>
              <a:srgbClr val="8DA0B8"/>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Sheet1!$B$2:$B$3</c:f>
              <c:numCache>
                <c:formatCode>General</c:formatCode>
                <c:ptCount val="2"/>
                <c:pt idx="0">
                  <c:v>31.5</c:v>
                </c:pt>
                <c:pt idx="1">
                  <c:v>34.7</c:v>
                </c:pt>
              </c:numCache>
            </c:numRef>
          </c:val>
        </c:ser>
        <c:ser>
          <c:idx val="1"/>
          <c:order val="1"/>
          <c:tx>
            <c:strRef>
              <c:f>Sheet1!$C$1</c:f>
              <c:strCache>
                <c:ptCount val="1"/>
                <c:pt idx="0">
                  <c:v>Y</c:v>
                </c:pt>
              </c:strCache>
            </c:strRef>
          </c:tx>
          <c:spPr>
            <a:solidFill>
              <a:srgbClr val="165A73"/>
            </a:solidFill>
            <a:effectLst/>
          </c:spPr>
          <c:invertIfNegative val="0"/>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Sheet1!$A$2:$A$3</c:f>
              <c:multiLvlStrCache>
                <c:ptCount val="2"/>
                <c:lvl>
                  <c:pt idx="0">
                    <c:v>DL</c:v>
                  </c:pt>
                  <c:pt idx="1">
                    <c:v>PL</c:v>
                  </c:pt>
                </c:lvl>
              </c:multiLvlStrCache>
            </c:multiLvlStrRef>
          </c:cat>
          <c:val>
            <c:numRef>
              <c:f>Sheet1!$C$2:$C$3</c:f>
              <c:numCache>
                <c:formatCode>General</c:formatCode>
                <c:ptCount val="2"/>
                <c:pt idx="0">
                  <c:v>68.5</c:v>
                </c:pt>
                <c:pt idx="1">
                  <c:v>65.3</c:v>
                </c:pt>
              </c:numCache>
            </c:numRef>
          </c:val>
        </c:ser>
        <c:dLbls>
          <c:numFmt formatCode="0.0&quot;%&quot;" sourceLinked="0"/>
          <c:txPr>
            <a:bodyPr/>
            <a:lstStyle/>
            <a:p>
              <a:pPr>
                <a:defRPr b="0" i="0" strike="noStrike" sz="95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b"/>
        <c:numFmt formatCode="General" sourceLinked="0"/>
        <c:majorTickMark val="out"/>
        <c:minorTickMark val="none"/>
        <c:tickLblPos val="low"/>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Bookings by book date (customers)</a:t>
            </a:r>
          </a:p>
        </c:rich>
      </c:tx>
      <c:layout/>
      <c:overlay val="0"/>
    </c:title>
    <c:autoTitleDeleted val="0"/>
    <c:plotArea>
      <c:layout/>
      <c:barChart>
        <c:barDir val="col"/>
        <c:grouping val="clustered"/>
        <c:varyColors val="0"/>
        <c:ser>
          <c:idx val="0"/>
          <c:order val="0"/>
          <c:tx>
            <c:strRef>
              <c:f>Sheet1!$B$1</c:f>
              <c:strCache>
                <c:ptCount val="1"/>
                <c:pt idx="0">
                  <c:v>DL</c:v>
                </c:pt>
              </c:strCache>
            </c:strRef>
          </c:tx>
          <c:spPr>
            <a:solidFill>
              <a:srgbClr val="165A73"/>
            </a:solidFill>
            <a:effectLst/>
          </c:spPr>
          <c:invertIfNegative val="0"/>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641</c:v>
                </c:pt>
                <c:pt idx="1">
                  <c:v>12182</c:v>
                </c:pt>
                <c:pt idx="2">
                  <c:v>32182</c:v>
                </c:pt>
                <c:pt idx="3">
                  <c:v>2060</c:v>
                </c:pt>
                <c:pt idx="4">
                  <c:v>7173</c:v>
                </c:pt>
                <c:pt idx="5">
                  <c:v>9522</c:v>
                </c:pt>
              </c:numCache>
            </c:numRef>
          </c:val>
        </c:ser>
        <c:ser>
          <c:idx val="1"/>
          <c:order val="1"/>
          <c:tx>
            <c:strRef>
              <c:f>Sheet1!$C$1</c:f>
              <c:strCache>
                <c:ptCount val="1"/>
                <c:pt idx="0">
                  <c:v>PL</c:v>
                </c:pt>
              </c:strCache>
            </c:strRef>
          </c:tx>
          <c:spPr>
            <a:solidFill>
              <a:srgbClr val="3FB89F"/>
            </a:solidFill>
            <a:effectLst/>
          </c:spPr>
          <c:invertIfNegative val="0"/>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67</c:v>
                </c:pt>
                <c:pt idx="1">
                  <c:v>398</c:v>
                </c:pt>
                <c:pt idx="2">
                  <c:v>1159</c:v>
                </c:pt>
                <c:pt idx="3">
                  <c:v>90</c:v>
                </c:pt>
                <c:pt idx="4">
                  <c:v>371</c:v>
                </c:pt>
                <c:pt idx="5">
                  <c:v>4255</c:v>
                </c:pt>
              </c:numCache>
            </c:numRef>
          </c:val>
        </c:ser>
        <c:dLbls>
          <c:numFmt formatCode="#,##0" sourceLinked="0"/>
          <c:txPr>
            <a:bodyPr/>
            <a:lstStyle/>
            <a:p>
              <a:pPr>
                <a:defRPr b="0" i="0" strike="noStrike" sz="950" u="none">
                  <a:solidFill>
                    <a:srgbClr val="16233D"/>
                  </a:solidFill>
                  <a:latin typeface="Calibri"/>
                </a:defRPr>
              </a:pPr>
            </a:p>
          </c:txPr>
          <c:showLegendKey val="0"/>
          <c:showVal val="1"/>
          <c:showCatName val="0"/>
          <c:showSerName val="0"/>
          <c:showPercent val="0"/>
          <c:showBubbleSize val="0"/>
          <c:showLeaderLines val="0"/>
        </c:dLbls>
        <c:gapWidth val="5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1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max val="36000"/>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Nano-loan flag by book date (% of customers)</a:t>
            </a:r>
          </a:p>
        </c:rich>
      </c:tx>
      <c:layout/>
      <c:overlay val="0"/>
    </c:title>
    <c:autoTitleDeleted val="0"/>
    <c:plotArea>
      <c:layout/>
      <c:barChart>
        <c:barDir val="col"/>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37.1</c:v>
                </c:pt>
                <c:pt idx="1">
                  <c:v>35.2</c:v>
                </c:pt>
                <c:pt idx="2">
                  <c:v>38</c:v>
                </c:pt>
                <c:pt idx="3">
                  <c:v>36.8</c:v>
                </c:pt>
                <c:pt idx="4">
                  <c:v>39.6</c:v>
                </c:pt>
                <c:pt idx="5">
                  <c:v>44.7</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62.9</c:v>
                </c:pt>
                <c:pt idx="1">
                  <c:v>64.8</c:v>
                </c:pt>
                <c:pt idx="2">
                  <c:v>62</c:v>
                </c:pt>
                <c:pt idx="3">
                  <c:v>63.2</c:v>
                </c:pt>
                <c:pt idx="4">
                  <c:v>60.4</c:v>
                </c:pt>
                <c:pt idx="5">
                  <c:v>55.3</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6233D"/>
                </a:solidFill>
                <a:latin typeface="Calibri"/>
              </a:defRPr>
            </a:pPr>
            <a:r>
              <a:rPr sz="1200" b="0" i="0" u="none" strike="noStrike">
                <a:solidFill>
                  <a:srgbClr val="16233D"/>
                </a:solidFill>
                <a:latin typeface="Calibri"/>
              </a:rPr>
              <a:t>TRUE ecosystem by book date (% of customers)</a:t>
            </a:r>
          </a:p>
        </c:rich>
      </c:tx>
      <c:layout/>
      <c:overlay val="0"/>
    </c:title>
    <c:autoTitleDeleted val="0"/>
    <c:plotArea>
      <c:layout/>
      <c:barChart>
        <c:barDir val="col"/>
        <c:grouping val="percentStacked"/>
        <c:varyColors val="0"/>
        <c:ser>
          <c:idx val="0"/>
          <c:order val="0"/>
          <c:tx>
            <c:strRef>
              <c:f>Sheet1!$B$1</c:f>
              <c:strCache>
                <c:ptCount val="1"/>
                <c:pt idx="0">
                  <c:v>N</c:v>
                </c:pt>
              </c:strCache>
            </c:strRef>
          </c:tx>
          <c:spPr>
            <a:solidFill>
              <a:srgbClr val="8DA0B8"/>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Sheet1!$B$2:$B$7</c:f>
              <c:numCache>
                <c:formatCode>General</c:formatCode>
                <c:ptCount val="6"/>
                <c:pt idx="0">
                  <c:v>18.1</c:v>
                </c:pt>
                <c:pt idx="1">
                  <c:v>29.7</c:v>
                </c:pt>
                <c:pt idx="2">
                  <c:v>31.9</c:v>
                </c:pt>
                <c:pt idx="3">
                  <c:v>31.3</c:v>
                </c:pt>
                <c:pt idx="4">
                  <c:v>32.7</c:v>
                </c:pt>
                <c:pt idx="5">
                  <c:v>33.4</c:v>
                </c:pt>
              </c:numCache>
            </c:numRef>
          </c:val>
        </c:ser>
        <c:ser>
          <c:idx val="1"/>
          <c:order val="1"/>
          <c:tx>
            <c:strRef>
              <c:f>Sheet1!$C$1</c:f>
              <c:strCache>
                <c:ptCount val="1"/>
                <c:pt idx="0">
                  <c:v>Y</c:v>
                </c:pt>
              </c:strCache>
            </c:strRef>
          </c:tx>
          <c:spPr>
            <a:solidFill>
              <a:srgbClr val="165A73"/>
            </a:solidFill>
            <a:effectLst/>
          </c:spPr>
          <c:invertIfNegative val="0"/>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cat>
            <c:multiLvlStrRef>
              <c:f>Sheet1!$A$2:$A$7</c:f>
              <c:multiLvlStrCache>
                <c:ptCount val="6"/>
                <c:lvl>
                  <c:pt idx="0">
                    <c:v>bef 1 Aug</c:v>
                  </c:pt>
                  <c:pt idx="1">
                    <c:v>1-Aug</c:v>
                  </c:pt>
                  <c:pt idx="2">
                    <c:v>2-Aug</c:v>
                  </c:pt>
                  <c:pt idx="3">
                    <c:v>3-Aug</c:v>
                  </c:pt>
                  <c:pt idx="4">
                    <c:v>4-Aug</c:v>
                  </c:pt>
                  <c:pt idx="5">
                    <c:v>5-Aug</c:v>
                  </c:pt>
                </c:lvl>
              </c:multiLvlStrCache>
            </c:multiLvlStrRef>
          </c:cat>
          <c:val>
            <c:numRef>
              <c:f>Sheet1!$C$2:$C$7</c:f>
              <c:numCache>
                <c:formatCode>General</c:formatCode>
                <c:ptCount val="6"/>
                <c:pt idx="0">
                  <c:v>81.9</c:v>
                </c:pt>
                <c:pt idx="1">
                  <c:v>70.3</c:v>
                </c:pt>
                <c:pt idx="2">
                  <c:v>68.1</c:v>
                </c:pt>
                <c:pt idx="3">
                  <c:v>68.7</c:v>
                </c:pt>
                <c:pt idx="4">
                  <c:v>67.3</c:v>
                </c:pt>
                <c:pt idx="5">
                  <c:v>66.6</c:v>
                </c:pt>
              </c:numCache>
            </c:numRef>
          </c:val>
        </c:ser>
        <c:dLbls>
          <c:numFmt formatCode="0&quot;%&quot;" sourceLinked="0"/>
          <c:txPr>
            <a:bodyPr/>
            <a:lstStyle/>
            <a:p>
              <a:pPr>
                <a:defRPr b="0" i="0" strike="noStrike" sz="900" u="none">
                  <a:solidFill>
                    <a:srgbClr val="FFFFFF"/>
                  </a:solidFill>
                  <a:latin typeface="Calibri"/>
                </a:defRPr>
              </a:pPr>
            </a:p>
          </c:txPr>
          <c:dLblPos val="ctr"/>
          <c:showLegendKey val="0"/>
          <c:showVal val="1"/>
          <c:showCatName val="0"/>
          <c:showSerName val="0"/>
          <c:showPercent val="0"/>
          <c:showBubbleSize val="0"/>
          <c:showLeaderLines val="0"/>
        </c:dLbls>
        <c:gapWidth val="45"/>
        <c:overlap val="10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6233D"/>
                </a:solidFill>
                <a:latin typeface="Calibri"/>
              </a:defRPr>
            </a:pPr>
            <a:endParaRPr lang="en-US"/>
          </a:p>
        </c:txPr>
        <c:crossAx val="2094734552"/>
        <c:crosses val="autoZero"/>
        <c:auto val="1"/>
        <c:lblAlgn val="ctr"/>
        <c:noMultiLvlLbl val="1"/>
      </c:catAx>
      <c:valAx>
        <c:axId val="2094734552"/>
        <c:scaling>
          <c:orientation val="minMax"/>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200" b="0" i="0" u="none" strike="noStrike">
                <a:solidFill>
                  <a:srgbClr val="000000"/>
                </a:solidFill>
                <a:latin typeface="Arial"/>
              </a:defRPr>
            </a:pPr>
            <a:endParaRPr lang="en-US"/>
          </a:p>
        </c:txPr>
        <c:crossAx val="2094734554"/>
        <c:crosses val="autoZero"/>
        <c:crossBetween val="between"/>
      </c:valAx>
      <c:spPr>
        <a:noFill/>
        <a:ln>
          <a:noFill/>
        </a:ln>
        <a:effectLst/>
      </c:spPr>
    </c:plotArea>
    <c:legend>
      <c:legendPos val="b"/>
      <c:overlay val="0"/>
      <c:txPr>
        <a:bodyPr/>
        <a:lstStyle/>
        <a:p>
          <a:pPr>
            <a:defRPr sz="1000">
              <a:solidFill>
                <a:srgbClr val="16233D"/>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number is from Lending_2026.08.07.pptx. Reconciliation checks: DL 85,317 + PL 9,054 = 94,371, matching the stated total booked; the cash-need and risk rows each sum to their own grand totals; and all four AIS breakdowns (charge type, nano loan, true, tenure) sum to 70,100, matching the stated AIS consortium count. The deck's text says '47K are in TRUE ecosystem'; the true table gives 47,840. Consortium bases overlap — KTB 88%, AIS 74% and OR 57% sum well past 100% because customers appear in more than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Charts use the same percent-stacked form as the cash-need and risk chart on slide 1. Biggest DL/PL gaps: nano-loan flag Y is 61.8% for DL against 53.8% for PL, and PL skews further to prepaid (56.0% vs 48.8%) with correspondingly less postpaid (37.8% vs 44.7%). Tenure and TRUE are within ~3 points across the two loan types. Counts behind the percentages - DL 63,760 and PL 6,340, totalling 70,100.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Aug alone accounts for 33,341 of the 70,100 AIS bookings (47.6%). PL is back-loaded: 4,255 of its 6,340 bookings (67%) land on 5 Aug. Nano-loan Y falls from 64.8% on 1 Aug to 55.3% on 5 Aug, a 9.5 point drop, and the PL surge on 5 Aug is part of why - PL runs a lower nano share than DL. TRUE Y drifts down more gently, 70.3% to 66.6%. Charge type and tenure are effectively flat across the same window.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chart" Target="/ppt/charts/chart4.xml"/><Relationship Id="rId4" Type="http://schemas.openxmlformats.org/officeDocument/2006/relationships/chart" Target="/ppt/charts/chart5.xml"/><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chart" Target="/ppt/charts/chart6.xml"/><Relationship Id="rId2" Type="http://schemas.openxmlformats.org/officeDocument/2006/relationships/chart" Target="/ppt/charts/chart7.xml"/><Relationship Id="rId3" Type="http://schemas.openxmlformats.org/officeDocument/2006/relationships/chart" Target="/ppt/charts/chart8.xm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BOOK LOAN  ·  TOTAL BOOKED AS OF 5 AUG</a:t>
            </a:r>
            <a:endParaRPr lang="en-US" sz="1150" dirty="0"/>
          </a:p>
        </p:txBody>
      </p:sp>
      <p:sp>
        <p:nvSpPr>
          <p:cNvPr id="3" name="Text 1"/>
          <p:cNvSpPr/>
          <p:nvPr/>
        </p:nvSpPr>
        <p:spPr>
          <a:xfrm>
            <a:off x="548640" y="603504"/>
            <a:ext cx="11064240" cy="65836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Nine in ten booked loans are DL</a:t>
            </a:r>
            <a:endParaRPr lang="en-US" sz="3200" dirty="0"/>
          </a:p>
        </p:txBody>
      </p:sp>
      <p:sp>
        <p:nvSpPr>
          <p:cNvPr id="4" name="Shape 2"/>
          <p:cNvSpPr/>
          <p:nvPr/>
        </p:nvSpPr>
        <p:spPr>
          <a:xfrm>
            <a:off x="548640" y="1335024"/>
            <a:ext cx="2560320" cy="1005840"/>
          </a:xfrm>
          <a:prstGeom prst="roundRect">
            <a:avLst>
              <a:gd name="adj" fmla="val 8182"/>
            </a:avLst>
          </a:prstGeom>
          <a:solidFill>
            <a:srgbClr val="F1F4F9"/>
          </a:solidFill>
          <a:ln/>
        </p:spPr>
      </p:sp>
      <p:sp>
        <p:nvSpPr>
          <p:cNvPr id="5" name="Text 3"/>
          <p:cNvSpPr/>
          <p:nvPr/>
        </p:nvSpPr>
        <p:spPr>
          <a:xfrm>
            <a:off x="77724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94,371</a:t>
            </a:r>
            <a:endParaRPr lang="en-US" sz="2500" dirty="0"/>
          </a:p>
        </p:txBody>
      </p:sp>
      <p:sp>
        <p:nvSpPr>
          <p:cNvPr id="6" name="Text 4"/>
          <p:cNvSpPr/>
          <p:nvPr/>
        </p:nvSpPr>
        <p:spPr>
          <a:xfrm>
            <a:off x="77724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total booked</a:t>
            </a:r>
            <a:endParaRPr lang="en-US" sz="1150" dirty="0"/>
          </a:p>
        </p:txBody>
      </p:sp>
      <p:sp>
        <p:nvSpPr>
          <p:cNvPr id="7" name="Text 5"/>
          <p:cNvSpPr/>
          <p:nvPr/>
        </p:nvSpPr>
        <p:spPr>
          <a:xfrm>
            <a:off x="77724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as of 5 Aug</a:t>
            </a:r>
            <a:endParaRPr lang="en-US" sz="1000" dirty="0"/>
          </a:p>
        </p:txBody>
      </p:sp>
      <p:sp>
        <p:nvSpPr>
          <p:cNvPr id="8" name="Shape 6"/>
          <p:cNvSpPr/>
          <p:nvPr/>
        </p:nvSpPr>
        <p:spPr>
          <a:xfrm>
            <a:off x="3383280" y="1335024"/>
            <a:ext cx="2560320" cy="1005840"/>
          </a:xfrm>
          <a:prstGeom prst="roundRect">
            <a:avLst>
              <a:gd name="adj" fmla="val 8182"/>
            </a:avLst>
          </a:prstGeom>
          <a:solidFill>
            <a:srgbClr val="F1F4F9"/>
          </a:solidFill>
          <a:ln/>
        </p:spPr>
      </p:sp>
      <p:sp>
        <p:nvSpPr>
          <p:cNvPr id="9" name="Text 7"/>
          <p:cNvSpPr/>
          <p:nvPr/>
        </p:nvSpPr>
        <p:spPr>
          <a:xfrm>
            <a:off x="361188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90.4%</a:t>
            </a:r>
            <a:endParaRPr lang="en-US" sz="2500" dirty="0"/>
          </a:p>
        </p:txBody>
      </p:sp>
      <p:sp>
        <p:nvSpPr>
          <p:cNvPr id="10" name="Text 8"/>
          <p:cNvSpPr/>
          <p:nvPr/>
        </p:nvSpPr>
        <p:spPr>
          <a:xfrm>
            <a:off x="361188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of the book is DL</a:t>
            </a:r>
            <a:endParaRPr lang="en-US" sz="1150" dirty="0"/>
          </a:p>
        </p:txBody>
      </p:sp>
      <p:sp>
        <p:nvSpPr>
          <p:cNvPr id="11" name="Text 9"/>
          <p:cNvSpPr/>
          <p:nvPr/>
        </p:nvSpPr>
        <p:spPr>
          <a:xfrm>
            <a:off x="361188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85,317 DL vs 9,054 PL</a:t>
            </a:r>
            <a:endParaRPr lang="en-US" sz="1000" dirty="0"/>
          </a:p>
        </p:txBody>
      </p:sp>
      <p:sp>
        <p:nvSpPr>
          <p:cNvPr id="12" name="Shape 10"/>
          <p:cNvSpPr/>
          <p:nvPr/>
        </p:nvSpPr>
        <p:spPr>
          <a:xfrm>
            <a:off x="6217920" y="1335024"/>
            <a:ext cx="2560320" cy="1005840"/>
          </a:xfrm>
          <a:prstGeom prst="roundRect">
            <a:avLst>
              <a:gd name="adj" fmla="val 8182"/>
            </a:avLst>
          </a:prstGeom>
          <a:solidFill>
            <a:srgbClr val="F1F4F9"/>
          </a:solidFill>
          <a:ln/>
        </p:spPr>
      </p:sp>
      <p:sp>
        <p:nvSpPr>
          <p:cNvPr id="13" name="Text 11"/>
          <p:cNvSpPr/>
          <p:nvPr/>
        </p:nvSpPr>
        <p:spPr>
          <a:xfrm>
            <a:off x="6446520" y="1426464"/>
            <a:ext cx="2103120" cy="402336"/>
          </a:xfrm>
          <a:prstGeom prst="rect">
            <a:avLst/>
          </a:prstGeom>
          <a:noFill/>
          <a:ln/>
        </p:spPr>
        <p:txBody>
          <a:bodyPr wrap="square" lIns="0" tIns="0" rIns="0" bIns="0" rtlCol="0" anchor="ctr"/>
          <a:lstStyle/>
          <a:p>
            <a:pPr indent="0" marL="0">
              <a:buNone/>
            </a:pPr>
            <a:r>
              <a:rPr lang="en-US" sz="2500" b="1" dirty="0">
                <a:solidFill>
                  <a:srgbClr val="E9A03B"/>
                </a:solidFill>
                <a:latin typeface="Cambria" pitchFamily="34" charset="0"/>
                <a:ea typeface="Cambria" pitchFamily="34" charset="-122"/>
                <a:cs typeface="Cambria" pitchFamily="34" charset="-120"/>
              </a:rPr>
              <a:t>64.5%</a:t>
            </a:r>
            <a:endParaRPr lang="en-US" sz="2500" dirty="0"/>
          </a:p>
        </p:txBody>
      </p:sp>
      <p:sp>
        <p:nvSpPr>
          <p:cNvPr id="14" name="Text 12"/>
          <p:cNvSpPr/>
          <p:nvPr/>
        </p:nvSpPr>
        <p:spPr>
          <a:xfrm>
            <a:off x="644652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sit at high cash need</a:t>
            </a:r>
            <a:endParaRPr lang="en-US" sz="1150" dirty="0"/>
          </a:p>
        </p:txBody>
      </p:sp>
      <p:sp>
        <p:nvSpPr>
          <p:cNvPr id="15" name="Text 13"/>
          <p:cNvSpPr/>
          <p:nvPr/>
        </p:nvSpPr>
        <p:spPr>
          <a:xfrm>
            <a:off x="644652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60,839 customers</a:t>
            </a:r>
            <a:endParaRPr lang="en-US" sz="1000" dirty="0"/>
          </a:p>
        </p:txBody>
      </p:sp>
      <p:sp>
        <p:nvSpPr>
          <p:cNvPr id="16" name="Shape 14"/>
          <p:cNvSpPr/>
          <p:nvPr/>
        </p:nvSpPr>
        <p:spPr>
          <a:xfrm>
            <a:off x="9052560" y="1335024"/>
            <a:ext cx="2560320" cy="1005840"/>
          </a:xfrm>
          <a:prstGeom prst="roundRect">
            <a:avLst>
              <a:gd name="adj" fmla="val 8182"/>
            </a:avLst>
          </a:prstGeom>
          <a:solidFill>
            <a:srgbClr val="F1F4F9"/>
          </a:solidFill>
          <a:ln/>
        </p:spPr>
      </p:sp>
      <p:sp>
        <p:nvSpPr>
          <p:cNvPr id="17" name="Text 15"/>
          <p:cNvSpPr/>
          <p:nvPr/>
        </p:nvSpPr>
        <p:spPr>
          <a:xfrm>
            <a:off x="9281160" y="1426464"/>
            <a:ext cx="2103120" cy="402336"/>
          </a:xfrm>
          <a:prstGeom prst="rect">
            <a:avLst/>
          </a:prstGeom>
          <a:noFill/>
          <a:ln/>
        </p:spPr>
        <p:txBody>
          <a:bodyPr wrap="square" lIns="0" tIns="0" rIns="0" bIns="0" rtlCol="0" anchor="ctr"/>
          <a:lstStyle/>
          <a:p>
            <a:pPr indent="0" marL="0">
              <a:buNone/>
            </a:pPr>
            <a:r>
              <a:rPr lang="en-US" sz="2500" b="1" dirty="0">
                <a:solidFill>
                  <a:srgbClr val="00A896"/>
                </a:solidFill>
                <a:latin typeface="Cambria" pitchFamily="34" charset="0"/>
                <a:ea typeface="Cambria" pitchFamily="34" charset="-122"/>
                <a:cs typeface="Cambria" pitchFamily="34" charset="-120"/>
              </a:rPr>
              <a:t>99.2%</a:t>
            </a:r>
            <a:endParaRPr lang="en-US" sz="2500" dirty="0"/>
          </a:p>
        </p:txBody>
      </p:sp>
      <p:sp>
        <p:nvSpPr>
          <p:cNvPr id="18" name="Text 16"/>
          <p:cNvSpPr/>
          <p:nvPr/>
        </p:nvSpPr>
        <p:spPr>
          <a:xfrm>
            <a:off x="9281160" y="1828800"/>
            <a:ext cx="2103120" cy="256032"/>
          </a:xfrm>
          <a:prstGeom prst="rect">
            <a:avLst/>
          </a:prstGeom>
          <a:noFill/>
          <a:ln/>
        </p:spPr>
        <p:txBody>
          <a:bodyPr wrap="square" lIns="0" tIns="0" rIns="0" bIns="0" rtlCol="0" anchor="t"/>
          <a:lstStyle/>
          <a:p>
            <a:pPr indent="0" marL="0">
              <a:buNone/>
            </a:pPr>
            <a:r>
              <a:rPr lang="en-US" sz="1150" b="1" dirty="0">
                <a:solidFill>
                  <a:srgbClr val="16233D"/>
                </a:solidFill>
                <a:latin typeface="Calibri" pitchFamily="34" charset="0"/>
                <a:ea typeface="Calibri" pitchFamily="34" charset="-122"/>
                <a:cs typeface="Calibri" pitchFamily="34" charset="-120"/>
              </a:rPr>
              <a:t>are in a consortium</a:t>
            </a:r>
            <a:endParaRPr lang="en-US" sz="1150" dirty="0"/>
          </a:p>
        </p:txBody>
      </p:sp>
      <p:sp>
        <p:nvSpPr>
          <p:cNvPr id="19" name="Text 17"/>
          <p:cNvSpPr/>
          <p:nvPr/>
        </p:nvSpPr>
        <p:spPr>
          <a:xfrm>
            <a:off x="9281160" y="2066544"/>
            <a:ext cx="2103120" cy="237744"/>
          </a:xfrm>
          <a:prstGeom prst="rect">
            <a:avLst/>
          </a:prstGeom>
          <a:noFill/>
          <a:ln/>
        </p:spPr>
        <p:txBody>
          <a:bodyPr wrap="square" lIns="0" tIns="0" rIns="0" bIns="0" rtlCol="0" anchor="t"/>
          <a:lstStyle/>
          <a:p>
            <a:pPr indent="0" marL="0">
              <a:buNone/>
            </a:pPr>
            <a:r>
              <a:rPr lang="en-US" sz="1000" dirty="0">
                <a:solidFill>
                  <a:srgbClr val="6B7A90"/>
                </a:solidFill>
                <a:latin typeface="Calibri" pitchFamily="34" charset="0"/>
                <a:ea typeface="Calibri" pitchFamily="34" charset="-122"/>
                <a:cs typeface="Calibri" pitchFamily="34" charset="-120"/>
              </a:rPr>
              <a:t>only 794 in none</a:t>
            </a:r>
            <a:endParaRPr lang="en-US" sz="1000" dirty="0"/>
          </a:p>
        </p:txBody>
      </p:sp>
      <p:sp>
        <p:nvSpPr>
          <p:cNvPr id="20" name="Shape 18"/>
          <p:cNvSpPr/>
          <p:nvPr/>
        </p:nvSpPr>
        <p:spPr>
          <a:xfrm>
            <a:off x="548640" y="2523744"/>
            <a:ext cx="5440680" cy="2304288"/>
          </a:xfrm>
          <a:prstGeom prst="roundRect">
            <a:avLst>
              <a:gd name="adj" fmla="val 3571"/>
            </a:avLst>
          </a:prstGeom>
          <a:solidFill>
            <a:srgbClr val="F1F4F9"/>
          </a:solidFill>
          <a:ln/>
        </p:spPr>
      </p:sp>
      <p:sp>
        <p:nvSpPr>
          <p:cNvPr id="21" name="Text 19"/>
          <p:cNvSpPr/>
          <p:nvPr/>
        </p:nvSpPr>
        <p:spPr>
          <a:xfrm>
            <a:off x="822960" y="2688336"/>
            <a:ext cx="4892040" cy="274320"/>
          </a:xfrm>
          <a:prstGeom prst="rect">
            <a:avLst/>
          </a:prstGeom>
          <a:noFill/>
          <a:ln/>
        </p:spPr>
        <p:txBody>
          <a:bodyPr wrap="square" lIns="0" tIns="0" rIns="0" bIns="0" rtlCol="0" anchor="ctr"/>
          <a:lstStyle/>
          <a:p>
            <a:pPr indent="0" marL="0">
              <a:buNone/>
            </a:pPr>
            <a:r>
              <a:rPr lang="en-US" sz="1500" b="1" dirty="0">
                <a:solidFill>
                  <a:srgbClr val="16233D"/>
                </a:solidFill>
                <a:latin typeface="Cambria" pitchFamily="34" charset="0"/>
                <a:ea typeface="Cambria" pitchFamily="34" charset="-122"/>
                <a:cs typeface="Cambria" pitchFamily="34" charset="-120"/>
              </a:rPr>
              <a:t>Consortium penetration</a:t>
            </a:r>
            <a:endParaRPr lang="en-US" sz="1500" dirty="0"/>
          </a:p>
        </p:txBody>
      </p:sp>
      <p:sp>
        <p:nvSpPr>
          <p:cNvPr id="22" name="Text 20"/>
          <p:cNvSpPr/>
          <p:nvPr/>
        </p:nvSpPr>
        <p:spPr>
          <a:xfrm>
            <a:off x="822960" y="2962656"/>
            <a:ext cx="4892040" cy="237744"/>
          </a:xfrm>
          <a:prstGeom prst="rect">
            <a:avLst/>
          </a:prstGeom>
          <a:noFill/>
          <a:ln/>
        </p:spPr>
        <p:txBody>
          <a:bodyPr wrap="square" lIns="0" tIns="0" rIns="0" bIns="0" rtlCol="0" anchor="ctr"/>
          <a:lstStyle/>
          <a:p>
            <a:pPr indent="0" marL="0">
              <a:buNone/>
            </a:pPr>
            <a:r>
              <a:rPr lang="en-US" sz="1000" dirty="0">
                <a:solidFill>
                  <a:srgbClr val="6B7A90"/>
                </a:solidFill>
                <a:latin typeface="Calibri" pitchFamily="34" charset="0"/>
                <a:ea typeface="Calibri" pitchFamily="34" charset="-122"/>
                <a:cs typeface="Calibri" pitchFamily="34" charset="-120"/>
              </a:rPr>
              <a:t>Share of the 94,371 booked customers found in each base</a:t>
            </a:r>
            <a:endParaRPr lang="en-US" sz="1000" dirty="0"/>
          </a:p>
        </p:txBody>
      </p:sp>
      <p:sp>
        <p:nvSpPr>
          <p:cNvPr id="23" name="Text 21"/>
          <p:cNvSpPr/>
          <p:nvPr/>
        </p:nvSpPr>
        <p:spPr>
          <a:xfrm>
            <a:off x="822960" y="331012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KTB</a:t>
            </a:r>
            <a:endParaRPr lang="en-US" sz="1150" dirty="0"/>
          </a:p>
        </p:txBody>
      </p:sp>
      <p:sp>
        <p:nvSpPr>
          <p:cNvPr id="24" name="Shape 22"/>
          <p:cNvSpPr/>
          <p:nvPr/>
        </p:nvSpPr>
        <p:spPr>
          <a:xfrm>
            <a:off x="1965960" y="3355848"/>
            <a:ext cx="2092147" cy="182880"/>
          </a:xfrm>
          <a:prstGeom prst="roundRect">
            <a:avLst>
              <a:gd name="adj" fmla="val 20000"/>
            </a:avLst>
          </a:prstGeom>
          <a:solidFill>
            <a:srgbClr val="165A73"/>
          </a:solidFill>
          <a:ln/>
        </p:spPr>
      </p:sp>
      <p:sp>
        <p:nvSpPr>
          <p:cNvPr id="25" name="Text 23"/>
          <p:cNvSpPr/>
          <p:nvPr/>
        </p:nvSpPr>
        <p:spPr>
          <a:xfrm>
            <a:off x="4480560" y="331012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83,362  ·  88%</a:t>
            </a:r>
            <a:endParaRPr lang="en-US" sz="1150" dirty="0"/>
          </a:p>
        </p:txBody>
      </p:sp>
      <p:sp>
        <p:nvSpPr>
          <p:cNvPr id="26" name="Text 24"/>
          <p:cNvSpPr/>
          <p:nvPr/>
        </p:nvSpPr>
        <p:spPr>
          <a:xfrm>
            <a:off x="822960" y="367588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AIS</a:t>
            </a:r>
            <a:endParaRPr lang="en-US" sz="1150" dirty="0"/>
          </a:p>
        </p:txBody>
      </p:sp>
      <p:sp>
        <p:nvSpPr>
          <p:cNvPr id="27" name="Shape 25"/>
          <p:cNvSpPr/>
          <p:nvPr/>
        </p:nvSpPr>
        <p:spPr>
          <a:xfrm>
            <a:off x="1965960" y="3721608"/>
            <a:ext cx="1759306" cy="182880"/>
          </a:xfrm>
          <a:prstGeom prst="roundRect">
            <a:avLst>
              <a:gd name="adj" fmla="val 20000"/>
            </a:avLst>
          </a:prstGeom>
          <a:solidFill>
            <a:srgbClr val="1E8E86"/>
          </a:solidFill>
          <a:ln/>
        </p:spPr>
      </p:sp>
      <p:sp>
        <p:nvSpPr>
          <p:cNvPr id="28" name="Text 26"/>
          <p:cNvSpPr/>
          <p:nvPr/>
        </p:nvSpPr>
        <p:spPr>
          <a:xfrm>
            <a:off x="4480560" y="367588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70,100  ·  74%</a:t>
            </a:r>
            <a:endParaRPr lang="en-US" sz="1150" dirty="0"/>
          </a:p>
        </p:txBody>
      </p:sp>
      <p:sp>
        <p:nvSpPr>
          <p:cNvPr id="29" name="Text 27"/>
          <p:cNvSpPr/>
          <p:nvPr/>
        </p:nvSpPr>
        <p:spPr>
          <a:xfrm>
            <a:off x="822960" y="404164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OR</a:t>
            </a:r>
            <a:endParaRPr lang="en-US" sz="1150" dirty="0"/>
          </a:p>
        </p:txBody>
      </p:sp>
      <p:sp>
        <p:nvSpPr>
          <p:cNvPr id="30" name="Shape 28"/>
          <p:cNvSpPr/>
          <p:nvPr/>
        </p:nvSpPr>
        <p:spPr>
          <a:xfrm>
            <a:off x="1965960" y="4087368"/>
            <a:ext cx="1355141" cy="182880"/>
          </a:xfrm>
          <a:prstGeom prst="roundRect">
            <a:avLst>
              <a:gd name="adj" fmla="val 20000"/>
            </a:avLst>
          </a:prstGeom>
          <a:solidFill>
            <a:srgbClr val="3FB89F"/>
          </a:solidFill>
          <a:ln/>
        </p:spPr>
      </p:sp>
      <p:sp>
        <p:nvSpPr>
          <p:cNvPr id="31" name="Text 29"/>
          <p:cNvSpPr/>
          <p:nvPr/>
        </p:nvSpPr>
        <p:spPr>
          <a:xfrm>
            <a:off x="4480560" y="404164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53,712  ·  57%</a:t>
            </a:r>
            <a:endParaRPr lang="en-US" sz="1150" dirty="0"/>
          </a:p>
        </p:txBody>
      </p:sp>
      <p:sp>
        <p:nvSpPr>
          <p:cNvPr id="32" name="Text 30"/>
          <p:cNvSpPr/>
          <p:nvPr/>
        </p:nvSpPr>
        <p:spPr>
          <a:xfrm>
            <a:off x="822960" y="4407408"/>
            <a:ext cx="1051560" cy="274320"/>
          </a:xfrm>
          <a:prstGeom prst="rect">
            <a:avLst/>
          </a:prstGeom>
          <a:noFill/>
          <a:ln/>
        </p:spPr>
        <p:txBody>
          <a:bodyPr wrap="square" lIns="0" tIns="0" rIns="0" bIns="0" rtlCol="0" anchor="ctr"/>
          <a:lstStyle/>
          <a:p>
            <a:pPr indent="0" marL="0">
              <a:buNone/>
            </a:pPr>
            <a:r>
              <a:rPr lang="en-US" sz="1150" b="1" dirty="0">
                <a:solidFill>
                  <a:srgbClr val="16233D"/>
                </a:solidFill>
                <a:latin typeface="Calibri" pitchFamily="34" charset="0"/>
                <a:ea typeface="Calibri" pitchFamily="34" charset="-122"/>
                <a:cs typeface="Calibri" pitchFamily="34" charset="-120"/>
              </a:rPr>
              <a:t>Not in any</a:t>
            </a:r>
            <a:endParaRPr lang="en-US" sz="1150" dirty="0"/>
          </a:p>
        </p:txBody>
      </p:sp>
      <p:sp>
        <p:nvSpPr>
          <p:cNvPr id="33" name="Shape 31"/>
          <p:cNvSpPr/>
          <p:nvPr/>
        </p:nvSpPr>
        <p:spPr>
          <a:xfrm>
            <a:off x="1965960" y="4453128"/>
            <a:ext cx="54864" cy="182880"/>
          </a:xfrm>
          <a:prstGeom prst="roundRect">
            <a:avLst>
              <a:gd name="adj" fmla="val 66667"/>
            </a:avLst>
          </a:prstGeom>
          <a:solidFill>
            <a:srgbClr val="8DA0B8"/>
          </a:solidFill>
          <a:ln/>
        </p:spPr>
      </p:sp>
      <p:sp>
        <p:nvSpPr>
          <p:cNvPr id="34" name="Text 32"/>
          <p:cNvSpPr/>
          <p:nvPr/>
        </p:nvSpPr>
        <p:spPr>
          <a:xfrm>
            <a:off x="4480560" y="4407408"/>
            <a:ext cx="1234440" cy="274320"/>
          </a:xfrm>
          <a:prstGeom prst="rect">
            <a:avLst/>
          </a:prstGeom>
          <a:noFill/>
          <a:ln/>
        </p:spPr>
        <p:txBody>
          <a:bodyPr wrap="square" lIns="0" tIns="0" rIns="0" bIns="0" rtlCol="0" anchor="ctr"/>
          <a:lstStyle/>
          <a:p>
            <a:pPr algn="r" indent="0" marL="0">
              <a:buNone/>
            </a:pPr>
            <a:r>
              <a:rPr lang="en-US" sz="1150" b="1" dirty="0">
                <a:solidFill>
                  <a:srgbClr val="16233D"/>
                </a:solidFill>
                <a:latin typeface="Cambria" pitchFamily="34" charset="0"/>
                <a:ea typeface="Cambria" pitchFamily="34" charset="-122"/>
                <a:cs typeface="Cambria" pitchFamily="34" charset="-120"/>
              </a:rPr>
              <a:t>794  ·  0.8%</a:t>
            </a:r>
            <a:endParaRPr lang="en-US" sz="1150" dirty="0"/>
          </a:p>
        </p:txBody>
      </p:sp>
      <p:sp>
        <p:nvSpPr>
          <p:cNvPr id="35" name="Shape 33"/>
          <p:cNvSpPr/>
          <p:nvPr/>
        </p:nvSpPr>
        <p:spPr>
          <a:xfrm>
            <a:off x="6172200" y="2523744"/>
            <a:ext cx="5440680" cy="2304288"/>
          </a:xfrm>
          <a:prstGeom prst="roundRect">
            <a:avLst>
              <a:gd name="adj" fmla="val 3571"/>
            </a:avLst>
          </a:prstGeom>
          <a:solidFill>
            <a:srgbClr val="F1F4F9"/>
          </a:solidFill>
          <a:ln/>
        </p:spPr>
      </p:sp>
      <p:graphicFrame>
        <p:nvGraphicFramePr>
          <p:cNvPr id="36" name="Chart 0" descr=""/>
          <p:cNvGraphicFramePr/>
          <p:nvPr/>
        </p:nvGraphicFramePr>
        <p:xfrm>
          <a:off x="6291072" y="2615184"/>
          <a:ext cx="5230368" cy="2139696"/>
        </p:xfrm>
        <a:graphic xmlns:a="http://schemas.openxmlformats.org/drawingml/2006/main">
          <a:graphicData uri="http://schemas.openxmlformats.org/drawingml/2006/chart">
            <c:chart xmlns:c="http://schemas.openxmlformats.org/drawingml/2006/chart" r:id="rId1"/>
          </a:graphicData>
        </a:graphic>
      </p:graphicFrame>
      <p:sp>
        <p:nvSpPr>
          <p:cNvPr id="37" name="Shape 34"/>
          <p:cNvSpPr/>
          <p:nvPr/>
        </p:nvSpPr>
        <p:spPr>
          <a:xfrm>
            <a:off x="548640" y="5010912"/>
            <a:ext cx="11064240" cy="1152144"/>
          </a:xfrm>
          <a:prstGeom prst="roundRect">
            <a:avLst>
              <a:gd name="adj" fmla="val 7143"/>
            </a:avLst>
          </a:prstGeom>
          <a:solidFill>
            <a:srgbClr val="0E1E3C"/>
          </a:solidFill>
          <a:ln/>
        </p:spPr>
      </p:sp>
      <p:sp>
        <p:nvSpPr>
          <p:cNvPr id="38" name="Text 35"/>
          <p:cNvSpPr/>
          <p:nvPr/>
        </p:nvSpPr>
        <p:spPr>
          <a:xfrm>
            <a:off x="914400" y="5175504"/>
            <a:ext cx="10332720" cy="237744"/>
          </a:xfrm>
          <a:prstGeom prst="rect">
            <a:avLst/>
          </a:prstGeom>
          <a:noFill/>
          <a:ln/>
        </p:spPr>
        <p:txBody>
          <a:bodyPr wrap="square" lIns="0" tIns="0" rIns="0" bIns="0" rtlCol="0" anchor="ctr"/>
          <a:lstStyle/>
          <a:p>
            <a:pPr indent="0" marL="0">
              <a:buNone/>
            </a:pPr>
            <a:r>
              <a:rPr lang="en-US" sz="1050" b="1" spc="180" kern="0" dirty="0">
                <a:solidFill>
                  <a:srgbClr val="5FD6BE"/>
                </a:solidFill>
                <a:latin typeface="Calibri" pitchFamily="34" charset="0"/>
                <a:ea typeface="Calibri" pitchFamily="34" charset="-122"/>
                <a:cs typeface="Calibri" pitchFamily="34" charset="-120"/>
              </a:rPr>
              <a:t>AIS BASE INFORMATION  ·  70.1K</a:t>
            </a:r>
            <a:endParaRPr lang="en-US" sz="1050" dirty="0"/>
          </a:p>
        </p:txBody>
      </p:sp>
      <p:sp>
        <p:nvSpPr>
          <p:cNvPr id="39" name="Text 36"/>
          <p:cNvSpPr/>
          <p:nvPr/>
        </p:nvSpPr>
        <p:spPr>
          <a:xfrm>
            <a:off x="914400" y="5413248"/>
            <a:ext cx="10332720" cy="694944"/>
          </a:xfrm>
          <a:prstGeom prst="rect">
            <a:avLst/>
          </a:prstGeom>
          <a:noFill/>
          <a:ln/>
        </p:spPr>
        <p:txBody>
          <a:bodyPr wrap="square" lIns="0" tIns="0" rIns="0" bIns="0" rtlCol="0" anchor="t"/>
          <a:lstStyle/>
          <a:p>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68% sit in the TRUE ecosystem</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(47,840)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61% carry the nano-loan flag</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(42,806) · </a:t>
            </a:r>
            <a:pPr indent="0" marL="0">
              <a:lnSpc>
                <a:spcPts val="1600"/>
              </a:lnSpc>
              <a:buNone/>
            </a:pPr>
            <a:r>
              <a:rPr lang="en-US" sz="1100" b="1" dirty="0">
                <a:solidFill>
                  <a:srgbClr val="5FD6BE"/>
                </a:solidFill>
                <a:latin typeface="Calibri" pitchFamily="34" charset="0"/>
                <a:ea typeface="Calibri" pitchFamily="34" charset="-122"/>
                <a:cs typeface="Calibri" pitchFamily="34" charset="-120"/>
              </a:rPr>
              <a:t>66% have tenure of 5 years or more</a:t>
            </a:r>
            <a:pPr indent="0" marL="0">
              <a:lnSpc>
                <a:spcPts val="1600"/>
              </a:lnSpc>
              <a:buNone/>
            </a:pPr>
            <a:r>
              <a:rPr lang="en-US" sz="1100" dirty="0">
                <a:solidFill>
                  <a:srgbClr val="C3D0E2"/>
                </a:solidFill>
                <a:latin typeface="Calibri" pitchFamily="34" charset="0"/>
                <a:ea typeface="Calibri" pitchFamily="34" charset="-122"/>
                <a:cs typeface="Calibri" pitchFamily="34" charset="-120"/>
              </a:rPr>
              <a:t> (46,441), against 11% at 0–1 years</a:t>
            </a:r>
            <a:pPr indent="0" marL="0">
              <a:lnSpc>
                <a:spcPts val="1600"/>
              </a:lnSpc>
              <a:buNone/>
            </a:pPr>
            <a:endParaRPr lang="en-US" sz="1100" dirty="0"/>
          </a:p>
          <a:p>
            <a:pPr indent="0" marL="0">
              <a:lnSpc>
                <a:spcPts val="1600"/>
              </a:lnSpc>
              <a:buNone/>
            </a:pPr>
            <a:r>
              <a:rPr lang="en-US" sz="1100" dirty="0">
                <a:solidFill>
                  <a:srgbClr val="C3D0E2"/>
                </a:solidFill>
                <a:latin typeface="Calibri" pitchFamily="34" charset="0"/>
                <a:ea typeface="Calibri" pitchFamily="34" charset="-122"/>
                <a:cs typeface="Calibri" pitchFamily="34" charset="-120"/>
              </a:rPr>
              <a:t>Charge type splits 49% prepaid / 44% postpaid / 6% FBB, and 33,341 of the 70.1K — 47.6% — booked on 2 Aug alone.</a:t>
            </a:r>
            <a:endParaRPr lang="en-US" sz="1100" dirty="0"/>
          </a:p>
        </p:txBody>
      </p:sp>
      <p:sp>
        <p:nvSpPr>
          <p:cNvPr id="40" name="Text 37"/>
          <p:cNvSpPr/>
          <p:nvPr/>
        </p:nvSpPr>
        <p:spPr>
          <a:xfrm>
            <a:off x="548640" y="6291072"/>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(Book Loan). DL and PL are not expanded anywhere in that deck. Cash-need and risk percentages are as printed; all others are computed from its own counts and reconcile to 94,371 and 70,100. Consortium bases overlap, so they sum past 100%. AIS-base figures cover the 70.1K AIS base only, not the whole book.</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70.1K  ·  DL 63,760 / PL 6,340</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Long-tenured, prepaid-leaning, mostly TRUE</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DL and PL profile almost identically on tenure and TRUE; they part company on charge type and the nano-loan flag.</a:t>
            </a:r>
            <a:endParaRPr lang="en-US" sz="1250" dirty="0"/>
          </a:p>
        </p:txBody>
      </p:sp>
      <p:sp>
        <p:nvSpPr>
          <p:cNvPr id="5" name="Shape 3"/>
          <p:cNvSpPr/>
          <p:nvPr/>
        </p:nvSpPr>
        <p:spPr>
          <a:xfrm>
            <a:off x="548640" y="1463040"/>
            <a:ext cx="5440680" cy="2231136"/>
          </a:xfrm>
          <a:prstGeom prst="roundRect">
            <a:avLst>
              <a:gd name="adj" fmla="val 3689"/>
            </a:avLst>
          </a:prstGeom>
          <a:solidFill>
            <a:srgbClr val="F1F4F9"/>
          </a:solidFill>
          <a:ln/>
        </p:spPr>
      </p:sp>
      <p:graphicFrame>
        <p:nvGraphicFramePr>
          <p:cNvPr id="6" name="Chart 0" descr=""/>
          <p:cNvGraphicFramePr/>
          <p:nvPr/>
        </p:nvGraphicFramePr>
        <p:xfrm>
          <a:off x="658368" y="1554480"/>
          <a:ext cx="5221224" cy="204825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6172200" y="1463040"/>
            <a:ext cx="5440680" cy="2231136"/>
          </a:xfrm>
          <a:prstGeom prst="roundRect">
            <a:avLst>
              <a:gd name="adj" fmla="val 3689"/>
            </a:avLst>
          </a:prstGeom>
          <a:solidFill>
            <a:srgbClr val="F1F4F9"/>
          </a:solidFill>
          <a:ln/>
        </p:spPr>
      </p:sp>
      <p:graphicFrame>
        <p:nvGraphicFramePr>
          <p:cNvPr id="8" name="Chart 1" descr=""/>
          <p:cNvGraphicFramePr/>
          <p:nvPr/>
        </p:nvGraphicFramePr>
        <p:xfrm>
          <a:off x="6281928" y="1554480"/>
          <a:ext cx="5221224" cy="2048256"/>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548640" y="3840480"/>
            <a:ext cx="5440680" cy="2231136"/>
          </a:xfrm>
          <a:prstGeom prst="roundRect">
            <a:avLst>
              <a:gd name="adj" fmla="val 3689"/>
            </a:avLst>
          </a:prstGeom>
          <a:solidFill>
            <a:srgbClr val="F1F4F9"/>
          </a:solidFill>
          <a:ln/>
        </p:spPr>
      </p:sp>
      <p:graphicFrame>
        <p:nvGraphicFramePr>
          <p:cNvPr id="10" name="Chart 2" descr=""/>
          <p:cNvGraphicFramePr/>
          <p:nvPr/>
        </p:nvGraphicFramePr>
        <p:xfrm>
          <a:off x="658368" y="3931920"/>
          <a:ext cx="5221224" cy="2048256"/>
        </p:xfrm>
        <a:graphic xmlns:a="http://schemas.openxmlformats.org/drawingml/2006/main">
          <a:graphicData uri="http://schemas.openxmlformats.org/drawingml/2006/chart">
            <c:chart xmlns:c="http://schemas.openxmlformats.org/drawingml/2006/chart" r:id="rId3"/>
          </a:graphicData>
        </a:graphic>
      </p:graphicFrame>
      <p:sp>
        <p:nvSpPr>
          <p:cNvPr id="11" name="Shape 6"/>
          <p:cNvSpPr/>
          <p:nvPr/>
        </p:nvSpPr>
        <p:spPr>
          <a:xfrm>
            <a:off x="6172200" y="3840480"/>
            <a:ext cx="5440680" cy="2231136"/>
          </a:xfrm>
          <a:prstGeom prst="roundRect">
            <a:avLst>
              <a:gd name="adj" fmla="val 3689"/>
            </a:avLst>
          </a:prstGeom>
          <a:solidFill>
            <a:srgbClr val="F1F4F9"/>
          </a:solidFill>
          <a:ln/>
        </p:spPr>
      </p:sp>
      <p:graphicFrame>
        <p:nvGraphicFramePr>
          <p:cNvPr id="12" name="Chart 3" descr=""/>
          <p:cNvGraphicFramePr/>
          <p:nvPr/>
        </p:nvGraphicFramePr>
        <p:xfrm>
          <a:off x="6281928" y="3931920"/>
          <a:ext cx="5221224" cy="2048256"/>
        </p:xfrm>
        <a:graphic xmlns:a="http://schemas.openxmlformats.org/drawingml/2006/main">
          <a:graphicData uri="http://schemas.openxmlformats.org/drawingml/2006/chart">
            <c:chart xmlns:c="http://schemas.openxmlformats.org/drawingml/2006/chart" r:id="rId4"/>
          </a:graphicData>
        </a:graphic>
      </p:graphicFrame>
      <p:sp>
        <p:nvSpPr>
          <p:cNvPr id="13" name="Text 7"/>
          <p:cNvSpPr/>
          <p:nvPr/>
        </p:nvSpPr>
        <p:spPr>
          <a:xfrm>
            <a:off x="548640" y="6309360"/>
            <a:ext cx="11064240" cy="384048"/>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the four AIS Base Information slides (charge type, nano loan, true, tenure), aggregated across all book dates. Each breakdown sums to 70,100, matching the stated AIS consortium count. Percentages are computed from the deck's own counts and may differ by 1pt from its per-date rounding.</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29184"/>
            <a:ext cx="11064240" cy="237744"/>
          </a:xfrm>
          <a:prstGeom prst="rect">
            <a:avLst/>
          </a:prstGeom>
          <a:noFill/>
          <a:ln/>
        </p:spPr>
        <p:txBody>
          <a:bodyPr wrap="square" lIns="0" tIns="0" rIns="0" bIns="0" rtlCol="0" anchor="ctr"/>
          <a:lstStyle/>
          <a:p>
            <a:pPr indent="0" marL="0">
              <a:buNone/>
            </a:pPr>
            <a:r>
              <a:rPr lang="en-US" sz="1150" b="1" spc="220" kern="0" dirty="0">
                <a:solidFill>
                  <a:srgbClr val="00A896"/>
                </a:solidFill>
                <a:latin typeface="Calibri" pitchFamily="34" charset="0"/>
                <a:ea typeface="Calibri" pitchFamily="34" charset="-122"/>
                <a:cs typeface="Calibri" pitchFamily="34" charset="-120"/>
              </a:rPr>
              <a:t>AIS BASE INFORMATION  ·  BY BOOK DATE</a:t>
            </a:r>
            <a:endParaRPr lang="en-US" sz="1150" dirty="0"/>
          </a:p>
        </p:txBody>
      </p:sp>
      <p:sp>
        <p:nvSpPr>
          <p:cNvPr id="3" name="Text 1"/>
          <p:cNvSpPr/>
          <p:nvPr/>
        </p:nvSpPr>
        <p:spPr>
          <a:xfrm>
            <a:off x="548640" y="603504"/>
            <a:ext cx="11064240" cy="566928"/>
          </a:xfrm>
          <a:prstGeom prst="rect">
            <a:avLst/>
          </a:prstGeom>
          <a:noFill/>
          <a:ln/>
        </p:spPr>
        <p:txBody>
          <a:bodyPr wrap="square" lIns="0" tIns="0" rIns="0" bIns="0" rtlCol="0" anchor="t"/>
          <a:lstStyle/>
          <a:p>
            <a:pPr indent="0" marL="0">
              <a:buNone/>
            </a:pPr>
            <a:r>
              <a:rPr lang="en-US" sz="3200" b="1" dirty="0">
                <a:solidFill>
                  <a:srgbClr val="16233D"/>
                </a:solidFill>
                <a:latin typeface="Cambria" pitchFamily="34" charset="0"/>
                <a:ea typeface="Cambria" pitchFamily="34" charset="-122"/>
                <a:cs typeface="Cambria" pitchFamily="34" charset="-120"/>
              </a:rPr>
              <a:t>Nearly half the base booked on 2 August</a:t>
            </a:r>
            <a:endParaRPr lang="en-US" sz="3200" dirty="0"/>
          </a:p>
        </p:txBody>
      </p:sp>
      <p:sp>
        <p:nvSpPr>
          <p:cNvPr id="4" name="Text 2"/>
          <p:cNvSpPr/>
          <p:nvPr/>
        </p:nvSpPr>
        <p:spPr>
          <a:xfrm>
            <a:off x="548640" y="1097280"/>
            <a:ext cx="11064240" cy="256032"/>
          </a:xfrm>
          <a:prstGeom prst="rect">
            <a:avLst/>
          </a:prstGeom>
          <a:noFill/>
          <a:ln/>
        </p:spPr>
        <p:txBody>
          <a:bodyPr wrap="square" lIns="0" tIns="0" rIns="0" bIns="0" rtlCol="0" anchor="t"/>
          <a:lstStyle/>
          <a:p>
            <a:pPr indent="0" marL="0">
              <a:buNone/>
            </a:pPr>
            <a:r>
              <a:rPr lang="en-US" sz="1250" dirty="0">
                <a:solidFill>
                  <a:srgbClr val="6B7A90"/>
                </a:solidFill>
                <a:latin typeface="Calibri" pitchFamily="34" charset="0"/>
                <a:ea typeface="Calibri" pitchFamily="34" charset="-122"/>
                <a:cs typeface="Calibri" pitchFamily="34" charset="-120"/>
              </a:rPr>
              <a:t>PL arrives almost entirely on 5 Aug, and each later cohort is a little less nano-loan — the flag falls 9.5 points from 1 to 5 Aug.</a:t>
            </a:r>
            <a:endParaRPr lang="en-US" sz="1250" dirty="0"/>
          </a:p>
        </p:txBody>
      </p:sp>
      <p:sp>
        <p:nvSpPr>
          <p:cNvPr id="5" name="Shape 3"/>
          <p:cNvSpPr/>
          <p:nvPr/>
        </p:nvSpPr>
        <p:spPr>
          <a:xfrm>
            <a:off x="548640" y="1426464"/>
            <a:ext cx="11064240" cy="2139696"/>
          </a:xfrm>
          <a:prstGeom prst="roundRect">
            <a:avLst>
              <a:gd name="adj" fmla="val 3846"/>
            </a:avLst>
          </a:prstGeom>
          <a:solidFill>
            <a:srgbClr val="F1F4F9"/>
          </a:solidFill>
          <a:ln/>
        </p:spPr>
      </p:sp>
      <p:graphicFrame>
        <p:nvGraphicFramePr>
          <p:cNvPr id="6" name="Chart 0" descr=""/>
          <p:cNvGraphicFramePr/>
          <p:nvPr/>
        </p:nvGraphicFramePr>
        <p:xfrm>
          <a:off x="658368" y="1517904"/>
          <a:ext cx="10844784" cy="1956816"/>
        </p:xfrm>
        <a:graphic xmlns:a="http://schemas.openxmlformats.org/drawingml/2006/main">
          <a:graphicData uri="http://schemas.openxmlformats.org/drawingml/2006/chart">
            <c:chart xmlns:c="http://schemas.openxmlformats.org/drawingml/2006/chart" r:id="rId1"/>
          </a:graphicData>
        </a:graphic>
      </p:graphicFrame>
      <p:sp>
        <p:nvSpPr>
          <p:cNvPr id="7" name="Shape 4"/>
          <p:cNvSpPr/>
          <p:nvPr/>
        </p:nvSpPr>
        <p:spPr>
          <a:xfrm>
            <a:off x="548640" y="3712464"/>
            <a:ext cx="5440680" cy="2249424"/>
          </a:xfrm>
          <a:prstGeom prst="roundRect">
            <a:avLst>
              <a:gd name="adj" fmla="val 3659"/>
            </a:avLst>
          </a:prstGeom>
          <a:solidFill>
            <a:srgbClr val="F1F4F9"/>
          </a:solidFill>
          <a:ln/>
        </p:spPr>
      </p:sp>
      <p:graphicFrame>
        <p:nvGraphicFramePr>
          <p:cNvPr id="8" name="Chart 1" descr=""/>
          <p:cNvGraphicFramePr/>
          <p:nvPr/>
        </p:nvGraphicFramePr>
        <p:xfrm>
          <a:off x="658368" y="3803904"/>
          <a:ext cx="5221224" cy="2066544"/>
        </p:xfrm>
        <a:graphic xmlns:a="http://schemas.openxmlformats.org/drawingml/2006/main">
          <a:graphicData uri="http://schemas.openxmlformats.org/drawingml/2006/chart">
            <c:chart xmlns:c="http://schemas.openxmlformats.org/drawingml/2006/chart" r:id="rId2"/>
          </a:graphicData>
        </a:graphic>
      </p:graphicFrame>
      <p:sp>
        <p:nvSpPr>
          <p:cNvPr id="9" name="Shape 5"/>
          <p:cNvSpPr/>
          <p:nvPr/>
        </p:nvSpPr>
        <p:spPr>
          <a:xfrm>
            <a:off x="6172200" y="3712464"/>
            <a:ext cx="5440680" cy="2249424"/>
          </a:xfrm>
          <a:prstGeom prst="roundRect">
            <a:avLst>
              <a:gd name="adj" fmla="val 3659"/>
            </a:avLst>
          </a:prstGeom>
          <a:solidFill>
            <a:srgbClr val="F1F4F9"/>
          </a:solidFill>
          <a:ln/>
        </p:spPr>
      </p:sp>
      <p:graphicFrame>
        <p:nvGraphicFramePr>
          <p:cNvPr id="10" name="Chart 2" descr=""/>
          <p:cNvGraphicFramePr/>
          <p:nvPr/>
        </p:nvGraphicFramePr>
        <p:xfrm>
          <a:off x="6281928" y="3803904"/>
          <a:ext cx="5221224" cy="2066544"/>
        </p:xfrm>
        <a:graphic xmlns:a="http://schemas.openxmlformats.org/drawingml/2006/main">
          <a:graphicData uri="http://schemas.openxmlformats.org/drawingml/2006/chart">
            <c:chart xmlns:c="http://schemas.openxmlformats.org/drawingml/2006/chart" r:id="rId3"/>
          </a:graphicData>
        </a:graphic>
      </p:graphicFrame>
      <p:sp>
        <p:nvSpPr>
          <p:cNvPr id="11" name="Text 6"/>
          <p:cNvSpPr/>
          <p:nvPr/>
        </p:nvSpPr>
        <p:spPr>
          <a:xfrm>
            <a:off x="548640" y="6089904"/>
            <a:ext cx="11064240" cy="512064"/>
          </a:xfrm>
          <a:prstGeom prst="rect">
            <a:avLst/>
          </a:prstGeom>
          <a:noFill/>
          <a:ln/>
        </p:spPr>
        <p:txBody>
          <a:bodyPr wrap="square" lIns="0" tIns="0" rIns="0" bIns="0" rtlCol="0" anchor="ctr"/>
          <a:lstStyle/>
          <a:p>
            <a:pPr indent="0" marL="0">
              <a:buNone/>
            </a:pPr>
            <a:r>
              <a:rPr lang="en-US" sz="900" i="1" dirty="0">
                <a:solidFill>
                  <a:srgbClr val="6B7A90"/>
                </a:solidFill>
                <a:latin typeface="Calibri" pitchFamily="34" charset="0"/>
                <a:ea typeface="Calibri" pitchFamily="34" charset="-122"/>
                <a:cs typeface="Calibri" pitchFamily="34" charset="-120"/>
              </a:rPr>
              <a:t>Source: Lending_2026.08.07.pptx, AIS Base Information slides. Volumes are the grand totals per book date; the two mixes combine DL and PL. 'bef 1 Aug' holds only 708 customers, so its mix is a small-sample outlier. Charge type and tenure barely move across the August dates (prepaid 46–55%, tenure 5+ years 65–68%) and are shown by loan type on the previous slide.</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Slides>
  <Notes>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vt:i4>
      </vt:variant>
    </vt:vector>
  </HeadingPairs>
  <TitlesOfParts>
    <vt:vector size="6" baseType="lpstr">
      <vt:lpstr>Arial</vt:lpstr>
      <vt:lpstr>Calibri</vt:lpstr>
      <vt:lpstr>Office Theme</vt:lpstr>
      <vt:lpstr>Slide 1</vt:lpstr>
      <vt:lpstr>Slide 2</vt:lpstr>
      <vt:lpstr>Slide 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Book Loan - summary as of 5 Aug</dc:title>
  <dc:subject>PptxGenJS Presentation</dc:subject>
  <dc:creator>Lending</dc:creator>
  <cp:lastModifiedBy>Lending</cp:lastModifiedBy>
  <cp:revision>1</cp:revision>
  <dcterms:created xsi:type="dcterms:W3CDTF">2026-08-07T09:00:49Z</dcterms:created>
  <dcterms:modified xsi:type="dcterms:W3CDTF">2026-08-07T09:00:49Z</dcterms:modified>
</cp:coreProperties>
</file>
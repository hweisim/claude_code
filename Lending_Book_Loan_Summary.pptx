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6233D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16233D"/>
                </a:solidFill>
                <a:latin typeface="Calibri"/>
              </a:rPr>
              <a:t>Cash need and risk mix (% of customers)</a:t>
            </a:r>
          </a:p>
        </c:rich>
      </c:tx>
      <c:layout/>
      <c:overlay val="0"/>
    </c:title>
    <c:autoTitleDeleted val="0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Null</c:v>
                </c:pt>
              </c:strCache>
            </c:strRef>
          </c:tx>
          <c:spPr>
            <a:solidFill>
              <a:srgbClr val="8DA0B8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Cash need · DL</c:v>
                  </c:pt>
                  <c:pt idx="1">
                    <c:v>Cash need · PL</c:v>
                  </c:pt>
                  <c:pt idx="2">
                    <c:v>Risk · DL</c:v>
                  </c:pt>
                  <c:pt idx="3">
                    <c:v>Risk · PL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13</c:v>
                </c:pt>
                <c:pt idx="1">
                  <c:v>18</c:v>
                </c:pt>
                <c:pt idx="2">
                  <c:v>2</c:v>
                </c:pt>
                <c:pt idx="3">
                  <c:v>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Low</c:v>
                </c:pt>
              </c:strCache>
            </c:strRef>
          </c:tx>
          <c:spPr>
            <a:solidFill>
              <a:srgbClr val="3FB89F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Cash need · DL</c:v>
                  </c:pt>
                  <c:pt idx="1">
                    <c:v>Cash need · PL</c:v>
                  </c:pt>
                  <c:pt idx="2">
                    <c:v>Risk · DL</c:v>
                  </c:pt>
                  <c:pt idx="3">
                    <c:v>Risk · PL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</c:v>
                </c:pt>
                <c:pt idx="1">
                  <c:v>9</c:v>
                </c:pt>
                <c:pt idx="2">
                  <c:v>29</c:v>
                </c:pt>
                <c:pt idx="3">
                  <c:v>31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Mid</c:v>
                </c:pt>
              </c:strCache>
            </c:strRef>
          </c:tx>
          <c:spPr>
            <a:solidFill>
              <a:srgbClr val="1E8E86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Cash need · DL</c:v>
                  </c:pt>
                  <c:pt idx="1">
                    <c:v>Cash need · PL</c:v>
                  </c:pt>
                  <c:pt idx="2">
                    <c:v>Risk · DL</c:v>
                  </c:pt>
                  <c:pt idx="3">
                    <c:v>Risk · PL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16</c:v>
                </c:pt>
                <c:pt idx="1">
                  <c:v>21</c:v>
                </c:pt>
                <c:pt idx="2">
                  <c:v>25</c:v>
                </c:pt>
                <c:pt idx="3">
                  <c:v>23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High</c:v>
                </c:pt>
              </c:strCache>
            </c:strRef>
          </c:tx>
          <c:spPr>
            <a:solidFill>
              <a:srgbClr val="165A73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Cash need · DL</c:v>
                  </c:pt>
                  <c:pt idx="1">
                    <c:v>Cash need · PL</c:v>
                  </c:pt>
                  <c:pt idx="2">
                    <c:v>Risk · DL</c:v>
                  </c:pt>
                  <c:pt idx="3">
                    <c:v>Risk · PL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66</c:v>
                </c:pt>
                <c:pt idx="1">
                  <c:v>52</c:v>
                </c:pt>
                <c:pt idx="2">
                  <c:v>44</c:v>
                </c:pt>
                <c:pt idx="3">
                  <c:v>40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9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16233D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16233D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number is from Lending_2026.08.07.pptx. Reconciliation checks: DL 85,317 + PL 9,054 = 94,371, matching the stated total booked; the cash-need and risk rows each sum to their own grand totals; and all four AIS breakdowns (charge type, nano loan, true, tenure) sum to 70,100, matching the stated AIS consortium count. The deck's text says '47K are in TRUE ecosystem'; the true table gives 47,840. Consortium bases overlap — KTB 88%, AIS 74% and OR 57% sum well past 100% because customers appear in more than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LOAN  ·  TOTAL BOOKED AS OF 5 AUG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Nine in ten booked loans are DL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35024"/>
            <a:ext cx="2560320" cy="1005840"/>
          </a:xfrm>
          <a:prstGeom prst="roundRect">
            <a:avLst>
              <a:gd name="adj" fmla="val 8182"/>
            </a:avLst>
          </a:prstGeom>
          <a:solidFill>
            <a:srgbClr val="F1F4F9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426464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94,371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777240" y="182880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booked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777240" y="2066544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of 5 Aug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83280" y="1335024"/>
            <a:ext cx="2560320" cy="1005840"/>
          </a:xfrm>
          <a:prstGeom prst="roundRect">
            <a:avLst>
              <a:gd name="adj" fmla="val 8182"/>
            </a:avLst>
          </a:prstGeom>
          <a:solidFill>
            <a:srgbClr val="F1F4F9"/>
          </a:solidFill>
          <a:ln/>
        </p:spPr>
      </p:sp>
      <p:sp>
        <p:nvSpPr>
          <p:cNvPr id="9" name="Text 7"/>
          <p:cNvSpPr/>
          <p:nvPr/>
        </p:nvSpPr>
        <p:spPr>
          <a:xfrm>
            <a:off x="3611880" y="1426464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90.4%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3611880" y="182880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book is DL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3611880" y="2066544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85,317 DL vs 9,054 PL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217920" y="1335024"/>
            <a:ext cx="2560320" cy="1005840"/>
          </a:xfrm>
          <a:prstGeom prst="roundRect">
            <a:avLst>
              <a:gd name="adj" fmla="val 8182"/>
            </a:avLst>
          </a:prstGeom>
          <a:solidFill>
            <a:srgbClr val="F1F4F9"/>
          </a:solidFill>
          <a:ln/>
        </p:spPr>
      </p:sp>
      <p:sp>
        <p:nvSpPr>
          <p:cNvPr id="13" name="Text 11"/>
          <p:cNvSpPr/>
          <p:nvPr/>
        </p:nvSpPr>
        <p:spPr>
          <a:xfrm>
            <a:off x="6446520" y="1426464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E9A0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64.5%</a:t>
            </a:r>
            <a:endParaRPr lang="en-US" sz="2500" dirty="0"/>
          </a:p>
        </p:txBody>
      </p:sp>
      <p:sp>
        <p:nvSpPr>
          <p:cNvPr id="14" name="Text 12"/>
          <p:cNvSpPr/>
          <p:nvPr/>
        </p:nvSpPr>
        <p:spPr>
          <a:xfrm>
            <a:off x="6446520" y="182880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 at high cash need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446520" y="2066544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60,839 customers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9052560" y="1335024"/>
            <a:ext cx="2560320" cy="1005840"/>
          </a:xfrm>
          <a:prstGeom prst="roundRect">
            <a:avLst>
              <a:gd name="adj" fmla="val 8182"/>
            </a:avLst>
          </a:prstGeom>
          <a:solidFill>
            <a:srgbClr val="F1F4F9"/>
          </a:solidFill>
          <a:ln/>
        </p:spPr>
      </p:sp>
      <p:sp>
        <p:nvSpPr>
          <p:cNvPr id="17" name="Text 15"/>
          <p:cNvSpPr/>
          <p:nvPr/>
        </p:nvSpPr>
        <p:spPr>
          <a:xfrm>
            <a:off x="9281160" y="1426464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99.2%</a:t>
            </a:r>
            <a:endParaRPr lang="en-US" sz="2500" dirty="0"/>
          </a:p>
        </p:txBody>
      </p:sp>
      <p:sp>
        <p:nvSpPr>
          <p:cNvPr id="18" name="Text 16"/>
          <p:cNvSpPr/>
          <p:nvPr/>
        </p:nvSpPr>
        <p:spPr>
          <a:xfrm>
            <a:off x="9281160" y="182880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in a consortium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9281160" y="2066544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794 in none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640" y="2523744"/>
            <a:ext cx="5440680" cy="2304288"/>
          </a:xfrm>
          <a:prstGeom prst="roundRect">
            <a:avLst>
              <a:gd name="adj" fmla="val 3571"/>
            </a:avLst>
          </a:prstGeom>
          <a:solidFill>
            <a:srgbClr val="F1F4F9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" y="2688336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Consortium penetration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822960" y="2962656"/>
            <a:ext cx="4892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the 94,371 booked customers found in each base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22960" y="3310128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KTB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1965960" y="3355848"/>
            <a:ext cx="2092147" cy="182880"/>
          </a:xfrm>
          <a:prstGeom prst="roundRect">
            <a:avLst>
              <a:gd name="adj" fmla="val 20000"/>
            </a:avLst>
          </a:prstGeom>
          <a:solidFill>
            <a:srgbClr val="165A73"/>
          </a:solidFill>
          <a:ln/>
        </p:spPr>
      </p:sp>
      <p:sp>
        <p:nvSpPr>
          <p:cNvPr id="25" name="Text 23"/>
          <p:cNvSpPr/>
          <p:nvPr/>
        </p:nvSpPr>
        <p:spPr>
          <a:xfrm>
            <a:off x="4480560" y="3310128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83,362  ·  88%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822960" y="3675888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AIS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1965960" y="3721608"/>
            <a:ext cx="1759306" cy="182880"/>
          </a:xfrm>
          <a:prstGeom prst="roundRect">
            <a:avLst>
              <a:gd name="adj" fmla="val 20000"/>
            </a:avLst>
          </a:prstGeom>
          <a:solidFill>
            <a:srgbClr val="1E8E86"/>
          </a:solidFill>
          <a:ln/>
        </p:spPr>
      </p:sp>
      <p:sp>
        <p:nvSpPr>
          <p:cNvPr id="28" name="Text 26"/>
          <p:cNvSpPr/>
          <p:nvPr/>
        </p:nvSpPr>
        <p:spPr>
          <a:xfrm>
            <a:off x="4480560" y="3675888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70,100  ·  74%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822960" y="4041648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1965960" y="4087368"/>
            <a:ext cx="1355141" cy="182880"/>
          </a:xfrm>
          <a:prstGeom prst="roundRect">
            <a:avLst>
              <a:gd name="adj" fmla="val 20000"/>
            </a:avLst>
          </a:prstGeom>
          <a:solidFill>
            <a:srgbClr val="3FB89F"/>
          </a:solidFill>
          <a:ln/>
        </p:spPr>
      </p:sp>
      <p:sp>
        <p:nvSpPr>
          <p:cNvPr id="31" name="Text 29"/>
          <p:cNvSpPr/>
          <p:nvPr/>
        </p:nvSpPr>
        <p:spPr>
          <a:xfrm>
            <a:off x="4480560" y="4041648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53,712  ·  57%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822960" y="4407408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in any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1965960" y="4453128"/>
            <a:ext cx="54864" cy="182880"/>
          </a:xfrm>
          <a:prstGeom prst="roundRect">
            <a:avLst>
              <a:gd name="adj" fmla="val 66667"/>
            </a:avLst>
          </a:prstGeom>
          <a:solidFill>
            <a:srgbClr val="8DA0B8"/>
          </a:solidFill>
          <a:ln/>
        </p:spPr>
      </p:sp>
      <p:sp>
        <p:nvSpPr>
          <p:cNvPr id="34" name="Text 32"/>
          <p:cNvSpPr/>
          <p:nvPr/>
        </p:nvSpPr>
        <p:spPr>
          <a:xfrm>
            <a:off x="4480560" y="4407408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794  ·  0.8%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6172200" y="2523744"/>
            <a:ext cx="5440680" cy="2304288"/>
          </a:xfrm>
          <a:prstGeom prst="roundRect">
            <a:avLst>
              <a:gd name="adj" fmla="val 3571"/>
            </a:avLst>
          </a:prstGeom>
          <a:solidFill>
            <a:srgbClr val="F1F4F9"/>
          </a:solidFill>
          <a:ln/>
        </p:spPr>
      </p:sp>
      <p:graphicFrame>
        <p:nvGraphicFramePr>
          <p:cNvPr id="36" name="Chart 0" descr=""/>
          <p:cNvGraphicFramePr/>
          <p:nvPr/>
        </p:nvGraphicFramePr>
        <p:xfrm>
          <a:off x="6291072" y="2615184"/>
          <a:ext cx="5230368" cy="2139696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7" name="Shape 34"/>
          <p:cNvSpPr/>
          <p:nvPr/>
        </p:nvSpPr>
        <p:spPr>
          <a:xfrm>
            <a:off x="548640" y="5010912"/>
            <a:ext cx="11064240" cy="1152144"/>
          </a:xfrm>
          <a:prstGeom prst="roundRect">
            <a:avLst>
              <a:gd name="adj" fmla="val 7143"/>
            </a:avLst>
          </a:prstGeom>
          <a:solidFill>
            <a:srgbClr val="0E1E3C"/>
          </a:solidFill>
          <a:ln/>
        </p:spPr>
      </p:sp>
      <p:sp>
        <p:nvSpPr>
          <p:cNvPr id="38" name="Text 35"/>
          <p:cNvSpPr/>
          <p:nvPr/>
        </p:nvSpPr>
        <p:spPr>
          <a:xfrm>
            <a:off x="914400" y="5175504"/>
            <a:ext cx="10332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80" kern="0" dirty="0">
                <a:solidFill>
                  <a:srgbClr val="5FD6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AIS BASE INFORMATION  ·  70.1K</a:t>
            </a:r>
            <a:endParaRPr lang="en-US" sz="1050" dirty="0"/>
          </a:p>
        </p:txBody>
      </p:sp>
      <p:sp>
        <p:nvSpPr>
          <p:cNvPr id="39" name="Text 36"/>
          <p:cNvSpPr/>
          <p:nvPr/>
        </p:nvSpPr>
        <p:spPr>
          <a:xfrm>
            <a:off x="914400" y="5413248"/>
            <a:ext cx="10332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5FD6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68% sit in the TRUE ecosystem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3D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(47,840) · </a:t>
            </a:r>
            <a:pPr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5FD6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61% carry the nano-loan flag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3D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(42,806) · </a:t>
            </a:r>
            <a:pPr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5FD6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66% have tenure of 5 years or more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3D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(46,441), against 11% at 0–1 years</a:t>
            </a:r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3D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 type splits 49% prepaid / 44% postpaid / 6% FBB, and 33,341 of the 70.1K — 47.6% — booked on 2 Aug alone.</a:t>
            </a:r>
            <a:endParaRPr lang="en-US" sz="1100" dirty="0"/>
          </a:p>
        </p:txBody>
      </p:sp>
      <p:sp>
        <p:nvSpPr>
          <p:cNvPr id="40" name="Text 37"/>
          <p:cNvSpPr/>
          <p:nvPr/>
        </p:nvSpPr>
        <p:spPr>
          <a:xfrm>
            <a:off x="548640" y="6291072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Lending_2026.08.07.pptx (Book Loan). DL and PL are not expanded anywhere in that deck. Cash-need and risk percentages are as printed; all others are computed from its own counts and reconcile to 94,371 and 70,100. Consortium bases overlap, so they sum past 100%. AIS-base figures cover the 70.1K AIS base only, not the whole book.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Book Loan - summary as of 5 Aug</dc:title>
  <dc:subject>PptxGenJS Presentation</dc:subject>
  <dc:creator>Lending</dc:creator>
  <cp:lastModifiedBy>Lending</cp:lastModifiedBy>
  <cp:revision>1</cp:revision>
  <dcterms:created xsi:type="dcterms:W3CDTF">2026-08-07T08:45:58Z</dcterms:created>
  <dcterms:modified xsi:type="dcterms:W3CDTF">2026-08-07T08:45:58Z</dcterms:modified>
</cp:coreProperties>
</file>
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Bookings by book date (customers)</a:t>
            </a:r>
          </a:p>
        </c:rich>
      </c:tx>
      <c:layout/>
      <c:overlay val="0"/>
    </c:title>
    <c:autoTitleDeleted val="0"/>
    <c:plotArea>
      <c:layout/>
      <c:barChart>
        <c:barDir val="col"/>
        <c:grouping val="clustered"/>
        <c:varyColors val="0"/>
        <c:ser>
          <c:idx val="0"/>
          <c:order val="0"/>
          <c:tx>
            <c:strRef>
              <c:f>Sheet1!$B$1</c:f>
              <c:strCache>
                <c:ptCount val="1"/>
                <c:pt idx="0">
                  <c:v>DL</c:v>
                </c:pt>
              </c:strCache>
            </c:strRef>
          </c:tx>
          <c:spPr>
            <a:solidFill>
              <a:srgbClr val="165A73"/>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641</c:v>
                </c:pt>
                <c:pt idx="1">
                  <c:v>12182</c:v>
                </c:pt>
                <c:pt idx="2">
                  <c:v>32182</c:v>
                </c:pt>
                <c:pt idx="3">
                  <c:v>2060</c:v>
                </c:pt>
                <c:pt idx="4">
                  <c:v>7173</c:v>
                </c:pt>
                <c:pt idx="5">
                  <c:v>9522</c:v>
                </c:pt>
              </c:numCache>
            </c:numRef>
          </c:val>
        </c:ser>
        <c:ser>
          <c:idx val="1"/>
          <c:order val="1"/>
          <c:tx>
            <c:strRef>
              <c:f>Sheet1!$C$1</c:f>
              <c:strCache>
                <c:ptCount val="1"/>
                <c:pt idx="0">
                  <c:v>PL</c:v>
                </c:pt>
              </c:strCache>
            </c:strRef>
          </c:tx>
          <c:spPr>
            <a:solidFill>
              <a:srgbClr val="3FB89F"/>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67</c:v>
                </c:pt>
                <c:pt idx="1">
                  <c:v>398</c:v>
                </c:pt>
                <c:pt idx="2">
                  <c:v>1159</c:v>
                </c:pt>
                <c:pt idx="3">
                  <c:v>90</c:v>
                </c:pt>
                <c:pt idx="4">
                  <c:v>371</c:v>
                </c:pt>
                <c:pt idx="5">
                  <c:v>4255</c:v>
                </c:pt>
              </c:numCache>
            </c:numRef>
          </c:val>
        </c:ser>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36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37.1</c:v>
                </c:pt>
                <c:pt idx="1">
                  <c:v>35.2</c:v>
                </c:pt>
                <c:pt idx="2">
                  <c:v>38</c:v>
                </c:pt>
                <c:pt idx="3">
                  <c:v>36.8</c:v>
                </c:pt>
                <c:pt idx="4">
                  <c:v>39.6</c:v>
                </c:pt>
                <c:pt idx="5">
                  <c:v>44.7</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62.9</c:v>
                </c:pt>
                <c:pt idx="1">
                  <c:v>64.8</c:v>
                </c:pt>
                <c:pt idx="2">
                  <c:v>62</c:v>
                </c:pt>
                <c:pt idx="3">
                  <c:v>63.2</c:v>
                </c:pt>
                <c:pt idx="4">
                  <c:v>60.4</c:v>
                </c:pt>
                <c:pt idx="5">
                  <c:v>55.3</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18.1</c:v>
                </c:pt>
                <c:pt idx="1">
                  <c:v>29.7</c:v>
                </c:pt>
                <c:pt idx="2">
                  <c:v>31.9</c:v>
                </c:pt>
                <c:pt idx="3">
                  <c:v>31.3</c:v>
                </c:pt>
                <c:pt idx="4">
                  <c:v>32.7</c:v>
                </c:pt>
                <c:pt idx="5">
                  <c:v>33.4</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81.9</c:v>
                </c:pt>
                <c:pt idx="1">
                  <c:v>70.3</c:v>
                </c:pt>
                <c:pt idx="2">
                  <c:v>68.1</c:v>
                </c:pt>
                <c:pt idx="3">
                  <c:v>68.7</c:v>
                </c:pt>
                <c:pt idx="4">
                  <c:v>67.3</c:v>
                </c:pt>
                <c:pt idx="5">
                  <c:v>66.6</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by book date (% of customers)</a:t>
            </a:r>
          </a:p>
        </c:rich>
      </c:tx>
      <c:layout/>
      <c:overlay val="0"/>
    </c:title>
    <c:autoTitleDeleted val="0"/>
    <c:plotArea>
      <c:layout/>
      <c:barChart>
        <c:barDir val="col"/>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3.8</c:v>
                </c:pt>
                <c:pt idx="1">
                  <c:v>6.9</c:v>
                </c:pt>
                <c:pt idx="2">
                  <c:v>6.9</c:v>
                </c:pt>
                <c:pt idx="3">
                  <c:v>7.6</c:v>
                </c:pt>
                <c:pt idx="4">
                  <c:v>6.9</c:v>
                </c:pt>
                <c:pt idx="5">
                  <c:v>4.9</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17.5</c:v>
                </c:pt>
                <c:pt idx="1">
                  <c:v>46.4</c:v>
                </c:pt>
                <c:pt idx="2">
                  <c:v>49.4</c:v>
                </c:pt>
                <c:pt idx="3">
                  <c:v>47.9</c:v>
                </c:pt>
                <c:pt idx="4">
                  <c:v>47.9</c:v>
                </c:pt>
                <c:pt idx="5">
                  <c:v>55</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78.7</c:v>
                </c:pt>
                <c:pt idx="1">
                  <c:v>46.7</c:v>
                </c:pt>
                <c:pt idx="2">
                  <c:v>43.8</c:v>
                </c:pt>
                <c:pt idx="3">
                  <c:v>44.5</c:v>
                </c:pt>
                <c:pt idx="4">
                  <c:v>45.1</c:v>
                </c:pt>
                <c:pt idx="5">
                  <c:v>40.1</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by book date (% of customers)</a:t>
            </a:r>
          </a:p>
        </c:rich>
      </c:tx>
      <c:layout/>
      <c:overlay val="0"/>
    </c:title>
    <c:autoTitleDeleted val="0"/>
    <c:plotArea>
      <c:layout/>
      <c:barChart>
        <c:barDir val="col"/>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4.4</c:v>
                </c:pt>
                <c:pt idx="1">
                  <c:v>11.6</c:v>
                </c:pt>
                <c:pt idx="2">
                  <c:v>11.6</c:v>
                </c:pt>
                <c:pt idx="3">
                  <c:v>10.9</c:v>
                </c:pt>
                <c:pt idx="4">
                  <c:v>10.5</c:v>
                </c:pt>
                <c:pt idx="5">
                  <c:v>9.7</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14.7</c:v>
                </c:pt>
                <c:pt idx="1">
                  <c:v>22.7</c:v>
                </c:pt>
                <c:pt idx="2">
                  <c:v>23.3</c:v>
                </c:pt>
                <c:pt idx="3">
                  <c:v>23.1</c:v>
                </c:pt>
                <c:pt idx="4">
                  <c:v>22.7</c:v>
                </c:pt>
                <c:pt idx="5">
                  <c:v>21.9</c:v>
                </c:pt>
              </c:numCache>
            </c:numRef>
          </c:val>
        </c:ser>
        <c:ser>
          <c:idx val="2"/>
          <c:order val="2"/>
          <c:tx>
            <c:strRef>
              <c:f>Sheet1!$D$1</c:f>
              <c:strCache>
                <c:ptCount val="1"/>
                <c:pt idx="0">
                  <c:v>5 or more</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80.9</c:v>
                </c:pt>
                <c:pt idx="1">
                  <c:v>65.7</c:v>
                </c:pt>
                <c:pt idx="2">
                  <c:v>65.1</c:v>
                </c:pt>
                <c:pt idx="3">
                  <c:v>66</c:v>
                </c:pt>
                <c:pt idx="4">
                  <c:v>66.8</c:v>
                </c:pt>
                <c:pt idx="5">
                  <c:v>68.4</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Aug alone accounts for 33,341 of the 70,100 AIS bookings (47.6%). PL is back-loaded: 4,255 of its 6,340 bookings (67%) land on 5 Aug. Nano-loan Y falls from 64.8% on 1 Aug to 55.3% on 5 Aug, a 9.5 point drop, and the PL surge on 5 Aug is part of why - PL runs a lower nano share than DL. TRUE Y drifts down more gently, 70.3% to 66.6%. Charge type and tenure are effectively flat across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Completes the by-book-date view: charge type and tenure alongside the nano-loan flag and TRUE on slide 3. From 1 Aug onward prepaid runs 46.4, 49.4, 47.9, 47.9, 55.0 and tenure 5+ years runs 65.7, 65.1, 66.0, 66.8, 68.4 - spreads of 8.6 and 3.3 points against 9.5 for the nano-loan flag. The 5 Aug prepaid uptick coincides with the PL surge, and PL runs a higher prepaid share than DL (56.0% vs 48.8%).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Nearly half the base booked on 2 August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PL arrives almost entirely on 5 Aug, and each later cohort is a little less nano-loan — the flag falls 9.5 points from 1 to 5 Aug.</a:t>
            </a:r>
            <a:endParaRPr lang="en-US" sz="1250" dirty="0"/>
          </a:p>
        </p:txBody>
      </p:sp>
      <p:sp>
        <p:nvSpPr>
          <p:cNvPr id="5" name="Shape 3"/>
          <p:cNvSpPr/>
          <p:nvPr/>
        </p:nvSpPr>
        <p:spPr>
          <a:xfrm>
            <a:off x="548640" y="1426464"/>
            <a:ext cx="11064240" cy="2139696"/>
          </a:xfrm>
          <a:prstGeom prst="roundRect">
            <a:avLst>
              <a:gd name="adj" fmla="val 3846"/>
            </a:avLst>
          </a:prstGeom>
          <a:solidFill>
            <a:srgbClr val="F1F4F9"/>
          </a:solidFill>
          <a:ln/>
        </p:spPr>
      </p:sp>
      <p:graphicFrame>
        <p:nvGraphicFramePr>
          <p:cNvPr id="6" name="Chart 0" descr=""/>
          <p:cNvGraphicFramePr/>
          <p:nvPr/>
        </p:nvGraphicFramePr>
        <p:xfrm>
          <a:off x="658368" y="1517904"/>
          <a:ext cx="10844784" cy="195681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3712464"/>
            <a:ext cx="5440680" cy="2249424"/>
          </a:xfrm>
          <a:prstGeom prst="roundRect">
            <a:avLst>
              <a:gd name="adj" fmla="val 3659"/>
            </a:avLst>
          </a:prstGeom>
          <a:solidFill>
            <a:srgbClr val="F1F4F9"/>
          </a:solidFill>
          <a:ln/>
        </p:spPr>
      </p:sp>
      <p:graphicFrame>
        <p:nvGraphicFramePr>
          <p:cNvPr id="8" name="Chart 1" descr=""/>
          <p:cNvGraphicFramePr/>
          <p:nvPr/>
        </p:nvGraphicFramePr>
        <p:xfrm>
          <a:off x="658368" y="3803904"/>
          <a:ext cx="5221224" cy="2066544"/>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3712464"/>
            <a:ext cx="5440680" cy="2249424"/>
          </a:xfrm>
          <a:prstGeom prst="roundRect">
            <a:avLst>
              <a:gd name="adj" fmla="val 3659"/>
            </a:avLst>
          </a:prstGeom>
          <a:solidFill>
            <a:srgbClr val="F1F4F9"/>
          </a:solidFill>
          <a:ln/>
        </p:spPr>
      </p:sp>
      <p:graphicFrame>
        <p:nvGraphicFramePr>
          <p:cNvPr id="10" name="Chart 2" descr=""/>
          <p:cNvGraphicFramePr/>
          <p:nvPr/>
        </p:nvGraphicFramePr>
        <p:xfrm>
          <a:off x="6281928" y="3803904"/>
          <a:ext cx="5221224" cy="2066544"/>
        </p:xfrm>
        <a:graphic xmlns:a="http://schemas.openxmlformats.org/drawingml/2006/main">
          <a:graphicData uri="http://schemas.openxmlformats.org/drawingml/2006/chart">
            <c:chart xmlns:c="http://schemas.openxmlformats.org/drawingml/2006/chart" r:id="rId3"/>
          </a:graphicData>
        </a:graphic>
      </p:graphicFrame>
      <p:sp>
        <p:nvSpPr>
          <p:cNvPr id="11" name="Text 6"/>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AIS Base Information slides. Volumes are the grand totals per book date; the two mixes combine DL and PL. 'bef 1 Aug' holds only 708 customers, so its mix is a small-sample outlier. Charge type and tenure move far less across the same window and are charted on the next slide.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Charge type and tenure hold steady</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Unlike the nano-loan flag, these two barely move from 1 Aug onward — only the small pre-August cohort looks different.</a:t>
            </a:r>
            <a:endParaRPr lang="en-US" sz="1250" dirty="0"/>
          </a:p>
        </p:txBody>
      </p:sp>
      <p:sp>
        <p:nvSpPr>
          <p:cNvPr id="5" name="Shape 3"/>
          <p:cNvSpPr/>
          <p:nvPr/>
        </p:nvSpPr>
        <p:spPr>
          <a:xfrm>
            <a:off x="548640" y="1444752"/>
            <a:ext cx="5440680" cy="3127248"/>
          </a:xfrm>
          <a:prstGeom prst="roundRect">
            <a:avLst>
              <a:gd name="adj" fmla="val 2632"/>
            </a:avLst>
          </a:prstGeom>
          <a:solidFill>
            <a:srgbClr val="F1F4F9"/>
          </a:solidFill>
          <a:ln/>
        </p:spPr>
      </p:sp>
      <p:graphicFrame>
        <p:nvGraphicFramePr>
          <p:cNvPr id="6" name="Chart 0" descr=""/>
          <p:cNvGraphicFramePr/>
          <p:nvPr/>
        </p:nvGraphicFramePr>
        <p:xfrm>
          <a:off x="658368" y="1536192"/>
          <a:ext cx="5221224" cy="294436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3127248"/>
          </a:xfrm>
          <a:prstGeom prst="roundRect">
            <a:avLst>
              <a:gd name="adj" fmla="val 2632"/>
            </a:avLst>
          </a:prstGeom>
          <a:solidFill>
            <a:srgbClr val="F1F4F9"/>
          </a:solidFill>
          <a:ln/>
        </p:spPr>
      </p:sp>
      <p:graphicFrame>
        <p:nvGraphicFramePr>
          <p:cNvPr id="8" name="Chart 1" descr=""/>
          <p:cNvGraphicFramePr/>
          <p:nvPr/>
        </p:nvGraphicFramePr>
        <p:xfrm>
          <a:off x="6281928" y="1536192"/>
          <a:ext cx="5221224" cy="294436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4754880"/>
            <a:ext cx="11064240" cy="1188720"/>
          </a:xfrm>
          <a:prstGeom prst="roundRect">
            <a:avLst>
              <a:gd name="adj" fmla="val 6923"/>
            </a:avLst>
          </a:prstGeom>
          <a:solidFill>
            <a:srgbClr val="0E1E3C"/>
          </a:solidFill>
          <a:ln/>
        </p:spPr>
      </p:sp>
      <p:sp>
        <p:nvSpPr>
          <p:cNvPr id="10" name="Text 6"/>
          <p:cNvSpPr/>
          <p:nvPr/>
        </p:nvSpPr>
        <p:spPr>
          <a:xfrm>
            <a:off x="914400" y="4919472"/>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HOW MUCH EACH MIX MOVES, 1 AUG TO 5 AUG</a:t>
            </a:r>
            <a:endParaRPr lang="en-US" sz="1050" dirty="0"/>
          </a:p>
        </p:txBody>
      </p:sp>
      <p:sp>
        <p:nvSpPr>
          <p:cNvPr id="11" name="Text 7"/>
          <p:cNvSpPr/>
          <p:nvPr/>
        </p:nvSpPr>
        <p:spPr>
          <a:xfrm>
            <a:off x="914400" y="5175504"/>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Prepaid 46–55% (8.6pt) · Tenure 5+ years 65–68% (3.3pt)</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 against the nano-loan flag's 9.5pt slide on the previous slide. Charge type drifts toward prepaid on 5 Aug, tracking the PL surge; tenure is flat throughout.</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The pre-1-Aug cohort is the exception — 79% postpaid, 81% long-tenured — but holds just 708 of the 70,100 customers.</a:t>
            </a:r>
            <a:endParaRPr lang="en-US" sz="1100" dirty="0"/>
          </a:p>
        </p:txBody>
      </p:sp>
      <p:sp>
        <p:nvSpPr>
          <p:cNvPr id="12" name="Text 8"/>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charge type and tenure AIS Base Information slides, DL and PL combined and aggregated to each book date. Percentages are computed from the deck's own counts; each date column sums to that date's grand total, and the six together sum to 70,100.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2026-08-07T12:55:21Z</dcterms:created>
  <dcterms:modified xsi:type="dcterms:W3CDTF">2026-08-07T12:55:21Z</dcterms:modified>
</cp:coreProperties>
</file>
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Bookings by book date (customers)</a:t>
            </a:r>
          </a:p>
        </c:rich>
      </c:tx>
      <c:layout/>
      <c:overlay val="0"/>
    </c:title>
    <c:autoTitleDeleted val="0"/>
    <c:plotArea>
      <c:layout/>
      <c:barChart>
        <c:barDir val="col"/>
        <c:grouping val="clustered"/>
        <c:varyColors val="0"/>
        <c:ser>
          <c:idx val="0"/>
          <c:order val="0"/>
          <c:tx>
            <c:strRef>
              <c:f>Sheet1!$B$1</c:f>
              <c:strCache>
                <c:ptCount val="1"/>
                <c:pt idx="0">
                  <c:v>DL</c:v>
                </c:pt>
              </c:strCache>
            </c:strRef>
          </c:tx>
          <c:spPr>
            <a:solidFill>
              <a:srgbClr val="165A73"/>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641</c:v>
                </c:pt>
                <c:pt idx="1">
                  <c:v>12182</c:v>
                </c:pt>
                <c:pt idx="2">
                  <c:v>32182</c:v>
                </c:pt>
                <c:pt idx="3">
                  <c:v>2060</c:v>
                </c:pt>
                <c:pt idx="4">
                  <c:v>7173</c:v>
                </c:pt>
                <c:pt idx="5">
                  <c:v>9522</c:v>
                </c:pt>
              </c:numCache>
            </c:numRef>
          </c:val>
        </c:ser>
        <c:ser>
          <c:idx val="1"/>
          <c:order val="1"/>
          <c:tx>
            <c:strRef>
              <c:f>Sheet1!$C$1</c:f>
              <c:strCache>
                <c:ptCount val="1"/>
                <c:pt idx="0">
                  <c:v>PL</c:v>
                </c:pt>
              </c:strCache>
            </c:strRef>
          </c:tx>
          <c:spPr>
            <a:solidFill>
              <a:srgbClr val="3FB89F"/>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67</c:v>
                </c:pt>
                <c:pt idx="1">
                  <c:v>398</c:v>
                </c:pt>
                <c:pt idx="2">
                  <c:v>1159</c:v>
                </c:pt>
                <c:pt idx="3">
                  <c:v>90</c:v>
                </c:pt>
                <c:pt idx="4">
                  <c:v>371</c:v>
                </c:pt>
                <c:pt idx="5">
                  <c:v>4255</c:v>
                </c:pt>
              </c:numCache>
            </c:numRef>
          </c:val>
        </c:ser>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36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37.1</c:v>
                </c:pt>
                <c:pt idx="1">
                  <c:v>35.2</c:v>
                </c:pt>
                <c:pt idx="2">
                  <c:v>38</c:v>
                </c:pt>
                <c:pt idx="3">
                  <c:v>36.8</c:v>
                </c:pt>
                <c:pt idx="4">
                  <c:v>39.6</c:v>
                </c:pt>
                <c:pt idx="5">
                  <c:v>44.7</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62.9</c:v>
                </c:pt>
                <c:pt idx="1">
                  <c:v>64.8</c:v>
                </c:pt>
                <c:pt idx="2">
                  <c:v>62</c:v>
                </c:pt>
                <c:pt idx="3">
                  <c:v>63.2</c:v>
                </c:pt>
                <c:pt idx="4">
                  <c:v>60.4</c:v>
                </c:pt>
                <c:pt idx="5">
                  <c:v>55.3</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18.1</c:v>
                </c:pt>
                <c:pt idx="1">
                  <c:v>29.7</c:v>
                </c:pt>
                <c:pt idx="2">
                  <c:v>31.9</c:v>
                </c:pt>
                <c:pt idx="3">
                  <c:v>31.3</c:v>
                </c:pt>
                <c:pt idx="4">
                  <c:v>32.7</c:v>
                </c:pt>
                <c:pt idx="5">
                  <c:v>33.4</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81.9</c:v>
                </c:pt>
                <c:pt idx="1">
                  <c:v>70.3</c:v>
                </c:pt>
                <c:pt idx="2">
                  <c:v>68.1</c:v>
                </c:pt>
                <c:pt idx="3">
                  <c:v>68.7</c:v>
                </c:pt>
                <c:pt idx="4">
                  <c:v>67.3</c:v>
                </c:pt>
                <c:pt idx="5">
                  <c:v>66.6</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by book date (% of customers)</a:t>
            </a:r>
          </a:p>
        </c:rich>
      </c:tx>
      <c:layout/>
      <c:overlay val="0"/>
    </c:title>
    <c:autoTitleDeleted val="0"/>
    <c:plotArea>
      <c:layout/>
      <c:barChart>
        <c:barDir val="col"/>
        <c:grouping val="percentStacked"/>
        <c:varyColors val="0"/>
        <c:ser>
          <c:idx val="0"/>
          <c:order val="0"/>
          <c:tx>
            <c:strRef>
              <c:f>Sheet1!$B$1</c:f>
              <c:strCache>
                <c:ptCount val="1"/>
                <c:pt idx="0">
                  <c:v>FBB</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3.8</c:v>
                </c:pt>
                <c:pt idx="1">
                  <c:v>6.9</c:v>
                </c:pt>
                <c:pt idx="2">
                  <c:v>6.9</c:v>
                </c:pt>
                <c:pt idx="3">
                  <c:v>7.6</c:v>
                </c:pt>
                <c:pt idx="4">
                  <c:v>6.9</c:v>
                </c:pt>
                <c:pt idx="5">
                  <c:v>4.9</c:v>
                </c:pt>
              </c:numCache>
            </c:numRef>
          </c:val>
        </c:ser>
        <c:ser>
          <c:idx val="1"/>
          <c:order val="1"/>
          <c:tx>
            <c:strRef>
              <c:f>Sheet1!$C$1</c:f>
              <c:strCache>
                <c:ptCount val="1"/>
                <c:pt idx="0">
                  <c:v>Prepaid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17.5</c:v>
                </c:pt>
                <c:pt idx="1">
                  <c:v>46.4</c:v>
                </c:pt>
                <c:pt idx="2">
                  <c:v>49.4</c:v>
                </c:pt>
                <c:pt idx="3">
                  <c:v>47.9</c:v>
                </c:pt>
                <c:pt idx="4">
                  <c:v>47.9</c:v>
                </c:pt>
                <c:pt idx="5">
                  <c:v>55</c:v>
                </c:pt>
              </c:numCache>
            </c:numRef>
          </c:val>
        </c:ser>
        <c:ser>
          <c:idx val="2"/>
          <c:order val="2"/>
          <c:tx>
            <c:strRef>
              <c:f>Sheet1!$D$1</c:f>
              <c:strCache>
                <c:ptCount val="1"/>
                <c:pt idx="0">
                  <c:v>Postpaid</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78.7</c:v>
                </c:pt>
                <c:pt idx="1">
                  <c:v>46.7</c:v>
                </c:pt>
                <c:pt idx="2">
                  <c:v>43.8</c:v>
                </c:pt>
                <c:pt idx="3">
                  <c:v>44.5</c:v>
                </c:pt>
                <c:pt idx="4">
                  <c:v>45.1</c:v>
                </c:pt>
                <c:pt idx="5">
                  <c:v>40.1</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by book date (% of customers)</a:t>
            </a:r>
          </a:p>
        </c:rich>
      </c:tx>
      <c:layout/>
      <c:overlay val="0"/>
    </c:title>
    <c:autoTitleDeleted val="0"/>
    <c:plotArea>
      <c:layout/>
      <c:barChart>
        <c:barDir val="col"/>
        <c:grouping val="percentStacked"/>
        <c:varyColors val="0"/>
        <c:ser>
          <c:idx val="0"/>
          <c:order val="0"/>
          <c:tx>
            <c:strRef>
              <c:f>Sheet1!$B$1</c:f>
              <c:strCache>
                <c:ptCount val="1"/>
                <c:pt idx="0">
                  <c:v>0–1</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4.4</c:v>
                </c:pt>
                <c:pt idx="1">
                  <c:v>11.6</c:v>
                </c:pt>
                <c:pt idx="2">
                  <c:v>11.6</c:v>
                </c:pt>
                <c:pt idx="3">
                  <c:v>10.9</c:v>
                </c:pt>
                <c:pt idx="4">
                  <c:v>10.5</c:v>
                </c:pt>
                <c:pt idx="5">
                  <c:v>9.7</c:v>
                </c:pt>
              </c:numCache>
            </c:numRef>
          </c:val>
        </c:ser>
        <c:ser>
          <c:idx val="1"/>
          <c:order val="1"/>
          <c:tx>
            <c:strRef>
              <c:f>Sheet1!$C$1</c:f>
              <c:strCache>
                <c:ptCount val="1"/>
                <c:pt idx="0">
                  <c:v>2–4</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14.7</c:v>
                </c:pt>
                <c:pt idx="1">
                  <c:v>22.7</c:v>
                </c:pt>
                <c:pt idx="2">
                  <c:v>23.3</c:v>
                </c:pt>
                <c:pt idx="3">
                  <c:v>23.1</c:v>
                </c:pt>
                <c:pt idx="4">
                  <c:v>22.7</c:v>
                </c:pt>
                <c:pt idx="5">
                  <c:v>21.9</c:v>
                </c:pt>
              </c:numCache>
            </c:numRef>
          </c:val>
        </c:ser>
        <c:ser>
          <c:idx val="2"/>
          <c:order val="2"/>
          <c:tx>
            <c:strRef>
              <c:f>Sheet1!$D$1</c:f>
              <c:strCache>
                <c:ptCount val="1"/>
                <c:pt idx="0">
                  <c:v>5 or more</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Sheet1!$D$2:$D$7</c:f>
              <c:numCache>
                <c:formatCode>General</c:formatCode>
                <c:ptCount val="6"/>
                <c:pt idx="0">
                  <c:v>80.9</c:v>
                </c:pt>
                <c:pt idx="1">
                  <c:v>65.7</c:v>
                </c:pt>
                <c:pt idx="2">
                  <c:v>65.1</c:v>
                </c:pt>
                <c:pt idx="3">
                  <c:v>66</c:v>
                </c:pt>
                <c:pt idx="4">
                  <c:v>66.8</c:v>
                </c:pt>
                <c:pt idx="5">
                  <c:v>68.4</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Aug alone accounts for 33,341 of the 70,100 AIS bookings (47.6%). PL is back-loaded: 4,255 of its 6,340 bookings (67%) land on 5 Aug. Nano-loan Y falls from 64.8% on 1 Aug to 55.3% on 5 Aug, a 9.5 point drop, and the PL surge on 5 Aug is part of why - PL runs a lower nano share than DL. TRUE Y drifts down more gently, 70.3% to 66.6%. Charge type and tenure are effectively flat across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Completes the by-book-date view: charge type and tenure alongside the nano-loan flag and TRUE on slide 3. From 1 Aug onward prepaid runs 46.4, 49.4, 47.9, 47.9, 55.0 and tenure 5+ years runs 65.7, 65.1, 66.0, 66.8, 68.4 - spreads of 8.6 and 3.3 points against 9.5 for the nano-loan flag. The 5 Aug prepaid uptick coincides with the PL surge, and PL runs a higher prepaid share than DL (56.0% vs 48.8%).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membership column is an inference that checks out four ways: A1+A1_o+J+J_O = 70,100 (AIS), K1+K1_O+J+J_O = 83,362 (KTB), O1+A1_o+K1_O+J_O = 53,712 (OR), and Null = 794. J and J_O together hold 61,771 customers (65.5%) and 696.5M of credit line (63.8%).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DL/PL utilisation gap is the story: DL draws 61.9% of its line, PL only 55.2%. High cash need holds 691.7M of the 1,092.3M credit line across both loan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Postpaid customers carry a materially larger line each than prepaid customers, which is why the customer and value rankings invert.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Nano flag Y: 42,806 customers and 503.8M of credit line. Broadly proportional, so the flag does not by itself mark a larger-line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TRUE Y: 47,840 customers (68.2%) holding 573.3M of credit line (71.5%) - a few points more than their headcount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tenure earns a bigger line: 5+ years is 66.2% of customers but 71.0% of credit line, while 0-1 years is 11.0% of customers and only 9.0% of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Nearly half the base booked on 2 August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PL arrives almost entirely on 5 Aug, and each later cohort is a little less nano-loan — the flag falls 9.5 points from 1 to 5 Aug.</a:t>
            </a:r>
            <a:endParaRPr lang="en-US" sz="1250" dirty="0"/>
          </a:p>
        </p:txBody>
      </p:sp>
      <p:sp>
        <p:nvSpPr>
          <p:cNvPr id="5" name="Shape 3"/>
          <p:cNvSpPr/>
          <p:nvPr/>
        </p:nvSpPr>
        <p:spPr>
          <a:xfrm>
            <a:off x="548640" y="1426464"/>
            <a:ext cx="11064240" cy="2139696"/>
          </a:xfrm>
          <a:prstGeom prst="roundRect">
            <a:avLst>
              <a:gd name="adj" fmla="val 3846"/>
            </a:avLst>
          </a:prstGeom>
          <a:solidFill>
            <a:srgbClr val="F1F4F9"/>
          </a:solidFill>
          <a:ln/>
        </p:spPr>
      </p:sp>
      <p:graphicFrame>
        <p:nvGraphicFramePr>
          <p:cNvPr id="6" name="Chart 0" descr=""/>
          <p:cNvGraphicFramePr/>
          <p:nvPr/>
        </p:nvGraphicFramePr>
        <p:xfrm>
          <a:off x="658368" y="1517904"/>
          <a:ext cx="10844784" cy="195681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3712464"/>
            <a:ext cx="5440680" cy="2249424"/>
          </a:xfrm>
          <a:prstGeom prst="roundRect">
            <a:avLst>
              <a:gd name="adj" fmla="val 3659"/>
            </a:avLst>
          </a:prstGeom>
          <a:solidFill>
            <a:srgbClr val="F1F4F9"/>
          </a:solidFill>
          <a:ln/>
        </p:spPr>
      </p:sp>
      <p:graphicFrame>
        <p:nvGraphicFramePr>
          <p:cNvPr id="8" name="Chart 1" descr=""/>
          <p:cNvGraphicFramePr/>
          <p:nvPr/>
        </p:nvGraphicFramePr>
        <p:xfrm>
          <a:off x="658368" y="3803904"/>
          <a:ext cx="5221224" cy="2066544"/>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3712464"/>
            <a:ext cx="5440680" cy="2249424"/>
          </a:xfrm>
          <a:prstGeom prst="roundRect">
            <a:avLst>
              <a:gd name="adj" fmla="val 3659"/>
            </a:avLst>
          </a:prstGeom>
          <a:solidFill>
            <a:srgbClr val="F1F4F9"/>
          </a:solidFill>
          <a:ln/>
        </p:spPr>
      </p:sp>
      <p:graphicFrame>
        <p:nvGraphicFramePr>
          <p:cNvPr id="10" name="Chart 2" descr=""/>
          <p:cNvGraphicFramePr/>
          <p:nvPr/>
        </p:nvGraphicFramePr>
        <p:xfrm>
          <a:off x="6281928" y="3803904"/>
          <a:ext cx="5221224" cy="2066544"/>
        </p:xfrm>
        <a:graphic xmlns:a="http://schemas.openxmlformats.org/drawingml/2006/main">
          <a:graphicData uri="http://schemas.openxmlformats.org/drawingml/2006/chart">
            <c:chart xmlns:c="http://schemas.openxmlformats.org/drawingml/2006/chart" r:id="rId3"/>
          </a:graphicData>
        </a:graphic>
      </p:graphicFrame>
      <p:sp>
        <p:nvSpPr>
          <p:cNvPr id="11" name="Text 6"/>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AIS Base Information slides. Volumes are the grand totals per book date; the two mixes combine DL and PL. 'bef 1 Aug' holds only 708 customers, so its mix is a small-sample outlier. Charge type and tenure move far less across the same window and are charted on the next slide.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Charge type and tenure hold steady</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Unlike the nano-loan flag, these two barely move from 1 Aug onward — only the small pre-August cohort looks different.</a:t>
            </a:r>
            <a:endParaRPr lang="en-US" sz="1250" dirty="0"/>
          </a:p>
        </p:txBody>
      </p:sp>
      <p:sp>
        <p:nvSpPr>
          <p:cNvPr id="5" name="Shape 3"/>
          <p:cNvSpPr/>
          <p:nvPr/>
        </p:nvSpPr>
        <p:spPr>
          <a:xfrm>
            <a:off x="548640" y="1444752"/>
            <a:ext cx="5440680" cy="3127248"/>
          </a:xfrm>
          <a:prstGeom prst="roundRect">
            <a:avLst>
              <a:gd name="adj" fmla="val 2632"/>
            </a:avLst>
          </a:prstGeom>
          <a:solidFill>
            <a:srgbClr val="F1F4F9"/>
          </a:solidFill>
          <a:ln/>
        </p:spPr>
      </p:sp>
      <p:graphicFrame>
        <p:nvGraphicFramePr>
          <p:cNvPr id="6" name="Chart 0" descr=""/>
          <p:cNvGraphicFramePr/>
          <p:nvPr/>
        </p:nvGraphicFramePr>
        <p:xfrm>
          <a:off x="658368" y="1536192"/>
          <a:ext cx="5221224" cy="2944368"/>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44752"/>
            <a:ext cx="5440680" cy="3127248"/>
          </a:xfrm>
          <a:prstGeom prst="roundRect">
            <a:avLst>
              <a:gd name="adj" fmla="val 2632"/>
            </a:avLst>
          </a:prstGeom>
          <a:solidFill>
            <a:srgbClr val="F1F4F9"/>
          </a:solidFill>
          <a:ln/>
        </p:spPr>
      </p:sp>
      <p:graphicFrame>
        <p:nvGraphicFramePr>
          <p:cNvPr id="8" name="Chart 1" descr=""/>
          <p:cNvGraphicFramePr/>
          <p:nvPr/>
        </p:nvGraphicFramePr>
        <p:xfrm>
          <a:off x="6281928" y="1536192"/>
          <a:ext cx="5221224" cy="2944368"/>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4754880"/>
            <a:ext cx="11064240" cy="1188720"/>
          </a:xfrm>
          <a:prstGeom prst="roundRect">
            <a:avLst>
              <a:gd name="adj" fmla="val 6923"/>
            </a:avLst>
          </a:prstGeom>
          <a:solidFill>
            <a:srgbClr val="0E1E3C"/>
          </a:solidFill>
          <a:ln/>
        </p:spPr>
      </p:sp>
      <p:sp>
        <p:nvSpPr>
          <p:cNvPr id="10" name="Text 6"/>
          <p:cNvSpPr/>
          <p:nvPr/>
        </p:nvSpPr>
        <p:spPr>
          <a:xfrm>
            <a:off x="914400" y="4919472"/>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HOW MUCH EACH MIX MOVES, 1 AUG TO 5 AUG</a:t>
            </a:r>
            <a:endParaRPr lang="en-US" sz="1050" dirty="0"/>
          </a:p>
        </p:txBody>
      </p:sp>
      <p:sp>
        <p:nvSpPr>
          <p:cNvPr id="11" name="Text 7"/>
          <p:cNvSpPr/>
          <p:nvPr/>
        </p:nvSpPr>
        <p:spPr>
          <a:xfrm>
            <a:off x="914400" y="5175504"/>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Prepaid 46–55% (8.6pt) · Tenure 5+ years 65–68% (3.3pt)</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 against the nano-loan flag's 9.5pt slide on the previous slide. Charge type drifts toward prepaid on 5 Aug, tracking the PL surge; tenure is flat throughout.</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The pre-1-Aug cohort is the exception — 79% postpaid, 81% long-tenured — but holds just 708 of the 70,100 customers.</a:t>
            </a:r>
            <a:endParaRPr lang="en-US" sz="1100" dirty="0"/>
          </a:p>
        </p:txBody>
      </p:sp>
      <p:sp>
        <p:nvSpPr>
          <p:cNvPr id="12" name="Text 8"/>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charge type and tenure AIS Base Information slides, DL and PL combined and aggregated to each book date. Percentages are computed from the deck's own counts; each date column sums to that date's grand total, and the six together sum to 70,100.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CUSTOMER BASE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Two-thirds of the book is dual AIS–KTB</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1,092.3M of credit line against 660.5M outstanding — 60.5% utilised, and strikingly even across every segment (55.9–64.2%).</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005840"/>
                <a:gridCol w="1874520"/>
                <a:gridCol w="1737360"/>
                <a:gridCol w="1737360"/>
                <a:gridCol w="914400"/>
                <a:gridCol w="1234440"/>
                <a:gridCol w="914400"/>
                <a:gridCol w="1645920"/>
              </a:tblGrid>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cust_base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Consortium membership</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Util.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of book</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CL / customer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Null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11,491,500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6,749,659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14,473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41,840,300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24,908,470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11,128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A1_o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63,096,500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35,296,729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4,569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13,810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304,195,500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184,286,596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10,066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J_O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AIS + 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392,348,700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231,780,882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31,550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12,436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78,572,200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49,176,842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5,884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13,354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K1_O</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KTB + OR</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177,595,900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114,041,841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15,707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11,307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O1</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OR only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23,121,400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14,302,687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1,886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8404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1,092,262,000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660,543,706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94,371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11,574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Consortium membership is inferred from the segment codes, not stated in the source: the groupings reproduce the deck's AIS 70,100, KTB 83,362, OR 53,712 and 'not in any' 794 exactly. Customers total 94,371, matching the stated total booked.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CASH NEED × RISK LEVEL · CREDIT LINE AND OUTSTANDING</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High cash need carries 63.3% of the credit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DL utilises 65.2% of its 780.7M line against PL's 48.7% of 311.6M — PL draws down far less of what it is granted.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88720"/>
                <a:gridCol w="1188720"/>
                <a:gridCol w="1737360"/>
                <a:gridCol w="1737360"/>
                <a:gridCol w="868680"/>
                <a:gridCol w="1737360"/>
                <a:gridCol w="1737360"/>
                <a:gridCol w="868680"/>
              </a:tblGrid>
              <a:tr h="263144">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Cash need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Risk level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util.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util.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11,983,600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8,238,267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14,757,400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7,769,577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3,271,107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835,745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24,014,000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16,026,728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9,135,100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4,001,179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55,865,100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38,585,789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24,106,700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12,625,699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14,901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24,877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18,426,000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10,070,451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17,457,900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5,990,323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9,133,700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6,085,909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7,235,600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3,526,646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8,415,500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6,138,039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3,563,042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194,500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165,770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49,995,500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26,676,998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35,343,900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13,095,678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31,107,100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18,682,132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15,963,300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6,258,536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37,212,300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25,664,076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17,543,600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9,399,903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Null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396,600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260,679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206,102,600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128,220,947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69,868,300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32,123,121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Mid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141,023,400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92,009,973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40,576,600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21,642,371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181,622,100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128,604,418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51,649,700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30,462,255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63144">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780,701,400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508,798,305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311,560,600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151,745,401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48.7%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Credit line and outstanding total 1,092,262,000 and 660,543,706, matching the customer-base table exactly. This table has no customer counts in the source, so utilisation is the only derived column.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CHARGE TYPE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Prepaid leads on customers, postpaid on value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Prepaid is 49.4% of customers but only 35.2% of credit line; postpaid is 44.1% of customers and 57.6% of the line.</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Charge type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249,200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136,407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687,400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392,234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482,151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469,700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227,690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4,460,774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6,038,900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1,677,047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8,635,800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6,555,154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699,795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5,630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34,110,300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26,130,318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3,807,000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2,767,110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73,797,800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52,025,828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4,334,200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3,107,189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16,248,189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2,055,900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1,210,055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91,515,700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65,578,262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15,516,300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11,084,011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181,461,200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119,074,354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11,809,300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6,807,854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1,512,700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1,110,920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322,039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6,286,900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4,611,637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1,136,061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12,312,500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8,459,232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1,076,500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717,866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5,310,200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3,053,924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1,133,200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797,760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21,080,200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12,562,414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6,899,900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4,028,159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3,274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44,479,500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22,963,082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6,926,700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2,658,434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FBB</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3,693,500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1,591,226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4,671,595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Prepaid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23,777,800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10,506,394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2,348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75,587,100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37,371,732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Postpaid</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3,850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34,881,400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12,215,652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76,526,900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28,830,128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NANO-LOAN FLAG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Nano flag: 61.1% of customers, 62.9% of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Credit line tracks headcount almost exactly, so the flag does not by itself mark a larger-line population.</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Nano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3,564,300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1,713,800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4,046,900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1,340,867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6,062,900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3,365,532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3,149,100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956,104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4,271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35,596,100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26,497,770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3,305,800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2,265,517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7,911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80,947,800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58,213,530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5,967,900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4,308,577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98,295,300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68,449,891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12,293,200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8,248,303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197,381,500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132,450,914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17,088,300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10,853,617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6,482,200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4,672,585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1,213,600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883,915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13,629,900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9,509,204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2,074,900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1,292,051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2,825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24,085,100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13,699,164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6,548,100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3,332,891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4,348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46,784,800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24,880,256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8,411,700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4,151,462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24,097,100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10,328,134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78,133,200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34,771,529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5,389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38,255,600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13,985,138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2,229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84,065,700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36,101,926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TRUE ECOSYSTEM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TRUE customers hold 71.5%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68.2% of customers, so TRUE membership skews toward the larger lines.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Book date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TRUE flag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customers</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credit line</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PL outstanding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703,026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1,040,500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550,376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bef 1 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8,217,600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4,376,306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6,155,500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1,746,595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3,618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29,172,100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21,910,280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3,025,700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2,124,876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1-Aug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8,564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87,371,800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62,801,020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6,248,000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4,449,218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10,249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80,685,800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57,662,508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401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9,374,100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6,867,826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2-Aug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21,933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214,991,000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143,238,297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758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20,007,400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12,234,094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633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5,351,100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3,829,251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1,409,900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861,946</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3-Aug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1,427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14,761,000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10,352,538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1,878,600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1,314,020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2,334</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19,149,900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11,052,852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130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5,046,300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2,989,981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4-Aug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4,839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51,720,000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27,526,568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241</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9,913,500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4,494,372</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3,115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17,758,600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7,689,769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1,490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54,715,800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26,227,070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5-Aug</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1100" dirty="0">
                          <a:solidFill>
                            <a:srgbClr val="16233D"/>
                          </a:solidFill>
                          <a:latin typeface="Calibri" pitchFamily="34" charset="0"/>
                          <a:ea typeface="Calibri" pitchFamily="34" charset="-122"/>
                          <a:cs typeface="Calibri" pitchFamily="34" charset="-120"/>
                        </a:rPr>
                        <a:t>Y</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6,407</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44,594,100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16,623,503</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2,765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107,483,100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1100" dirty="0">
                          <a:solidFill>
                            <a:srgbClr val="16233D"/>
                          </a:solidFill>
                          <a:latin typeface="Cambria" pitchFamily="34" charset="0"/>
                          <a:ea typeface="Cambria" pitchFamily="34" charset="-122"/>
                          <a:cs typeface="Cambria" pitchFamily="34" charset="-120"/>
                        </a:rPr>
                        <a:t>44,646,385</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338328">
                <a:tc>
                  <a:txBody>
                    <a:bodyPr/>
                    <a:lstStyle/>
                    <a:p>
                      <a:pPr algn="l" indent="0" marL="0">
                        <a:buNone/>
                      </a:pPr>
                      <a:r>
                        <a:rPr lang="en-US" sz="1100" b="1" dirty="0">
                          <a:solidFill>
                            <a:srgbClr val="16233D"/>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11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63,760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575,182,600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367,765,918</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6,340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226,298,400</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1100" b="1" dirty="0">
                          <a:solidFill>
                            <a:srgbClr val="16233D"/>
                          </a:solidFill>
                          <a:latin typeface="Cambria" pitchFamily="34" charset="0"/>
                          <a:ea typeface="Cambria" pitchFamily="34" charset="-122"/>
                          <a:cs typeface="Cambria" pitchFamily="34" charset="-120"/>
                        </a:rPr>
                        <a:t>108,506,759</a:t>
                      </a:r>
                      <a:endParaRPr lang="en-US" sz="11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TENURE BY BOOK DATE · AIS BASE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000" b="1" dirty="0">
                <a:solidFill>
                  <a:srgbClr val="16233D"/>
                </a:solidFill>
                <a:latin typeface="Cambria" pitchFamily="34" charset="0"/>
                <a:ea typeface="Cambria" pitchFamily="34" charset="-122"/>
                <a:cs typeface="Cambria" pitchFamily="34" charset="-120"/>
              </a:rPr>
              <a:t>5+ year tenure holds 71.0% of the line</a:t>
            </a:r>
            <a:endParaRPr lang="en-US" sz="30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00" dirty="0">
                <a:solidFill>
                  <a:srgbClr val="6B7A90"/>
                </a:solidFill>
                <a:latin typeface="Calibri" pitchFamily="34" charset="0"/>
                <a:ea typeface="Calibri" pitchFamily="34" charset="-122"/>
                <a:cs typeface="Calibri" pitchFamily="34" charset="-120"/>
              </a:rPr>
              <a:t>They are 66.2% of customers, while the 0–1 year cohort is 11.0% of customers and just 9.0% of the line.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1143000"/>
                <a:gridCol w="1234440"/>
                <a:gridCol w="1234440"/>
                <a:gridCol w="1737360"/>
                <a:gridCol w="1737360"/>
                <a:gridCol w="1234440"/>
                <a:gridCol w="1371600"/>
                <a:gridCol w="1371600"/>
              </a:tblGrid>
              <a:tr h="23683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Book date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Tenure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DL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customers</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credit line</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PL outstanding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E1E3C"/>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294,300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147,694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379,567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1,105,000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586,260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816,500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204,584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bef 1 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8,227,900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4,345,378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5,859,600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1,712,820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1,406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10,989,100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8,394,662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500,961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23,170,800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17,218,164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2,266,800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1,696,319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1-Aug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8,032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82,384,000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59,098,474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6,311,800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4,376,814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3,685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27,746,100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19,972,246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3,984,900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2,735,355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7,476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59,133,400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41,900,780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6,081,200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4,260,627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2-Aug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21,021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208,797,300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139,027,779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695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19,315,400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12,105,938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1,703,800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1,282,482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331,913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4,103,500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2,884,710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717,100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557,609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3-Aug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14,304,800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10,014,597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2,167,900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1,286,444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754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6,143,900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3,662,615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35</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1,044,300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504,223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1,639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14,243,700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8,361,181</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2,519,900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1,501,078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4-Aug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4,780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50,482,300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26,555,624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11,395,600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5,479,052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936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4,903,000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2,229,307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404</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13,653,400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7,082,546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2,030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11,682,500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4,802,102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988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34,795,400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15,779,602</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5-Aug</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l" indent="0" marL="0">
                        <a:buNone/>
                      </a:pPr>
                      <a:r>
                        <a:rPr lang="en-US" sz="900" dirty="0">
                          <a:solidFill>
                            <a:srgbClr val="16233D"/>
                          </a:solidFill>
                          <a:latin typeface="Calibri" pitchFamily="34" charset="0"/>
                          <a:ea typeface="Calibri" pitchFamily="34" charset="-122"/>
                          <a:cs typeface="Calibri" pitchFamily="34" charset="-120"/>
                        </a:rPr>
                        <a:t>&gt;=5</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6,556</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45,767,200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17,281,863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2,863</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113,750,100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00" dirty="0">
                          <a:solidFill>
                            <a:srgbClr val="16233D"/>
                          </a:solidFill>
                          <a:latin typeface="Cambria" pitchFamily="34" charset="0"/>
                          <a:ea typeface="Cambria" pitchFamily="34" charset="-122"/>
                          <a:cs typeface="Cambria" pitchFamily="34" charset="-120"/>
                        </a:rPr>
                        <a:t>48,011,307</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r>
              <a:tr h="236830">
                <a:tc>
                  <a:txBody>
                    <a:bodyPr/>
                    <a:lstStyle/>
                    <a:p>
                      <a:pPr algn="l" indent="0" marL="0">
                        <a:buNone/>
                      </a:pPr>
                      <a:r>
                        <a:rPr lang="en-US" sz="900" b="1" dirty="0">
                          <a:solidFill>
                            <a:srgbClr val="16233D"/>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l" indent="0" marL="0">
                        <a:buNone/>
                      </a:pPr>
                      <a:endParaRPr lang="en-US" sz="900" dirty="0">
                        <a:latin typeface="Calibri" charset="0"/>
                        <a:ea typeface="Calibri" charset="0"/>
                        <a:cs typeface="Calibri"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63,760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575,182,600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367,765,918</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6,340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226,298,400</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c>
                  <a:txBody>
                    <a:bodyPr/>
                    <a:lstStyle/>
                    <a:p>
                      <a:pPr algn="r" indent="0" marL="0">
                        <a:buNone/>
                      </a:pPr>
                      <a:r>
                        <a:rPr lang="en-US" sz="900" b="1" dirty="0">
                          <a:solidFill>
                            <a:srgbClr val="16233D"/>
                          </a:solidFill>
                          <a:latin typeface="Cambria" pitchFamily="34" charset="0"/>
                          <a:ea typeface="Cambria" pitchFamily="34" charset="-122"/>
                          <a:cs typeface="Cambria" pitchFamily="34" charset="-120"/>
                        </a:rPr>
                        <a:t>108,506,759</a:t>
                      </a:r>
                      <a:endParaRPr lang="en-US" sz="900" dirty="0">
                        <a:latin typeface="Cambria" charset="0"/>
                        <a:ea typeface="Cambria" charset="0"/>
                        <a:cs typeface="Cambria" charset="0"/>
                      </a:endParaRPr>
                    </a:p>
                  </a:txBody>
                  <a:tcPr marL="64008" marR="64008"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E8F6F3"/>
                    </a:solidFill>
                  </a:tcPr>
                </a:tc>
              </a:tr>
            </a:tbl>
          </a:graphicData>
        </a:graphic>
      </p:graphicFrame>
      <p:sp>
        <p:nvSpPr>
          <p:cNvPr id="6" name="Text 3"/>
          <p:cNvSpPr/>
          <p:nvPr/>
        </p:nvSpPr>
        <p:spPr>
          <a:xfrm>
            <a:off x="548640" y="6291072"/>
            <a:ext cx="11064240" cy="402336"/>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figures as supplied. cl = credit line, os = outstanding. Customers total 70,100 with 801,481,000 of credit line and 476,272,677 outstanding — identical across all four AIS breakdowns, and 74.3% of the 94,371-customer book.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2026-08-07T12:50:53Z</dcterms:created>
  <dcterms:modified xsi:type="dcterms:W3CDTF">2026-08-07T12:50:53Z</dcterms:modified>
</cp:coreProperties>
</file>
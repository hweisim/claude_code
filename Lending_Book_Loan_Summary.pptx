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Sheet1!$B$2:$B$5</c:f>
              <c:numCache>
                <c:formatCode>General</c:formatCode>
                <c:ptCount val="4"/>
                <c:pt idx="0">
                  <c:v>13</c:v>
                </c:pt>
                <c:pt idx="1">
                  <c:v>18</c:v>
                </c:pt>
                <c:pt idx="2">
                  <c:v>2</c:v>
                </c:pt>
                <c:pt idx="3">
                  <c:v>6</c:v>
                </c:pt>
              </c:numCache>
            </c:numRef>
          </c:val>
        </c:ser>
        <c:ser>
          <c:idx val="1"/>
          <c:order val="1"/>
          <c:tx>
            <c:strRef>
              <c:f>Sheet1!$C$1</c:f>
              <c:strCache>
                <c:ptCount val="1"/>
                <c:pt idx="0">
                  <c:v>Low</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Sheet1!$C$2:$C$5</c:f>
              <c:numCache>
                <c:formatCode>General</c:formatCode>
                <c:ptCount val="4"/>
                <c:pt idx="0">
                  <c:v>5</c:v>
                </c:pt>
                <c:pt idx="1">
                  <c:v>9</c:v>
                </c:pt>
                <c:pt idx="2">
                  <c:v>29</c:v>
                </c:pt>
                <c:pt idx="3">
                  <c:v>31</c:v>
                </c:pt>
              </c:numCache>
            </c:numRef>
          </c:val>
        </c:ser>
        <c:ser>
          <c:idx val="2"/>
          <c:order val="2"/>
          <c:tx>
            <c:strRef>
              <c:f>Sheet1!$D$1</c:f>
              <c:strCache>
                <c:ptCount val="1"/>
                <c:pt idx="0">
                  <c:v>Mid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Sheet1!$D$2:$D$5</c:f>
              <c:numCache>
                <c:formatCode>General</c:formatCode>
                <c:ptCount val="4"/>
                <c:pt idx="0">
                  <c:v>16</c:v>
                </c:pt>
                <c:pt idx="1">
                  <c:v>21</c:v>
                </c:pt>
                <c:pt idx="2">
                  <c:v>25</c:v>
                </c:pt>
                <c:pt idx="3">
                  <c:v>23</c:v>
                </c:pt>
              </c:numCache>
            </c:numRef>
          </c:val>
        </c:ser>
        <c:ser>
          <c:idx val="3"/>
          <c:order val="3"/>
          <c:tx>
            <c:strRef>
              <c:f>Sheet1!$E$1</c:f>
              <c:strCache>
                <c:ptCount val="1"/>
                <c:pt idx="0">
                  <c:v>High</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Sheet1!$E$2:$E$5</c:f>
              <c:numCache>
                <c:formatCode>General</c:formatCode>
                <c:ptCount val="4"/>
                <c:pt idx="0">
                  <c:v>66</c:v>
                </c:pt>
                <c:pt idx="1">
                  <c:v>52</c:v>
                </c:pt>
                <c:pt idx="2">
                  <c:v>44</c:v>
                </c:pt>
                <c:pt idx="3">
                  <c:v>40</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share of value (%)</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7.3</c:v>
                </c:pt>
                <c:pt idx="1">
                  <c:v>7.8</c:v>
                </c:pt>
                <c:pt idx="2">
                  <c:v>6.9</c:v>
                </c:pt>
                <c:pt idx="3">
                  <c:v>7.5</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30.9</c:v>
                </c:pt>
                <c:pt idx="1">
                  <c:v>32.6</c:v>
                </c:pt>
                <c:pt idx="2">
                  <c:v>46</c:v>
                </c:pt>
                <c:pt idx="3">
                  <c:v>52.2</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Sheet1!$D$2:$D$5</c:f>
              <c:numCache>
                <c:formatCode>General</c:formatCode>
                <c:ptCount val="4"/>
                <c:pt idx="0">
                  <c:v>61.8</c:v>
                </c:pt>
                <c:pt idx="1">
                  <c:v>59.6</c:v>
                </c:pt>
                <c:pt idx="2">
                  <c:v>47.2</c:v>
                </c:pt>
                <c:pt idx="3">
                  <c:v>40.4</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share of value (%)</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9</c:v>
                </c:pt>
                <c:pt idx="1">
                  <c:v>9.7</c:v>
                </c:pt>
                <c:pt idx="2">
                  <c:v>9</c:v>
                </c:pt>
                <c:pt idx="3">
                  <c:v>10.6</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19.7</c:v>
                </c:pt>
                <c:pt idx="1">
                  <c:v>20.6</c:v>
                </c:pt>
                <c:pt idx="2">
                  <c:v>20.9</c:v>
                </c:pt>
                <c:pt idx="3">
                  <c:v>22.1</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Sheet1!$D$2:$D$5</c:f>
              <c:numCache>
                <c:formatCode>General</c:formatCode>
                <c:ptCount val="4"/>
                <c:pt idx="0">
                  <c:v>71.3</c:v>
                </c:pt>
                <c:pt idx="1">
                  <c:v>69.7</c:v>
                </c:pt>
                <c:pt idx="2">
                  <c:v>70.2</c:v>
                </c:pt>
                <c:pt idx="3">
                  <c:v>67.3</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share of value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33.4</c:v>
                </c:pt>
                <c:pt idx="1">
                  <c:v>34.1</c:v>
                </c:pt>
                <c:pt idx="2">
                  <c:v>46.6</c:v>
                </c:pt>
                <c:pt idx="3">
                  <c:v>46.9</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66.6</c:v>
                </c:pt>
                <c:pt idx="1">
                  <c:v>65.9</c:v>
                </c:pt>
                <c:pt idx="2">
                  <c:v>53.4</c:v>
                </c:pt>
                <c:pt idx="3">
                  <c:v>53.1</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share of value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26.7</c:v>
                </c:pt>
                <c:pt idx="1">
                  <c:v>28</c:v>
                </c:pt>
                <c:pt idx="2">
                  <c:v>33</c:v>
                </c:pt>
                <c:pt idx="3">
                  <c:v>36.5</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73.3</c:v>
                </c:pt>
                <c:pt idx="1">
                  <c:v>72</c:v>
                </c:pt>
                <c:pt idx="2">
                  <c:v>67</c:v>
                </c:pt>
                <c:pt idx="3">
                  <c:v>63.5</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Bookings by book date (customers)</a:t>
            </a:r>
          </a:p>
        </c:rich>
      </c:tx>
      <c:layout/>
      <c:overlay val="0"/>
    </c:title>
    <c:autoTitleDeleted val="0"/>
    <c:plotArea>
      <c:layout/>
      <c:barChart>
        <c:barDir val="col"/>
        <c:grouping val="clustered"/>
        <c:varyColors val="0"/>
        <c:ser>
          <c:idx val="0"/>
          <c:order val="0"/>
          <c:tx>
            <c:strRef>
              <c:f>Sheet1!$B$1</c:f>
              <c:strCache>
                <c:ptCount val="1"/>
                <c:pt idx="0">
                  <c:v>DL</c:v>
                </c:pt>
              </c:strCache>
            </c:strRef>
          </c:tx>
          <c:spPr>
            <a:solidFill>
              <a:srgbClr val="165A73"/>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641</c:v>
                </c:pt>
                <c:pt idx="1">
                  <c:v>12182</c:v>
                </c:pt>
                <c:pt idx="2">
                  <c:v>32182</c:v>
                </c:pt>
                <c:pt idx="3">
                  <c:v>2060</c:v>
                </c:pt>
                <c:pt idx="4">
                  <c:v>7173</c:v>
                </c:pt>
                <c:pt idx="5">
                  <c:v>9522</c:v>
                </c:pt>
              </c:numCache>
            </c:numRef>
          </c:val>
        </c:ser>
        <c:ser>
          <c:idx val="1"/>
          <c:order val="1"/>
          <c:tx>
            <c:strRef>
              <c:f>Sheet1!$C$1</c:f>
              <c:strCache>
                <c:ptCount val="1"/>
                <c:pt idx="0">
                  <c:v>PL</c:v>
                </c:pt>
              </c:strCache>
            </c:strRef>
          </c:tx>
          <c:spPr>
            <a:solidFill>
              <a:srgbClr val="3FB89F"/>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67</c:v>
                </c:pt>
                <c:pt idx="1">
                  <c:v>398</c:v>
                </c:pt>
                <c:pt idx="2">
                  <c:v>1159</c:v>
                </c:pt>
                <c:pt idx="3">
                  <c:v>90</c:v>
                </c:pt>
                <c:pt idx="4">
                  <c:v>371</c:v>
                </c:pt>
                <c:pt idx="5">
                  <c:v>4255</c:v>
                </c:pt>
              </c:numCache>
            </c:numRef>
          </c:val>
        </c:ser>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max val="36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37.1</c:v>
                </c:pt>
                <c:pt idx="1">
                  <c:v>35.2</c:v>
                </c:pt>
                <c:pt idx="2">
                  <c:v>38</c:v>
                </c:pt>
                <c:pt idx="3">
                  <c:v>36.8</c:v>
                </c:pt>
                <c:pt idx="4">
                  <c:v>39.6</c:v>
                </c:pt>
                <c:pt idx="5">
                  <c:v>44.7</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62.9</c:v>
                </c:pt>
                <c:pt idx="1">
                  <c:v>64.8</c:v>
                </c:pt>
                <c:pt idx="2">
                  <c:v>62</c:v>
                </c:pt>
                <c:pt idx="3">
                  <c:v>63.2</c:v>
                </c:pt>
                <c:pt idx="4">
                  <c:v>60.4</c:v>
                </c:pt>
                <c:pt idx="5">
                  <c:v>55.3</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18.1</c:v>
                </c:pt>
                <c:pt idx="1">
                  <c:v>29.7</c:v>
                </c:pt>
                <c:pt idx="2">
                  <c:v>31.9</c:v>
                </c:pt>
                <c:pt idx="3">
                  <c:v>31.3</c:v>
                </c:pt>
                <c:pt idx="4">
                  <c:v>32.7</c:v>
                </c:pt>
                <c:pt idx="5">
                  <c:v>33.4</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81.9</c:v>
                </c:pt>
                <c:pt idx="1">
                  <c:v>70.3</c:v>
                </c:pt>
                <c:pt idx="2">
                  <c:v>68.1</c:v>
                </c:pt>
                <c:pt idx="3">
                  <c:v>68.7</c:v>
                </c:pt>
                <c:pt idx="4">
                  <c:v>67.3</c:v>
                </c:pt>
                <c:pt idx="5">
                  <c:v>66.6</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by book date (% of customers)</a:t>
            </a:r>
          </a:p>
        </c:rich>
      </c:tx>
      <c:layout/>
      <c:overlay val="0"/>
    </c:title>
    <c:autoTitleDeleted val="0"/>
    <c:plotArea>
      <c:layout/>
      <c:barChart>
        <c:barDir val="col"/>
        <c:grouping val="percentStacked"/>
        <c:varyColors val="0"/>
        <c:ser>
          <c:idx val="0"/>
          <c:order val="0"/>
          <c:tx>
            <c:strRef>
              <c:f>Sheet1!$B$1</c:f>
              <c:strCache>
                <c:ptCount val="1"/>
                <c:pt idx="0">
                  <c:v>FBB</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3.8</c:v>
                </c:pt>
                <c:pt idx="1">
                  <c:v>6.9</c:v>
                </c:pt>
                <c:pt idx="2">
                  <c:v>6.9</c:v>
                </c:pt>
                <c:pt idx="3">
                  <c:v>7.6</c:v>
                </c:pt>
                <c:pt idx="4">
                  <c:v>6.9</c:v>
                </c:pt>
                <c:pt idx="5">
                  <c:v>4.9</c:v>
                </c:pt>
              </c:numCache>
            </c:numRef>
          </c:val>
        </c:ser>
        <c:ser>
          <c:idx val="1"/>
          <c:order val="1"/>
          <c:tx>
            <c:strRef>
              <c:f>Sheet1!$C$1</c:f>
              <c:strCache>
                <c:ptCount val="1"/>
                <c:pt idx="0">
                  <c:v>Prepaid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17.5</c:v>
                </c:pt>
                <c:pt idx="1">
                  <c:v>46.4</c:v>
                </c:pt>
                <c:pt idx="2">
                  <c:v>49.4</c:v>
                </c:pt>
                <c:pt idx="3">
                  <c:v>47.9</c:v>
                </c:pt>
                <c:pt idx="4">
                  <c:v>47.9</c:v>
                </c:pt>
                <c:pt idx="5">
                  <c:v>55</c:v>
                </c:pt>
              </c:numCache>
            </c:numRef>
          </c:val>
        </c:ser>
        <c:ser>
          <c:idx val="2"/>
          <c:order val="2"/>
          <c:tx>
            <c:strRef>
              <c:f>Sheet1!$D$1</c:f>
              <c:strCache>
                <c:ptCount val="1"/>
                <c:pt idx="0">
                  <c:v>Postpaid</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Sheet1!$D$2:$D$7</c:f>
              <c:numCache>
                <c:formatCode>General</c:formatCode>
                <c:ptCount val="6"/>
                <c:pt idx="0">
                  <c:v>78.7</c:v>
                </c:pt>
                <c:pt idx="1">
                  <c:v>46.7</c:v>
                </c:pt>
                <c:pt idx="2">
                  <c:v>43.8</c:v>
                </c:pt>
                <c:pt idx="3">
                  <c:v>44.5</c:v>
                </c:pt>
                <c:pt idx="4">
                  <c:v>45.1</c:v>
                </c:pt>
                <c:pt idx="5">
                  <c:v>40.1</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by book date (% of customers)</a:t>
            </a:r>
          </a:p>
        </c:rich>
      </c:tx>
      <c:layout/>
      <c:overlay val="0"/>
    </c:title>
    <c:autoTitleDeleted val="0"/>
    <c:plotArea>
      <c:layout/>
      <c:barChart>
        <c:barDir val="col"/>
        <c:grouping val="percentStacked"/>
        <c:varyColors val="0"/>
        <c:ser>
          <c:idx val="0"/>
          <c:order val="0"/>
          <c:tx>
            <c:strRef>
              <c:f>Sheet1!$B$1</c:f>
              <c:strCache>
                <c:ptCount val="1"/>
                <c:pt idx="0">
                  <c:v>0–1</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4.4</c:v>
                </c:pt>
                <c:pt idx="1">
                  <c:v>11.6</c:v>
                </c:pt>
                <c:pt idx="2">
                  <c:v>11.6</c:v>
                </c:pt>
                <c:pt idx="3">
                  <c:v>10.9</c:v>
                </c:pt>
                <c:pt idx="4">
                  <c:v>10.5</c:v>
                </c:pt>
                <c:pt idx="5">
                  <c:v>9.7</c:v>
                </c:pt>
              </c:numCache>
            </c:numRef>
          </c:val>
        </c:ser>
        <c:ser>
          <c:idx val="1"/>
          <c:order val="1"/>
          <c:tx>
            <c:strRef>
              <c:f>Sheet1!$C$1</c:f>
              <c:strCache>
                <c:ptCount val="1"/>
                <c:pt idx="0">
                  <c:v>2–4</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14.7</c:v>
                </c:pt>
                <c:pt idx="1">
                  <c:v>22.7</c:v>
                </c:pt>
                <c:pt idx="2">
                  <c:v>23.3</c:v>
                </c:pt>
                <c:pt idx="3">
                  <c:v>23.1</c:v>
                </c:pt>
                <c:pt idx="4">
                  <c:v>22.7</c:v>
                </c:pt>
                <c:pt idx="5">
                  <c:v>21.9</c:v>
                </c:pt>
              </c:numCache>
            </c:numRef>
          </c:val>
        </c:ser>
        <c:ser>
          <c:idx val="2"/>
          <c:order val="2"/>
          <c:tx>
            <c:strRef>
              <c:f>Sheet1!$D$1</c:f>
              <c:strCache>
                <c:ptCount val="1"/>
                <c:pt idx="0">
                  <c:v>5 or more</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Sheet1!$D$2:$D$7</c:f>
              <c:numCache>
                <c:formatCode>General</c:formatCode>
                <c:ptCount val="6"/>
                <c:pt idx="0">
                  <c:v>80.9</c:v>
                </c:pt>
                <c:pt idx="1">
                  <c:v>65.7</c:v>
                </c:pt>
                <c:pt idx="2">
                  <c:v>65.1</c:v>
                </c:pt>
                <c:pt idx="3">
                  <c:v>66</c:v>
                </c:pt>
                <c:pt idx="4">
                  <c:v>66.8</c:v>
                </c:pt>
                <c:pt idx="5">
                  <c:v>68.4</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dimensions as slide 2, measured by value instead of headcount. Charge type is the only mix that moves materially: DL prepaid falls from 48.8% of customers to 30.9% of credit line while postpaid rises 44.7% to 61.8% - postpaid customers carry roughly twice the line each. The other three shift only a few points toward the favourable category: tenure 5+ years 66.3% to 71.3% of DL line, nano Y 61.8% to 66.6%, TRUE Y 68.5% to 73.3%. PL is flatter throughout, and its OS mix leans more to prepaid (52.2%) than its CL mix (46.0%).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Aug alone accounts for 33,341 of the 70,100 AIS bookings (47.6%). PL is back-loaded: 4,255 of its 6,340 bookings (67%) land on 5 Aug. Nano-loan Y falls from 64.8% on 1 Aug to 55.3% on 5 Aug, a 9.5 point drop, and the PL surge on 5 Aug is part of why - PL runs a lower nano share than DL. TRUE Y drifts down more gently, 70.3% to 66.6%. Charge type and tenure are effectively flat across the same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Completes the by-book-date view: charge type and tenure alongside the nano-loan flag and TRUE on slide 3. From 1 Aug onward prepaid runs 46.4, 49.4, 47.9, 47.9, 55.0 and tenure 5+ years runs 65.7, 65.1, 66.0, 66.8, 68.4 - spreads of 8.6 and 3.3 points against 9.5 for the nano-loan flag. The 5 Aug prepaid uptick coincides with the PL surge, and PL runs a higher prepaid share than DL (56.0% vs 48.8%).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membership column is an inference that checks out four ways: A1+A1_o+J+J_O = 70,100 (AIS), K1+K1_O+J+J_O = 83,362 (KTB), O1+A1_o+K1_O+J_O = 53,712 (OR), and Null = 794. J and J_O together hold 61,771 customers (65.5%) and 696.5M of credit line (63.8%).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out of the combined 4x4 table so each dimension reads on its own. Cash need is heavily concentrated - High alone is 63.3% of the credit line. Risk is not: Low 37.0%, Mid 25.5%, High 35.0%. Low risk holding 37.0% of the line against 29.0% of customers means low-risk customers are granted larger lines on average. The DL/PL utilisation gap persists on both cuts: DL 65.2% against PL 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Postpaid customers carry a materially larger line each than prepaid customers, which is why the customer and value rankings invert.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flag Y: 42,806 customers and 503.8M of credit line. Broadly proportional, so the flag does not by itself mark a larger-line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Y: 47,840 customers (68.2%) holding 573.3M of credit line (71.5%) - a few points more than their headcount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tenure earns a bigger line: 5+ years is 66.2% of customers but 71.0% of credit line, while 0-1 years is 11.0% of customers and only 9.0% of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SHARE OF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Postpaid punches far above its headcount</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Prepaid is 48.8% of DL customers but 30.9% of DL credit line; postpaid runs 44.7% to 61.8%.</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AIS base, aggregated across all book dates. CL = credit line, OS = outstanding. Each bar is a mix within that loan type and measure, so all four bars in a panel read to 100%. Compare against slide 2, which shows the same four splits by customer count.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Nearly half the base booked on 2 August</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PL arrives almost entirely on 5 Aug, and each later cohort is a little less nano-loan — the flag falls 9.5 points from 1 to 5 Aug.</a:t>
            </a:r>
            <a:endParaRPr lang="en-US" sz="1250" dirty="0"/>
          </a:p>
        </p:txBody>
      </p:sp>
      <p:sp>
        <p:nvSpPr>
          <p:cNvPr id="5" name="Shape 3"/>
          <p:cNvSpPr/>
          <p:nvPr/>
        </p:nvSpPr>
        <p:spPr>
          <a:xfrm>
            <a:off x="548640" y="1426464"/>
            <a:ext cx="11064240" cy="2139696"/>
          </a:xfrm>
          <a:prstGeom prst="roundRect">
            <a:avLst>
              <a:gd name="adj" fmla="val 3846"/>
            </a:avLst>
          </a:prstGeom>
          <a:solidFill>
            <a:srgbClr val="F1F4F9"/>
          </a:solidFill>
          <a:ln/>
        </p:spPr>
      </p:sp>
      <p:graphicFrame>
        <p:nvGraphicFramePr>
          <p:cNvPr id="6" name="Chart 0" descr=""/>
          <p:cNvGraphicFramePr/>
          <p:nvPr/>
        </p:nvGraphicFramePr>
        <p:xfrm>
          <a:off x="658368" y="1517904"/>
          <a:ext cx="10844784" cy="195681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3712464"/>
            <a:ext cx="5440680" cy="2249424"/>
          </a:xfrm>
          <a:prstGeom prst="roundRect">
            <a:avLst>
              <a:gd name="adj" fmla="val 3659"/>
            </a:avLst>
          </a:prstGeom>
          <a:solidFill>
            <a:srgbClr val="F1F4F9"/>
          </a:solidFill>
          <a:ln/>
        </p:spPr>
      </p:sp>
      <p:graphicFrame>
        <p:nvGraphicFramePr>
          <p:cNvPr id="8" name="Chart 1" descr=""/>
          <p:cNvGraphicFramePr/>
          <p:nvPr/>
        </p:nvGraphicFramePr>
        <p:xfrm>
          <a:off x="658368" y="3803904"/>
          <a:ext cx="5221224" cy="2066544"/>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3712464"/>
            <a:ext cx="5440680" cy="2249424"/>
          </a:xfrm>
          <a:prstGeom prst="roundRect">
            <a:avLst>
              <a:gd name="adj" fmla="val 3659"/>
            </a:avLst>
          </a:prstGeom>
          <a:solidFill>
            <a:srgbClr val="F1F4F9"/>
          </a:solidFill>
          <a:ln/>
        </p:spPr>
      </p:sp>
      <p:graphicFrame>
        <p:nvGraphicFramePr>
          <p:cNvPr id="10" name="Chart 2" descr=""/>
          <p:cNvGraphicFramePr/>
          <p:nvPr/>
        </p:nvGraphicFramePr>
        <p:xfrm>
          <a:off x="6281928" y="3803904"/>
          <a:ext cx="5221224" cy="2066544"/>
        </p:xfrm>
        <a:graphic xmlns:a="http://schemas.openxmlformats.org/drawingml/2006/main">
          <a:graphicData uri="http://schemas.openxmlformats.org/drawingml/2006/chart">
            <c:chart xmlns:c="http://schemas.openxmlformats.org/drawingml/2006/chart" r:id="rId3"/>
          </a:graphicData>
        </a:graphic>
      </p:graphicFrame>
      <p:sp>
        <p:nvSpPr>
          <p:cNvPr id="11" name="Text 6"/>
          <p:cNvSpPr/>
          <p:nvPr/>
        </p:nvSpPr>
        <p:spPr>
          <a:xfrm>
            <a:off x="548640" y="6089904"/>
            <a:ext cx="11064240" cy="512064"/>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AIS Base Information slides. Volumes are the grand totals per book date; the two mixes combine DL and PL. 'bef 1 Aug' holds only 708 customers, so its mix is a small-sample outlier. Charge type and tenure move far less across the same window and are charted on the next slide.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Charge type and tenure hold steady</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Unlike the nano-loan flag, these two barely move from 1 Aug onward — only the small pre-August cohort looks different.</a:t>
            </a:r>
            <a:endParaRPr lang="en-US" sz="1250" dirty="0"/>
          </a:p>
        </p:txBody>
      </p:sp>
      <p:sp>
        <p:nvSpPr>
          <p:cNvPr id="5" name="Shape 3"/>
          <p:cNvSpPr/>
          <p:nvPr/>
        </p:nvSpPr>
        <p:spPr>
          <a:xfrm>
            <a:off x="548640" y="1444752"/>
            <a:ext cx="5440680" cy="3127248"/>
          </a:xfrm>
          <a:prstGeom prst="roundRect">
            <a:avLst>
              <a:gd name="adj" fmla="val 2632"/>
            </a:avLst>
          </a:prstGeom>
          <a:solidFill>
            <a:srgbClr val="F1F4F9"/>
          </a:solidFill>
          <a:ln/>
        </p:spPr>
      </p:sp>
      <p:graphicFrame>
        <p:nvGraphicFramePr>
          <p:cNvPr id="6" name="Chart 0" descr=""/>
          <p:cNvGraphicFramePr/>
          <p:nvPr/>
        </p:nvGraphicFramePr>
        <p:xfrm>
          <a:off x="658368" y="1536192"/>
          <a:ext cx="5221224" cy="2944368"/>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44752"/>
            <a:ext cx="5440680" cy="3127248"/>
          </a:xfrm>
          <a:prstGeom prst="roundRect">
            <a:avLst>
              <a:gd name="adj" fmla="val 2632"/>
            </a:avLst>
          </a:prstGeom>
          <a:solidFill>
            <a:srgbClr val="F1F4F9"/>
          </a:solidFill>
          <a:ln/>
        </p:spPr>
      </p:sp>
      <p:graphicFrame>
        <p:nvGraphicFramePr>
          <p:cNvPr id="8" name="Chart 1" descr=""/>
          <p:cNvGraphicFramePr/>
          <p:nvPr/>
        </p:nvGraphicFramePr>
        <p:xfrm>
          <a:off x="6281928" y="1536192"/>
          <a:ext cx="5221224" cy="2944368"/>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4754880"/>
            <a:ext cx="11064240" cy="1188720"/>
          </a:xfrm>
          <a:prstGeom prst="roundRect">
            <a:avLst>
              <a:gd name="adj" fmla="val 6923"/>
            </a:avLst>
          </a:prstGeom>
          <a:solidFill>
            <a:srgbClr val="0E1E3C"/>
          </a:solidFill>
          <a:ln/>
        </p:spPr>
      </p:sp>
      <p:sp>
        <p:nvSpPr>
          <p:cNvPr id="10" name="Text 6"/>
          <p:cNvSpPr/>
          <p:nvPr/>
        </p:nvSpPr>
        <p:spPr>
          <a:xfrm>
            <a:off x="914400" y="4919472"/>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HOW MUCH EACH MIX MOVES, 1 AUG TO 5 AUG</a:t>
            </a:r>
            <a:endParaRPr lang="en-US" sz="1050" dirty="0"/>
          </a:p>
        </p:txBody>
      </p:sp>
      <p:sp>
        <p:nvSpPr>
          <p:cNvPr id="11" name="Text 7"/>
          <p:cNvSpPr/>
          <p:nvPr/>
        </p:nvSpPr>
        <p:spPr>
          <a:xfrm>
            <a:off x="914400" y="5175504"/>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Prepaid 46–55% (8.6pt) · Tenure 5+ years 65–68% (3.3pt)</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 against the nano-loan flag's 9.5pt slide on the previous slide. Charge type drifts toward prepaid on 5 Aug, tracking the PL surge; tenure is flat throughout.</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The pre-1-Aug cohort is the exception — 79% postpaid, 81% long-tenured — but holds just 708 of the 70,100 customers.</a:t>
            </a:r>
            <a:endParaRPr lang="en-US" sz="1100" dirty="0"/>
          </a:p>
        </p:txBody>
      </p:sp>
      <p:sp>
        <p:nvSpPr>
          <p:cNvPr id="12" name="Text 8"/>
          <p:cNvSpPr/>
          <p:nvPr/>
        </p:nvSpPr>
        <p:spPr>
          <a:xfrm>
            <a:off x="548640" y="6089904"/>
            <a:ext cx="11064240" cy="512064"/>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charge type and tenure AIS Base Information slides, DL and PL combined and aggregated to each book date. Percentages are computed from the deck's own counts; each date column sums to that date's grand total, and the six together sum to 70,100.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CUSTOMER BASE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Two-thirds of the book is dual AIS–KTB</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1,092.3M of credit line against 660.5M outstanding — 60.5% utilised, and strikingly even across every segment (55.9–64.2%).</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005840"/>
                <a:gridCol w="1874520"/>
                <a:gridCol w="1737360"/>
                <a:gridCol w="1737360"/>
                <a:gridCol w="914400"/>
                <a:gridCol w="1234440"/>
                <a:gridCol w="914400"/>
                <a:gridCol w="164592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cust_base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Consortium membership</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Util.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of book</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CL / customer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Null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11,491,500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6,749,659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14,473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41,840,300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24,908,470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11,128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63,096,500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35,296,729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4,569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13,810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304,195,500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184,286,596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10,066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392,348,700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231,780,882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31,550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12,436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78,572,200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49,176,842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5,884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13,354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177,595,900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114,041,841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15,707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11,307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O1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OR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23,121,400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14,302,687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1,886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1,092,262,000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660,543,706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94,371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11,574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Consortium membership is inferred from the segment codes, not stated in the source: the groupings reproduce the deck's AIS 70,100, KTB 83,362, OR 53,712 and 'not in any' 794 exactly. Customers total 94,371, matching the stated total booked.</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Cash need concentrates, risk does not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cash need holds 63.3% of the credit line; risk splits 37.0% low / 25.5% mid / 35.0% high.</a:t>
            </a:r>
            <a:endParaRPr lang="en-US" sz="1200" dirty="0"/>
          </a:p>
        </p:txBody>
      </p:sp>
      <p:sp>
        <p:nvSpPr>
          <p:cNvPr id="5" name="Text 3"/>
          <p:cNvSpPr/>
          <p:nvPr/>
        </p:nvSpPr>
        <p:spPr>
          <a:xfrm>
            <a:off x="548640" y="140817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cash need</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97,056,100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66,121,891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68.1%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49,726,600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25,232,200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50.7%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146,782,700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13.4%</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35,991,700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22,309,300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30,297,500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13,104,888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66,289,200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118,466,000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71,152,261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69,045,300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28,919,887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187,511,300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17.2%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529,187,600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349,214,853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162,491,200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84,488,426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691,678,800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7" name="Text 4"/>
          <p:cNvSpPr/>
          <p:nvPr/>
        </p:nvSpPr>
        <p:spPr>
          <a:xfrm>
            <a:off x="548640" y="387705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risk level</a:t>
            </a:r>
            <a:endParaRPr lang="en-US" sz="14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548640" y="411480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12,590,700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8,761,738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15,377,700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8,220,903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53.5%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27,968,400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279,717,500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168,239,503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124,397,500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52,044,867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404,115,000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37.0%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205,278,200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132,804,742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64.7%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72,910,600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35,428,732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48.6%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278,188,800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283,115,000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198,992,322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98,874,800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56,050,899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381,989,800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9" name="Text 5"/>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table rolls the same 4×4 cash-need × risk-level grid up along one axis, so both total to 1,092,262,000 of credit line and 660,543,706 outstanding — matching the customer-base table. The source has no customer counts at this cut, so utilisation and share of line are the only derived columns. Low risk holds 37.0% of the line against 29.0% of customers in the deck's risk counts — low-risk customers carry larger lines.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CHARGE TYPE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Prepaid leads on customers, postpaid on value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is 49.4% of customers but only 35.2% of credit line; postpaid is 44.1% of customers and 57.6% of the line.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Charge type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249,200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136,407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392,234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482,151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469,700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227,690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4,460,774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6,038,900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1,677,047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8,635,800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6,555,154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699,795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5,630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34,110,300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26,130,318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3,807,000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2,767,110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73,797,800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52,025,828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4,334,200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3,107,189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16,248,189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2,055,900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1,210,055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91,515,700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65,578,262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15,516,300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11,084,011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181,461,200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119,074,354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11,809,300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6,807,854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1,512,700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1,110,920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322,039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6,286,900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4,611,637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1,136,061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12,312,500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8,459,232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1,076,500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717,866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5,310,200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3,053,924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1,133,200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797,760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21,080,200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12,562,414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4,028,159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44,479,500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22,963,082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6,926,700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2,658,434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1,591,226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4,671,595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23,777,800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10,506,394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75,587,100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37,371,732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3,850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34,881,400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12,215,652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76,526,900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28,830,128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NANO-LOAN FLAG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Nano flag: 61.1% of customers, 62.9% of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Credit line tracks headcount almost exactly, so the flag does not by itself mark a larger-line population.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Nano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3,564,300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1,713,800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4,046,900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1,340,867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6,062,900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3,365,532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3,149,100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956,104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4,271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35,596,100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26,497,770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3,305,800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2,265,517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7,911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80,947,800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58,213,530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5,967,900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4,308,577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98,295,300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68,449,891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12,293,200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8,248,303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197,381,500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132,450,914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17,088,300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10,853,617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6,482,200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4,672,585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1,213,600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883,915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13,629,900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9,509,204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2,074,900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1,292,051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2,825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24,085,100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13,699,164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6,548,100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3,332,891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46,784,800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24,880,256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8,411,700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4,151,462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24,097,100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10,328,134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78,133,200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34,771,529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5,389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38,255,600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13,985,138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84,065,700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36,101,926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TRUE ECOSYSTEM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TRUE customers hold 71.5%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68.2% of customers, so TRUE membership skews toward the larger lines.</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TRUE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703,026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1,040,500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550,376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8,217,600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4,376,306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6,155,500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1,746,595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29,172,100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21,910,280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2,124,876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8,564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87,371,800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62,801,020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6,248,000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4,449,218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10,249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80,685,800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57,662,508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9,374,100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6,867,826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214,991,000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143,238,297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20,007,400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12,234,094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5,351,100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3,829,251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861,946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14,761,000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10,352,538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1,878,600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1,314,020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19,149,900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11,052,852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5,046,300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2,989,981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4,839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51,720,000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27,526,568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9,913,500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4,494,372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7,689,769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1,490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54,715,800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26,227,070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44,594,100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16,623,503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2,765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107,483,100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44,646,385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TENURE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5+ year tenure holds 71.0%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66.2% of customers, while the 0–1 year cohort is 11.0% of customers and just 9.0% of the line.</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Tenure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294,300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147,694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379,567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1,105,000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586,260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816,500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204,584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8,227,900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4,345,378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5,859,600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1,712,820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10,989,100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8,394,662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500,961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23,170,800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17,218,164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2,266,800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1,696,319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8,032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82,384,000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59,098,474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6,311,800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4,376,814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3,685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27,746,100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19,972,246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2,735,355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7,476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59,133,400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41,900,780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6,081,200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4,260,627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21,021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208,797,300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139,027,779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19,315,400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12,105,938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1,703,800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1,282,482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331,913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2,884,710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557,609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14,304,800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10,014,597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2,167,900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1,286,444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6,143,900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3,662,615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1,044,300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504,223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14,243,700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8,361,181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1,501,078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50,482,300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26,555,624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11,395,600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5,479,052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4,903,000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2,229,307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13,653,400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7,082,546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11,682,500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4,802,102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988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34,795,400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15,779,602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45,767,200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17,281,863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113,750,100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48,011,307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2026-08-07T12:58:33Z</dcterms:created>
  <dcterms:modified xsi:type="dcterms:W3CDTF">2026-08-07T12:58:33Z</dcterms:modified>
</cp:coreProperties>
</file>
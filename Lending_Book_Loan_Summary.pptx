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Cash need and risk mix (% of customers)</a:t>
            </a:r>
          </a:p>
        </c:rich>
      </c:tx>
      <c:layout/>
      <c:overlay val="0"/>
    </c:title>
    <c:autoTitleDeleted val="0"/>
    <c:plotArea>
      <c:layout/>
      <c:barChart>
        <c:barDir val="bar"/>
        <c:grouping val="percentStacked"/>
        <c:varyColors val="0"/>
        <c:ser>
          <c:idx val="0"/>
          <c:order val="0"/>
          <c:tx>
            <c:strRef>
              <c:f>Sheet1!$B$1</c:f>
              <c:strCache>
                <c:ptCount val="1"/>
                <c:pt idx="0">
                  <c:v>Null</c:v>
                </c:pt>
              </c:strCache>
            </c:strRef>
          </c:tx>
          <c:spPr>
            <a:solidFill>
              <a:srgbClr val="8DA0B8"/>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Cash need · DL</c:v>
                  </c:pt>
                  <c:pt idx="1">
                    <c:v>Cash need · PL</c:v>
                  </c:pt>
                  <c:pt idx="2">
                    <c:v>Risk · DL</c:v>
                  </c:pt>
                  <c:pt idx="3">
                    <c:v>Risk · PL</c:v>
                  </c:pt>
                </c:lvl>
              </c:multiLvlStrCache>
            </c:multiLvlStrRef>
          </c:cat>
          <c:val>
            <c:numRef>
              <c:f>Sheet1!$B$2:$B$5</c:f>
              <c:numCache>
                <c:formatCode>General</c:formatCode>
                <c:ptCount val="4"/>
                <c:pt idx="0">
                  <c:v>13</c:v>
                </c:pt>
                <c:pt idx="1">
                  <c:v>18</c:v>
                </c:pt>
                <c:pt idx="2">
                  <c:v>2</c:v>
                </c:pt>
                <c:pt idx="3">
                  <c:v>6</c:v>
                </c:pt>
              </c:numCache>
            </c:numRef>
          </c:val>
        </c:ser>
        <c:ser>
          <c:idx val="1"/>
          <c:order val="1"/>
          <c:tx>
            <c:strRef>
              <c:f>Sheet1!$C$1</c:f>
              <c:strCache>
                <c:ptCount val="1"/>
                <c:pt idx="0">
                  <c:v>Low</c:v>
                </c:pt>
              </c:strCache>
            </c:strRef>
          </c:tx>
          <c:spPr>
            <a:solidFill>
              <a:srgbClr val="3FB89F"/>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Cash need · DL</c:v>
                  </c:pt>
                  <c:pt idx="1">
                    <c:v>Cash need · PL</c:v>
                  </c:pt>
                  <c:pt idx="2">
                    <c:v>Risk · DL</c:v>
                  </c:pt>
                  <c:pt idx="3">
                    <c:v>Risk · PL</c:v>
                  </c:pt>
                </c:lvl>
              </c:multiLvlStrCache>
            </c:multiLvlStrRef>
          </c:cat>
          <c:val>
            <c:numRef>
              <c:f>Sheet1!$C$2:$C$5</c:f>
              <c:numCache>
                <c:formatCode>General</c:formatCode>
                <c:ptCount val="4"/>
                <c:pt idx="0">
                  <c:v>5</c:v>
                </c:pt>
                <c:pt idx="1">
                  <c:v>9</c:v>
                </c:pt>
                <c:pt idx="2">
                  <c:v>29</c:v>
                </c:pt>
                <c:pt idx="3">
                  <c:v>31</c:v>
                </c:pt>
              </c:numCache>
            </c:numRef>
          </c:val>
        </c:ser>
        <c:ser>
          <c:idx val="2"/>
          <c:order val="2"/>
          <c:tx>
            <c:strRef>
              <c:f>Sheet1!$D$1</c:f>
              <c:strCache>
                <c:ptCount val="1"/>
                <c:pt idx="0">
                  <c:v>Mid</c:v>
                </c:pt>
              </c:strCache>
            </c:strRef>
          </c:tx>
          <c:spPr>
            <a:solidFill>
              <a:srgbClr val="1E8E86"/>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Cash need · DL</c:v>
                  </c:pt>
                  <c:pt idx="1">
                    <c:v>Cash need · PL</c:v>
                  </c:pt>
                  <c:pt idx="2">
                    <c:v>Risk · DL</c:v>
                  </c:pt>
                  <c:pt idx="3">
                    <c:v>Risk · PL</c:v>
                  </c:pt>
                </c:lvl>
              </c:multiLvlStrCache>
            </c:multiLvlStrRef>
          </c:cat>
          <c:val>
            <c:numRef>
              <c:f>Sheet1!$D$2:$D$5</c:f>
              <c:numCache>
                <c:formatCode>General</c:formatCode>
                <c:ptCount val="4"/>
                <c:pt idx="0">
                  <c:v>16</c:v>
                </c:pt>
                <c:pt idx="1">
                  <c:v>21</c:v>
                </c:pt>
                <c:pt idx="2">
                  <c:v>25</c:v>
                </c:pt>
                <c:pt idx="3">
                  <c:v>23</c:v>
                </c:pt>
              </c:numCache>
            </c:numRef>
          </c:val>
        </c:ser>
        <c:ser>
          <c:idx val="3"/>
          <c:order val="3"/>
          <c:tx>
            <c:strRef>
              <c:f>Sheet1!$E$1</c:f>
              <c:strCache>
                <c:ptCount val="1"/>
                <c:pt idx="0">
                  <c:v>High</c:v>
                </c:pt>
              </c:strCache>
            </c:strRef>
          </c:tx>
          <c:spPr>
            <a:solidFill>
              <a:srgbClr val="165A73"/>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Sheet1!$A$2:$A$5</c:f>
              <c:multiLvlStrCache>
                <c:ptCount val="4"/>
                <c:lvl>
                  <c:pt idx="0">
                    <c:v>Cash need · DL</c:v>
                  </c:pt>
                  <c:pt idx="1">
                    <c:v>Cash need · PL</c:v>
                  </c:pt>
                  <c:pt idx="2">
                    <c:v>Risk · DL</c:v>
                  </c:pt>
                  <c:pt idx="3">
                    <c:v>Risk · PL</c:v>
                  </c:pt>
                </c:lvl>
              </c:multiLvlStrCache>
            </c:multiLvlStrRef>
          </c:cat>
          <c:val>
            <c:numRef>
              <c:f>Sheet1!$E$2:$E$5</c:f>
              <c:numCache>
                <c:formatCode>General</c:formatCode>
                <c:ptCount val="4"/>
                <c:pt idx="0">
                  <c:v>66</c:v>
                </c:pt>
                <c:pt idx="1">
                  <c:v>52</c:v>
                </c:pt>
                <c:pt idx="2">
                  <c:v>44</c:v>
                </c:pt>
                <c:pt idx="3">
                  <c:v>40</c:v>
                </c:pt>
              </c:numCache>
            </c:numRef>
          </c:val>
        </c:ser>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5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Charge type (% of customers)</a:t>
            </a:r>
          </a:p>
        </c:rich>
      </c:tx>
      <c:layout/>
      <c:overlay val="0"/>
    </c:title>
    <c:autoTitleDeleted val="0"/>
    <c:plotArea>
      <c:layout/>
      <c:barChart>
        <c:barDir val="bar"/>
        <c:grouping val="percentStacked"/>
        <c:varyColors val="0"/>
        <c:ser>
          <c:idx val="0"/>
          <c:order val="0"/>
          <c:tx>
            <c:strRef>
              <c:f>Sheet1!$B$1</c:f>
              <c:strCache>
                <c:ptCount val="1"/>
                <c:pt idx="0">
                  <c:v>FBB</c:v>
                </c:pt>
              </c:strCache>
            </c:strRef>
          </c:tx>
          <c:spPr>
            <a:solidFill>
              <a:srgbClr val="3FB89F"/>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Sheet1!$B$2:$B$3</c:f>
              <c:numCache>
                <c:formatCode>General</c:formatCode>
                <c:ptCount val="2"/>
                <c:pt idx="0">
                  <c:v>6.5</c:v>
                </c:pt>
                <c:pt idx="1">
                  <c:v>6.2</c:v>
                </c:pt>
              </c:numCache>
            </c:numRef>
          </c:val>
        </c:ser>
        <c:ser>
          <c:idx val="1"/>
          <c:order val="1"/>
          <c:tx>
            <c:strRef>
              <c:f>Sheet1!$C$1</c:f>
              <c:strCache>
                <c:ptCount val="1"/>
                <c:pt idx="0">
                  <c:v>Prepaid</c:v>
                </c:pt>
              </c:strCache>
            </c:strRef>
          </c:tx>
          <c:spPr>
            <a:solidFill>
              <a:srgbClr val="1E8E86"/>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Sheet1!$C$2:$C$3</c:f>
              <c:numCache>
                <c:formatCode>General</c:formatCode>
                <c:ptCount val="2"/>
                <c:pt idx="0">
                  <c:v>48.8</c:v>
                </c:pt>
                <c:pt idx="1">
                  <c:v>56</c:v>
                </c:pt>
              </c:numCache>
            </c:numRef>
          </c:val>
        </c:ser>
        <c:ser>
          <c:idx val="2"/>
          <c:order val="2"/>
          <c:tx>
            <c:strRef>
              <c:f>Sheet1!$D$1</c:f>
              <c:strCache>
                <c:ptCount val="1"/>
                <c:pt idx="0">
                  <c:v>Postpaid</c:v>
                </c:pt>
              </c:strCache>
            </c:strRef>
          </c:tx>
          <c:spPr>
            <a:solidFill>
              <a:srgbClr val="165A73"/>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Sheet1!$D$2:$D$3</c:f>
              <c:numCache>
                <c:formatCode>General</c:formatCode>
                <c:ptCount val="2"/>
                <c:pt idx="0">
                  <c:v>44.7</c:v>
                </c:pt>
                <c:pt idx="1">
                  <c:v>37.8</c:v>
                </c:pt>
              </c:numCache>
            </c:numRef>
          </c:val>
        </c:ser>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Tenure in years (% of customers)</a:t>
            </a:r>
          </a:p>
        </c:rich>
      </c:tx>
      <c:layout/>
      <c:overlay val="0"/>
    </c:title>
    <c:autoTitleDeleted val="0"/>
    <c:plotArea>
      <c:layout/>
      <c:barChart>
        <c:barDir val="bar"/>
        <c:grouping val="percentStacked"/>
        <c:varyColors val="0"/>
        <c:ser>
          <c:idx val="0"/>
          <c:order val="0"/>
          <c:tx>
            <c:strRef>
              <c:f>Sheet1!$B$1</c:f>
              <c:strCache>
                <c:ptCount val="1"/>
                <c:pt idx="0">
                  <c:v>0–1</c:v>
                </c:pt>
              </c:strCache>
            </c:strRef>
          </c:tx>
          <c:spPr>
            <a:solidFill>
              <a:srgbClr val="3FB89F"/>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Sheet1!$B$2:$B$3</c:f>
              <c:numCache>
                <c:formatCode>General</c:formatCode>
                <c:ptCount val="2"/>
                <c:pt idx="0">
                  <c:v>11</c:v>
                </c:pt>
                <c:pt idx="1">
                  <c:v>10.8</c:v>
                </c:pt>
              </c:numCache>
            </c:numRef>
          </c:val>
        </c:ser>
        <c:ser>
          <c:idx val="1"/>
          <c:order val="1"/>
          <c:tx>
            <c:strRef>
              <c:f>Sheet1!$C$1</c:f>
              <c:strCache>
                <c:ptCount val="1"/>
                <c:pt idx="0">
                  <c:v>2–4</c:v>
                </c:pt>
              </c:strCache>
            </c:strRef>
          </c:tx>
          <c:spPr>
            <a:solidFill>
              <a:srgbClr val="1E8E86"/>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Sheet1!$C$2:$C$3</c:f>
              <c:numCache>
                <c:formatCode>General</c:formatCode>
                <c:ptCount val="2"/>
                <c:pt idx="0">
                  <c:v>22.7</c:v>
                </c:pt>
                <c:pt idx="1">
                  <c:v>23.6</c:v>
                </c:pt>
              </c:numCache>
            </c:numRef>
          </c:val>
        </c:ser>
        <c:ser>
          <c:idx val="2"/>
          <c:order val="2"/>
          <c:tx>
            <c:strRef>
              <c:f>Sheet1!$D$1</c:f>
              <c:strCache>
                <c:ptCount val="1"/>
                <c:pt idx="0">
                  <c:v>5 or more</c:v>
                </c:pt>
              </c:strCache>
            </c:strRef>
          </c:tx>
          <c:spPr>
            <a:solidFill>
              <a:srgbClr val="165A73"/>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Sheet1!$D$2:$D$3</c:f>
              <c:numCache>
                <c:formatCode>General</c:formatCode>
                <c:ptCount val="2"/>
                <c:pt idx="0">
                  <c:v>66.3</c:v>
                </c:pt>
                <c:pt idx="1">
                  <c:v>65.6</c:v>
                </c:pt>
              </c:numCache>
            </c:numRef>
          </c:val>
        </c:ser>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Nano-loan flag (% of customers)</a:t>
            </a:r>
          </a:p>
        </c:rich>
      </c:tx>
      <c:layout/>
      <c:overlay val="0"/>
    </c:title>
    <c:autoTitleDeleted val="0"/>
    <c:plotArea>
      <c:layout/>
      <c:barChart>
        <c:barDir val="bar"/>
        <c:grouping val="percentStacked"/>
        <c:varyColors val="0"/>
        <c:ser>
          <c:idx val="0"/>
          <c:order val="0"/>
          <c:tx>
            <c:strRef>
              <c:f>Sheet1!$B$1</c:f>
              <c:strCache>
                <c:ptCount val="1"/>
                <c:pt idx="0">
                  <c:v>N</c:v>
                </c:pt>
              </c:strCache>
            </c:strRef>
          </c:tx>
          <c:spPr>
            <a:solidFill>
              <a:srgbClr val="8DA0B8"/>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Sheet1!$B$2:$B$3</c:f>
              <c:numCache>
                <c:formatCode>General</c:formatCode>
                <c:ptCount val="2"/>
                <c:pt idx="0">
                  <c:v>38.2</c:v>
                </c:pt>
                <c:pt idx="1">
                  <c:v>46.2</c:v>
                </c:pt>
              </c:numCache>
            </c:numRef>
          </c:val>
        </c:ser>
        <c:ser>
          <c:idx val="1"/>
          <c:order val="1"/>
          <c:tx>
            <c:strRef>
              <c:f>Sheet1!$C$1</c:f>
              <c:strCache>
                <c:ptCount val="1"/>
                <c:pt idx="0">
                  <c:v>Y</c:v>
                </c:pt>
              </c:strCache>
            </c:strRef>
          </c:tx>
          <c:spPr>
            <a:solidFill>
              <a:srgbClr val="165A73"/>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Sheet1!$C$2:$C$3</c:f>
              <c:numCache>
                <c:formatCode>General</c:formatCode>
                <c:ptCount val="2"/>
                <c:pt idx="0">
                  <c:v>61.8</c:v>
                </c:pt>
                <c:pt idx="1">
                  <c:v>53.8</c:v>
                </c:pt>
              </c:numCache>
            </c:numRef>
          </c:val>
        </c:ser>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TRUE ecosystem (% of customers)</a:t>
            </a:r>
          </a:p>
        </c:rich>
      </c:tx>
      <c:layout/>
      <c:overlay val="0"/>
    </c:title>
    <c:autoTitleDeleted val="0"/>
    <c:plotArea>
      <c:layout/>
      <c:barChart>
        <c:barDir val="bar"/>
        <c:grouping val="percentStacked"/>
        <c:varyColors val="0"/>
        <c:ser>
          <c:idx val="0"/>
          <c:order val="0"/>
          <c:tx>
            <c:strRef>
              <c:f>Sheet1!$B$1</c:f>
              <c:strCache>
                <c:ptCount val="1"/>
                <c:pt idx="0">
                  <c:v>N</c:v>
                </c:pt>
              </c:strCache>
            </c:strRef>
          </c:tx>
          <c:spPr>
            <a:solidFill>
              <a:srgbClr val="8DA0B8"/>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Sheet1!$B$2:$B$3</c:f>
              <c:numCache>
                <c:formatCode>General</c:formatCode>
                <c:ptCount val="2"/>
                <c:pt idx="0">
                  <c:v>31.5</c:v>
                </c:pt>
                <c:pt idx="1">
                  <c:v>34.7</c:v>
                </c:pt>
              </c:numCache>
            </c:numRef>
          </c:val>
        </c:ser>
        <c:ser>
          <c:idx val="1"/>
          <c:order val="1"/>
          <c:tx>
            <c:strRef>
              <c:f>Sheet1!$C$1</c:f>
              <c:strCache>
                <c:ptCount val="1"/>
                <c:pt idx="0">
                  <c:v>Y</c:v>
                </c:pt>
              </c:strCache>
            </c:strRef>
          </c:tx>
          <c:spPr>
            <a:solidFill>
              <a:srgbClr val="165A73"/>
            </a:solidFill>
            <a:effectLst/>
          </c:spPr>
          <c:invertIfNegative val="0"/>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Sheet1!$A$2:$A$3</c:f>
              <c:multiLvlStrCache>
                <c:ptCount val="2"/>
                <c:lvl>
                  <c:pt idx="0">
                    <c:v>DL</c:v>
                  </c:pt>
                  <c:pt idx="1">
                    <c:v>PL</c:v>
                  </c:pt>
                </c:lvl>
              </c:multiLvlStrCache>
            </c:multiLvlStrRef>
          </c:cat>
          <c:val>
            <c:numRef>
              <c:f>Sheet1!$C$2:$C$3</c:f>
              <c:numCache>
                <c:formatCode>General</c:formatCode>
                <c:ptCount val="2"/>
                <c:pt idx="0">
                  <c:v>68.5</c:v>
                </c:pt>
                <c:pt idx="1">
                  <c:v>65.3</c:v>
                </c:pt>
              </c:numCache>
            </c:numRef>
          </c:val>
        </c:ser>
        <c:dLbls>
          <c:numFmt formatCode="0.0&quot;%&quot;" sourceLinked="0"/>
          <c:txPr>
            <a:bodyPr/>
            <a:lstStyle/>
            <a:p>
              <a:pPr>
                <a:defRPr b="0" i="0" strike="noStrike" sz="95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Bookings by book date (customers)</a:t>
            </a:r>
          </a:p>
        </c:rich>
      </c:tx>
      <c:layout/>
      <c:overlay val="0"/>
    </c:title>
    <c:autoTitleDeleted val="0"/>
    <c:plotArea>
      <c:layout/>
      <c:barChart>
        <c:barDir val="col"/>
        <c:grouping val="clustered"/>
        <c:varyColors val="0"/>
        <c:ser>
          <c:idx val="0"/>
          <c:order val="0"/>
          <c:tx>
            <c:strRef>
              <c:f>Sheet1!$B$1</c:f>
              <c:strCache>
                <c:ptCount val="1"/>
                <c:pt idx="0">
                  <c:v>DL</c:v>
                </c:pt>
              </c:strCache>
            </c:strRef>
          </c:tx>
          <c:spPr>
            <a:solidFill>
              <a:srgbClr val="165A73"/>
            </a:solidFill>
            <a:effectLst/>
          </c:spPr>
          <c:invertIfNegative val="0"/>
          <c:dLbls>
            <c:numFmt formatCode="#,##0" sourceLinked="0"/>
            <c:txPr>
              <a:bodyPr/>
              <a:lstStyle/>
              <a:p>
                <a:pPr>
                  <a:defRPr b="0" i="0" strike="noStrike" sz="950" u="none">
                    <a:solidFill>
                      <a:srgbClr val="16233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Sheet1!$B$2:$B$7</c:f>
              <c:numCache>
                <c:formatCode>General</c:formatCode>
                <c:ptCount val="6"/>
                <c:pt idx="0">
                  <c:v>641</c:v>
                </c:pt>
                <c:pt idx="1">
                  <c:v>12182</c:v>
                </c:pt>
                <c:pt idx="2">
                  <c:v>32182</c:v>
                </c:pt>
                <c:pt idx="3">
                  <c:v>2060</c:v>
                </c:pt>
                <c:pt idx="4">
                  <c:v>7173</c:v>
                </c:pt>
                <c:pt idx="5">
                  <c:v>9522</c:v>
                </c:pt>
              </c:numCache>
            </c:numRef>
          </c:val>
        </c:ser>
        <c:ser>
          <c:idx val="1"/>
          <c:order val="1"/>
          <c:tx>
            <c:strRef>
              <c:f>Sheet1!$C$1</c:f>
              <c:strCache>
                <c:ptCount val="1"/>
                <c:pt idx="0">
                  <c:v>PL</c:v>
                </c:pt>
              </c:strCache>
            </c:strRef>
          </c:tx>
          <c:spPr>
            <a:solidFill>
              <a:srgbClr val="3FB89F"/>
            </a:solidFill>
            <a:effectLst/>
          </c:spPr>
          <c:invertIfNegative val="0"/>
          <c:dLbls>
            <c:numFmt formatCode="#,##0" sourceLinked="0"/>
            <c:txPr>
              <a:bodyPr/>
              <a:lstStyle/>
              <a:p>
                <a:pPr>
                  <a:defRPr b="0" i="0" strike="noStrike" sz="950" u="none">
                    <a:solidFill>
                      <a:srgbClr val="16233D"/>
                    </a:solidFill>
                    <a:latin typeface="Calibri"/>
                  </a:defRPr>
                </a:pPr>
              </a:p>
            </c:txP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Sheet1!$C$2:$C$7</c:f>
              <c:numCache>
                <c:formatCode>General</c:formatCode>
                <c:ptCount val="6"/>
                <c:pt idx="0">
                  <c:v>67</c:v>
                </c:pt>
                <c:pt idx="1">
                  <c:v>398</c:v>
                </c:pt>
                <c:pt idx="2">
                  <c:v>1159</c:v>
                </c:pt>
                <c:pt idx="3">
                  <c:v>90</c:v>
                </c:pt>
                <c:pt idx="4">
                  <c:v>371</c:v>
                </c:pt>
                <c:pt idx="5">
                  <c:v>4255</c:v>
                </c:pt>
              </c:numCache>
            </c:numRef>
          </c:val>
        </c:ser>
        <c:dLbls>
          <c:numFmt formatCode="#,##0" sourceLinked="0"/>
          <c:txPr>
            <a:bodyPr/>
            <a:lstStyle/>
            <a:p>
              <a:pPr>
                <a:defRPr b="0" i="0" strike="noStrike" sz="950" u="none">
                  <a:solidFill>
                    <a:srgbClr val="16233D"/>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max val="360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Nano-loan flag by book date (% of customers)</a:t>
            </a:r>
          </a:p>
        </c:rich>
      </c:tx>
      <c:layout/>
      <c:overlay val="0"/>
    </c:title>
    <c:autoTitleDeleted val="0"/>
    <c:plotArea>
      <c:layout/>
      <c:barChart>
        <c:barDir val="col"/>
        <c:grouping val="percentStacked"/>
        <c:varyColors val="0"/>
        <c:ser>
          <c:idx val="0"/>
          <c:order val="0"/>
          <c:tx>
            <c:strRef>
              <c:f>Sheet1!$B$1</c:f>
              <c:strCache>
                <c:ptCount val="1"/>
                <c:pt idx="0">
                  <c:v>N</c:v>
                </c:pt>
              </c:strCache>
            </c:strRef>
          </c:tx>
          <c:spPr>
            <a:solidFill>
              <a:srgbClr val="8DA0B8"/>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Sheet1!$B$2:$B$7</c:f>
              <c:numCache>
                <c:formatCode>General</c:formatCode>
                <c:ptCount val="6"/>
                <c:pt idx="0">
                  <c:v>37.1</c:v>
                </c:pt>
                <c:pt idx="1">
                  <c:v>35.2</c:v>
                </c:pt>
                <c:pt idx="2">
                  <c:v>38</c:v>
                </c:pt>
                <c:pt idx="3">
                  <c:v>36.8</c:v>
                </c:pt>
                <c:pt idx="4">
                  <c:v>39.6</c:v>
                </c:pt>
                <c:pt idx="5">
                  <c:v>44.7</c:v>
                </c:pt>
              </c:numCache>
            </c:numRef>
          </c:val>
        </c:ser>
        <c:ser>
          <c:idx val="1"/>
          <c:order val="1"/>
          <c:tx>
            <c:strRef>
              <c:f>Sheet1!$C$1</c:f>
              <c:strCache>
                <c:ptCount val="1"/>
                <c:pt idx="0">
                  <c:v>Y</c:v>
                </c:pt>
              </c:strCache>
            </c:strRef>
          </c:tx>
          <c:spPr>
            <a:solidFill>
              <a:srgbClr val="165A73"/>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Sheet1!$C$2:$C$7</c:f>
              <c:numCache>
                <c:formatCode>General</c:formatCode>
                <c:ptCount val="6"/>
                <c:pt idx="0">
                  <c:v>62.9</c:v>
                </c:pt>
                <c:pt idx="1">
                  <c:v>64.8</c:v>
                </c:pt>
                <c:pt idx="2">
                  <c:v>62</c:v>
                </c:pt>
                <c:pt idx="3">
                  <c:v>63.2</c:v>
                </c:pt>
                <c:pt idx="4">
                  <c:v>60.4</c:v>
                </c:pt>
                <c:pt idx="5">
                  <c:v>55.3</c:v>
                </c:pt>
              </c:numCache>
            </c:numRef>
          </c:val>
        </c:ser>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TRUE ecosystem by book date (% of customers)</a:t>
            </a:r>
          </a:p>
        </c:rich>
      </c:tx>
      <c:layout/>
      <c:overlay val="0"/>
    </c:title>
    <c:autoTitleDeleted val="0"/>
    <c:plotArea>
      <c:layout/>
      <c:barChart>
        <c:barDir val="col"/>
        <c:grouping val="percentStacked"/>
        <c:varyColors val="0"/>
        <c:ser>
          <c:idx val="0"/>
          <c:order val="0"/>
          <c:tx>
            <c:strRef>
              <c:f>Sheet1!$B$1</c:f>
              <c:strCache>
                <c:ptCount val="1"/>
                <c:pt idx="0">
                  <c:v>N</c:v>
                </c:pt>
              </c:strCache>
            </c:strRef>
          </c:tx>
          <c:spPr>
            <a:solidFill>
              <a:srgbClr val="8DA0B8"/>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Sheet1!$B$2:$B$7</c:f>
              <c:numCache>
                <c:formatCode>General</c:formatCode>
                <c:ptCount val="6"/>
                <c:pt idx="0">
                  <c:v>18.1</c:v>
                </c:pt>
                <c:pt idx="1">
                  <c:v>29.7</c:v>
                </c:pt>
                <c:pt idx="2">
                  <c:v>31.9</c:v>
                </c:pt>
                <c:pt idx="3">
                  <c:v>31.3</c:v>
                </c:pt>
                <c:pt idx="4">
                  <c:v>32.7</c:v>
                </c:pt>
                <c:pt idx="5">
                  <c:v>33.4</c:v>
                </c:pt>
              </c:numCache>
            </c:numRef>
          </c:val>
        </c:ser>
        <c:ser>
          <c:idx val="1"/>
          <c:order val="1"/>
          <c:tx>
            <c:strRef>
              <c:f>Sheet1!$C$1</c:f>
              <c:strCache>
                <c:ptCount val="1"/>
                <c:pt idx="0">
                  <c:v>Y</c:v>
                </c:pt>
              </c:strCache>
            </c:strRef>
          </c:tx>
          <c:spPr>
            <a:solidFill>
              <a:srgbClr val="165A73"/>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Sheet1!$C$2:$C$7</c:f>
              <c:numCache>
                <c:formatCode>General</c:formatCode>
                <c:ptCount val="6"/>
                <c:pt idx="0">
                  <c:v>81.9</c:v>
                </c:pt>
                <c:pt idx="1">
                  <c:v>70.3</c:v>
                </c:pt>
                <c:pt idx="2">
                  <c:v>68.1</c:v>
                </c:pt>
                <c:pt idx="3">
                  <c:v>68.7</c:v>
                </c:pt>
                <c:pt idx="4">
                  <c:v>67.3</c:v>
                </c:pt>
                <c:pt idx="5">
                  <c:v>66.6</c:v>
                </c:pt>
              </c:numCache>
            </c:numRef>
          </c:val>
        </c:ser>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Charge type by book date (% of customers)</a:t>
            </a:r>
          </a:p>
        </c:rich>
      </c:tx>
      <c:layout/>
      <c:overlay val="0"/>
    </c:title>
    <c:autoTitleDeleted val="0"/>
    <c:plotArea>
      <c:layout/>
      <c:barChart>
        <c:barDir val="col"/>
        <c:grouping val="percentStacked"/>
        <c:varyColors val="0"/>
        <c:ser>
          <c:idx val="0"/>
          <c:order val="0"/>
          <c:tx>
            <c:strRef>
              <c:f>Sheet1!$B$1</c:f>
              <c:strCache>
                <c:ptCount val="1"/>
                <c:pt idx="0">
                  <c:v>FBB</c:v>
                </c:pt>
              </c:strCache>
            </c:strRef>
          </c:tx>
          <c:spPr>
            <a:solidFill>
              <a:srgbClr val="3FB89F"/>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Sheet1!$B$2:$B$7</c:f>
              <c:numCache>
                <c:formatCode>General</c:formatCode>
                <c:ptCount val="6"/>
                <c:pt idx="0">
                  <c:v>3.8</c:v>
                </c:pt>
                <c:pt idx="1">
                  <c:v>6.9</c:v>
                </c:pt>
                <c:pt idx="2">
                  <c:v>6.9</c:v>
                </c:pt>
                <c:pt idx="3">
                  <c:v>7.6</c:v>
                </c:pt>
                <c:pt idx="4">
                  <c:v>6.9</c:v>
                </c:pt>
                <c:pt idx="5">
                  <c:v>4.9</c:v>
                </c:pt>
              </c:numCache>
            </c:numRef>
          </c:val>
        </c:ser>
        <c:ser>
          <c:idx val="1"/>
          <c:order val="1"/>
          <c:tx>
            <c:strRef>
              <c:f>Sheet1!$C$1</c:f>
              <c:strCache>
                <c:ptCount val="1"/>
                <c:pt idx="0">
                  <c:v>Prepaid</c:v>
                </c:pt>
              </c:strCache>
            </c:strRef>
          </c:tx>
          <c:spPr>
            <a:solidFill>
              <a:srgbClr val="1E8E86"/>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Sheet1!$C$2:$C$7</c:f>
              <c:numCache>
                <c:formatCode>General</c:formatCode>
                <c:ptCount val="6"/>
                <c:pt idx="0">
                  <c:v>17.5</c:v>
                </c:pt>
                <c:pt idx="1">
                  <c:v>46.4</c:v>
                </c:pt>
                <c:pt idx="2">
                  <c:v>49.4</c:v>
                </c:pt>
                <c:pt idx="3">
                  <c:v>47.9</c:v>
                </c:pt>
                <c:pt idx="4">
                  <c:v>47.9</c:v>
                </c:pt>
                <c:pt idx="5">
                  <c:v>55</c:v>
                </c:pt>
              </c:numCache>
            </c:numRef>
          </c:val>
        </c:ser>
        <c:ser>
          <c:idx val="2"/>
          <c:order val="2"/>
          <c:tx>
            <c:strRef>
              <c:f>Sheet1!$D$1</c:f>
              <c:strCache>
                <c:ptCount val="1"/>
                <c:pt idx="0">
                  <c:v>Postpaid</c:v>
                </c:pt>
              </c:strCache>
            </c:strRef>
          </c:tx>
          <c:spPr>
            <a:solidFill>
              <a:srgbClr val="165A73"/>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Sheet1!$D$2:$D$7</c:f>
              <c:numCache>
                <c:formatCode>General</c:formatCode>
                <c:ptCount val="6"/>
                <c:pt idx="0">
                  <c:v>78.7</c:v>
                </c:pt>
                <c:pt idx="1">
                  <c:v>46.7</c:v>
                </c:pt>
                <c:pt idx="2">
                  <c:v>43.8</c:v>
                </c:pt>
                <c:pt idx="3">
                  <c:v>44.5</c:v>
                </c:pt>
                <c:pt idx="4">
                  <c:v>45.1</c:v>
                </c:pt>
                <c:pt idx="5">
                  <c:v>40.1</c:v>
                </c:pt>
              </c:numCache>
            </c:numRef>
          </c:val>
        </c:ser>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6233D"/>
                </a:solidFill>
                <a:latin typeface="Calibri"/>
              </a:defRPr>
            </a:pPr>
            <a:r>
              <a:rPr sz="1200" b="0" i="0" u="none" strike="noStrike">
                <a:solidFill>
                  <a:srgbClr val="16233D"/>
                </a:solidFill>
                <a:latin typeface="Calibri"/>
              </a:rPr>
              <a:t>Tenure in years by book date (% of customers)</a:t>
            </a:r>
          </a:p>
        </c:rich>
      </c:tx>
      <c:layout/>
      <c:overlay val="0"/>
    </c:title>
    <c:autoTitleDeleted val="0"/>
    <c:plotArea>
      <c:layout/>
      <c:barChart>
        <c:barDir val="col"/>
        <c:grouping val="percentStacked"/>
        <c:varyColors val="0"/>
        <c:ser>
          <c:idx val="0"/>
          <c:order val="0"/>
          <c:tx>
            <c:strRef>
              <c:f>Sheet1!$B$1</c:f>
              <c:strCache>
                <c:ptCount val="1"/>
                <c:pt idx="0">
                  <c:v>0–1</c:v>
                </c:pt>
              </c:strCache>
            </c:strRef>
          </c:tx>
          <c:spPr>
            <a:solidFill>
              <a:srgbClr val="3FB89F"/>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Sheet1!$B$2:$B$7</c:f>
              <c:numCache>
                <c:formatCode>General</c:formatCode>
                <c:ptCount val="6"/>
                <c:pt idx="0">
                  <c:v>4.4</c:v>
                </c:pt>
                <c:pt idx="1">
                  <c:v>11.6</c:v>
                </c:pt>
                <c:pt idx="2">
                  <c:v>11.6</c:v>
                </c:pt>
                <c:pt idx="3">
                  <c:v>10.9</c:v>
                </c:pt>
                <c:pt idx="4">
                  <c:v>10.5</c:v>
                </c:pt>
                <c:pt idx="5">
                  <c:v>9.7</c:v>
                </c:pt>
              </c:numCache>
            </c:numRef>
          </c:val>
        </c:ser>
        <c:ser>
          <c:idx val="1"/>
          <c:order val="1"/>
          <c:tx>
            <c:strRef>
              <c:f>Sheet1!$C$1</c:f>
              <c:strCache>
                <c:ptCount val="1"/>
                <c:pt idx="0">
                  <c:v>2–4</c:v>
                </c:pt>
              </c:strCache>
            </c:strRef>
          </c:tx>
          <c:spPr>
            <a:solidFill>
              <a:srgbClr val="1E8E86"/>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Sheet1!$C$2:$C$7</c:f>
              <c:numCache>
                <c:formatCode>General</c:formatCode>
                <c:ptCount val="6"/>
                <c:pt idx="0">
                  <c:v>14.7</c:v>
                </c:pt>
                <c:pt idx="1">
                  <c:v>22.7</c:v>
                </c:pt>
                <c:pt idx="2">
                  <c:v>23.3</c:v>
                </c:pt>
                <c:pt idx="3">
                  <c:v>23.1</c:v>
                </c:pt>
                <c:pt idx="4">
                  <c:v>22.7</c:v>
                </c:pt>
                <c:pt idx="5">
                  <c:v>21.9</c:v>
                </c:pt>
              </c:numCache>
            </c:numRef>
          </c:val>
        </c:ser>
        <c:ser>
          <c:idx val="2"/>
          <c:order val="2"/>
          <c:tx>
            <c:strRef>
              <c:f>Sheet1!$D$1</c:f>
              <c:strCache>
                <c:ptCount val="1"/>
                <c:pt idx="0">
                  <c:v>5 or more</c:v>
                </c:pt>
              </c:strCache>
            </c:strRef>
          </c:tx>
          <c:spPr>
            <a:solidFill>
              <a:srgbClr val="165A73"/>
            </a:solidFill>
            <a:effectLst/>
          </c:spPr>
          <c:invertIfNegative val="0"/>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Sheet1!$A$2:$A$7</c:f>
              <c:multiLvlStrCache>
                <c:ptCount val="6"/>
                <c:lvl>
                  <c:pt idx="0">
                    <c:v>bef 1 Aug</c:v>
                  </c:pt>
                  <c:pt idx="1">
                    <c:v>1-Aug</c:v>
                  </c:pt>
                  <c:pt idx="2">
                    <c:v>2-Aug</c:v>
                  </c:pt>
                  <c:pt idx="3">
                    <c:v>3-Aug</c:v>
                  </c:pt>
                  <c:pt idx="4">
                    <c:v>4-Aug</c:v>
                  </c:pt>
                  <c:pt idx="5">
                    <c:v>5-Aug</c:v>
                  </c:pt>
                </c:lvl>
              </c:multiLvlStrCache>
            </c:multiLvlStrRef>
          </c:cat>
          <c:val>
            <c:numRef>
              <c:f>Sheet1!$D$2:$D$7</c:f>
              <c:numCache>
                <c:formatCode>General</c:formatCode>
                <c:ptCount val="6"/>
                <c:pt idx="0">
                  <c:v>80.9</c:v>
                </c:pt>
                <c:pt idx="1">
                  <c:v>65.7</c:v>
                </c:pt>
                <c:pt idx="2">
                  <c:v>65.1</c:v>
                </c:pt>
                <c:pt idx="3">
                  <c:v>66</c:v>
                </c:pt>
                <c:pt idx="4">
                  <c:v>66.8</c:v>
                </c:pt>
                <c:pt idx="5">
                  <c:v>68.4</c:v>
                </c:pt>
              </c:numCache>
            </c:numRef>
          </c:val>
        </c:ser>
        <c:dLbls>
          <c:numFmt formatCode="0&quot;%&quot;" sourceLinked="0"/>
          <c:txPr>
            <a:bodyPr/>
            <a:lstStyle/>
            <a:p>
              <a:pPr>
                <a:defRPr b="0" i="0" strike="noStrike" sz="900" u="none">
                  <a:solidFill>
                    <a:srgbClr val="FFFFFF"/>
                  </a:solidFill>
                  <a:latin typeface="Calibr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233D"/>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solidFill>
                <a:srgbClr val="16233D"/>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number is from Lending_2026.08.07.pptx. Reconciliation checks: DL 85,317 + PL 9,054 = 94,371, matching the stated total booked; the cash-need and risk rows each sum to their own grand totals; and all four AIS breakdowns (charge type, nano loan, true, tenure) sum to 70,100, matching the stated AIS consortium count. The deck's text says '47K are in TRUE ecosystem'; the true table gives 47,840. Consortium bases overlap — KTB 88%, AIS 74% and OR 57% sum well past 100% because customers appear in more than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Charts use the same percent-stacked form as the cash-need and risk chart on slide 1. Biggest DL/PL gaps: nano-loan flag Y is 61.8% for DL against 53.8% for PL, and PL skews further to prepaid (56.0% vs 48.8%) with correspondingly less postpaid (37.8% vs 44.7%). Tenure and TRUE are within ~3 points across the two loan types. Counts behind the percentages - DL 63,760 and PL 6,340, totalling 70,100.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Aug alone accounts for 33,341 of the 70,100 AIS bookings (47.6%). PL is back-loaded: 4,255 of its 6,340 bookings (67%) land on 5 Aug. Nano-loan Y falls from 64.8% on 1 Aug to 55.3% on 5 Aug, a 9.5 point drop, and the PL surge on 5 Aug is part of why - PL runs a lower nano share than DL. TRUE Y drifts down more gently, 70.3% to 66.6%. Charge type and tenure are effectively flat across the same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Completes the by-book-date view: charge type and tenure alongside the nano-loan flag and TRUE on slide 3. From 1 Aug onward prepaid runs 46.4, 49.4, 47.9, 47.9, 55.0 and tenure 5+ years runs 65.7, 65.1, 66.0, 66.8, 68.4 - spreads of 8.6 and 3.3 points against 9.5 for the nano-loan flag. The 5 Aug prepaid uptick coincides with the PL surge, and PL runs a higher prepaid share than DL (56.0% vs 48.8%).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chart" Target="/ppt/charts/chart8.xm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50" b="1" spc="220" kern="0" dirty="0">
                <a:solidFill>
                  <a:srgbClr val="00A896"/>
                </a:solidFill>
                <a:latin typeface="Calibri" pitchFamily="34" charset="0"/>
                <a:ea typeface="Calibri" pitchFamily="34" charset="-122"/>
                <a:cs typeface="Calibri" pitchFamily="34" charset="-120"/>
              </a:rPr>
              <a:t>BOOK LOAN  ·  TOTAL BOOKED AS OF 5 AUG</a:t>
            </a:r>
            <a:endParaRPr lang="en-US" sz="1150" dirty="0"/>
          </a:p>
        </p:txBody>
      </p:sp>
      <p:sp>
        <p:nvSpPr>
          <p:cNvPr id="3" name="Text 1"/>
          <p:cNvSpPr/>
          <p:nvPr/>
        </p:nvSpPr>
        <p:spPr>
          <a:xfrm>
            <a:off x="548640" y="603504"/>
            <a:ext cx="11064240" cy="658368"/>
          </a:xfrm>
          <a:prstGeom prst="rect">
            <a:avLst/>
          </a:prstGeom>
          <a:noFill/>
          <a:ln/>
        </p:spPr>
        <p:txBody>
          <a:bodyPr wrap="square" lIns="0" tIns="0" rIns="0" bIns="0" rtlCol="0" anchor="t"/>
          <a:lstStyle/>
          <a:p>
            <a:pPr indent="0" marL="0">
              <a:buNone/>
            </a:pPr>
            <a:r>
              <a:rPr lang="en-US" sz="3200" b="1" dirty="0">
                <a:solidFill>
                  <a:srgbClr val="16233D"/>
                </a:solidFill>
                <a:latin typeface="Cambria" pitchFamily="34" charset="0"/>
                <a:ea typeface="Cambria" pitchFamily="34" charset="-122"/>
                <a:cs typeface="Cambria" pitchFamily="34" charset="-120"/>
              </a:rPr>
              <a:t>Nine in ten booked loans are DL</a:t>
            </a:r>
            <a:endParaRPr lang="en-US" sz="3200" dirty="0"/>
          </a:p>
        </p:txBody>
      </p:sp>
      <p:sp>
        <p:nvSpPr>
          <p:cNvPr id="4" name="Shape 2"/>
          <p:cNvSpPr/>
          <p:nvPr/>
        </p:nvSpPr>
        <p:spPr>
          <a:xfrm>
            <a:off x="548640" y="1335024"/>
            <a:ext cx="2560320" cy="1005840"/>
          </a:xfrm>
          <a:prstGeom prst="roundRect">
            <a:avLst>
              <a:gd name="adj" fmla="val 8182"/>
            </a:avLst>
          </a:prstGeom>
          <a:solidFill>
            <a:srgbClr val="F1F4F9"/>
          </a:solidFill>
          <a:ln/>
        </p:spPr>
      </p:sp>
      <p:sp>
        <p:nvSpPr>
          <p:cNvPr id="5" name="Text 3"/>
          <p:cNvSpPr/>
          <p:nvPr/>
        </p:nvSpPr>
        <p:spPr>
          <a:xfrm>
            <a:off x="777240" y="1426464"/>
            <a:ext cx="2103120" cy="402336"/>
          </a:xfrm>
          <a:prstGeom prst="rect">
            <a:avLst/>
          </a:prstGeom>
          <a:noFill/>
          <a:ln/>
        </p:spPr>
        <p:txBody>
          <a:bodyPr wrap="square" lIns="0" tIns="0" rIns="0" bIns="0" rtlCol="0" anchor="ctr"/>
          <a:lstStyle/>
          <a:p>
            <a:pPr indent="0" marL="0">
              <a:buNone/>
            </a:pPr>
            <a:r>
              <a:rPr lang="en-US" sz="2500" b="1" dirty="0">
                <a:solidFill>
                  <a:srgbClr val="00A896"/>
                </a:solidFill>
                <a:latin typeface="Cambria" pitchFamily="34" charset="0"/>
                <a:ea typeface="Cambria" pitchFamily="34" charset="-122"/>
                <a:cs typeface="Cambria" pitchFamily="34" charset="-120"/>
              </a:rPr>
              <a:t>94,371</a:t>
            </a:r>
            <a:endParaRPr lang="en-US" sz="2500" dirty="0"/>
          </a:p>
        </p:txBody>
      </p:sp>
      <p:sp>
        <p:nvSpPr>
          <p:cNvPr id="6" name="Text 4"/>
          <p:cNvSpPr/>
          <p:nvPr/>
        </p:nvSpPr>
        <p:spPr>
          <a:xfrm>
            <a:off x="777240" y="1828800"/>
            <a:ext cx="2103120" cy="256032"/>
          </a:xfrm>
          <a:prstGeom prst="rect">
            <a:avLst/>
          </a:prstGeom>
          <a:noFill/>
          <a:ln/>
        </p:spPr>
        <p:txBody>
          <a:bodyPr wrap="square" lIns="0" tIns="0" rIns="0" bIns="0" rtlCol="0" anchor="t"/>
          <a:lstStyle/>
          <a:p>
            <a:pPr indent="0" marL="0">
              <a:buNone/>
            </a:pPr>
            <a:r>
              <a:rPr lang="en-US" sz="1150" b="1" dirty="0">
                <a:solidFill>
                  <a:srgbClr val="16233D"/>
                </a:solidFill>
                <a:latin typeface="Calibri" pitchFamily="34" charset="0"/>
                <a:ea typeface="Calibri" pitchFamily="34" charset="-122"/>
                <a:cs typeface="Calibri" pitchFamily="34" charset="-120"/>
              </a:rPr>
              <a:t>total booked</a:t>
            </a:r>
            <a:endParaRPr lang="en-US" sz="1150" dirty="0"/>
          </a:p>
        </p:txBody>
      </p:sp>
      <p:sp>
        <p:nvSpPr>
          <p:cNvPr id="7" name="Text 5"/>
          <p:cNvSpPr/>
          <p:nvPr/>
        </p:nvSpPr>
        <p:spPr>
          <a:xfrm>
            <a:off x="777240" y="2066544"/>
            <a:ext cx="2103120" cy="237744"/>
          </a:xfrm>
          <a:prstGeom prst="rect">
            <a:avLst/>
          </a:prstGeom>
          <a:noFill/>
          <a:ln/>
        </p:spPr>
        <p:txBody>
          <a:bodyPr wrap="square" lIns="0" tIns="0" rIns="0" bIns="0" rtlCol="0" anchor="t"/>
          <a:lstStyle/>
          <a:p>
            <a:pPr indent="0" marL="0">
              <a:buNone/>
            </a:pPr>
            <a:r>
              <a:rPr lang="en-US" sz="1000" dirty="0">
                <a:solidFill>
                  <a:srgbClr val="6B7A90"/>
                </a:solidFill>
                <a:latin typeface="Calibri" pitchFamily="34" charset="0"/>
                <a:ea typeface="Calibri" pitchFamily="34" charset="-122"/>
                <a:cs typeface="Calibri" pitchFamily="34" charset="-120"/>
              </a:rPr>
              <a:t>as of 5 Aug</a:t>
            </a:r>
            <a:endParaRPr lang="en-US" sz="1000" dirty="0"/>
          </a:p>
        </p:txBody>
      </p:sp>
      <p:sp>
        <p:nvSpPr>
          <p:cNvPr id="8" name="Shape 6"/>
          <p:cNvSpPr/>
          <p:nvPr/>
        </p:nvSpPr>
        <p:spPr>
          <a:xfrm>
            <a:off x="3383280" y="1335024"/>
            <a:ext cx="2560320" cy="1005840"/>
          </a:xfrm>
          <a:prstGeom prst="roundRect">
            <a:avLst>
              <a:gd name="adj" fmla="val 8182"/>
            </a:avLst>
          </a:prstGeom>
          <a:solidFill>
            <a:srgbClr val="F1F4F9"/>
          </a:solidFill>
          <a:ln/>
        </p:spPr>
      </p:sp>
      <p:sp>
        <p:nvSpPr>
          <p:cNvPr id="9" name="Text 7"/>
          <p:cNvSpPr/>
          <p:nvPr/>
        </p:nvSpPr>
        <p:spPr>
          <a:xfrm>
            <a:off x="3611880" y="1426464"/>
            <a:ext cx="2103120" cy="402336"/>
          </a:xfrm>
          <a:prstGeom prst="rect">
            <a:avLst/>
          </a:prstGeom>
          <a:noFill/>
          <a:ln/>
        </p:spPr>
        <p:txBody>
          <a:bodyPr wrap="square" lIns="0" tIns="0" rIns="0" bIns="0" rtlCol="0" anchor="ctr"/>
          <a:lstStyle/>
          <a:p>
            <a:pPr indent="0" marL="0">
              <a:buNone/>
            </a:pPr>
            <a:r>
              <a:rPr lang="en-US" sz="2500" b="1" dirty="0">
                <a:solidFill>
                  <a:srgbClr val="00A896"/>
                </a:solidFill>
                <a:latin typeface="Cambria" pitchFamily="34" charset="0"/>
                <a:ea typeface="Cambria" pitchFamily="34" charset="-122"/>
                <a:cs typeface="Cambria" pitchFamily="34" charset="-120"/>
              </a:rPr>
              <a:t>90.4%</a:t>
            </a:r>
            <a:endParaRPr lang="en-US" sz="2500" dirty="0"/>
          </a:p>
        </p:txBody>
      </p:sp>
      <p:sp>
        <p:nvSpPr>
          <p:cNvPr id="10" name="Text 8"/>
          <p:cNvSpPr/>
          <p:nvPr/>
        </p:nvSpPr>
        <p:spPr>
          <a:xfrm>
            <a:off x="3611880" y="1828800"/>
            <a:ext cx="2103120" cy="256032"/>
          </a:xfrm>
          <a:prstGeom prst="rect">
            <a:avLst/>
          </a:prstGeom>
          <a:noFill/>
          <a:ln/>
        </p:spPr>
        <p:txBody>
          <a:bodyPr wrap="square" lIns="0" tIns="0" rIns="0" bIns="0" rtlCol="0" anchor="t"/>
          <a:lstStyle/>
          <a:p>
            <a:pPr indent="0" marL="0">
              <a:buNone/>
            </a:pPr>
            <a:r>
              <a:rPr lang="en-US" sz="1150" b="1" dirty="0">
                <a:solidFill>
                  <a:srgbClr val="16233D"/>
                </a:solidFill>
                <a:latin typeface="Calibri" pitchFamily="34" charset="0"/>
                <a:ea typeface="Calibri" pitchFamily="34" charset="-122"/>
                <a:cs typeface="Calibri" pitchFamily="34" charset="-120"/>
              </a:rPr>
              <a:t>of the book is DL</a:t>
            </a:r>
            <a:endParaRPr lang="en-US" sz="1150" dirty="0"/>
          </a:p>
        </p:txBody>
      </p:sp>
      <p:sp>
        <p:nvSpPr>
          <p:cNvPr id="11" name="Text 9"/>
          <p:cNvSpPr/>
          <p:nvPr/>
        </p:nvSpPr>
        <p:spPr>
          <a:xfrm>
            <a:off x="3611880" y="2066544"/>
            <a:ext cx="2103120" cy="237744"/>
          </a:xfrm>
          <a:prstGeom prst="rect">
            <a:avLst/>
          </a:prstGeom>
          <a:noFill/>
          <a:ln/>
        </p:spPr>
        <p:txBody>
          <a:bodyPr wrap="square" lIns="0" tIns="0" rIns="0" bIns="0" rtlCol="0" anchor="t"/>
          <a:lstStyle/>
          <a:p>
            <a:pPr indent="0" marL="0">
              <a:buNone/>
            </a:pPr>
            <a:r>
              <a:rPr lang="en-US" sz="1000" dirty="0">
                <a:solidFill>
                  <a:srgbClr val="6B7A90"/>
                </a:solidFill>
                <a:latin typeface="Calibri" pitchFamily="34" charset="0"/>
                <a:ea typeface="Calibri" pitchFamily="34" charset="-122"/>
                <a:cs typeface="Calibri" pitchFamily="34" charset="-120"/>
              </a:rPr>
              <a:t>85,317 DL vs 9,054 PL</a:t>
            </a:r>
            <a:endParaRPr lang="en-US" sz="1000" dirty="0"/>
          </a:p>
        </p:txBody>
      </p:sp>
      <p:sp>
        <p:nvSpPr>
          <p:cNvPr id="12" name="Shape 10"/>
          <p:cNvSpPr/>
          <p:nvPr/>
        </p:nvSpPr>
        <p:spPr>
          <a:xfrm>
            <a:off x="6217920" y="1335024"/>
            <a:ext cx="2560320" cy="1005840"/>
          </a:xfrm>
          <a:prstGeom prst="roundRect">
            <a:avLst>
              <a:gd name="adj" fmla="val 8182"/>
            </a:avLst>
          </a:prstGeom>
          <a:solidFill>
            <a:srgbClr val="F1F4F9"/>
          </a:solidFill>
          <a:ln/>
        </p:spPr>
      </p:sp>
      <p:sp>
        <p:nvSpPr>
          <p:cNvPr id="13" name="Text 11"/>
          <p:cNvSpPr/>
          <p:nvPr/>
        </p:nvSpPr>
        <p:spPr>
          <a:xfrm>
            <a:off x="6446520" y="1426464"/>
            <a:ext cx="2103120" cy="402336"/>
          </a:xfrm>
          <a:prstGeom prst="rect">
            <a:avLst/>
          </a:prstGeom>
          <a:noFill/>
          <a:ln/>
        </p:spPr>
        <p:txBody>
          <a:bodyPr wrap="square" lIns="0" tIns="0" rIns="0" bIns="0" rtlCol="0" anchor="ctr"/>
          <a:lstStyle/>
          <a:p>
            <a:pPr indent="0" marL="0">
              <a:buNone/>
            </a:pPr>
            <a:r>
              <a:rPr lang="en-US" sz="2500" b="1" dirty="0">
                <a:solidFill>
                  <a:srgbClr val="E9A03B"/>
                </a:solidFill>
                <a:latin typeface="Cambria" pitchFamily="34" charset="0"/>
                <a:ea typeface="Cambria" pitchFamily="34" charset="-122"/>
                <a:cs typeface="Cambria" pitchFamily="34" charset="-120"/>
              </a:rPr>
              <a:t>64.5%</a:t>
            </a:r>
            <a:endParaRPr lang="en-US" sz="2500" dirty="0"/>
          </a:p>
        </p:txBody>
      </p:sp>
      <p:sp>
        <p:nvSpPr>
          <p:cNvPr id="14" name="Text 12"/>
          <p:cNvSpPr/>
          <p:nvPr/>
        </p:nvSpPr>
        <p:spPr>
          <a:xfrm>
            <a:off x="6446520" y="1828800"/>
            <a:ext cx="2103120" cy="256032"/>
          </a:xfrm>
          <a:prstGeom prst="rect">
            <a:avLst/>
          </a:prstGeom>
          <a:noFill/>
          <a:ln/>
        </p:spPr>
        <p:txBody>
          <a:bodyPr wrap="square" lIns="0" tIns="0" rIns="0" bIns="0" rtlCol="0" anchor="t"/>
          <a:lstStyle/>
          <a:p>
            <a:pPr indent="0" marL="0">
              <a:buNone/>
            </a:pPr>
            <a:r>
              <a:rPr lang="en-US" sz="1150" b="1" dirty="0">
                <a:solidFill>
                  <a:srgbClr val="16233D"/>
                </a:solidFill>
                <a:latin typeface="Calibri" pitchFamily="34" charset="0"/>
                <a:ea typeface="Calibri" pitchFamily="34" charset="-122"/>
                <a:cs typeface="Calibri" pitchFamily="34" charset="-120"/>
              </a:rPr>
              <a:t>sit at high cash need</a:t>
            </a:r>
            <a:endParaRPr lang="en-US" sz="1150" dirty="0"/>
          </a:p>
        </p:txBody>
      </p:sp>
      <p:sp>
        <p:nvSpPr>
          <p:cNvPr id="15" name="Text 13"/>
          <p:cNvSpPr/>
          <p:nvPr/>
        </p:nvSpPr>
        <p:spPr>
          <a:xfrm>
            <a:off x="6446520" y="2066544"/>
            <a:ext cx="2103120" cy="237744"/>
          </a:xfrm>
          <a:prstGeom prst="rect">
            <a:avLst/>
          </a:prstGeom>
          <a:noFill/>
          <a:ln/>
        </p:spPr>
        <p:txBody>
          <a:bodyPr wrap="square" lIns="0" tIns="0" rIns="0" bIns="0" rtlCol="0" anchor="t"/>
          <a:lstStyle/>
          <a:p>
            <a:pPr indent="0" marL="0">
              <a:buNone/>
            </a:pPr>
            <a:r>
              <a:rPr lang="en-US" sz="1000" dirty="0">
                <a:solidFill>
                  <a:srgbClr val="6B7A90"/>
                </a:solidFill>
                <a:latin typeface="Calibri" pitchFamily="34" charset="0"/>
                <a:ea typeface="Calibri" pitchFamily="34" charset="-122"/>
                <a:cs typeface="Calibri" pitchFamily="34" charset="-120"/>
              </a:rPr>
              <a:t>60,839 customers</a:t>
            </a:r>
            <a:endParaRPr lang="en-US" sz="1000" dirty="0"/>
          </a:p>
        </p:txBody>
      </p:sp>
      <p:sp>
        <p:nvSpPr>
          <p:cNvPr id="16" name="Shape 14"/>
          <p:cNvSpPr/>
          <p:nvPr/>
        </p:nvSpPr>
        <p:spPr>
          <a:xfrm>
            <a:off x="9052560" y="1335024"/>
            <a:ext cx="2560320" cy="1005840"/>
          </a:xfrm>
          <a:prstGeom prst="roundRect">
            <a:avLst>
              <a:gd name="adj" fmla="val 8182"/>
            </a:avLst>
          </a:prstGeom>
          <a:solidFill>
            <a:srgbClr val="F1F4F9"/>
          </a:solidFill>
          <a:ln/>
        </p:spPr>
      </p:sp>
      <p:sp>
        <p:nvSpPr>
          <p:cNvPr id="17" name="Text 15"/>
          <p:cNvSpPr/>
          <p:nvPr/>
        </p:nvSpPr>
        <p:spPr>
          <a:xfrm>
            <a:off x="9281160" y="1426464"/>
            <a:ext cx="2103120" cy="402336"/>
          </a:xfrm>
          <a:prstGeom prst="rect">
            <a:avLst/>
          </a:prstGeom>
          <a:noFill/>
          <a:ln/>
        </p:spPr>
        <p:txBody>
          <a:bodyPr wrap="square" lIns="0" tIns="0" rIns="0" bIns="0" rtlCol="0" anchor="ctr"/>
          <a:lstStyle/>
          <a:p>
            <a:pPr indent="0" marL="0">
              <a:buNone/>
            </a:pPr>
            <a:r>
              <a:rPr lang="en-US" sz="2500" b="1" dirty="0">
                <a:solidFill>
                  <a:srgbClr val="00A896"/>
                </a:solidFill>
                <a:latin typeface="Cambria" pitchFamily="34" charset="0"/>
                <a:ea typeface="Cambria" pitchFamily="34" charset="-122"/>
                <a:cs typeface="Cambria" pitchFamily="34" charset="-120"/>
              </a:rPr>
              <a:t>99.2%</a:t>
            </a:r>
            <a:endParaRPr lang="en-US" sz="2500" dirty="0"/>
          </a:p>
        </p:txBody>
      </p:sp>
      <p:sp>
        <p:nvSpPr>
          <p:cNvPr id="18" name="Text 16"/>
          <p:cNvSpPr/>
          <p:nvPr/>
        </p:nvSpPr>
        <p:spPr>
          <a:xfrm>
            <a:off x="9281160" y="1828800"/>
            <a:ext cx="2103120" cy="256032"/>
          </a:xfrm>
          <a:prstGeom prst="rect">
            <a:avLst/>
          </a:prstGeom>
          <a:noFill/>
          <a:ln/>
        </p:spPr>
        <p:txBody>
          <a:bodyPr wrap="square" lIns="0" tIns="0" rIns="0" bIns="0" rtlCol="0" anchor="t"/>
          <a:lstStyle/>
          <a:p>
            <a:pPr indent="0" marL="0">
              <a:buNone/>
            </a:pPr>
            <a:r>
              <a:rPr lang="en-US" sz="1150" b="1" dirty="0">
                <a:solidFill>
                  <a:srgbClr val="16233D"/>
                </a:solidFill>
                <a:latin typeface="Calibri" pitchFamily="34" charset="0"/>
                <a:ea typeface="Calibri" pitchFamily="34" charset="-122"/>
                <a:cs typeface="Calibri" pitchFamily="34" charset="-120"/>
              </a:rPr>
              <a:t>are in a consortium</a:t>
            </a:r>
            <a:endParaRPr lang="en-US" sz="1150" dirty="0"/>
          </a:p>
        </p:txBody>
      </p:sp>
      <p:sp>
        <p:nvSpPr>
          <p:cNvPr id="19" name="Text 17"/>
          <p:cNvSpPr/>
          <p:nvPr/>
        </p:nvSpPr>
        <p:spPr>
          <a:xfrm>
            <a:off x="9281160" y="2066544"/>
            <a:ext cx="2103120" cy="237744"/>
          </a:xfrm>
          <a:prstGeom prst="rect">
            <a:avLst/>
          </a:prstGeom>
          <a:noFill/>
          <a:ln/>
        </p:spPr>
        <p:txBody>
          <a:bodyPr wrap="square" lIns="0" tIns="0" rIns="0" bIns="0" rtlCol="0" anchor="t"/>
          <a:lstStyle/>
          <a:p>
            <a:pPr indent="0" marL="0">
              <a:buNone/>
            </a:pPr>
            <a:r>
              <a:rPr lang="en-US" sz="1000" dirty="0">
                <a:solidFill>
                  <a:srgbClr val="6B7A90"/>
                </a:solidFill>
                <a:latin typeface="Calibri" pitchFamily="34" charset="0"/>
                <a:ea typeface="Calibri" pitchFamily="34" charset="-122"/>
                <a:cs typeface="Calibri" pitchFamily="34" charset="-120"/>
              </a:rPr>
              <a:t>only 794 in none</a:t>
            </a:r>
            <a:endParaRPr lang="en-US" sz="1000" dirty="0"/>
          </a:p>
        </p:txBody>
      </p:sp>
      <p:sp>
        <p:nvSpPr>
          <p:cNvPr id="20" name="Shape 18"/>
          <p:cNvSpPr/>
          <p:nvPr/>
        </p:nvSpPr>
        <p:spPr>
          <a:xfrm>
            <a:off x="548640" y="2523744"/>
            <a:ext cx="5440680" cy="2304288"/>
          </a:xfrm>
          <a:prstGeom prst="roundRect">
            <a:avLst>
              <a:gd name="adj" fmla="val 3571"/>
            </a:avLst>
          </a:prstGeom>
          <a:solidFill>
            <a:srgbClr val="F1F4F9"/>
          </a:solidFill>
          <a:ln/>
        </p:spPr>
      </p:sp>
      <p:sp>
        <p:nvSpPr>
          <p:cNvPr id="21" name="Text 19"/>
          <p:cNvSpPr/>
          <p:nvPr/>
        </p:nvSpPr>
        <p:spPr>
          <a:xfrm>
            <a:off x="822960" y="2688336"/>
            <a:ext cx="4892040" cy="274320"/>
          </a:xfrm>
          <a:prstGeom prst="rect">
            <a:avLst/>
          </a:prstGeom>
          <a:noFill/>
          <a:ln/>
        </p:spPr>
        <p:txBody>
          <a:bodyPr wrap="square" lIns="0" tIns="0" rIns="0" bIns="0" rtlCol="0" anchor="ctr"/>
          <a:lstStyle/>
          <a:p>
            <a:pPr indent="0" marL="0">
              <a:buNone/>
            </a:pPr>
            <a:r>
              <a:rPr lang="en-US" sz="1500" b="1" dirty="0">
                <a:solidFill>
                  <a:srgbClr val="16233D"/>
                </a:solidFill>
                <a:latin typeface="Cambria" pitchFamily="34" charset="0"/>
                <a:ea typeface="Cambria" pitchFamily="34" charset="-122"/>
                <a:cs typeface="Cambria" pitchFamily="34" charset="-120"/>
              </a:rPr>
              <a:t>Consortium penetration</a:t>
            </a:r>
            <a:endParaRPr lang="en-US" sz="1500" dirty="0"/>
          </a:p>
        </p:txBody>
      </p:sp>
      <p:sp>
        <p:nvSpPr>
          <p:cNvPr id="22" name="Text 20"/>
          <p:cNvSpPr/>
          <p:nvPr/>
        </p:nvSpPr>
        <p:spPr>
          <a:xfrm>
            <a:off x="822960" y="2962656"/>
            <a:ext cx="4892040" cy="237744"/>
          </a:xfrm>
          <a:prstGeom prst="rect">
            <a:avLst/>
          </a:prstGeom>
          <a:noFill/>
          <a:ln/>
        </p:spPr>
        <p:txBody>
          <a:bodyPr wrap="square" lIns="0" tIns="0" rIns="0" bIns="0" rtlCol="0" anchor="ctr"/>
          <a:lstStyle/>
          <a:p>
            <a:pPr indent="0" marL="0">
              <a:buNone/>
            </a:pPr>
            <a:r>
              <a:rPr lang="en-US" sz="1000" dirty="0">
                <a:solidFill>
                  <a:srgbClr val="6B7A90"/>
                </a:solidFill>
                <a:latin typeface="Calibri" pitchFamily="34" charset="0"/>
                <a:ea typeface="Calibri" pitchFamily="34" charset="-122"/>
                <a:cs typeface="Calibri" pitchFamily="34" charset="-120"/>
              </a:rPr>
              <a:t>Share of the 94,371 booked customers found in each base</a:t>
            </a:r>
            <a:endParaRPr lang="en-US" sz="1000" dirty="0"/>
          </a:p>
        </p:txBody>
      </p:sp>
      <p:sp>
        <p:nvSpPr>
          <p:cNvPr id="23" name="Text 21"/>
          <p:cNvSpPr/>
          <p:nvPr/>
        </p:nvSpPr>
        <p:spPr>
          <a:xfrm>
            <a:off x="822960" y="3310128"/>
            <a:ext cx="1051560" cy="274320"/>
          </a:xfrm>
          <a:prstGeom prst="rect">
            <a:avLst/>
          </a:prstGeom>
          <a:noFill/>
          <a:ln/>
        </p:spPr>
        <p:txBody>
          <a:bodyPr wrap="square" lIns="0" tIns="0" rIns="0" bIns="0" rtlCol="0" anchor="ctr"/>
          <a:lstStyle/>
          <a:p>
            <a:pPr indent="0" marL="0">
              <a:buNone/>
            </a:pPr>
            <a:r>
              <a:rPr lang="en-US" sz="1150" b="1" dirty="0">
                <a:solidFill>
                  <a:srgbClr val="16233D"/>
                </a:solidFill>
                <a:latin typeface="Calibri" pitchFamily="34" charset="0"/>
                <a:ea typeface="Calibri" pitchFamily="34" charset="-122"/>
                <a:cs typeface="Calibri" pitchFamily="34" charset="-120"/>
              </a:rPr>
              <a:t>KTB</a:t>
            </a:r>
            <a:endParaRPr lang="en-US" sz="1150" dirty="0"/>
          </a:p>
        </p:txBody>
      </p:sp>
      <p:sp>
        <p:nvSpPr>
          <p:cNvPr id="24" name="Shape 22"/>
          <p:cNvSpPr/>
          <p:nvPr/>
        </p:nvSpPr>
        <p:spPr>
          <a:xfrm>
            <a:off x="1965960" y="3355848"/>
            <a:ext cx="2092147" cy="182880"/>
          </a:xfrm>
          <a:prstGeom prst="roundRect">
            <a:avLst>
              <a:gd name="adj" fmla="val 20000"/>
            </a:avLst>
          </a:prstGeom>
          <a:solidFill>
            <a:srgbClr val="165A73"/>
          </a:solidFill>
          <a:ln/>
        </p:spPr>
      </p:sp>
      <p:sp>
        <p:nvSpPr>
          <p:cNvPr id="25" name="Text 23"/>
          <p:cNvSpPr/>
          <p:nvPr/>
        </p:nvSpPr>
        <p:spPr>
          <a:xfrm>
            <a:off x="4480560" y="3310128"/>
            <a:ext cx="1234440" cy="274320"/>
          </a:xfrm>
          <a:prstGeom prst="rect">
            <a:avLst/>
          </a:prstGeom>
          <a:noFill/>
          <a:ln/>
        </p:spPr>
        <p:txBody>
          <a:bodyPr wrap="square" lIns="0" tIns="0" rIns="0" bIns="0" rtlCol="0" anchor="ctr"/>
          <a:lstStyle/>
          <a:p>
            <a:pPr algn="r" indent="0" marL="0">
              <a:buNone/>
            </a:pPr>
            <a:r>
              <a:rPr lang="en-US" sz="1150" b="1" dirty="0">
                <a:solidFill>
                  <a:srgbClr val="16233D"/>
                </a:solidFill>
                <a:latin typeface="Cambria" pitchFamily="34" charset="0"/>
                <a:ea typeface="Cambria" pitchFamily="34" charset="-122"/>
                <a:cs typeface="Cambria" pitchFamily="34" charset="-120"/>
              </a:rPr>
              <a:t>83,362  ·  88%</a:t>
            </a:r>
            <a:endParaRPr lang="en-US" sz="1150" dirty="0"/>
          </a:p>
        </p:txBody>
      </p:sp>
      <p:sp>
        <p:nvSpPr>
          <p:cNvPr id="26" name="Text 24"/>
          <p:cNvSpPr/>
          <p:nvPr/>
        </p:nvSpPr>
        <p:spPr>
          <a:xfrm>
            <a:off x="822960" y="3675888"/>
            <a:ext cx="1051560" cy="274320"/>
          </a:xfrm>
          <a:prstGeom prst="rect">
            <a:avLst/>
          </a:prstGeom>
          <a:noFill/>
          <a:ln/>
        </p:spPr>
        <p:txBody>
          <a:bodyPr wrap="square" lIns="0" tIns="0" rIns="0" bIns="0" rtlCol="0" anchor="ctr"/>
          <a:lstStyle/>
          <a:p>
            <a:pPr indent="0" marL="0">
              <a:buNone/>
            </a:pPr>
            <a:r>
              <a:rPr lang="en-US" sz="1150" b="1" dirty="0">
                <a:solidFill>
                  <a:srgbClr val="16233D"/>
                </a:solidFill>
                <a:latin typeface="Calibri" pitchFamily="34" charset="0"/>
                <a:ea typeface="Calibri" pitchFamily="34" charset="-122"/>
                <a:cs typeface="Calibri" pitchFamily="34" charset="-120"/>
              </a:rPr>
              <a:t>AIS</a:t>
            </a:r>
            <a:endParaRPr lang="en-US" sz="1150" dirty="0"/>
          </a:p>
        </p:txBody>
      </p:sp>
      <p:sp>
        <p:nvSpPr>
          <p:cNvPr id="27" name="Shape 25"/>
          <p:cNvSpPr/>
          <p:nvPr/>
        </p:nvSpPr>
        <p:spPr>
          <a:xfrm>
            <a:off x="1965960" y="3721608"/>
            <a:ext cx="1759306" cy="182880"/>
          </a:xfrm>
          <a:prstGeom prst="roundRect">
            <a:avLst>
              <a:gd name="adj" fmla="val 20000"/>
            </a:avLst>
          </a:prstGeom>
          <a:solidFill>
            <a:srgbClr val="1E8E86"/>
          </a:solidFill>
          <a:ln/>
        </p:spPr>
      </p:sp>
      <p:sp>
        <p:nvSpPr>
          <p:cNvPr id="28" name="Text 26"/>
          <p:cNvSpPr/>
          <p:nvPr/>
        </p:nvSpPr>
        <p:spPr>
          <a:xfrm>
            <a:off x="4480560" y="3675888"/>
            <a:ext cx="1234440" cy="274320"/>
          </a:xfrm>
          <a:prstGeom prst="rect">
            <a:avLst/>
          </a:prstGeom>
          <a:noFill/>
          <a:ln/>
        </p:spPr>
        <p:txBody>
          <a:bodyPr wrap="square" lIns="0" tIns="0" rIns="0" bIns="0" rtlCol="0" anchor="ctr"/>
          <a:lstStyle/>
          <a:p>
            <a:pPr algn="r" indent="0" marL="0">
              <a:buNone/>
            </a:pPr>
            <a:r>
              <a:rPr lang="en-US" sz="1150" b="1" dirty="0">
                <a:solidFill>
                  <a:srgbClr val="16233D"/>
                </a:solidFill>
                <a:latin typeface="Cambria" pitchFamily="34" charset="0"/>
                <a:ea typeface="Cambria" pitchFamily="34" charset="-122"/>
                <a:cs typeface="Cambria" pitchFamily="34" charset="-120"/>
              </a:rPr>
              <a:t>70,100  ·  74%</a:t>
            </a:r>
            <a:endParaRPr lang="en-US" sz="1150" dirty="0"/>
          </a:p>
        </p:txBody>
      </p:sp>
      <p:sp>
        <p:nvSpPr>
          <p:cNvPr id="29" name="Text 27"/>
          <p:cNvSpPr/>
          <p:nvPr/>
        </p:nvSpPr>
        <p:spPr>
          <a:xfrm>
            <a:off x="822960" y="4041648"/>
            <a:ext cx="1051560" cy="274320"/>
          </a:xfrm>
          <a:prstGeom prst="rect">
            <a:avLst/>
          </a:prstGeom>
          <a:noFill/>
          <a:ln/>
        </p:spPr>
        <p:txBody>
          <a:bodyPr wrap="square" lIns="0" tIns="0" rIns="0" bIns="0" rtlCol="0" anchor="ctr"/>
          <a:lstStyle/>
          <a:p>
            <a:pPr indent="0" marL="0">
              <a:buNone/>
            </a:pPr>
            <a:r>
              <a:rPr lang="en-US" sz="1150" b="1" dirty="0">
                <a:solidFill>
                  <a:srgbClr val="16233D"/>
                </a:solidFill>
                <a:latin typeface="Calibri" pitchFamily="34" charset="0"/>
                <a:ea typeface="Calibri" pitchFamily="34" charset="-122"/>
                <a:cs typeface="Calibri" pitchFamily="34" charset="-120"/>
              </a:rPr>
              <a:t>OR</a:t>
            </a:r>
            <a:endParaRPr lang="en-US" sz="1150" dirty="0"/>
          </a:p>
        </p:txBody>
      </p:sp>
      <p:sp>
        <p:nvSpPr>
          <p:cNvPr id="30" name="Shape 28"/>
          <p:cNvSpPr/>
          <p:nvPr/>
        </p:nvSpPr>
        <p:spPr>
          <a:xfrm>
            <a:off x="1965960" y="4087368"/>
            <a:ext cx="1355141" cy="182880"/>
          </a:xfrm>
          <a:prstGeom prst="roundRect">
            <a:avLst>
              <a:gd name="adj" fmla="val 20000"/>
            </a:avLst>
          </a:prstGeom>
          <a:solidFill>
            <a:srgbClr val="3FB89F"/>
          </a:solidFill>
          <a:ln/>
        </p:spPr>
      </p:sp>
      <p:sp>
        <p:nvSpPr>
          <p:cNvPr id="31" name="Text 29"/>
          <p:cNvSpPr/>
          <p:nvPr/>
        </p:nvSpPr>
        <p:spPr>
          <a:xfrm>
            <a:off x="4480560" y="4041648"/>
            <a:ext cx="1234440" cy="274320"/>
          </a:xfrm>
          <a:prstGeom prst="rect">
            <a:avLst/>
          </a:prstGeom>
          <a:noFill/>
          <a:ln/>
        </p:spPr>
        <p:txBody>
          <a:bodyPr wrap="square" lIns="0" tIns="0" rIns="0" bIns="0" rtlCol="0" anchor="ctr"/>
          <a:lstStyle/>
          <a:p>
            <a:pPr algn="r" indent="0" marL="0">
              <a:buNone/>
            </a:pPr>
            <a:r>
              <a:rPr lang="en-US" sz="1150" b="1" dirty="0">
                <a:solidFill>
                  <a:srgbClr val="16233D"/>
                </a:solidFill>
                <a:latin typeface="Cambria" pitchFamily="34" charset="0"/>
                <a:ea typeface="Cambria" pitchFamily="34" charset="-122"/>
                <a:cs typeface="Cambria" pitchFamily="34" charset="-120"/>
              </a:rPr>
              <a:t>53,712  ·  57%</a:t>
            </a:r>
            <a:endParaRPr lang="en-US" sz="1150" dirty="0"/>
          </a:p>
        </p:txBody>
      </p:sp>
      <p:sp>
        <p:nvSpPr>
          <p:cNvPr id="32" name="Text 30"/>
          <p:cNvSpPr/>
          <p:nvPr/>
        </p:nvSpPr>
        <p:spPr>
          <a:xfrm>
            <a:off x="822960" y="4407408"/>
            <a:ext cx="1051560" cy="274320"/>
          </a:xfrm>
          <a:prstGeom prst="rect">
            <a:avLst/>
          </a:prstGeom>
          <a:noFill/>
          <a:ln/>
        </p:spPr>
        <p:txBody>
          <a:bodyPr wrap="square" lIns="0" tIns="0" rIns="0" bIns="0" rtlCol="0" anchor="ctr"/>
          <a:lstStyle/>
          <a:p>
            <a:pPr indent="0" marL="0">
              <a:buNone/>
            </a:pPr>
            <a:r>
              <a:rPr lang="en-US" sz="1150" b="1" dirty="0">
                <a:solidFill>
                  <a:srgbClr val="16233D"/>
                </a:solidFill>
                <a:latin typeface="Calibri" pitchFamily="34" charset="0"/>
                <a:ea typeface="Calibri" pitchFamily="34" charset="-122"/>
                <a:cs typeface="Calibri" pitchFamily="34" charset="-120"/>
              </a:rPr>
              <a:t>Not in any</a:t>
            </a:r>
            <a:endParaRPr lang="en-US" sz="1150" dirty="0"/>
          </a:p>
        </p:txBody>
      </p:sp>
      <p:sp>
        <p:nvSpPr>
          <p:cNvPr id="33" name="Shape 31"/>
          <p:cNvSpPr/>
          <p:nvPr/>
        </p:nvSpPr>
        <p:spPr>
          <a:xfrm>
            <a:off x="1965960" y="4453128"/>
            <a:ext cx="54864" cy="182880"/>
          </a:xfrm>
          <a:prstGeom prst="roundRect">
            <a:avLst>
              <a:gd name="adj" fmla="val 66667"/>
            </a:avLst>
          </a:prstGeom>
          <a:solidFill>
            <a:srgbClr val="8DA0B8"/>
          </a:solidFill>
          <a:ln/>
        </p:spPr>
      </p:sp>
      <p:sp>
        <p:nvSpPr>
          <p:cNvPr id="34" name="Text 32"/>
          <p:cNvSpPr/>
          <p:nvPr/>
        </p:nvSpPr>
        <p:spPr>
          <a:xfrm>
            <a:off x="4480560" y="4407408"/>
            <a:ext cx="1234440" cy="274320"/>
          </a:xfrm>
          <a:prstGeom prst="rect">
            <a:avLst/>
          </a:prstGeom>
          <a:noFill/>
          <a:ln/>
        </p:spPr>
        <p:txBody>
          <a:bodyPr wrap="square" lIns="0" tIns="0" rIns="0" bIns="0" rtlCol="0" anchor="ctr"/>
          <a:lstStyle/>
          <a:p>
            <a:pPr algn="r" indent="0" marL="0">
              <a:buNone/>
            </a:pPr>
            <a:r>
              <a:rPr lang="en-US" sz="1150" b="1" dirty="0">
                <a:solidFill>
                  <a:srgbClr val="16233D"/>
                </a:solidFill>
                <a:latin typeface="Cambria" pitchFamily="34" charset="0"/>
                <a:ea typeface="Cambria" pitchFamily="34" charset="-122"/>
                <a:cs typeface="Cambria" pitchFamily="34" charset="-120"/>
              </a:rPr>
              <a:t>794  ·  0.8%</a:t>
            </a:r>
            <a:endParaRPr lang="en-US" sz="1150" dirty="0"/>
          </a:p>
        </p:txBody>
      </p:sp>
      <p:sp>
        <p:nvSpPr>
          <p:cNvPr id="35" name="Shape 33"/>
          <p:cNvSpPr/>
          <p:nvPr/>
        </p:nvSpPr>
        <p:spPr>
          <a:xfrm>
            <a:off x="6172200" y="2523744"/>
            <a:ext cx="5440680" cy="2304288"/>
          </a:xfrm>
          <a:prstGeom prst="roundRect">
            <a:avLst>
              <a:gd name="adj" fmla="val 3571"/>
            </a:avLst>
          </a:prstGeom>
          <a:solidFill>
            <a:srgbClr val="F1F4F9"/>
          </a:solidFill>
          <a:ln/>
        </p:spPr>
      </p:sp>
      <p:graphicFrame>
        <p:nvGraphicFramePr>
          <p:cNvPr id="36" name="Chart 0" descr=""/>
          <p:cNvGraphicFramePr/>
          <p:nvPr/>
        </p:nvGraphicFramePr>
        <p:xfrm>
          <a:off x="6291072" y="2615184"/>
          <a:ext cx="5230368" cy="2139696"/>
        </p:xfrm>
        <a:graphic xmlns:a="http://schemas.openxmlformats.org/drawingml/2006/main">
          <a:graphicData uri="http://schemas.openxmlformats.org/drawingml/2006/chart">
            <c:chart xmlns:c="http://schemas.openxmlformats.org/drawingml/2006/chart" r:id="rId1"/>
          </a:graphicData>
        </a:graphic>
      </p:graphicFrame>
      <p:sp>
        <p:nvSpPr>
          <p:cNvPr id="37" name="Shape 34"/>
          <p:cNvSpPr/>
          <p:nvPr/>
        </p:nvSpPr>
        <p:spPr>
          <a:xfrm>
            <a:off x="548640" y="5010912"/>
            <a:ext cx="11064240" cy="1152144"/>
          </a:xfrm>
          <a:prstGeom prst="roundRect">
            <a:avLst>
              <a:gd name="adj" fmla="val 7143"/>
            </a:avLst>
          </a:prstGeom>
          <a:solidFill>
            <a:srgbClr val="0E1E3C"/>
          </a:solidFill>
          <a:ln/>
        </p:spPr>
      </p:sp>
      <p:sp>
        <p:nvSpPr>
          <p:cNvPr id="38" name="Text 35"/>
          <p:cNvSpPr/>
          <p:nvPr/>
        </p:nvSpPr>
        <p:spPr>
          <a:xfrm>
            <a:off x="914400" y="5175504"/>
            <a:ext cx="10332720" cy="237744"/>
          </a:xfrm>
          <a:prstGeom prst="rect">
            <a:avLst/>
          </a:prstGeom>
          <a:noFill/>
          <a:ln/>
        </p:spPr>
        <p:txBody>
          <a:bodyPr wrap="square" lIns="0" tIns="0" rIns="0" bIns="0" rtlCol="0" anchor="ctr"/>
          <a:lstStyle/>
          <a:p>
            <a:pPr indent="0" marL="0">
              <a:buNone/>
            </a:pPr>
            <a:r>
              <a:rPr lang="en-US" sz="1050" b="1" spc="180" kern="0" dirty="0">
                <a:solidFill>
                  <a:srgbClr val="5FD6BE"/>
                </a:solidFill>
                <a:latin typeface="Calibri" pitchFamily="34" charset="0"/>
                <a:ea typeface="Calibri" pitchFamily="34" charset="-122"/>
                <a:cs typeface="Calibri" pitchFamily="34" charset="-120"/>
              </a:rPr>
              <a:t>AIS BASE INFORMATION  ·  70.1K</a:t>
            </a:r>
            <a:endParaRPr lang="en-US" sz="1050" dirty="0"/>
          </a:p>
        </p:txBody>
      </p:sp>
      <p:sp>
        <p:nvSpPr>
          <p:cNvPr id="39" name="Text 36"/>
          <p:cNvSpPr/>
          <p:nvPr/>
        </p:nvSpPr>
        <p:spPr>
          <a:xfrm>
            <a:off x="914400" y="5413248"/>
            <a:ext cx="10332720" cy="694944"/>
          </a:xfrm>
          <a:prstGeom prst="rect">
            <a:avLst/>
          </a:prstGeom>
          <a:noFill/>
          <a:ln/>
        </p:spPr>
        <p:txBody>
          <a:bodyPr wrap="square" lIns="0" tIns="0" rIns="0" bIns="0" rtlCol="0" anchor="t"/>
          <a:lstStyle/>
          <a:p>
            <a:pPr indent="0" marL="0">
              <a:lnSpc>
                <a:spcPts val="1600"/>
              </a:lnSpc>
              <a:buNone/>
            </a:pPr>
            <a:r>
              <a:rPr lang="en-US" sz="1100" b="1" dirty="0">
                <a:solidFill>
                  <a:srgbClr val="5FD6BE"/>
                </a:solidFill>
                <a:latin typeface="Calibri" pitchFamily="34" charset="0"/>
                <a:ea typeface="Calibri" pitchFamily="34" charset="-122"/>
                <a:cs typeface="Calibri" pitchFamily="34" charset="-120"/>
              </a:rPr>
              <a:t>68% sit in the TRUE ecosystem</a:t>
            </a:r>
            <a:pPr indent="0" marL="0">
              <a:lnSpc>
                <a:spcPts val="1600"/>
              </a:lnSpc>
              <a:buNone/>
            </a:pPr>
            <a:r>
              <a:rPr lang="en-US" sz="1100" dirty="0">
                <a:solidFill>
                  <a:srgbClr val="C3D0E2"/>
                </a:solidFill>
                <a:latin typeface="Calibri" pitchFamily="34" charset="0"/>
                <a:ea typeface="Calibri" pitchFamily="34" charset="-122"/>
                <a:cs typeface="Calibri" pitchFamily="34" charset="-120"/>
              </a:rPr>
              <a:t> (47,840) · </a:t>
            </a:r>
            <a:pPr indent="0" marL="0">
              <a:lnSpc>
                <a:spcPts val="1600"/>
              </a:lnSpc>
              <a:buNone/>
            </a:pPr>
            <a:r>
              <a:rPr lang="en-US" sz="1100" b="1" dirty="0">
                <a:solidFill>
                  <a:srgbClr val="5FD6BE"/>
                </a:solidFill>
                <a:latin typeface="Calibri" pitchFamily="34" charset="0"/>
                <a:ea typeface="Calibri" pitchFamily="34" charset="-122"/>
                <a:cs typeface="Calibri" pitchFamily="34" charset="-120"/>
              </a:rPr>
              <a:t>61% carry the nano-loan flag</a:t>
            </a:r>
            <a:pPr indent="0" marL="0">
              <a:lnSpc>
                <a:spcPts val="1600"/>
              </a:lnSpc>
              <a:buNone/>
            </a:pPr>
            <a:r>
              <a:rPr lang="en-US" sz="1100" dirty="0">
                <a:solidFill>
                  <a:srgbClr val="C3D0E2"/>
                </a:solidFill>
                <a:latin typeface="Calibri" pitchFamily="34" charset="0"/>
                <a:ea typeface="Calibri" pitchFamily="34" charset="-122"/>
                <a:cs typeface="Calibri" pitchFamily="34" charset="-120"/>
              </a:rPr>
              <a:t> (42,806) · </a:t>
            </a:r>
            <a:pPr indent="0" marL="0">
              <a:lnSpc>
                <a:spcPts val="1600"/>
              </a:lnSpc>
              <a:buNone/>
            </a:pPr>
            <a:r>
              <a:rPr lang="en-US" sz="1100" b="1" dirty="0">
                <a:solidFill>
                  <a:srgbClr val="5FD6BE"/>
                </a:solidFill>
                <a:latin typeface="Calibri" pitchFamily="34" charset="0"/>
                <a:ea typeface="Calibri" pitchFamily="34" charset="-122"/>
                <a:cs typeface="Calibri" pitchFamily="34" charset="-120"/>
              </a:rPr>
              <a:t>66% have tenure of 5 years or more</a:t>
            </a:r>
            <a:pPr indent="0" marL="0">
              <a:lnSpc>
                <a:spcPts val="1600"/>
              </a:lnSpc>
              <a:buNone/>
            </a:pPr>
            <a:r>
              <a:rPr lang="en-US" sz="1100" dirty="0">
                <a:solidFill>
                  <a:srgbClr val="C3D0E2"/>
                </a:solidFill>
                <a:latin typeface="Calibri" pitchFamily="34" charset="0"/>
                <a:ea typeface="Calibri" pitchFamily="34" charset="-122"/>
                <a:cs typeface="Calibri" pitchFamily="34" charset="-120"/>
              </a:rPr>
              <a:t> (46,441), against 11% at 0–1 years</a:t>
            </a:r>
            <a:pPr indent="0" marL="0">
              <a:lnSpc>
                <a:spcPts val="1600"/>
              </a:lnSpc>
              <a:buNone/>
            </a:pPr>
            <a:endParaRPr lang="en-US" sz="1100" dirty="0"/>
          </a:p>
          <a:p>
            <a:pPr indent="0" marL="0">
              <a:lnSpc>
                <a:spcPts val="1600"/>
              </a:lnSpc>
              <a:buNone/>
            </a:pPr>
            <a:r>
              <a:rPr lang="en-US" sz="1100" dirty="0">
                <a:solidFill>
                  <a:srgbClr val="C3D0E2"/>
                </a:solidFill>
                <a:latin typeface="Calibri" pitchFamily="34" charset="0"/>
                <a:ea typeface="Calibri" pitchFamily="34" charset="-122"/>
                <a:cs typeface="Calibri" pitchFamily="34" charset="-120"/>
              </a:rPr>
              <a:t>Charge type splits 49% prepaid / 44% postpaid / 6% FBB, and 33,341 of the 70.1K — 47.6% — booked on 2 Aug alone.</a:t>
            </a:r>
            <a:endParaRPr lang="en-US" sz="1100" dirty="0"/>
          </a:p>
        </p:txBody>
      </p:sp>
      <p:sp>
        <p:nvSpPr>
          <p:cNvPr id="40" name="Text 37"/>
          <p:cNvSpPr/>
          <p:nvPr/>
        </p:nvSpPr>
        <p:spPr>
          <a:xfrm>
            <a:off x="548640" y="6291072"/>
            <a:ext cx="11064240" cy="384048"/>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Source: Lending_2026.08.07.pptx (Book Loan). DL and PL are not expanded anywhere in that deck. Cash-need and risk percentages are as printed; all others are computed from its own counts and reconcile to 94,371 and 70,100. Consortium bases overlap, so they sum past 100%. AIS-base figures cover the 70.1K AIS base only, not the whole book.</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50" b="1" spc="220" kern="0" dirty="0">
                <a:solidFill>
                  <a:srgbClr val="00A896"/>
                </a:solidFill>
                <a:latin typeface="Calibri" pitchFamily="34" charset="0"/>
                <a:ea typeface="Calibri" pitchFamily="34" charset="-122"/>
                <a:cs typeface="Calibri" pitchFamily="34" charset="-120"/>
              </a:rPr>
              <a:t>AIS BASE INFORMATION  ·  70.1K  ·  DL 63,760 / PL 6,340</a:t>
            </a:r>
            <a:endParaRPr lang="en-US" sz="1150" dirty="0"/>
          </a:p>
        </p:txBody>
      </p:sp>
      <p:sp>
        <p:nvSpPr>
          <p:cNvPr id="3" name="Text 1"/>
          <p:cNvSpPr/>
          <p:nvPr/>
        </p:nvSpPr>
        <p:spPr>
          <a:xfrm>
            <a:off x="548640" y="603504"/>
            <a:ext cx="11064240" cy="566928"/>
          </a:xfrm>
          <a:prstGeom prst="rect">
            <a:avLst/>
          </a:prstGeom>
          <a:noFill/>
          <a:ln/>
        </p:spPr>
        <p:txBody>
          <a:bodyPr wrap="square" lIns="0" tIns="0" rIns="0" bIns="0" rtlCol="0" anchor="t"/>
          <a:lstStyle/>
          <a:p>
            <a:pPr indent="0" marL="0">
              <a:buNone/>
            </a:pPr>
            <a:r>
              <a:rPr lang="en-US" sz="3200" b="1" dirty="0">
                <a:solidFill>
                  <a:srgbClr val="16233D"/>
                </a:solidFill>
                <a:latin typeface="Cambria" pitchFamily="34" charset="0"/>
                <a:ea typeface="Cambria" pitchFamily="34" charset="-122"/>
                <a:cs typeface="Cambria" pitchFamily="34" charset="-120"/>
              </a:rPr>
              <a:t>Long-tenured, prepaid-leaning, mostly TRUE</a:t>
            </a:r>
            <a:endParaRPr lang="en-US" sz="3200" dirty="0"/>
          </a:p>
        </p:txBody>
      </p:sp>
      <p:sp>
        <p:nvSpPr>
          <p:cNvPr id="4" name="Text 2"/>
          <p:cNvSpPr/>
          <p:nvPr/>
        </p:nvSpPr>
        <p:spPr>
          <a:xfrm>
            <a:off x="548640" y="1097280"/>
            <a:ext cx="11064240" cy="256032"/>
          </a:xfrm>
          <a:prstGeom prst="rect">
            <a:avLst/>
          </a:prstGeom>
          <a:noFill/>
          <a:ln/>
        </p:spPr>
        <p:txBody>
          <a:bodyPr wrap="square" lIns="0" tIns="0" rIns="0" bIns="0" rtlCol="0" anchor="t"/>
          <a:lstStyle/>
          <a:p>
            <a:pPr indent="0" marL="0">
              <a:buNone/>
            </a:pPr>
            <a:r>
              <a:rPr lang="en-US" sz="1250" dirty="0">
                <a:solidFill>
                  <a:srgbClr val="6B7A90"/>
                </a:solidFill>
                <a:latin typeface="Calibri" pitchFamily="34" charset="0"/>
                <a:ea typeface="Calibri" pitchFamily="34" charset="-122"/>
                <a:cs typeface="Calibri" pitchFamily="34" charset="-120"/>
              </a:rPr>
              <a:t>DL and PL profile almost identically on tenure and TRUE; they part company on charge type and the nano-loan flag.</a:t>
            </a:r>
            <a:endParaRPr lang="en-US" sz="1250" dirty="0"/>
          </a:p>
        </p:txBody>
      </p:sp>
      <p:sp>
        <p:nvSpPr>
          <p:cNvPr id="5" name="Shape 3"/>
          <p:cNvSpPr/>
          <p:nvPr/>
        </p:nvSpPr>
        <p:spPr>
          <a:xfrm>
            <a:off x="548640" y="1463040"/>
            <a:ext cx="5440680" cy="2231136"/>
          </a:xfrm>
          <a:prstGeom prst="roundRect">
            <a:avLst>
              <a:gd name="adj" fmla="val 3689"/>
            </a:avLst>
          </a:prstGeom>
          <a:solidFill>
            <a:srgbClr val="F1F4F9"/>
          </a:solidFill>
          <a:ln/>
        </p:spPr>
      </p:sp>
      <p:graphicFrame>
        <p:nvGraphicFramePr>
          <p:cNvPr id="6" name="Chart 0" descr=""/>
          <p:cNvGraphicFramePr/>
          <p:nvPr/>
        </p:nvGraphicFramePr>
        <p:xfrm>
          <a:off x="658368" y="1554480"/>
          <a:ext cx="5221224" cy="2048256"/>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172200" y="1463040"/>
            <a:ext cx="5440680" cy="2231136"/>
          </a:xfrm>
          <a:prstGeom prst="roundRect">
            <a:avLst>
              <a:gd name="adj" fmla="val 3689"/>
            </a:avLst>
          </a:prstGeom>
          <a:solidFill>
            <a:srgbClr val="F1F4F9"/>
          </a:solidFill>
          <a:ln/>
        </p:spPr>
      </p:sp>
      <p:graphicFrame>
        <p:nvGraphicFramePr>
          <p:cNvPr id="8" name="Chart 1" descr=""/>
          <p:cNvGraphicFramePr/>
          <p:nvPr/>
        </p:nvGraphicFramePr>
        <p:xfrm>
          <a:off x="6281928" y="1554480"/>
          <a:ext cx="5221224" cy="2048256"/>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548640" y="3840480"/>
            <a:ext cx="5440680" cy="2231136"/>
          </a:xfrm>
          <a:prstGeom prst="roundRect">
            <a:avLst>
              <a:gd name="adj" fmla="val 3689"/>
            </a:avLst>
          </a:prstGeom>
          <a:solidFill>
            <a:srgbClr val="F1F4F9"/>
          </a:solidFill>
          <a:ln/>
        </p:spPr>
      </p:sp>
      <p:graphicFrame>
        <p:nvGraphicFramePr>
          <p:cNvPr id="10" name="Chart 2" descr=""/>
          <p:cNvGraphicFramePr/>
          <p:nvPr/>
        </p:nvGraphicFramePr>
        <p:xfrm>
          <a:off x="658368" y="3931920"/>
          <a:ext cx="5221224" cy="2048256"/>
        </p:xfrm>
        <a:graphic xmlns:a="http://schemas.openxmlformats.org/drawingml/2006/main">
          <a:graphicData uri="http://schemas.openxmlformats.org/drawingml/2006/chart">
            <c:chart xmlns:c="http://schemas.openxmlformats.org/drawingml/2006/chart" r:id="rId3"/>
          </a:graphicData>
        </a:graphic>
      </p:graphicFrame>
      <p:sp>
        <p:nvSpPr>
          <p:cNvPr id="11" name="Shape 6"/>
          <p:cNvSpPr/>
          <p:nvPr/>
        </p:nvSpPr>
        <p:spPr>
          <a:xfrm>
            <a:off x="6172200" y="3840480"/>
            <a:ext cx="5440680" cy="2231136"/>
          </a:xfrm>
          <a:prstGeom prst="roundRect">
            <a:avLst>
              <a:gd name="adj" fmla="val 3689"/>
            </a:avLst>
          </a:prstGeom>
          <a:solidFill>
            <a:srgbClr val="F1F4F9"/>
          </a:solidFill>
          <a:ln/>
        </p:spPr>
      </p:sp>
      <p:graphicFrame>
        <p:nvGraphicFramePr>
          <p:cNvPr id="12" name="Chart 3" descr=""/>
          <p:cNvGraphicFramePr/>
          <p:nvPr/>
        </p:nvGraphicFramePr>
        <p:xfrm>
          <a:off x="6281928" y="3931920"/>
          <a:ext cx="5221224" cy="2048256"/>
        </p:xfrm>
        <a:graphic xmlns:a="http://schemas.openxmlformats.org/drawingml/2006/main">
          <a:graphicData uri="http://schemas.openxmlformats.org/drawingml/2006/chart">
            <c:chart xmlns:c="http://schemas.openxmlformats.org/drawingml/2006/chart" r:id="rId4"/>
          </a:graphicData>
        </a:graphic>
      </p:graphicFrame>
      <p:sp>
        <p:nvSpPr>
          <p:cNvPr id="13" name="Text 7"/>
          <p:cNvSpPr/>
          <p:nvPr/>
        </p:nvSpPr>
        <p:spPr>
          <a:xfrm>
            <a:off x="548640" y="6309360"/>
            <a:ext cx="11064240" cy="384048"/>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Source: Lending_2026.08.07.pptx, the four AIS Base Information slides (charge type, nano loan, true, tenure), aggregated across all book dates. Each breakdown sums to 70,100, matching the stated AIS consortium count. Percentages are computed from the deck's own counts and may differ by 1pt from its per-date rounding.</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50" b="1" spc="220" kern="0" dirty="0">
                <a:solidFill>
                  <a:srgbClr val="00A896"/>
                </a:solidFill>
                <a:latin typeface="Calibri" pitchFamily="34" charset="0"/>
                <a:ea typeface="Calibri" pitchFamily="34" charset="-122"/>
                <a:cs typeface="Calibri" pitchFamily="34" charset="-120"/>
              </a:rPr>
              <a:t>AIS BASE INFORMATION  ·  BY BOOK DATE</a:t>
            </a:r>
            <a:endParaRPr lang="en-US" sz="1150" dirty="0"/>
          </a:p>
        </p:txBody>
      </p:sp>
      <p:sp>
        <p:nvSpPr>
          <p:cNvPr id="3" name="Text 1"/>
          <p:cNvSpPr/>
          <p:nvPr/>
        </p:nvSpPr>
        <p:spPr>
          <a:xfrm>
            <a:off x="548640" y="603504"/>
            <a:ext cx="11064240" cy="566928"/>
          </a:xfrm>
          <a:prstGeom prst="rect">
            <a:avLst/>
          </a:prstGeom>
          <a:noFill/>
          <a:ln/>
        </p:spPr>
        <p:txBody>
          <a:bodyPr wrap="square" lIns="0" tIns="0" rIns="0" bIns="0" rtlCol="0" anchor="t"/>
          <a:lstStyle/>
          <a:p>
            <a:pPr indent="0" marL="0">
              <a:buNone/>
            </a:pPr>
            <a:r>
              <a:rPr lang="en-US" sz="3200" b="1" dirty="0">
                <a:solidFill>
                  <a:srgbClr val="16233D"/>
                </a:solidFill>
                <a:latin typeface="Cambria" pitchFamily="34" charset="0"/>
                <a:ea typeface="Cambria" pitchFamily="34" charset="-122"/>
                <a:cs typeface="Cambria" pitchFamily="34" charset="-120"/>
              </a:rPr>
              <a:t>Nearly half the base booked on 2 August</a:t>
            </a:r>
            <a:endParaRPr lang="en-US" sz="3200" dirty="0"/>
          </a:p>
        </p:txBody>
      </p:sp>
      <p:sp>
        <p:nvSpPr>
          <p:cNvPr id="4" name="Text 2"/>
          <p:cNvSpPr/>
          <p:nvPr/>
        </p:nvSpPr>
        <p:spPr>
          <a:xfrm>
            <a:off x="548640" y="1097280"/>
            <a:ext cx="11064240" cy="256032"/>
          </a:xfrm>
          <a:prstGeom prst="rect">
            <a:avLst/>
          </a:prstGeom>
          <a:noFill/>
          <a:ln/>
        </p:spPr>
        <p:txBody>
          <a:bodyPr wrap="square" lIns="0" tIns="0" rIns="0" bIns="0" rtlCol="0" anchor="t"/>
          <a:lstStyle/>
          <a:p>
            <a:pPr indent="0" marL="0">
              <a:buNone/>
            </a:pPr>
            <a:r>
              <a:rPr lang="en-US" sz="1250" dirty="0">
                <a:solidFill>
                  <a:srgbClr val="6B7A90"/>
                </a:solidFill>
                <a:latin typeface="Calibri" pitchFamily="34" charset="0"/>
                <a:ea typeface="Calibri" pitchFamily="34" charset="-122"/>
                <a:cs typeface="Calibri" pitchFamily="34" charset="-120"/>
              </a:rPr>
              <a:t>PL arrives almost entirely on 5 Aug, and each later cohort is a little less nano-loan — the flag falls 9.5 points from 1 to 5 Aug.</a:t>
            </a:r>
            <a:endParaRPr lang="en-US" sz="1250" dirty="0"/>
          </a:p>
        </p:txBody>
      </p:sp>
      <p:sp>
        <p:nvSpPr>
          <p:cNvPr id="5" name="Shape 3"/>
          <p:cNvSpPr/>
          <p:nvPr/>
        </p:nvSpPr>
        <p:spPr>
          <a:xfrm>
            <a:off x="548640" y="1426464"/>
            <a:ext cx="11064240" cy="2139696"/>
          </a:xfrm>
          <a:prstGeom prst="roundRect">
            <a:avLst>
              <a:gd name="adj" fmla="val 3846"/>
            </a:avLst>
          </a:prstGeom>
          <a:solidFill>
            <a:srgbClr val="F1F4F9"/>
          </a:solidFill>
          <a:ln/>
        </p:spPr>
      </p:sp>
      <p:graphicFrame>
        <p:nvGraphicFramePr>
          <p:cNvPr id="6" name="Chart 0" descr=""/>
          <p:cNvGraphicFramePr/>
          <p:nvPr/>
        </p:nvGraphicFramePr>
        <p:xfrm>
          <a:off x="658368" y="1517904"/>
          <a:ext cx="10844784" cy="1956816"/>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48640" y="3712464"/>
            <a:ext cx="5440680" cy="2249424"/>
          </a:xfrm>
          <a:prstGeom prst="roundRect">
            <a:avLst>
              <a:gd name="adj" fmla="val 3659"/>
            </a:avLst>
          </a:prstGeom>
          <a:solidFill>
            <a:srgbClr val="F1F4F9"/>
          </a:solidFill>
          <a:ln/>
        </p:spPr>
      </p:sp>
      <p:graphicFrame>
        <p:nvGraphicFramePr>
          <p:cNvPr id="8" name="Chart 1" descr=""/>
          <p:cNvGraphicFramePr/>
          <p:nvPr/>
        </p:nvGraphicFramePr>
        <p:xfrm>
          <a:off x="658368" y="3803904"/>
          <a:ext cx="5221224" cy="2066544"/>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6172200" y="3712464"/>
            <a:ext cx="5440680" cy="2249424"/>
          </a:xfrm>
          <a:prstGeom prst="roundRect">
            <a:avLst>
              <a:gd name="adj" fmla="val 3659"/>
            </a:avLst>
          </a:prstGeom>
          <a:solidFill>
            <a:srgbClr val="F1F4F9"/>
          </a:solidFill>
          <a:ln/>
        </p:spPr>
      </p:sp>
      <p:graphicFrame>
        <p:nvGraphicFramePr>
          <p:cNvPr id="10" name="Chart 2" descr=""/>
          <p:cNvGraphicFramePr/>
          <p:nvPr/>
        </p:nvGraphicFramePr>
        <p:xfrm>
          <a:off x="6281928" y="3803904"/>
          <a:ext cx="5221224" cy="2066544"/>
        </p:xfrm>
        <a:graphic xmlns:a="http://schemas.openxmlformats.org/drawingml/2006/main">
          <a:graphicData uri="http://schemas.openxmlformats.org/drawingml/2006/chart">
            <c:chart xmlns:c="http://schemas.openxmlformats.org/drawingml/2006/chart" r:id="rId3"/>
          </a:graphicData>
        </a:graphic>
      </p:graphicFrame>
      <p:sp>
        <p:nvSpPr>
          <p:cNvPr id="11" name="Text 6"/>
          <p:cNvSpPr/>
          <p:nvPr/>
        </p:nvSpPr>
        <p:spPr>
          <a:xfrm>
            <a:off x="548640" y="6089904"/>
            <a:ext cx="11064240" cy="512064"/>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Source: Lending_2026.08.07.pptx, AIS Base Information slides. Volumes are the grand totals per book date; the two mixes combine DL and PL. 'bef 1 Aug' holds only 708 customers, so its mix is a small-sample outlier. Charge type and tenure move far less across the same window and are charted on the next slide.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9184"/>
            <a:ext cx="11064240" cy="237744"/>
          </a:xfrm>
          <a:prstGeom prst="rect">
            <a:avLst/>
          </a:prstGeom>
          <a:noFill/>
          <a:ln/>
        </p:spPr>
        <p:txBody>
          <a:bodyPr wrap="square" lIns="0" tIns="0" rIns="0" bIns="0" rtlCol="0" anchor="ctr"/>
          <a:lstStyle/>
          <a:p>
            <a:pPr indent="0" marL="0">
              <a:buNone/>
            </a:pPr>
            <a:r>
              <a:rPr lang="en-US" sz="1150" b="1" spc="220" kern="0" dirty="0">
                <a:solidFill>
                  <a:srgbClr val="00A896"/>
                </a:solidFill>
                <a:latin typeface="Calibri" pitchFamily="34" charset="0"/>
                <a:ea typeface="Calibri" pitchFamily="34" charset="-122"/>
                <a:cs typeface="Calibri" pitchFamily="34" charset="-120"/>
              </a:rPr>
              <a:t>AIS BASE INFORMATION  ·  BY BOOK DATE</a:t>
            </a:r>
            <a:endParaRPr lang="en-US" sz="1150" dirty="0"/>
          </a:p>
        </p:txBody>
      </p:sp>
      <p:sp>
        <p:nvSpPr>
          <p:cNvPr id="3" name="Text 1"/>
          <p:cNvSpPr/>
          <p:nvPr/>
        </p:nvSpPr>
        <p:spPr>
          <a:xfrm>
            <a:off x="548640" y="603504"/>
            <a:ext cx="11064240" cy="566928"/>
          </a:xfrm>
          <a:prstGeom prst="rect">
            <a:avLst/>
          </a:prstGeom>
          <a:noFill/>
          <a:ln/>
        </p:spPr>
        <p:txBody>
          <a:bodyPr wrap="square" lIns="0" tIns="0" rIns="0" bIns="0" rtlCol="0" anchor="t"/>
          <a:lstStyle/>
          <a:p>
            <a:pPr indent="0" marL="0">
              <a:buNone/>
            </a:pPr>
            <a:r>
              <a:rPr lang="en-US" sz="3200" b="1" dirty="0">
                <a:solidFill>
                  <a:srgbClr val="16233D"/>
                </a:solidFill>
                <a:latin typeface="Cambria" pitchFamily="34" charset="0"/>
                <a:ea typeface="Cambria" pitchFamily="34" charset="-122"/>
                <a:cs typeface="Cambria" pitchFamily="34" charset="-120"/>
              </a:rPr>
              <a:t>Charge type and tenure hold steady</a:t>
            </a:r>
            <a:endParaRPr lang="en-US" sz="3200" dirty="0"/>
          </a:p>
        </p:txBody>
      </p:sp>
      <p:sp>
        <p:nvSpPr>
          <p:cNvPr id="4" name="Text 2"/>
          <p:cNvSpPr/>
          <p:nvPr/>
        </p:nvSpPr>
        <p:spPr>
          <a:xfrm>
            <a:off x="548640" y="1097280"/>
            <a:ext cx="11064240" cy="256032"/>
          </a:xfrm>
          <a:prstGeom prst="rect">
            <a:avLst/>
          </a:prstGeom>
          <a:noFill/>
          <a:ln/>
        </p:spPr>
        <p:txBody>
          <a:bodyPr wrap="square" lIns="0" tIns="0" rIns="0" bIns="0" rtlCol="0" anchor="t"/>
          <a:lstStyle/>
          <a:p>
            <a:pPr indent="0" marL="0">
              <a:buNone/>
            </a:pPr>
            <a:r>
              <a:rPr lang="en-US" sz="1250" dirty="0">
                <a:solidFill>
                  <a:srgbClr val="6B7A90"/>
                </a:solidFill>
                <a:latin typeface="Calibri" pitchFamily="34" charset="0"/>
                <a:ea typeface="Calibri" pitchFamily="34" charset="-122"/>
                <a:cs typeface="Calibri" pitchFamily="34" charset="-120"/>
              </a:rPr>
              <a:t>Unlike the nano-loan flag, these two barely move from 1 Aug onward — only the small pre-August cohort looks different.</a:t>
            </a:r>
            <a:endParaRPr lang="en-US" sz="1250" dirty="0"/>
          </a:p>
        </p:txBody>
      </p:sp>
      <p:sp>
        <p:nvSpPr>
          <p:cNvPr id="5" name="Shape 3"/>
          <p:cNvSpPr/>
          <p:nvPr/>
        </p:nvSpPr>
        <p:spPr>
          <a:xfrm>
            <a:off x="548640" y="1444752"/>
            <a:ext cx="5440680" cy="3127248"/>
          </a:xfrm>
          <a:prstGeom prst="roundRect">
            <a:avLst>
              <a:gd name="adj" fmla="val 2632"/>
            </a:avLst>
          </a:prstGeom>
          <a:solidFill>
            <a:srgbClr val="F1F4F9"/>
          </a:solidFill>
          <a:ln/>
        </p:spPr>
      </p:sp>
      <p:graphicFrame>
        <p:nvGraphicFramePr>
          <p:cNvPr id="6" name="Chart 0" descr=""/>
          <p:cNvGraphicFramePr/>
          <p:nvPr/>
        </p:nvGraphicFramePr>
        <p:xfrm>
          <a:off x="658368" y="1536192"/>
          <a:ext cx="5221224" cy="2944368"/>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172200" y="1444752"/>
            <a:ext cx="5440680" cy="3127248"/>
          </a:xfrm>
          <a:prstGeom prst="roundRect">
            <a:avLst>
              <a:gd name="adj" fmla="val 2632"/>
            </a:avLst>
          </a:prstGeom>
          <a:solidFill>
            <a:srgbClr val="F1F4F9"/>
          </a:solidFill>
          <a:ln/>
        </p:spPr>
      </p:sp>
      <p:graphicFrame>
        <p:nvGraphicFramePr>
          <p:cNvPr id="8" name="Chart 1" descr=""/>
          <p:cNvGraphicFramePr/>
          <p:nvPr/>
        </p:nvGraphicFramePr>
        <p:xfrm>
          <a:off x="6281928" y="1536192"/>
          <a:ext cx="5221224" cy="2944368"/>
        </p:xfrm>
        <a:graphic xmlns:a="http://schemas.openxmlformats.org/drawingml/2006/main">
          <a:graphicData uri="http://schemas.openxmlformats.org/drawingml/2006/chart">
            <c:chart xmlns:c="http://schemas.openxmlformats.org/drawingml/2006/chart" r:id="rId2"/>
          </a:graphicData>
        </a:graphic>
      </p:graphicFrame>
      <p:sp>
        <p:nvSpPr>
          <p:cNvPr id="9" name="Shape 5"/>
          <p:cNvSpPr/>
          <p:nvPr/>
        </p:nvSpPr>
        <p:spPr>
          <a:xfrm>
            <a:off x="548640" y="4754880"/>
            <a:ext cx="11064240" cy="1188720"/>
          </a:xfrm>
          <a:prstGeom prst="roundRect">
            <a:avLst>
              <a:gd name="adj" fmla="val 6923"/>
            </a:avLst>
          </a:prstGeom>
          <a:solidFill>
            <a:srgbClr val="0E1E3C"/>
          </a:solidFill>
          <a:ln/>
        </p:spPr>
      </p:sp>
      <p:sp>
        <p:nvSpPr>
          <p:cNvPr id="10" name="Text 6"/>
          <p:cNvSpPr/>
          <p:nvPr/>
        </p:nvSpPr>
        <p:spPr>
          <a:xfrm>
            <a:off x="914400" y="4919472"/>
            <a:ext cx="10332720" cy="237744"/>
          </a:xfrm>
          <a:prstGeom prst="rect">
            <a:avLst/>
          </a:prstGeom>
          <a:noFill/>
          <a:ln/>
        </p:spPr>
        <p:txBody>
          <a:bodyPr wrap="square" lIns="0" tIns="0" rIns="0" bIns="0" rtlCol="0" anchor="ctr"/>
          <a:lstStyle/>
          <a:p>
            <a:pPr indent="0" marL="0">
              <a:buNone/>
            </a:pPr>
            <a:r>
              <a:rPr lang="en-US" sz="1050" b="1" spc="180" kern="0" dirty="0">
                <a:solidFill>
                  <a:srgbClr val="5FD6BE"/>
                </a:solidFill>
                <a:latin typeface="Calibri" pitchFamily="34" charset="0"/>
                <a:ea typeface="Calibri" pitchFamily="34" charset="-122"/>
                <a:cs typeface="Calibri" pitchFamily="34" charset="-120"/>
              </a:rPr>
              <a:t>HOW MUCH EACH MIX MOVES, 1 AUG TO 5 AUG</a:t>
            </a:r>
            <a:endParaRPr lang="en-US" sz="1050" dirty="0"/>
          </a:p>
        </p:txBody>
      </p:sp>
      <p:sp>
        <p:nvSpPr>
          <p:cNvPr id="11" name="Text 7"/>
          <p:cNvSpPr/>
          <p:nvPr/>
        </p:nvSpPr>
        <p:spPr>
          <a:xfrm>
            <a:off x="914400" y="5175504"/>
            <a:ext cx="10332720" cy="694944"/>
          </a:xfrm>
          <a:prstGeom prst="rect">
            <a:avLst/>
          </a:prstGeom>
          <a:noFill/>
          <a:ln/>
        </p:spPr>
        <p:txBody>
          <a:bodyPr wrap="square" lIns="0" tIns="0" rIns="0" bIns="0" rtlCol="0" anchor="t"/>
          <a:lstStyle/>
          <a:p>
            <a:pPr indent="0" marL="0">
              <a:lnSpc>
                <a:spcPts val="1600"/>
              </a:lnSpc>
              <a:buNone/>
            </a:pPr>
            <a:r>
              <a:rPr lang="en-US" sz="1100" b="1" dirty="0">
                <a:solidFill>
                  <a:srgbClr val="5FD6BE"/>
                </a:solidFill>
                <a:latin typeface="Calibri" pitchFamily="34" charset="0"/>
                <a:ea typeface="Calibri" pitchFamily="34" charset="-122"/>
                <a:cs typeface="Calibri" pitchFamily="34" charset="-120"/>
              </a:rPr>
              <a:t>Prepaid 46–55% (8.6pt) · Tenure 5+ years 65–68% (3.3pt)</a:t>
            </a:r>
            <a:pPr indent="0" marL="0">
              <a:lnSpc>
                <a:spcPts val="1600"/>
              </a:lnSpc>
              <a:buNone/>
            </a:pPr>
            <a:r>
              <a:rPr lang="en-US" sz="1100" dirty="0">
                <a:solidFill>
                  <a:srgbClr val="C3D0E2"/>
                </a:solidFill>
                <a:latin typeface="Calibri" pitchFamily="34" charset="0"/>
                <a:ea typeface="Calibri" pitchFamily="34" charset="-122"/>
                <a:cs typeface="Calibri" pitchFamily="34" charset="-120"/>
              </a:rPr>
              <a:t> — against the nano-loan flag's 9.5pt slide on the previous slide. Charge type drifts toward prepaid on 5 Aug, tracking the PL surge; tenure is flat throughout.</a:t>
            </a:r>
            <a:pPr indent="0" marL="0">
              <a:lnSpc>
                <a:spcPts val="1600"/>
              </a:lnSpc>
              <a:buNone/>
            </a:pPr>
            <a:endParaRPr lang="en-US" sz="1100" dirty="0"/>
          </a:p>
          <a:p>
            <a:pPr indent="0" marL="0">
              <a:lnSpc>
                <a:spcPts val="1600"/>
              </a:lnSpc>
              <a:buNone/>
            </a:pPr>
            <a:r>
              <a:rPr lang="en-US" sz="1100" dirty="0">
                <a:solidFill>
                  <a:srgbClr val="C3D0E2"/>
                </a:solidFill>
                <a:latin typeface="Calibri" pitchFamily="34" charset="0"/>
                <a:ea typeface="Calibri" pitchFamily="34" charset="-122"/>
                <a:cs typeface="Calibri" pitchFamily="34" charset="-120"/>
              </a:rPr>
              <a:t>The pre-1-Aug cohort is the exception — 79% postpaid, 81% long-tenured — but holds just 708 of the 70,100 customers.</a:t>
            </a:r>
            <a:endParaRPr lang="en-US" sz="1100" dirty="0"/>
          </a:p>
        </p:txBody>
      </p:sp>
      <p:sp>
        <p:nvSpPr>
          <p:cNvPr id="12" name="Text 8"/>
          <p:cNvSpPr/>
          <p:nvPr/>
        </p:nvSpPr>
        <p:spPr>
          <a:xfrm>
            <a:off x="548640" y="6089904"/>
            <a:ext cx="11064240" cy="512064"/>
          </a:xfrm>
          <a:prstGeom prst="rect">
            <a:avLst/>
          </a:prstGeom>
          <a:noFill/>
          <a:ln/>
        </p:spPr>
        <p:txBody>
          <a:bodyPr wrap="square" lIns="0" tIns="0" rIns="0" bIns="0" rtlCol="0" anchor="ctr"/>
          <a:lstStyle/>
          <a:p>
            <a:pPr indent="0" marL="0">
              <a:buNone/>
            </a:pPr>
            <a:r>
              <a:rPr lang="en-US" sz="900" i="1" dirty="0">
                <a:solidFill>
                  <a:srgbClr val="6B7A90"/>
                </a:solidFill>
                <a:latin typeface="Calibri" pitchFamily="34" charset="0"/>
                <a:ea typeface="Calibri" pitchFamily="34" charset="-122"/>
                <a:cs typeface="Calibri" pitchFamily="34" charset="-120"/>
              </a:rPr>
              <a:t>Source: Lending_2026.08.07.pptx, the charge type and tenure AIS Base Information slides, DL and PL combined and aggregated to each book date. Percentages are computed from the deck's own counts; each date column sums to that date's grand total, and the six together sum to 70,100.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Loan - summary as of 5 Aug</dc:title>
  <dc:subject>PptxGenJS Presentation</dc:subject>
  <dc:creator>Lending</dc:creator>
  <cp:lastModifiedBy>Lending</cp:lastModifiedBy>
  <cp:revision>1</cp:revision>
  <dcterms:created xsi:type="dcterms:W3CDTF">2026-08-07T09:11:17Z</dcterms:created>
  <dcterms:modified xsi:type="dcterms:W3CDTF">2026-08-07T09:11:17Z</dcterms:modified>
</cp:coreProperties>
</file>
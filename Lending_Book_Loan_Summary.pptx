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Sheet1!$B$2:$B$5</c:f>
              <c:numCache>
                <c:formatCode>General</c:formatCode>
                <c:ptCount val="4"/>
                <c:pt idx="0">
                  <c:v>2</c:v>
                </c:pt>
                <c:pt idx="1">
                  <c:v>6</c:v>
                </c:pt>
                <c:pt idx="2">
                  <c:v>13</c:v>
                </c:pt>
                <c:pt idx="3">
                  <c:v>18</c:v>
                </c:pt>
              </c:numCache>
            </c:numRef>
          </c:val>
        </c:ser>
        <c:ser>
          <c:idx val="1"/>
          <c:order val="1"/>
          <c:tx>
            <c:strRef>
              <c:f>Sheet1!$C$1</c:f>
              <c:strCache>
                <c:ptCount val="1"/>
                <c:pt idx="0">
                  <c:v>Low</c:v>
                </c:pt>
              </c:strCache>
            </c:strRef>
          </c:tx>
          <c:spPr>
            <a:solidFill>
              <a:srgbClr val="3FB89F"/>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Sheet1!$C$2:$C$5</c:f>
              <c:numCache>
                <c:formatCode>General</c:formatCode>
                <c:ptCount val="4"/>
                <c:pt idx="0">
                  <c:v>29</c:v>
                </c:pt>
                <c:pt idx="1">
                  <c:v>31</c:v>
                </c:pt>
                <c:pt idx="2">
                  <c:v>5</c:v>
                </c:pt>
                <c:pt idx="3">
                  <c:v>9</c:v>
                </c:pt>
              </c:numCache>
            </c:numRef>
          </c:val>
        </c:ser>
        <c:ser>
          <c:idx val="2"/>
          <c:order val="2"/>
          <c:tx>
            <c:strRef>
              <c:f>Sheet1!$D$1</c:f>
              <c:strCache>
                <c:ptCount val="1"/>
                <c:pt idx="0">
                  <c:v>Mid</c:v>
                </c:pt>
              </c:strCache>
            </c:strRef>
          </c:tx>
          <c:spPr>
            <a:solidFill>
              <a:srgbClr val="1E8E86"/>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Sheet1!$D$2:$D$5</c:f>
              <c:numCache>
                <c:formatCode>General</c:formatCode>
                <c:ptCount val="4"/>
                <c:pt idx="0">
                  <c:v>25</c:v>
                </c:pt>
                <c:pt idx="1">
                  <c:v>23</c:v>
                </c:pt>
                <c:pt idx="2">
                  <c:v>16</c:v>
                </c:pt>
                <c:pt idx="3">
                  <c:v>21</c:v>
                </c:pt>
              </c:numCache>
            </c:numRef>
          </c:val>
        </c:ser>
        <c:ser>
          <c:idx val="3"/>
          <c:order val="3"/>
          <c:tx>
            <c:strRef>
              <c:f>Sheet1!$E$1</c:f>
              <c:strCache>
                <c:ptCount val="1"/>
                <c:pt idx="0">
                  <c:v>High</c:v>
                </c:pt>
              </c:strCache>
            </c:strRef>
          </c:tx>
          <c:spPr>
            <a:solidFill>
              <a:srgbClr val="165A73"/>
            </a:solidFill>
            <a:effectLst/>
          </c:spPr>
          <c:invertIfNegative val="0"/>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Risk · DL</c:v>
                  </c:pt>
                  <c:pt idx="1">
                    <c:v>Risk · PL</c:v>
                  </c:pt>
                  <c:pt idx="2">
                    <c:v>Cash need · DL</c:v>
                  </c:pt>
                  <c:pt idx="3">
                    <c:v>Cash need · PL</c:v>
                  </c:pt>
                </c:lvl>
              </c:multiLvlStrCache>
            </c:multiLvlStrRef>
          </c:cat>
          <c:val>
            <c:numRef>
              <c:f>Sheet1!$E$2:$E$5</c:f>
              <c:numCache>
                <c:formatCode>General</c:formatCode>
                <c:ptCount val="4"/>
                <c:pt idx="0">
                  <c:v>44</c:v>
                </c:pt>
                <c:pt idx="1">
                  <c:v>40</c:v>
                </c:pt>
                <c:pt idx="2">
                  <c:v>66</c:v>
                </c:pt>
                <c:pt idx="3">
                  <c:v>52</c:v>
                </c:pt>
              </c:numCache>
            </c:numRef>
          </c:val>
        </c:ser>
        <c:dLbls>
          <c:numFmt formatCode="[&lt;4]&quot;&quot;;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7.3</c:v>
                </c:pt>
                <c:pt idx="1">
                  <c:v>6.9</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30.9</c:v>
                </c:pt>
                <c:pt idx="1">
                  <c:v>46</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Sheet1!$D$2:$D$3</c:f>
              <c:numCache>
                <c:formatCode>General</c:formatCode>
                <c:ptCount val="2"/>
                <c:pt idx="0">
                  <c:v>61.8</c:v>
                </c:pt>
                <c:pt idx="1">
                  <c:v>47.2</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7.8</c:v>
                </c:pt>
                <c:pt idx="1">
                  <c:v>7.5</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32.6</c:v>
                </c:pt>
                <c:pt idx="1">
                  <c:v>52.2</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Sheet1!$D$2:$D$3</c:f>
              <c:numCache>
                <c:formatCode>General</c:formatCode>
                <c:ptCount val="2"/>
                <c:pt idx="0">
                  <c:v>59.6</c:v>
                </c:pt>
                <c:pt idx="1">
                  <c:v>40.4</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9</c:v>
                </c:pt>
                <c:pt idx="1">
                  <c:v>9</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19.7</c:v>
                </c:pt>
                <c:pt idx="1">
                  <c:v>20.9</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Sheet1!$D$2:$D$3</c:f>
              <c:numCache>
                <c:formatCode>General</c:formatCode>
                <c:ptCount val="2"/>
                <c:pt idx="0">
                  <c:v>71.3</c:v>
                </c:pt>
                <c:pt idx="1">
                  <c:v>70.2</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9.7</c:v>
                </c:pt>
                <c:pt idx="1">
                  <c:v>10.6</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20.6</c:v>
                </c:pt>
                <c:pt idx="1">
                  <c:v>22.1</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Sheet1!$D$2:$D$3</c:f>
              <c:numCache>
                <c:formatCode>General</c:formatCode>
                <c:ptCount val="2"/>
                <c:pt idx="0">
                  <c:v>69.7</c:v>
                </c:pt>
                <c:pt idx="1">
                  <c:v>67.3</c:v>
                </c:pt>
              </c:numCache>
            </c:numRef>
          </c:val>
        </c:ser>
        <c:dLbls>
          <c:numFmt formatCode="[&lt;8]&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33.4</c:v>
                </c:pt>
                <c:pt idx="1">
                  <c:v>46.6</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66.6</c:v>
                </c:pt>
                <c:pt idx="1">
                  <c:v>53.4</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34.1</c:v>
                </c:pt>
                <c:pt idx="1">
                  <c:v>46.9</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65.9</c:v>
                </c:pt>
                <c:pt idx="1">
                  <c:v>53.1</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Sheet1!$B$2:$B$3</c:f>
              <c:numCache>
                <c:formatCode>General</c:formatCode>
                <c:ptCount val="2"/>
                <c:pt idx="0">
                  <c:v>26.7</c:v>
                </c:pt>
                <c:pt idx="1">
                  <c:v>33</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575.2M</c:v>
                  </c:pt>
                  <c:pt idx="1">
                    <c:v>PL  226.3M</c:v>
                  </c:pt>
                </c:lvl>
              </c:multiLvlStrCache>
            </c:multiLvlStrRef>
          </c:cat>
          <c:val>
            <c:numRef>
              <c:f>Sheet1!$C$2:$C$3</c:f>
              <c:numCache>
                <c:formatCode>General</c:formatCode>
                <c:ptCount val="2"/>
                <c:pt idx="0">
                  <c:v>73.3</c:v>
                </c:pt>
                <c:pt idx="1">
                  <c:v>67</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Sheet1!$B$2:$B$3</c:f>
              <c:numCache>
                <c:formatCode>General</c:formatCode>
                <c:ptCount val="2"/>
                <c:pt idx="0">
                  <c:v>28</c:v>
                </c:pt>
                <c:pt idx="1">
                  <c:v>36.5</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367.8M</c:v>
                  </c:pt>
                  <c:pt idx="1">
                    <c:v>PL  108.5M</c:v>
                  </c:pt>
                </c:lvl>
              </c:multiLvlStrCache>
            </c:multiLvlStrRef>
          </c:cat>
          <c:val>
            <c:numRef>
              <c:f>Sheet1!$C$2:$C$3</c:f>
              <c:numCache>
                <c:formatCode>General</c:formatCode>
                <c:ptCount val="2"/>
                <c:pt idx="0">
                  <c:v>72</c:v>
                </c:pt>
                <c:pt idx="1">
                  <c:v>63.5</c:v>
                </c:pt>
              </c:numCache>
            </c:numRef>
          </c:val>
        </c:ser>
        <c:dLbls>
          <c:numFmt formatCode="[&lt;5]&quot;&quot;;0&quot;%&quot;" sourceLinked="0"/>
          <c:txPr>
            <a:bodyPr/>
            <a:lstStyle/>
            <a:p>
              <a:pPr>
                <a:defRPr b="0" i="0" strike="noStrike" sz="8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Bookings (K)</a:t>
            </a:r>
          </a:p>
        </c:rich>
      </c:tx>
      <c:layout/>
      <c:overlay val="0"/>
    </c:title>
    <c:autoTitleDeleted val="0"/>
    <c:plotArea>
      <c:layout/>
      <c:barChart>
        <c:barDir val="bar"/>
        <c:grouping val="clustered"/>
        <c:varyColors val="0"/>
        <c:ser>
          <c:idx val="0"/>
          <c:order val="0"/>
          <c:tx>
            <c:strRef>
              <c:f>Sheet1!$B$1</c:f>
              <c:strCache>
                <c:ptCount val="1"/>
                <c:pt idx="0">
                  <c:v>DL</c:v>
                </c:pt>
              </c:strCache>
            </c:strRef>
          </c:tx>
          <c:spPr>
            <a:solidFill>
              <a:srgbClr val="165A73"/>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9.5</c:v>
                </c:pt>
                <c:pt idx="1">
                  <c:v>7.2</c:v>
                </c:pt>
                <c:pt idx="2">
                  <c:v>2.1</c:v>
                </c:pt>
                <c:pt idx="3">
                  <c:v>32.2</c:v>
                </c:pt>
                <c:pt idx="4">
                  <c:v>12.2</c:v>
                </c:pt>
                <c:pt idx="5">
                  <c:v>0.6</c:v>
                </c:pt>
              </c:numCache>
            </c:numRef>
          </c:val>
        </c:ser>
        <c:ser>
          <c:idx val="1"/>
          <c:order val="1"/>
          <c:tx>
            <c:strRef>
              <c:f>Sheet1!$C$1</c:f>
              <c:strCache>
                <c:ptCount val="1"/>
                <c:pt idx="0">
                  <c:v>PL</c:v>
                </c:pt>
              </c:strCache>
            </c:strRef>
          </c:tx>
          <c:spPr>
            <a:solidFill>
              <a:srgbClr val="3FB89F"/>
            </a:solidFill>
            <a:effectLst/>
          </c:spPr>
          <c:invertIfNegative val="0"/>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4.3</c:v>
                </c:pt>
                <c:pt idx="1">
                  <c:v>0.4</c:v>
                </c:pt>
                <c:pt idx="2">
                  <c:v>0.1</c:v>
                </c:pt>
                <c:pt idx="3">
                  <c:v>1.2</c:v>
                </c:pt>
                <c:pt idx="4">
                  <c:v>0.4</c:v>
                </c:pt>
                <c:pt idx="5">
                  <c:v>0.1</c:v>
                </c:pt>
              </c:numCache>
            </c:numRef>
          </c:val>
        </c:ser>
        <c:dLbls>
          <c:numFmt formatCode="0.0" sourceLinked="0"/>
          <c:txPr>
            <a:bodyPr/>
            <a:lstStyle/>
            <a:p>
              <a:pPr>
                <a:defRPr b="0" i="0" strike="noStrike" sz="750" u="none">
                  <a:solidFill>
                    <a:srgbClr val="16233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Charge type (%)</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4.9</c:v>
                </c:pt>
                <c:pt idx="1">
                  <c:v>6.9</c:v>
                </c:pt>
                <c:pt idx="2">
                  <c:v>7.6</c:v>
                </c:pt>
                <c:pt idx="3">
                  <c:v>6.9</c:v>
                </c:pt>
                <c:pt idx="4">
                  <c:v>6.9</c:v>
                </c:pt>
                <c:pt idx="5">
                  <c:v>3.8</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c:v>
                </c:pt>
                <c:pt idx="1">
                  <c:v>47.9</c:v>
                </c:pt>
                <c:pt idx="2">
                  <c:v>47.9</c:v>
                </c:pt>
                <c:pt idx="3">
                  <c:v>49.4</c:v>
                </c:pt>
                <c:pt idx="4">
                  <c:v>46.4</c:v>
                </c:pt>
                <c:pt idx="5">
                  <c:v>17.5</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40.1</c:v>
                </c:pt>
                <c:pt idx="1">
                  <c:v>45.1</c:v>
                </c:pt>
                <c:pt idx="2">
                  <c:v>44.5</c:v>
                </c:pt>
                <c:pt idx="3">
                  <c:v>43.8</c:v>
                </c:pt>
                <c:pt idx="4">
                  <c:v>46.7</c:v>
                </c:pt>
                <c:pt idx="5">
                  <c:v>78.7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Tenure in years (%)</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9.7</c:v>
                </c:pt>
                <c:pt idx="1">
                  <c:v>10.5</c:v>
                </c:pt>
                <c:pt idx="2">
                  <c:v>10.9</c:v>
                </c:pt>
                <c:pt idx="3">
                  <c:v>11.6</c:v>
                </c:pt>
                <c:pt idx="4">
                  <c:v>11.6</c:v>
                </c:pt>
                <c:pt idx="5">
                  <c:v>4.4</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21.9</c:v>
                </c:pt>
                <c:pt idx="1">
                  <c:v>22.7</c:v>
                </c:pt>
                <c:pt idx="2">
                  <c:v>23.1</c:v>
                </c:pt>
                <c:pt idx="3">
                  <c:v>23.3</c:v>
                </c:pt>
                <c:pt idx="4">
                  <c:v>22.7</c:v>
                </c:pt>
                <c:pt idx="5">
                  <c:v>14.7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Sheet1!$D$2:$D$7</c:f>
              <c:numCache>
                <c:formatCode>General</c:formatCode>
                <c:ptCount val="6"/>
                <c:pt idx="0">
                  <c:v>68.4</c:v>
                </c:pt>
                <c:pt idx="1">
                  <c:v>66.8</c:v>
                </c:pt>
                <c:pt idx="2">
                  <c:v>66</c:v>
                </c:pt>
                <c:pt idx="3">
                  <c:v>65.1</c:v>
                </c:pt>
                <c:pt idx="4">
                  <c:v>65.7</c:v>
                </c:pt>
                <c:pt idx="5">
                  <c:v>80.9</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Nano-loan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44.7</c:v>
                </c:pt>
                <c:pt idx="1">
                  <c:v>39.6</c:v>
                </c:pt>
                <c:pt idx="2">
                  <c:v>36.8</c:v>
                </c:pt>
                <c:pt idx="3">
                  <c:v>38</c:v>
                </c:pt>
                <c:pt idx="4">
                  <c:v>35.2</c:v>
                </c:pt>
                <c:pt idx="5">
                  <c:v>37.1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55.3</c:v>
                </c:pt>
                <c:pt idx="1">
                  <c:v>60.4</c:v>
                </c:pt>
                <c:pt idx="2">
                  <c:v>63.2</c:v>
                </c:pt>
                <c:pt idx="3">
                  <c:v>62</c:v>
                </c:pt>
                <c:pt idx="4">
                  <c:v>64.8</c:v>
                </c:pt>
                <c:pt idx="5">
                  <c:v>62.9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233D"/>
                </a:solidFill>
                <a:latin typeface="Calibri"/>
              </a:defRPr>
            </a:pPr>
            <a:r>
              <a:rPr sz="1100" b="0" i="0" u="none" strike="noStrike">
                <a:solidFill>
                  <a:srgbClr val="16233D"/>
                </a:solidFill>
                <a:latin typeface="Calibri"/>
              </a:rPr>
              <a:t>TRUE flag (%)</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Sheet1!$B$2:$B$7</c:f>
              <c:numCache>
                <c:formatCode>General</c:formatCode>
                <c:ptCount val="6"/>
                <c:pt idx="0">
                  <c:v>33.4</c:v>
                </c:pt>
                <c:pt idx="1">
                  <c:v>32.7</c:v>
                </c:pt>
                <c:pt idx="2">
                  <c:v>31.3</c:v>
                </c:pt>
                <c:pt idx="3">
                  <c:v>31.9</c:v>
                </c:pt>
                <c:pt idx="4">
                  <c:v>29.7</c:v>
                </c:pt>
                <c:pt idx="5">
                  <c:v>18.1</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c:v>
                  </c:pt>
                  <c:pt idx="1">
                    <c:v>4-Aug</c:v>
                  </c:pt>
                  <c:pt idx="2">
                    <c:v>3-Aug</c:v>
                  </c:pt>
                  <c:pt idx="3">
                    <c:v>2-Aug</c:v>
                  </c:pt>
                  <c:pt idx="4">
                    <c:v>1-Aug</c:v>
                  </c:pt>
                  <c:pt idx="5">
                    <c:v>bef 1 Aug</c:v>
                  </c:pt>
                </c:lvl>
              </c:multiLvlStrCache>
            </c:multiLvlStrRef>
          </c:cat>
          <c:val>
            <c:numRef>
              <c:f>Sheet1!$C$2:$C$7</c:f>
              <c:numCache>
                <c:formatCode>General</c:formatCode>
                <c:ptCount val="6"/>
                <c:pt idx="0">
                  <c:v>66.6</c:v>
                </c:pt>
                <c:pt idx="1">
                  <c:v>67.3</c:v>
                </c:pt>
                <c:pt idx="2">
                  <c:v>68.7</c:v>
                </c:pt>
                <c:pt idx="3">
                  <c:v>68.1</c:v>
                </c:pt>
                <c:pt idx="4">
                  <c:v>70.3</c:v>
                </c:pt>
                <c:pt idx="5">
                  <c:v>81.9</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6.1</c:v>
                </c:pt>
                <c:pt idx="1">
                  <c:v>7.5</c:v>
                </c:pt>
                <c:pt idx="2">
                  <c:v>8.5</c:v>
                </c:pt>
                <c:pt idx="3">
                  <c:v>7.6</c:v>
                </c:pt>
                <c:pt idx="4">
                  <c:v>7.8</c:v>
                </c:pt>
                <c:pt idx="5">
                  <c:v>5.6</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44.3</c:v>
                </c:pt>
                <c:pt idx="1">
                  <c:v>32.6</c:v>
                </c:pt>
                <c:pt idx="2">
                  <c:v>34.3</c:v>
                </c:pt>
                <c:pt idx="3">
                  <c:v>32.9</c:v>
                </c:pt>
                <c:pt idx="4">
                  <c:v>30.1</c:v>
                </c:pt>
                <c:pt idx="5">
                  <c:v>8.8</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Sheet1!$D$2:$D$7</c:f>
              <c:numCache>
                <c:formatCode>General</c:formatCode>
                <c:ptCount val="6"/>
                <c:pt idx="0">
                  <c:v>49.6</c:v>
                </c:pt>
                <c:pt idx="1">
                  <c:v>59.9</c:v>
                </c:pt>
                <c:pt idx="2">
                  <c:v>57.2</c:v>
                </c:pt>
                <c:pt idx="3">
                  <c:v>59.5</c:v>
                </c:pt>
                <c:pt idx="4">
                  <c:v>62.1</c:v>
                </c:pt>
                <c:pt idx="5">
                  <c:v>85.6</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6.6</c:v>
                </c:pt>
                <c:pt idx="1">
                  <c:v>8.4</c:v>
                </c:pt>
                <c:pt idx="2">
                  <c:v>8.8</c:v>
                </c:pt>
                <c:pt idx="3">
                  <c:v>7.9</c:v>
                </c:pt>
                <c:pt idx="4">
                  <c:v>7.9</c:v>
                </c:pt>
                <c:pt idx="5">
                  <c:v>7.2</c:v>
                </c:pt>
              </c:numCache>
            </c:numRef>
          </c:val>
        </c:ser>
        <c:ser>
          <c:idx val="1"/>
          <c:order val="1"/>
          <c:tx>
            <c:strRef>
              <c:f>Sheet1!$C$1</c:f>
              <c:strCache>
                <c:ptCount val="1"/>
                <c:pt idx="0">
                  <c:v>Prepaid</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50.3</c:v>
                </c:pt>
                <c:pt idx="1">
                  <c:v>36</c:v>
                </c:pt>
                <c:pt idx="2">
                  <c:v>35.1</c:v>
                </c:pt>
                <c:pt idx="3">
                  <c:v>34.8</c:v>
                </c:pt>
                <c:pt idx="4">
                  <c:v>31.7</c:v>
                </c:pt>
                <c:pt idx="5">
                  <c:v>9.6</c:v>
                </c:pt>
              </c:numCache>
            </c:numRef>
          </c:val>
        </c:ser>
        <c:ser>
          <c:idx val="2"/>
          <c:order val="2"/>
          <c:tx>
            <c:strRef>
              <c:f>Sheet1!$D$1</c:f>
              <c:strCache>
                <c:ptCount val="1"/>
                <c:pt idx="0">
                  <c:v>Postpaid</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Sheet1!$D$2:$D$7</c:f>
              <c:numCache>
                <c:formatCode>General</c:formatCode>
                <c:ptCount val="6"/>
                <c:pt idx="0">
                  <c:v>43.1</c:v>
                </c:pt>
                <c:pt idx="1">
                  <c:v>55.6</c:v>
                </c:pt>
                <c:pt idx="2">
                  <c:v>56.1</c:v>
                </c:pt>
                <c:pt idx="3">
                  <c:v>57.2</c:v>
                </c:pt>
                <c:pt idx="4">
                  <c:v>60.4</c:v>
                </c:pt>
                <c:pt idx="5">
                  <c:v>83.2</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8.3</c:v>
                </c:pt>
                <c:pt idx="1">
                  <c:v>8.4</c:v>
                </c:pt>
                <c:pt idx="2">
                  <c:v>9</c:v>
                </c:pt>
                <c:pt idx="3">
                  <c:v>9.8</c:v>
                </c:pt>
                <c:pt idx="4">
                  <c:v>9.3</c:v>
                </c:pt>
                <c:pt idx="5">
                  <c:v>4.8</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20.7</c:v>
                </c:pt>
                <c:pt idx="1">
                  <c:v>19.5</c:v>
                </c:pt>
                <c:pt idx="2">
                  <c:v>20.6</c:v>
                </c:pt>
                <c:pt idx="3">
                  <c:v>20.1</c:v>
                </c:pt>
                <c:pt idx="4">
                  <c:v>20.2</c:v>
                </c:pt>
                <c:pt idx="5">
                  <c:v>11.4</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Sheet1!$D$2:$D$7</c:f>
              <c:numCache>
                <c:formatCode>General</c:formatCode>
                <c:ptCount val="6"/>
                <c:pt idx="0">
                  <c:v>71</c:v>
                </c:pt>
                <c:pt idx="1">
                  <c:v>72.1</c:v>
                </c:pt>
                <c:pt idx="2">
                  <c:v>70.4</c:v>
                </c:pt>
                <c:pt idx="3">
                  <c:v>70.2</c:v>
                </c:pt>
                <c:pt idx="4">
                  <c:v>70.5</c:v>
                </c:pt>
                <c:pt idx="5">
                  <c:v>83.7</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9.8</c:v>
                </c:pt>
                <c:pt idx="1">
                  <c:v>9</c:v>
                </c:pt>
                <c:pt idx="2">
                  <c:v>9.9</c:v>
                </c:pt>
                <c:pt idx="3">
                  <c:v>10.3</c:v>
                </c:pt>
                <c:pt idx="4">
                  <c:v>9.7</c:v>
                </c:pt>
                <c:pt idx="5">
                  <c:v>7.1</c:v>
                </c:pt>
              </c:numCache>
            </c:numRef>
          </c:val>
        </c:ser>
        <c:ser>
          <c:idx val="1"/>
          <c:order val="1"/>
          <c:tx>
            <c:strRef>
              <c:f>Sheet1!$C$1</c:f>
              <c:strCache>
                <c:ptCount val="1"/>
                <c:pt idx="0">
                  <c:v>2–4</c:v>
                </c:pt>
              </c:strCache>
            </c:strRef>
          </c:tx>
          <c:spPr>
            <a:solidFill>
              <a:srgbClr val="1E8E86"/>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21.6</c:v>
                </c:pt>
                <c:pt idx="1">
                  <c:v>21.4</c:v>
                </c:pt>
                <c:pt idx="2">
                  <c:v>21</c:v>
                </c:pt>
                <c:pt idx="3">
                  <c:v>21</c:v>
                </c:pt>
                <c:pt idx="4">
                  <c:v>20.7</c:v>
                </c:pt>
                <c:pt idx="5">
                  <c:v>10.7</c:v>
                </c:pt>
              </c:numCache>
            </c:numRef>
          </c:val>
        </c:ser>
        <c:ser>
          <c:idx val="2"/>
          <c:order val="2"/>
          <c:tx>
            <c:strRef>
              <c:f>Sheet1!$D$1</c:f>
              <c:strCache>
                <c:ptCount val="1"/>
                <c:pt idx="0">
                  <c:v>5+</c:v>
                </c:pt>
              </c:strCache>
            </c:strRef>
          </c:tx>
          <c:spPr>
            <a:solidFill>
              <a:srgbClr val="165A73"/>
            </a:solidFill>
            <a:effectLst/>
          </c:spPr>
          <c:invertIfNegative val="0"/>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Sheet1!$D$2:$D$7</c:f>
              <c:numCache>
                <c:formatCode>General</c:formatCode>
                <c:ptCount val="6"/>
                <c:pt idx="0">
                  <c:v>68.6</c:v>
                </c:pt>
                <c:pt idx="1">
                  <c:v>69.5</c:v>
                </c:pt>
                <c:pt idx="2">
                  <c:v>69.1</c:v>
                </c:pt>
                <c:pt idx="3">
                  <c:v>68.7</c:v>
                </c:pt>
                <c:pt idx="4">
                  <c:v>69.5</c:v>
                </c:pt>
                <c:pt idx="5">
                  <c:v>82.1</c:v>
                </c:pt>
              </c:numCache>
            </c:numRef>
          </c:val>
        </c:ser>
        <c:dLbls>
          <c:numFmt formatCode="[&lt;8]&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45.5</c:v>
                </c:pt>
                <c:pt idx="1">
                  <c:v>35.7</c:v>
                </c:pt>
                <c:pt idx="2">
                  <c:v>32.9</c:v>
                </c:pt>
                <c:pt idx="3">
                  <c:v>34</c:v>
                </c:pt>
                <c:pt idx="4">
                  <c:v>30.9</c:v>
                </c:pt>
                <c:pt idx="5">
                  <c:v>45.2</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54.5</c:v>
                </c:pt>
                <c:pt idx="1">
                  <c:v>64.3</c:v>
                </c:pt>
                <c:pt idx="2">
                  <c:v>67.1</c:v>
                </c:pt>
                <c:pt idx="3">
                  <c:v>66</c:v>
                </c:pt>
                <c:pt idx="4">
                  <c:v>69.1</c:v>
                </c:pt>
                <c:pt idx="5">
                  <c:v>54.8</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47.4</c:v>
                </c:pt>
                <c:pt idx="1">
                  <c:v>37</c:v>
                </c:pt>
                <c:pt idx="2">
                  <c:v>34</c:v>
                </c:pt>
                <c:pt idx="3">
                  <c:v>34.9</c:v>
                </c:pt>
                <c:pt idx="4">
                  <c:v>31.5</c:v>
                </c:pt>
                <c:pt idx="5">
                  <c:v>41.4</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52.6</c:v>
                </c:pt>
                <c:pt idx="1">
                  <c:v>63</c:v>
                </c:pt>
                <c:pt idx="2">
                  <c:v>66</c:v>
                </c:pt>
                <c:pt idx="3">
                  <c:v>65.1</c:v>
                </c:pt>
                <c:pt idx="4">
                  <c:v>68.5</c:v>
                </c:pt>
                <c:pt idx="5">
                  <c:v>58.6</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Sheet1!$B$2:$B$7</c:f>
              <c:numCache>
                <c:formatCode>General</c:formatCode>
                <c:ptCount val="6"/>
                <c:pt idx="0">
                  <c:v>32.3</c:v>
                </c:pt>
                <c:pt idx="1">
                  <c:v>28.2</c:v>
                </c:pt>
                <c:pt idx="2">
                  <c:v>28.9</c:v>
                </c:pt>
                <c:pt idx="3">
                  <c:v>27.7</c:v>
                </c:pt>
                <c:pt idx="4">
                  <c:v>25.6</c:v>
                </c:pt>
                <c:pt idx="5">
                  <c:v>14.6</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224.6M</c:v>
                  </c:pt>
                  <c:pt idx="1">
                    <c:v>4-Aug  85.8M</c:v>
                  </c:pt>
                  <c:pt idx="2">
                    <c:v>3-Aug  23.4M</c:v>
                  </c:pt>
                  <c:pt idx="3">
                    <c:v>2-Aug  325.1M</c:v>
                  </c:pt>
                  <c:pt idx="4">
                    <c:v>1-Aug  125.8M</c:v>
                  </c:pt>
                  <c:pt idx="5">
                    <c:v>bef 1 Aug  16.8M</c:v>
                  </c:pt>
                </c:lvl>
              </c:multiLvlStrCache>
            </c:multiLvlStrRef>
          </c:cat>
          <c:val>
            <c:numRef>
              <c:f>Sheet1!$C$2:$C$7</c:f>
              <c:numCache>
                <c:formatCode>General</c:formatCode>
                <c:ptCount val="6"/>
                <c:pt idx="0">
                  <c:v>67.7</c:v>
                </c:pt>
                <c:pt idx="1">
                  <c:v>71.8</c:v>
                </c:pt>
                <c:pt idx="2">
                  <c:v>71.1</c:v>
                </c:pt>
                <c:pt idx="3">
                  <c:v>72.3</c:v>
                </c:pt>
                <c:pt idx="4">
                  <c:v>74.4</c:v>
                </c:pt>
                <c:pt idx="5">
                  <c:v>85.4</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Sheet1!$B$2:$B$7</c:f>
              <c:numCache>
                <c:formatCode>General</c:formatCode>
                <c:ptCount val="6"/>
                <c:pt idx="0">
                  <c:v>35.6</c:v>
                </c:pt>
                <c:pt idx="1">
                  <c:v>30.5</c:v>
                </c:pt>
                <c:pt idx="2">
                  <c:v>28.7</c:v>
                </c:pt>
                <c:pt idx="3">
                  <c:v>29.3</c:v>
                </c:pt>
                <c:pt idx="4">
                  <c:v>26.3</c:v>
                </c:pt>
                <c:pt idx="5">
                  <c:v>17</c:v>
                </c:pt>
              </c:numCache>
            </c:numRef>
          </c:val>
        </c:ser>
        <c:ser>
          <c:idx val="1"/>
          <c:order val="1"/>
          <c:tx>
            <c:strRef>
              <c:f>Sheet1!$C$1</c:f>
              <c:strCache>
                <c:ptCount val="1"/>
                <c:pt idx="0">
                  <c:v>Y</c:v>
                </c:pt>
              </c:strCache>
            </c:strRef>
          </c:tx>
          <c:spPr>
            <a:solidFill>
              <a:srgbClr val="165A73"/>
            </a:solidFill>
            <a:effectLst/>
          </c:spPr>
          <c:invertIfNegative val="0"/>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5-Aug  95.2M</c:v>
                  </c:pt>
                  <c:pt idx="1">
                    <c:v>4-Aug  46.1M</c:v>
                  </c:pt>
                  <c:pt idx="2">
                    <c:v>3-Aug  16.4M</c:v>
                  </c:pt>
                  <c:pt idx="3">
                    <c:v>2-Aug  220M</c:v>
                  </c:pt>
                  <c:pt idx="4">
                    <c:v>1-Aug  91.3M</c:v>
                  </c:pt>
                  <c:pt idx="5">
                    <c:v>bef 1 Aug  7.4M</c:v>
                  </c:pt>
                </c:lvl>
              </c:multiLvlStrCache>
            </c:multiLvlStrRef>
          </c:cat>
          <c:val>
            <c:numRef>
              <c:f>Sheet1!$C$2:$C$7</c:f>
              <c:numCache>
                <c:formatCode>General</c:formatCode>
                <c:ptCount val="6"/>
                <c:pt idx="0">
                  <c:v>64.4</c:v>
                </c:pt>
                <c:pt idx="1">
                  <c:v>69.5</c:v>
                </c:pt>
                <c:pt idx="2">
                  <c:v>71.3</c:v>
                </c:pt>
                <c:pt idx="3">
                  <c:v>70.7</c:v>
                </c:pt>
                <c:pt idx="4">
                  <c:v>73.7</c:v>
                </c:pt>
                <c:pt idx="5">
                  <c:v>83</c:v>
                </c:pt>
              </c:numCache>
            </c:numRef>
          </c:val>
        </c:ser>
        <c:dLbls>
          <c:numFmt formatCode="[&lt;5]&quot;&quot;;0&quot;%&quot;" sourceLinked="0"/>
          <c:txPr>
            <a:bodyPr/>
            <a:lstStyle/>
            <a:p>
              <a:pPr>
                <a:defRPr b="0" i="0" strike="noStrike" sz="7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Sheet1!$B$2:$B$3</c:f>
              <c:numCache>
                <c:formatCode>General</c:formatCode>
                <c:ptCount val="2"/>
                <c:pt idx="0">
                  <c:v>12.4</c:v>
                </c:pt>
                <c:pt idx="1">
                  <c:v>16</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Sheet1!$C$2:$C$3</c:f>
              <c:numCache>
                <c:formatCode>General</c:formatCode>
                <c:ptCount val="2"/>
                <c:pt idx="0">
                  <c:v>4.6</c:v>
                </c:pt>
                <c:pt idx="1">
                  <c:v>9.7</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Sheet1!$D$2:$D$3</c:f>
              <c:numCache>
                <c:formatCode>General</c:formatCode>
                <c:ptCount val="2"/>
                <c:pt idx="0">
                  <c:v>15.2</c:v>
                </c:pt>
                <c:pt idx="1">
                  <c:v>22.2</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Sheet1!$E$2:$E$3</c:f>
              <c:numCache>
                <c:formatCode>General</c:formatCode>
                <c:ptCount val="2"/>
                <c:pt idx="0">
                  <c:v>67.8</c:v>
                </c:pt>
                <c:pt idx="1">
                  <c:v>52.2</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Sheet1!$B$2:$B$3</c:f>
              <c:numCache>
                <c:formatCode>General</c:formatCode>
                <c:ptCount val="2"/>
                <c:pt idx="0">
                  <c:v>13</c:v>
                </c:pt>
                <c:pt idx="1">
                  <c:v>16.6</c:v>
                </c:pt>
              </c:numCache>
            </c:numRef>
          </c:val>
        </c:ser>
        <c:ser>
          <c:idx val="1"/>
          <c:order val="1"/>
          <c:tx>
            <c:strRef>
              <c:f>Sheet1!$C$1</c:f>
              <c:strCache>
                <c:ptCount val="1"/>
                <c:pt idx="0">
                  <c:v>Low</c:v>
                </c:pt>
              </c:strCache>
            </c:strRef>
          </c:tx>
          <c:spPr>
            <a:solidFill>
              <a:srgbClr val="3FB89F"/>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Sheet1!$C$2:$C$3</c:f>
              <c:numCache>
                <c:formatCode>General</c:formatCode>
                <c:ptCount val="2"/>
                <c:pt idx="0">
                  <c:v>4.4</c:v>
                </c:pt>
                <c:pt idx="1">
                  <c:v>8.6</c:v>
                </c:pt>
              </c:numCache>
            </c:numRef>
          </c:val>
        </c:ser>
        <c:ser>
          <c:idx val="2"/>
          <c:order val="2"/>
          <c:tx>
            <c:strRef>
              <c:f>Sheet1!$D$1</c:f>
              <c:strCache>
                <c:ptCount val="1"/>
                <c:pt idx="0">
                  <c:v>Mid</c:v>
                </c:pt>
              </c:strCache>
            </c:strRef>
          </c:tx>
          <c:spPr>
            <a:solidFill>
              <a:srgbClr val="1E8E86"/>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Sheet1!$D$2:$D$3</c:f>
              <c:numCache>
                <c:formatCode>General</c:formatCode>
                <c:ptCount val="2"/>
                <c:pt idx="0">
                  <c:v>14</c:v>
                </c:pt>
                <c:pt idx="1">
                  <c:v>19.1</c:v>
                </c:pt>
              </c:numCache>
            </c:numRef>
          </c:val>
        </c:ser>
        <c:ser>
          <c:idx val="3"/>
          <c:order val="3"/>
          <c:tx>
            <c:strRef>
              <c:f>Sheet1!$E$1</c:f>
              <c:strCache>
                <c:ptCount val="1"/>
                <c:pt idx="0">
                  <c:v>High</c:v>
                </c:pt>
              </c:strCache>
            </c:strRef>
          </c:tx>
          <c:spPr>
            <a:solidFill>
              <a:srgbClr val="165A73"/>
            </a:solidFill>
            <a:effectLst/>
          </c:spPr>
          <c:invertIfNegative val="0"/>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Sheet1!$E$2:$E$3</c:f>
              <c:numCache>
                <c:formatCode>General</c:formatCode>
                <c:ptCount val="2"/>
                <c:pt idx="0">
                  <c:v>68.6</c:v>
                </c:pt>
                <c:pt idx="1">
                  <c:v>55.7</c:v>
                </c:pt>
              </c:numCache>
            </c:numRef>
          </c:val>
        </c:ser>
        <c:dLbls>
          <c:numFmt formatCode="[&lt;3]&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CREDIT LINE</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Sheet1!$B$2:$B$3</c:f>
              <c:numCache>
                <c:formatCode>General</c:formatCode>
                <c:ptCount val="2"/>
                <c:pt idx="0">
                  <c:v>1.6</c:v>
                </c:pt>
                <c:pt idx="1">
                  <c:v>4.9</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Sheet1!$C$2:$C$3</c:f>
              <c:numCache>
                <c:formatCode>General</c:formatCode>
                <c:ptCount val="2"/>
                <c:pt idx="0">
                  <c:v>35.8</c:v>
                </c:pt>
                <c:pt idx="1">
                  <c:v>39.9</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Sheet1!$D$2:$D$3</c:f>
              <c:numCache>
                <c:formatCode>General</c:formatCode>
                <c:ptCount val="2"/>
                <c:pt idx="0">
                  <c:v>26.3</c:v>
                </c:pt>
                <c:pt idx="1">
                  <c:v>23.4</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780.7M</c:v>
                  </c:pt>
                  <c:pt idx="1">
                    <c:v>PL  311.6M</c:v>
                  </c:pt>
                </c:lvl>
              </c:multiLvlStrCache>
            </c:multiLvlStrRef>
          </c:cat>
          <c:val>
            <c:numRef>
              <c:f>Sheet1!$E$2:$E$3</c:f>
              <c:numCache>
                <c:formatCode>General</c:formatCode>
                <c:ptCount val="2"/>
                <c:pt idx="0">
                  <c:v>36.3</c:v>
                </c:pt>
                <c:pt idx="1">
                  <c:v>31.7</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00A896"/>
                </a:solidFill>
                <a:latin typeface="Calibri"/>
              </a:defRPr>
            </a:pPr>
            <a:r>
              <a:rPr sz="1000" b="0" i="0" u="none" strike="noStrike">
                <a:solidFill>
                  <a:srgbClr val="00A896"/>
                </a:solidFill>
                <a:latin typeface="Calibri"/>
              </a:rPr>
              <a:t>OUTSTANDING</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Sheet1!$B$2:$B$3</c:f>
              <c:numCache>
                <c:formatCode>General</c:formatCode>
                <c:ptCount val="2"/>
                <c:pt idx="0">
                  <c:v>1.7</c:v>
                </c:pt>
                <c:pt idx="1">
                  <c:v>5.4</c:v>
                </c:pt>
              </c:numCache>
            </c:numRef>
          </c:val>
        </c:ser>
        <c:ser>
          <c:idx val="1"/>
          <c:order val="1"/>
          <c:tx>
            <c:strRef>
              <c:f>Sheet1!$C$1</c:f>
              <c:strCache>
                <c:ptCount val="1"/>
                <c:pt idx="0">
                  <c:v>Low</c:v>
                </c:pt>
              </c:strCache>
            </c:strRef>
          </c:tx>
          <c:spPr>
            <a:solidFill>
              <a:srgbClr val="3FB89F"/>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Sheet1!$C$2:$C$3</c:f>
              <c:numCache>
                <c:formatCode>General</c:formatCode>
                <c:ptCount val="2"/>
                <c:pt idx="0">
                  <c:v>33.1</c:v>
                </c:pt>
                <c:pt idx="1">
                  <c:v>34.3</c:v>
                </c:pt>
              </c:numCache>
            </c:numRef>
          </c:val>
        </c:ser>
        <c:ser>
          <c:idx val="2"/>
          <c:order val="2"/>
          <c:tx>
            <c:strRef>
              <c:f>Sheet1!$D$1</c:f>
              <c:strCache>
                <c:ptCount val="1"/>
                <c:pt idx="0">
                  <c:v>Mid</c:v>
                </c:pt>
              </c:strCache>
            </c:strRef>
          </c:tx>
          <c:spPr>
            <a:solidFill>
              <a:srgbClr val="1E8E86"/>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Sheet1!$D$2:$D$3</c:f>
              <c:numCache>
                <c:formatCode>General</c:formatCode>
                <c:ptCount val="2"/>
                <c:pt idx="0">
                  <c:v>26.1</c:v>
                </c:pt>
                <c:pt idx="1">
                  <c:v>23.3</c:v>
                </c:pt>
              </c:numCache>
            </c:numRef>
          </c:val>
        </c:ser>
        <c:ser>
          <c:idx val="3"/>
          <c:order val="3"/>
          <c:tx>
            <c:strRef>
              <c:f>Sheet1!$E$1</c:f>
              <c:strCache>
                <c:ptCount val="1"/>
                <c:pt idx="0">
                  <c:v>High</c:v>
                </c:pt>
              </c:strCache>
            </c:strRef>
          </c:tx>
          <c:spPr>
            <a:solidFill>
              <a:srgbClr val="165A73"/>
            </a:solidFill>
            <a:effectLst/>
          </c:spPr>
          <c:invertIfNegative val="0"/>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  508.8M</c:v>
                  </c:pt>
                  <c:pt idx="1">
                    <c:v>PL  151.7M</c:v>
                  </c:pt>
                </c:lvl>
              </c:multiLvlStrCache>
            </c:multiLvlStrRef>
          </c:cat>
          <c:val>
            <c:numRef>
              <c:f>Sheet1!$E$2:$E$3</c:f>
              <c:numCache>
                <c:formatCode>General</c:formatCode>
                <c:ptCount val="2"/>
                <c:pt idx="0">
                  <c:v>39.1</c:v>
                </c:pt>
                <c:pt idx="1">
                  <c:v>36.9</c:v>
                </c:pt>
              </c:numCache>
            </c:numRef>
          </c:val>
        </c:ser>
        <c:dLbls>
          <c:numFmt formatCode="[&lt;6]&quot;&quot;;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dimensions as slide 2, measured by value instead of headcount, with credit line and outstanding split into labelled blocks. Charge type is the only mix that moves materially: DL prepaid falls from 48.8% of customers to 30.9% of credit line while postpaid rises 44.7% to 61.8%. The other three shift only a few points toward the favourable category: tenure 5+ years 66.3% to 71.3% of DL line, nano Y 61.8% to 66.6%, TRUE Y 68.5% to 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the two earlier book-date slides into one, in the same tall-panel layout as the value slide that follows. 2 Aug alone is 33,341 of the 70,100 AIS bookings (47.6%); PL is back-loaded, with 4,255 of its 6,340 bookings on 5 Aug. Nano-loan Y falls from 64.8% on 1 Aug to 55.3% on 5 Aug (9.5pt); TRUE Y drifts 70.3% to 66.6%. Charge type and tenure barely move - prepaid 46-55%, tenure 5+ years 65-68%.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line and outstanding are now separate labelled blocks within each dimension panel. In every August cohort the prepaid share of outstanding exceeds its share of credit line - by 1.6pt on 1 Aug widening to 6.0pt on 5 Aug - and the same direction holds for 0-1 year tenure, no-nano and non-TRUE. The segments granted smaller lines draw a higher fraction of them, so outstanding is tilted toward the weaker end of every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chart form as slide 1, on value instead of headcount, with credit line and outstanding as labelled blocks. Risk: High rises from 36.3% of DL credit line to 39.1% of outstanding, and 31.7% to 36.9% on PL; Low falls 35.8% to 33.1% and 39.9% to 34.3%. Cash need moves less - High 67.8% to 68.6% on DL, 52.2% to 55.7% on PL. Same direction as the book-date cuts: the weaker segment of every dimension draws a higher fraction of its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out of the combined 4x4 table so each dimension reads on its own. Cash need is heavily concentrated - High alone is 63.3% of the credit line. Risk is not: Low 37.0%, Mid 25.5%, High 35.0%. Low risk holding 37.0% of the line against 29.0% of customers means low-risk customers are granted larger lines on average. The DL/PL utilisation gap persists on both cuts: DL 65.2% against PL 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chart" Target="/ppt/charts/chart16.xml"/><Relationship Id="rId4" Type="http://schemas.openxmlformats.org/officeDocument/2006/relationships/chart" Target="/ppt/charts/chart17.xml"/><Relationship Id="rId5" Type="http://schemas.openxmlformats.org/officeDocument/2006/relationships/chart" Target="/ppt/charts/chart18.xml"/><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chart" Target="/ppt/charts/chart25.xml"/><Relationship Id="rId8" Type="http://schemas.openxmlformats.org/officeDocument/2006/relationships/chart" Target="/ppt/charts/chart26.xml"/><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SHARE OF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Postpaid punches far above its headcount</a:t>
            </a:r>
            <a:endParaRPr lang="en-US" sz="32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Prepaid is 48.8% of DL customers but 30.9% of DL credit line; postpaid runs 44.7% to 61.8%.</a:t>
            </a:r>
            <a:endParaRPr lang="en-US" sz="1250" dirty="0"/>
          </a:p>
        </p:txBody>
      </p:sp>
      <p:sp>
        <p:nvSpPr>
          <p:cNvPr id="5" name="Shape 3"/>
          <p:cNvSpPr/>
          <p:nvPr/>
        </p:nvSpPr>
        <p:spPr>
          <a:xfrm>
            <a:off x="548640" y="1426464"/>
            <a:ext cx="2628900" cy="4517136"/>
          </a:xfrm>
          <a:prstGeom prst="roundRect">
            <a:avLst>
              <a:gd name="adj" fmla="val 3130"/>
            </a:avLst>
          </a:prstGeom>
          <a:solidFill>
            <a:srgbClr val="F1F4F9"/>
          </a:solidFill>
          <a:ln/>
        </p:spPr>
      </p:sp>
      <p:sp>
        <p:nvSpPr>
          <p:cNvPr id="6" name="Text 4"/>
          <p:cNvSpPr/>
          <p:nvPr/>
        </p:nvSpPr>
        <p:spPr>
          <a:xfrm>
            <a:off x="64008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Charge type</a:t>
            </a:r>
            <a:endParaRPr lang="en-US" sz="1200" dirty="0"/>
          </a:p>
        </p:txBody>
      </p:sp>
      <p:graphicFrame>
        <p:nvGraphicFramePr>
          <p:cNvPr id="7" name="Chart 0" descr=""/>
          <p:cNvGraphicFramePr/>
          <p:nvPr/>
        </p:nvGraphicFramePr>
        <p:xfrm>
          <a:off x="630936" y="1810512"/>
          <a:ext cx="2464308" cy="1778325"/>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88837"/>
          <a:ext cx="2464308" cy="226332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3360420" y="1426464"/>
            <a:ext cx="2628900" cy="4517136"/>
          </a:xfrm>
          <a:prstGeom prst="roundRect">
            <a:avLst>
              <a:gd name="adj" fmla="val 3130"/>
            </a:avLst>
          </a:prstGeom>
          <a:solidFill>
            <a:srgbClr val="F1F4F9"/>
          </a:solidFill>
          <a:ln/>
        </p:spPr>
      </p:sp>
      <p:sp>
        <p:nvSpPr>
          <p:cNvPr id="10" name="Text 6"/>
          <p:cNvSpPr/>
          <p:nvPr/>
        </p:nvSpPr>
        <p:spPr>
          <a:xfrm>
            <a:off x="345186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Tenure in years</a:t>
            </a:r>
            <a:endParaRPr lang="en-US" sz="1200" dirty="0"/>
          </a:p>
        </p:txBody>
      </p:sp>
      <p:graphicFrame>
        <p:nvGraphicFramePr>
          <p:cNvPr id="11" name="Chart 2" descr=""/>
          <p:cNvGraphicFramePr/>
          <p:nvPr/>
        </p:nvGraphicFramePr>
        <p:xfrm>
          <a:off x="3442716" y="1810512"/>
          <a:ext cx="2464308" cy="1778325"/>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3442716" y="3588837"/>
          <a:ext cx="2464308" cy="2263323"/>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6172200" y="1426464"/>
            <a:ext cx="2628900" cy="4517136"/>
          </a:xfrm>
          <a:prstGeom prst="roundRect">
            <a:avLst>
              <a:gd name="adj" fmla="val 3130"/>
            </a:avLst>
          </a:prstGeom>
          <a:solidFill>
            <a:srgbClr val="F1F4F9"/>
          </a:solidFill>
          <a:ln/>
        </p:spPr>
      </p:sp>
      <p:sp>
        <p:nvSpPr>
          <p:cNvPr id="14" name="Text 8"/>
          <p:cNvSpPr/>
          <p:nvPr/>
        </p:nvSpPr>
        <p:spPr>
          <a:xfrm>
            <a:off x="626364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Nano-loan flag</a:t>
            </a:r>
            <a:endParaRPr lang="en-US" sz="1200" dirty="0"/>
          </a:p>
        </p:txBody>
      </p:sp>
      <p:graphicFrame>
        <p:nvGraphicFramePr>
          <p:cNvPr id="15" name="Chart 4" descr=""/>
          <p:cNvGraphicFramePr/>
          <p:nvPr/>
        </p:nvGraphicFramePr>
        <p:xfrm>
          <a:off x="6254496" y="1810512"/>
          <a:ext cx="2464308" cy="1778325"/>
        </p:xfrm>
        <a:graphic xmlns:a="http://schemas.openxmlformats.org/drawingml/2006/main">
          <a:graphicData uri="http://schemas.openxmlformats.org/drawingml/2006/chart">
            <c:chart xmlns:c="http://schemas.openxmlformats.org/drawingml/2006/chart" r:id="rId5"/>
          </a:graphicData>
        </a:graphic>
      </p:graphicFrame>
      <p:graphicFrame>
        <p:nvGraphicFramePr>
          <p:cNvPr id="16" name="Chart 5" descr=""/>
          <p:cNvGraphicFramePr/>
          <p:nvPr/>
        </p:nvGraphicFramePr>
        <p:xfrm>
          <a:off x="6254496" y="3588837"/>
          <a:ext cx="2464308" cy="2263323"/>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1426464"/>
            <a:ext cx="2628900" cy="4517136"/>
          </a:xfrm>
          <a:prstGeom prst="roundRect">
            <a:avLst>
              <a:gd name="adj" fmla="val 3130"/>
            </a:avLst>
          </a:prstGeom>
          <a:solidFill>
            <a:srgbClr val="F1F4F9"/>
          </a:solidFill>
          <a:ln/>
        </p:spPr>
      </p:sp>
      <p:sp>
        <p:nvSpPr>
          <p:cNvPr id="18" name="Text 10"/>
          <p:cNvSpPr/>
          <p:nvPr/>
        </p:nvSpPr>
        <p:spPr>
          <a:xfrm>
            <a:off x="907542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TRUE ecosystem</a:t>
            </a:r>
            <a:endParaRPr lang="en-US" sz="1200" dirty="0"/>
          </a:p>
        </p:txBody>
      </p:sp>
      <p:graphicFrame>
        <p:nvGraphicFramePr>
          <p:cNvPr id="19" name="Chart 6" descr=""/>
          <p:cNvGraphicFramePr/>
          <p:nvPr/>
        </p:nvGraphicFramePr>
        <p:xfrm>
          <a:off x="9066276" y="1810512"/>
          <a:ext cx="2464308" cy="1778325"/>
        </p:xfrm>
        <a:graphic xmlns:a="http://schemas.openxmlformats.org/drawingml/2006/main">
          <a:graphicData uri="http://schemas.openxmlformats.org/drawingml/2006/chart">
            <c:chart xmlns:c="http://schemas.openxmlformats.org/drawingml/2006/chart" r:id="rId7"/>
          </a:graphicData>
        </a:graphic>
      </p:graphicFrame>
      <p:graphicFrame>
        <p:nvGraphicFramePr>
          <p:cNvPr id="20" name="Chart 7" descr=""/>
          <p:cNvGraphicFramePr/>
          <p:nvPr/>
        </p:nvGraphicFramePr>
        <p:xfrm>
          <a:off x="9066276" y="3588837"/>
          <a:ext cx="2464308" cy="2263323"/>
        </p:xfrm>
        <a:graphic xmlns:a="http://schemas.openxmlformats.org/drawingml/2006/main">
          <a:graphicData uri="http://schemas.openxmlformats.org/drawingml/2006/chart">
            <c:chart xmlns:c="http://schemas.openxmlformats.org/drawingml/2006/chart" r:id="rId8"/>
          </a:graphicData>
        </a:graphic>
      </p:graphicFrame>
      <p:sp>
        <p:nvSpPr>
          <p:cNvPr id="21" name="Text 11"/>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aggregated across all book dates. CL = credit line, OS = outstanding; each bar is a mix within that loan type and measure, so every bar reads to 100%. The figure beside each bar is that bar's total for the measure shown. Segments too narrow to hold a label are left blank. Slide 2 shows the same four splits by customer count.</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CUSTOMER COUNT</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Nearly half the base booked on 2 August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PL arrives almost entirely on 5 Aug; the nano-loan flag falls 9.5 points across the cohorts while charge type and tenure barely move.</a:t>
            </a:r>
            <a:endParaRPr lang="en-US" sz="1200" dirty="0"/>
          </a:p>
        </p:txBody>
      </p:sp>
      <p:sp>
        <p:nvSpPr>
          <p:cNvPr id="5" name="Shape 3"/>
          <p:cNvSpPr/>
          <p:nvPr/>
        </p:nvSpPr>
        <p:spPr>
          <a:xfrm>
            <a:off x="548640" y="1426464"/>
            <a:ext cx="2081174" cy="4517136"/>
          </a:xfrm>
          <a:prstGeom prst="roundRect">
            <a:avLst>
              <a:gd name="adj" fmla="val 3954"/>
            </a:avLst>
          </a:prstGeom>
          <a:solidFill>
            <a:srgbClr val="F1F4F9"/>
          </a:solidFill>
          <a:ln/>
        </p:spPr>
      </p:sp>
      <p:graphicFrame>
        <p:nvGraphicFramePr>
          <p:cNvPr id="6" name="Chart 0" descr=""/>
          <p:cNvGraphicFramePr/>
          <p:nvPr/>
        </p:nvGraphicFramePr>
        <p:xfrm>
          <a:off x="630936" y="1499616"/>
          <a:ext cx="1916582" cy="4370832"/>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2794406" y="1426464"/>
            <a:ext cx="2081174" cy="4517136"/>
          </a:xfrm>
          <a:prstGeom prst="roundRect">
            <a:avLst>
              <a:gd name="adj" fmla="val 3954"/>
            </a:avLst>
          </a:prstGeom>
          <a:solidFill>
            <a:srgbClr val="F1F4F9"/>
          </a:solidFill>
          <a:ln/>
        </p:spPr>
      </p:sp>
      <p:graphicFrame>
        <p:nvGraphicFramePr>
          <p:cNvPr id="8" name="Chart 1" descr=""/>
          <p:cNvGraphicFramePr/>
          <p:nvPr/>
        </p:nvGraphicFramePr>
        <p:xfrm>
          <a:off x="2876702" y="1499616"/>
          <a:ext cx="1916582" cy="4370832"/>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40173" y="1426464"/>
            <a:ext cx="2081174" cy="4517136"/>
          </a:xfrm>
          <a:prstGeom prst="roundRect">
            <a:avLst>
              <a:gd name="adj" fmla="val 3954"/>
            </a:avLst>
          </a:prstGeom>
          <a:solidFill>
            <a:srgbClr val="F1F4F9"/>
          </a:solidFill>
          <a:ln/>
        </p:spPr>
      </p:sp>
      <p:graphicFrame>
        <p:nvGraphicFramePr>
          <p:cNvPr id="10" name="Chart 2" descr=""/>
          <p:cNvGraphicFramePr/>
          <p:nvPr/>
        </p:nvGraphicFramePr>
        <p:xfrm>
          <a:off x="5122469" y="1499616"/>
          <a:ext cx="1916582" cy="4370832"/>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7285939" y="1426464"/>
            <a:ext cx="2081174" cy="4517136"/>
          </a:xfrm>
          <a:prstGeom prst="roundRect">
            <a:avLst>
              <a:gd name="adj" fmla="val 3954"/>
            </a:avLst>
          </a:prstGeom>
          <a:solidFill>
            <a:srgbClr val="F1F4F9"/>
          </a:solidFill>
          <a:ln/>
        </p:spPr>
      </p:sp>
      <p:graphicFrame>
        <p:nvGraphicFramePr>
          <p:cNvPr id="12" name="Chart 3" descr=""/>
          <p:cNvGraphicFramePr/>
          <p:nvPr/>
        </p:nvGraphicFramePr>
        <p:xfrm>
          <a:off x="7368235" y="1499616"/>
          <a:ext cx="1916582" cy="4370832"/>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9531706" y="1426464"/>
            <a:ext cx="2081174" cy="4517136"/>
          </a:xfrm>
          <a:prstGeom prst="roundRect">
            <a:avLst>
              <a:gd name="adj" fmla="val 3954"/>
            </a:avLst>
          </a:prstGeom>
          <a:solidFill>
            <a:srgbClr val="F1F4F9"/>
          </a:solidFill>
          <a:ln/>
        </p:spPr>
      </p:sp>
      <p:graphicFrame>
        <p:nvGraphicFramePr>
          <p:cNvPr id="14" name="Chart 4" descr=""/>
          <p:cNvGraphicFramePr/>
          <p:nvPr/>
        </p:nvGraphicFramePr>
        <p:xfrm>
          <a:off x="9614002" y="1499616"/>
          <a:ext cx="1916582" cy="4370832"/>
        </p:xfrm>
        <a:graphic xmlns:a="http://schemas.openxmlformats.org/drawingml/2006/main">
          <a:graphicData uri="http://schemas.openxmlformats.org/drawingml/2006/chart">
            <c:chart xmlns:c="http://schemas.openxmlformats.org/drawingml/2006/chart" r:id="rId5"/>
          </a:graphicData>
        </a:graphic>
      </p:graphicFrame>
      <p:sp>
        <p:nvSpPr>
          <p:cNvPr id="15" name="Text 8"/>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mixes combine DL and PL, bookings are split by loan type. Segments too narrow to hold a label are left blank — exact values are in the tables. 'bef 1 Aug' holds only 708 customers, so its mix is a small-sample outlier. The next slide shows the same four cuts on credit line and outstanding.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Weaker segments draw more of their line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short tenure, no nano flag and non-TRUE each take a larger share of OS than of CL — they use more of what they are granted.</a:t>
            </a:r>
            <a:endParaRPr lang="en-US" sz="1200" dirty="0"/>
          </a:p>
        </p:txBody>
      </p:sp>
      <p:sp>
        <p:nvSpPr>
          <p:cNvPr id="5" name="Shape 3"/>
          <p:cNvSpPr/>
          <p:nvPr/>
        </p:nvSpPr>
        <p:spPr>
          <a:xfrm>
            <a:off x="548640" y="1426464"/>
            <a:ext cx="2628900" cy="4517136"/>
          </a:xfrm>
          <a:prstGeom prst="roundRect">
            <a:avLst>
              <a:gd name="adj" fmla="val 3130"/>
            </a:avLst>
          </a:prstGeom>
          <a:solidFill>
            <a:srgbClr val="F1F4F9"/>
          </a:solidFill>
          <a:ln/>
        </p:spPr>
      </p:sp>
      <p:sp>
        <p:nvSpPr>
          <p:cNvPr id="6" name="Text 4"/>
          <p:cNvSpPr/>
          <p:nvPr/>
        </p:nvSpPr>
        <p:spPr>
          <a:xfrm>
            <a:off x="64008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Charge type</a:t>
            </a:r>
            <a:endParaRPr lang="en-US" sz="1200" dirty="0"/>
          </a:p>
        </p:txBody>
      </p:sp>
      <p:graphicFrame>
        <p:nvGraphicFramePr>
          <p:cNvPr id="7" name="Chart 0" descr=""/>
          <p:cNvGraphicFramePr/>
          <p:nvPr/>
        </p:nvGraphicFramePr>
        <p:xfrm>
          <a:off x="630936" y="1810512"/>
          <a:ext cx="2464308" cy="1778325"/>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88837"/>
          <a:ext cx="2464308" cy="2263323"/>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3360420" y="1426464"/>
            <a:ext cx="2628900" cy="4517136"/>
          </a:xfrm>
          <a:prstGeom prst="roundRect">
            <a:avLst>
              <a:gd name="adj" fmla="val 3130"/>
            </a:avLst>
          </a:prstGeom>
          <a:solidFill>
            <a:srgbClr val="F1F4F9"/>
          </a:solidFill>
          <a:ln/>
        </p:spPr>
      </p:sp>
      <p:sp>
        <p:nvSpPr>
          <p:cNvPr id="10" name="Text 6"/>
          <p:cNvSpPr/>
          <p:nvPr/>
        </p:nvSpPr>
        <p:spPr>
          <a:xfrm>
            <a:off x="345186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Tenure in years</a:t>
            </a:r>
            <a:endParaRPr lang="en-US" sz="1200" dirty="0"/>
          </a:p>
        </p:txBody>
      </p:sp>
      <p:graphicFrame>
        <p:nvGraphicFramePr>
          <p:cNvPr id="11" name="Chart 2" descr=""/>
          <p:cNvGraphicFramePr/>
          <p:nvPr/>
        </p:nvGraphicFramePr>
        <p:xfrm>
          <a:off x="3442716" y="1810512"/>
          <a:ext cx="2464308" cy="1778325"/>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3442716" y="3588837"/>
          <a:ext cx="2464308" cy="2263323"/>
        </p:xfrm>
        <a:graphic xmlns:a="http://schemas.openxmlformats.org/drawingml/2006/main">
          <a:graphicData uri="http://schemas.openxmlformats.org/drawingml/2006/chart">
            <c:chart xmlns:c="http://schemas.openxmlformats.org/drawingml/2006/chart" r:id="rId4"/>
          </a:graphicData>
        </a:graphic>
      </p:graphicFrame>
      <p:sp>
        <p:nvSpPr>
          <p:cNvPr id="13" name="Shape 7"/>
          <p:cNvSpPr/>
          <p:nvPr/>
        </p:nvSpPr>
        <p:spPr>
          <a:xfrm>
            <a:off x="6172200" y="1426464"/>
            <a:ext cx="2628900" cy="4517136"/>
          </a:xfrm>
          <a:prstGeom prst="roundRect">
            <a:avLst>
              <a:gd name="adj" fmla="val 3130"/>
            </a:avLst>
          </a:prstGeom>
          <a:solidFill>
            <a:srgbClr val="F1F4F9"/>
          </a:solidFill>
          <a:ln/>
        </p:spPr>
      </p:sp>
      <p:sp>
        <p:nvSpPr>
          <p:cNvPr id="14" name="Text 8"/>
          <p:cNvSpPr/>
          <p:nvPr/>
        </p:nvSpPr>
        <p:spPr>
          <a:xfrm>
            <a:off x="626364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Nano-loan flag</a:t>
            </a:r>
            <a:endParaRPr lang="en-US" sz="1200" dirty="0"/>
          </a:p>
        </p:txBody>
      </p:sp>
      <p:graphicFrame>
        <p:nvGraphicFramePr>
          <p:cNvPr id="15" name="Chart 4" descr=""/>
          <p:cNvGraphicFramePr/>
          <p:nvPr/>
        </p:nvGraphicFramePr>
        <p:xfrm>
          <a:off x="6254496" y="1810512"/>
          <a:ext cx="2464308" cy="1778325"/>
        </p:xfrm>
        <a:graphic xmlns:a="http://schemas.openxmlformats.org/drawingml/2006/main">
          <a:graphicData uri="http://schemas.openxmlformats.org/drawingml/2006/chart">
            <c:chart xmlns:c="http://schemas.openxmlformats.org/drawingml/2006/chart" r:id="rId5"/>
          </a:graphicData>
        </a:graphic>
      </p:graphicFrame>
      <p:graphicFrame>
        <p:nvGraphicFramePr>
          <p:cNvPr id="16" name="Chart 5" descr=""/>
          <p:cNvGraphicFramePr/>
          <p:nvPr/>
        </p:nvGraphicFramePr>
        <p:xfrm>
          <a:off x="6254496" y="3588837"/>
          <a:ext cx="2464308" cy="2263323"/>
        </p:xfrm>
        <a:graphic xmlns:a="http://schemas.openxmlformats.org/drawingml/2006/main">
          <a:graphicData uri="http://schemas.openxmlformats.org/drawingml/2006/chart">
            <c:chart xmlns:c="http://schemas.openxmlformats.org/drawingml/2006/chart" r:id="rId6"/>
          </a:graphicData>
        </a:graphic>
      </p:graphicFrame>
      <p:sp>
        <p:nvSpPr>
          <p:cNvPr id="17" name="Shape 9"/>
          <p:cNvSpPr/>
          <p:nvPr/>
        </p:nvSpPr>
        <p:spPr>
          <a:xfrm>
            <a:off x="8983980" y="1426464"/>
            <a:ext cx="2628900" cy="4517136"/>
          </a:xfrm>
          <a:prstGeom prst="roundRect">
            <a:avLst>
              <a:gd name="adj" fmla="val 3130"/>
            </a:avLst>
          </a:prstGeom>
          <a:solidFill>
            <a:srgbClr val="F1F4F9"/>
          </a:solidFill>
          <a:ln/>
        </p:spPr>
      </p:sp>
      <p:sp>
        <p:nvSpPr>
          <p:cNvPr id="18" name="Text 10"/>
          <p:cNvSpPr/>
          <p:nvPr/>
        </p:nvSpPr>
        <p:spPr>
          <a:xfrm>
            <a:off x="9075420" y="1536192"/>
            <a:ext cx="244602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TRUE ecosystem</a:t>
            </a:r>
            <a:endParaRPr lang="en-US" sz="1200" dirty="0"/>
          </a:p>
        </p:txBody>
      </p:sp>
      <p:graphicFrame>
        <p:nvGraphicFramePr>
          <p:cNvPr id="19" name="Chart 6" descr=""/>
          <p:cNvGraphicFramePr/>
          <p:nvPr/>
        </p:nvGraphicFramePr>
        <p:xfrm>
          <a:off x="9066276" y="1810512"/>
          <a:ext cx="2464308" cy="1778325"/>
        </p:xfrm>
        <a:graphic xmlns:a="http://schemas.openxmlformats.org/drawingml/2006/main">
          <a:graphicData uri="http://schemas.openxmlformats.org/drawingml/2006/chart">
            <c:chart xmlns:c="http://schemas.openxmlformats.org/drawingml/2006/chart" r:id="rId7"/>
          </a:graphicData>
        </a:graphic>
      </p:graphicFrame>
      <p:graphicFrame>
        <p:nvGraphicFramePr>
          <p:cNvPr id="20" name="Chart 7" descr=""/>
          <p:cNvGraphicFramePr/>
          <p:nvPr/>
        </p:nvGraphicFramePr>
        <p:xfrm>
          <a:off x="9066276" y="3588837"/>
          <a:ext cx="2464308" cy="2263323"/>
        </p:xfrm>
        <a:graphic xmlns:a="http://schemas.openxmlformats.org/drawingml/2006/main">
          <a:graphicData uri="http://schemas.openxmlformats.org/drawingml/2006/chart">
            <c:chart xmlns:c="http://schemas.openxmlformats.org/drawingml/2006/chart" r:id="rId8"/>
          </a:graphicData>
        </a:graphic>
      </p:graphicFrame>
      <p:sp>
        <p:nvSpPr>
          <p:cNvPr id="21" name="Text 11"/>
          <p:cNvSpPr/>
          <p:nvPr/>
        </p:nvSpPr>
        <p:spPr>
          <a:xfrm>
            <a:off x="548640" y="6053328"/>
            <a:ext cx="11064240" cy="457200"/>
          </a:xfrm>
          <a:prstGeom prst="rect">
            <a:avLst/>
          </a:prstGeom>
          <a:noFill/>
          <a:ln/>
        </p:spPr>
        <p:txBody>
          <a:bodyPr wrap="square" lIns="0" tIns="0" rIns="0" bIns="0" rtlCol="0" anchor="ctr"/>
          <a:lstStyle/>
          <a:p>
            <a:pPr indent="0" marL="0">
              <a:buNone/>
            </a:pPr>
            <a:r>
              <a:rPr lang="en-US" sz="850" i="1" dirty="0">
                <a:solidFill>
                  <a:srgbClr val="6B7A90"/>
                </a:solidFill>
                <a:latin typeface="Calibri" pitchFamily="34" charset="0"/>
                <a:ea typeface="Calibri" pitchFamily="34" charset="-122"/>
                <a:cs typeface="Calibri" pitchFamily="34" charset="-120"/>
              </a:rPr>
              <a:t>Source: figures as supplied, AIS base. Each bar is a mix within that date and measure, so every bar reads to 100%; the figure beside each bar is that cohort's total for the measure shown, and narrow segments are left unlabelled. The OS-above-CL pattern holds in all five August cohorts on charge type and tenure, and in four of five on the nano and TRUE flags — the exceptions are the 708-customer pre-August cohort and a 0.2-point wobble on TRUE on 3 Aug. The previous slide shows the same four cuts by customer count.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vs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Riskier customers draw a bigger share</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risk is 36.3% of DL credit line but 39.1% of DL outstanding, while low risk falls from 35.8% to 33.1%.</a:t>
            </a:r>
            <a:endParaRPr lang="en-US" sz="1200" dirty="0"/>
          </a:p>
        </p:txBody>
      </p:sp>
      <p:sp>
        <p:nvSpPr>
          <p:cNvPr id="5" name="Shape 3"/>
          <p:cNvSpPr/>
          <p:nvPr/>
        </p:nvSpPr>
        <p:spPr>
          <a:xfrm>
            <a:off x="548640" y="1444752"/>
            <a:ext cx="5440680" cy="4297680"/>
          </a:xfrm>
          <a:prstGeom prst="roundRect">
            <a:avLst>
              <a:gd name="adj" fmla="val 1915"/>
            </a:avLst>
          </a:prstGeom>
          <a:solidFill>
            <a:srgbClr val="F1F4F9"/>
          </a:solidFill>
          <a:ln/>
        </p:spPr>
      </p:sp>
      <p:sp>
        <p:nvSpPr>
          <p:cNvPr id="6" name="Text 4"/>
          <p:cNvSpPr/>
          <p:nvPr/>
        </p:nvSpPr>
        <p:spPr>
          <a:xfrm>
            <a:off x="640080" y="1554480"/>
            <a:ext cx="525780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Cash need</a:t>
            </a:r>
            <a:endParaRPr lang="en-US" sz="1200" dirty="0"/>
          </a:p>
        </p:txBody>
      </p:sp>
      <p:graphicFrame>
        <p:nvGraphicFramePr>
          <p:cNvPr id="7" name="Chart 0" descr=""/>
          <p:cNvGraphicFramePr/>
          <p:nvPr/>
        </p:nvGraphicFramePr>
        <p:xfrm>
          <a:off x="630936" y="1828800"/>
          <a:ext cx="5276088" cy="1681764"/>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30936" y="3510564"/>
          <a:ext cx="5276088" cy="214042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1444752"/>
            <a:ext cx="5440680" cy="4297680"/>
          </a:xfrm>
          <a:prstGeom prst="roundRect">
            <a:avLst>
              <a:gd name="adj" fmla="val 1915"/>
            </a:avLst>
          </a:prstGeom>
          <a:solidFill>
            <a:srgbClr val="F1F4F9"/>
          </a:solidFill>
          <a:ln/>
        </p:spPr>
      </p:sp>
      <p:sp>
        <p:nvSpPr>
          <p:cNvPr id="10" name="Text 6"/>
          <p:cNvSpPr/>
          <p:nvPr/>
        </p:nvSpPr>
        <p:spPr>
          <a:xfrm>
            <a:off x="6263640" y="1554480"/>
            <a:ext cx="5257800" cy="256032"/>
          </a:xfrm>
          <a:prstGeom prst="rect">
            <a:avLst/>
          </a:prstGeom>
          <a:noFill/>
          <a:ln/>
        </p:spPr>
        <p:txBody>
          <a:bodyPr wrap="square" lIns="0" tIns="0" rIns="0" bIns="0" rtlCol="0" anchor="ctr"/>
          <a:lstStyle/>
          <a:p>
            <a:pPr algn="ctr" indent="0" marL="0">
              <a:buNone/>
            </a:pPr>
            <a:r>
              <a:rPr lang="en-US" sz="1200" b="1" dirty="0">
                <a:solidFill>
                  <a:srgbClr val="16233D"/>
                </a:solidFill>
                <a:latin typeface="Cambria" pitchFamily="34" charset="0"/>
                <a:ea typeface="Cambria" pitchFamily="34" charset="-122"/>
                <a:cs typeface="Cambria" pitchFamily="34" charset="-120"/>
              </a:rPr>
              <a:t>Risk level</a:t>
            </a:r>
            <a:endParaRPr lang="en-US" sz="1200" dirty="0"/>
          </a:p>
        </p:txBody>
      </p:sp>
      <p:graphicFrame>
        <p:nvGraphicFramePr>
          <p:cNvPr id="11" name="Chart 2" descr=""/>
          <p:cNvGraphicFramePr/>
          <p:nvPr/>
        </p:nvGraphicFramePr>
        <p:xfrm>
          <a:off x="6254496" y="1828800"/>
          <a:ext cx="5276088" cy="1681764"/>
        </p:xfrm>
        <a:graphic xmlns:a="http://schemas.openxmlformats.org/drawingml/2006/main">
          <a:graphicData uri="http://schemas.openxmlformats.org/drawingml/2006/chart">
            <c:chart xmlns:c="http://schemas.openxmlformats.org/drawingml/2006/chart" r:id="rId3"/>
          </a:graphicData>
        </a:graphic>
      </p:graphicFrame>
      <p:graphicFrame>
        <p:nvGraphicFramePr>
          <p:cNvPr id="12" name="Chart 3" descr=""/>
          <p:cNvGraphicFramePr/>
          <p:nvPr/>
        </p:nvGraphicFramePr>
        <p:xfrm>
          <a:off x="6254496" y="3510564"/>
          <a:ext cx="5276088" cy="2140428"/>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5888736"/>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bar is a mix within that loan type and measure, so every bar reads to 100%. The figure beside each bar is that bar's total for the measure shown. Segments too narrow to hold a label are left blank. Slide 1 shows the same two cuts by customer count.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AND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Cash need concentrates, risk does not</a:t>
            </a:r>
            <a:endParaRPr lang="en-US" sz="3000" dirty="0"/>
          </a:p>
        </p:txBody>
      </p:sp>
      <p:sp>
        <p:nvSpPr>
          <p:cNvPr id="4" name="Text 2"/>
          <p:cNvSpPr/>
          <p:nvPr/>
        </p:nvSpPr>
        <p:spPr>
          <a:xfrm>
            <a:off x="548640" y="1078992"/>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High cash need holds 63.3% of the credit line; risk splits 37.0% low / 25.5% mid / 35.0% high.</a:t>
            </a:r>
            <a:endParaRPr lang="en-US" sz="1200" dirty="0"/>
          </a:p>
        </p:txBody>
      </p:sp>
      <p:sp>
        <p:nvSpPr>
          <p:cNvPr id="5" name="Text 3"/>
          <p:cNvSpPr/>
          <p:nvPr/>
        </p:nvSpPr>
        <p:spPr>
          <a:xfrm>
            <a:off x="548640" y="140817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cash need</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49,726,600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25,232,200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50.7%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97,056,100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66,121,891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68.1%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146,782,700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13.4%</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30,297,500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13,104,888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35,991,700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22,309,300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66,289,200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69,045,300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28,919,887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118,466,000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71,152,261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187,511,300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17.2%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162,491,200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84,488,426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529,187,600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349,214,853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66.0%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691,678,800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63.3%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7" name="Text 4"/>
          <p:cNvSpPr/>
          <p:nvPr/>
        </p:nvSpPr>
        <p:spPr>
          <a:xfrm>
            <a:off x="548640" y="3877056"/>
            <a:ext cx="11064240" cy="219456"/>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By risk level</a:t>
            </a:r>
            <a:endParaRPr lang="en-US" sz="14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4114800"/>
          <a:ext cx="11064240" cy="914400"/>
        </p:xfrm>
        <a:graphic>
          <a:graphicData uri="http://schemas.openxmlformats.org/drawingml/2006/table">
            <a:tbl>
              <a:tblPr/>
              <a:tblGrid>
                <a:gridCol w="1188720"/>
                <a:gridCol w="1508760"/>
                <a:gridCol w="1508760"/>
                <a:gridCol w="822960"/>
                <a:gridCol w="1508760"/>
                <a:gridCol w="1508760"/>
                <a:gridCol w="822960"/>
                <a:gridCol w="1325880"/>
                <a:gridCol w="868680"/>
              </a:tblGrid>
              <a:tr h="33832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Level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outstanding</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DL util.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Total credit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of line</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Null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15,377,700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8,220,903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53.5%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12,590,700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8,761,738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69.6%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27,968,400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124,397,500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52,044,867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41.8%</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279,717,500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168,239,503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404,115,000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37.0%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Mid</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72,910,600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35,428,732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48.6%</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205,278,200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132,804,742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64.7%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278,188,800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25.5%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High</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98,874,800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56,050,899</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56.7%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283,115,000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198,992,322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70.3%</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381,989,800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050" dirty="0">
                          <a:solidFill>
                            <a:srgbClr val="16233D"/>
                          </a:solidFill>
                          <a:latin typeface="Cambria" pitchFamily="34" charset="0"/>
                          <a:ea typeface="Cambria" pitchFamily="34" charset="-122"/>
                          <a:cs typeface="Cambria" pitchFamily="34" charset="-120"/>
                        </a:rPr>
                        <a:t>35.0%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050" b="1" dirty="0">
                          <a:solidFill>
                            <a:srgbClr val="16233D"/>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311,560,600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151,745,401</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48.7%</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780,701,400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508,798,305</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65.2%</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1,092,262,000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050" b="1" dirty="0">
                          <a:solidFill>
                            <a:srgbClr val="16233D"/>
                          </a:solidFill>
                          <a:latin typeface="Cambria" pitchFamily="34" charset="0"/>
                          <a:ea typeface="Cambria" pitchFamily="34" charset="-122"/>
                          <a:cs typeface="Cambria" pitchFamily="34" charset="-120"/>
                        </a:rPr>
                        <a:t>100.0%</a:t>
                      </a:r>
                      <a:endParaRPr lang="en-US" sz="105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9" name="Text 5"/>
          <p:cNvSpPr/>
          <p:nvPr/>
        </p:nvSpPr>
        <p:spPr>
          <a:xfrm>
            <a:off x="548640" y="6309360"/>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Each table rolls the same 4×4 cash-need × risk-level grid up along one axis, so both total to 1,092,262,000 of credit line and 660,543,706 outstanding — matching the customer-base table. The source has no customer counts at this cut, so utilisation and share of line are the only derived columns. Low risk holds 37.0% of the line against 29.0% of customers in the deck's risk counts — low-risk customers carry larger lines.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371600"/>
                <a:gridCol w="1371600"/>
                <a:gridCol w="1234440"/>
                <a:gridCol w="1737360"/>
                <a:gridCol w="173736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2026-08-07T14:19:28Z</dcterms:created>
  <dcterms:modified xsi:type="dcterms:W3CDTF">2026-08-07T14:19:28Z</dcterms:modified>
</cp:coreProperties>
</file>
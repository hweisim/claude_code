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and risk mix (% of customers)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Sheet1!$B$2:$B$5</c:f>
              <c:numCache>
                <c:formatCode>General</c:formatCode>
                <c:ptCount val="4"/>
                <c:pt idx="0">
                  <c:v>13</c:v>
                </c:pt>
                <c:pt idx="1">
                  <c:v>18</c:v>
                </c:pt>
                <c:pt idx="2">
                  <c:v>2</c:v>
                </c:pt>
                <c:pt idx="3">
                  <c:v>6</c:v>
                </c:pt>
              </c:numCache>
            </c:numRef>
          </c:val>
        </c:ser>
        <c:ser>
          <c:idx val="1"/>
          <c:order val="1"/>
          <c:tx>
            <c:strRef>
              <c:f>Sheet1!$C$1</c:f>
              <c:strCache>
                <c:ptCount val="1"/>
                <c:pt idx="0">
                  <c:v>Low</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Sheet1!$C$2:$C$5</c:f>
              <c:numCache>
                <c:formatCode>General</c:formatCode>
                <c:ptCount val="4"/>
                <c:pt idx="0">
                  <c:v>5</c:v>
                </c:pt>
                <c:pt idx="1">
                  <c:v>9</c:v>
                </c:pt>
                <c:pt idx="2">
                  <c:v>29</c:v>
                </c:pt>
                <c:pt idx="3">
                  <c:v>31</c:v>
                </c:pt>
              </c:numCache>
            </c:numRef>
          </c:val>
        </c:ser>
        <c:ser>
          <c:idx val="2"/>
          <c:order val="2"/>
          <c:tx>
            <c:strRef>
              <c:f>Sheet1!$D$1</c:f>
              <c:strCache>
                <c:ptCount val="1"/>
                <c:pt idx="0">
                  <c:v>Mid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Sheet1!$D$2:$D$5</c:f>
              <c:numCache>
                <c:formatCode>General</c:formatCode>
                <c:ptCount val="4"/>
                <c:pt idx="0">
                  <c:v>16</c:v>
                </c:pt>
                <c:pt idx="1">
                  <c:v>21</c:v>
                </c:pt>
                <c:pt idx="2">
                  <c:v>25</c:v>
                </c:pt>
                <c:pt idx="3">
                  <c:v>23</c:v>
                </c:pt>
              </c:numCache>
            </c:numRef>
          </c:val>
        </c:ser>
        <c:ser>
          <c:idx val="3"/>
          <c:order val="3"/>
          <c:tx>
            <c:strRef>
              <c:f>Sheet1!$E$1</c:f>
              <c:strCache>
                <c:ptCount val="1"/>
                <c:pt idx="0">
                  <c:v>High</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Sheet1!$E$2:$E$5</c:f>
              <c:numCache>
                <c:formatCode>General</c:formatCode>
                <c:ptCount val="4"/>
                <c:pt idx="0">
                  <c:v>66</c:v>
                </c:pt>
                <c:pt idx="1">
                  <c:v>52</c:v>
                </c:pt>
                <c:pt idx="2">
                  <c:v>44</c:v>
                </c:pt>
                <c:pt idx="3">
                  <c:v>40</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of customers)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6.5</c:v>
                </c:pt>
                <c:pt idx="1">
                  <c:v>6.2</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48.8</c:v>
                </c:pt>
                <c:pt idx="1">
                  <c:v>56</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44.7</c:v>
                </c:pt>
                <c:pt idx="1">
                  <c:v>37.8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of customers)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11</c:v>
                </c:pt>
                <c:pt idx="1">
                  <c:v>10.8</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22.7</c:v>
                </c:pt>
                <c:pt idx="1">
                  <c:v>23.6</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66.3</c:v>
                </c:pt>
                <c:pt idx="1">
                  <c:v>65.6</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38.2</c:v>
                </c:pt>
                <c:pt idx="1">
                  <c:v>46.2</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61.8</c:v>
                </c:pt>
                <c:pt idx="1">
                  <c:v>53.8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31.5</c:v>
                </c:pt>
                <c:pt idx="1">
                  <c:v>34.7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68.5</c:v>
                </c:pt>
                <c:pt idx="1">
                  <c:v>65.3</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share of value (%)</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Sheet1!$B$2:$B$5</c:f>
              <c:numCache>
                <c:formatCode>General</c:formatCode>
                <c:ptCount val="4"/>
                <c:pt idx="0">
                  <c:v>7.5</c:v>
                </c:pt>
                <c:pt idx="1">
                  <c:v>7.8</c:v>
                </c:pt>
                <c:pt idx="2">
                  <c:v>6.9</c:v>
                </c:pt>
                <c:pt idx="3">
                  <c:v>7.3</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Sheet1!$C$2:$C$5</c:f>
              <c:numCache>
                <c:formatCode>General</c:formatCode>
                <c:ptCount val="4"/>
                <c:pt idx="0">
                  <c:v>52.2</c:v>
                </c:pt>
                <c:pt idx="1">
                  <c:v>32.6</c:v>
                </c:pt>
                <c:pt idx="2">
                  <c:v>46</c:v>
                </c:pt>
                <c:pt idx="3">
                  <c:v>30.9</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Sheet1!$D$2:$D$5</c:f>
              <c:numCache>
                <c:formatCode>General</c:formatCode>
                <c:ptCount val="4"/>
                <c:pt idx="0">
                  <c:v>40.4</c:v>
                </c:pt>
                <c:pt idx="1">
                  <c:v>59.6</c:v>
                </c:pt>
                <c:pt idx="2">
                  <c:v>47.2</c:v>
                </c:pt>
                <c:pt idx="3">
                  <c:v>61.8</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share of value (%)</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Sheet1!$B$2:$B$5</c:f>
              <c:numCache>
                <c:formatCode>General</c:formatCode>
                <c:ptCount val="4"/>
                <c:pt idx="0">
                  <c:v>10.6</c:v>
                </c:pt>
                <c:pt idx="1">
                  <c:v>9.7</c:v>
                </c:pt>
                <c:pt idx="2">
                  <c:v>9</c:v>
                </c:pt>
                <c:pt idx="3">
                  <c:v>9</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Sheet1!$C$2:$C$5</c:f>
              <c:numCache>
                <c:formatCode>General</c:formatCode>
                <c:ptCount val="4"/>
                <c:pt idx="0">
                  <c:v>22.1</c:v>
                </c:pt>
                <c:pt idx="1">
                  <c:v>20.6</c:v>
                </c:pt>
                <c:pt idx="2">
                  <c:v>20.9</c:v>
                </c:pt>
                <c:pt idx="3">
                  <c:v>19.7</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Sheet1!$D$2:$D$5</c:f>
              <c:numCache>
                <c:formatCode>General</c:formatCode>
                <c:ptCount val="4"/>
                <c:pt idx="0">
                  <c:v>67.3</c:v>
                </c:pt>
                <c:pt idx="1">
                  <c:v>69.7</c:v>
                </c:pt>
                <c:pt idx="2">
                  <c:v>70.2</c:v>
                </c:pt>
                <c:pt idx="3">
                  <c:v>71.3</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share of value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Sheet1!$B$2:$B$5</c:f>
              <c:numCache>
                <c:formatCode>General</c:formatCode>
                <c:ptCount val="4"/>
                <c:pt idx="0">
                  <c:v>46.9</c:v>
                </c:pt>
                <c:pt idx="1">
                  <c:v>34.1</c:v>
                </c:pt>
                <c:pt idx="2">
                  <c:v>46.6</c:v>
                </c:pt>
                <c:pt idx="3">
                  <c:v>33.4</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Sheet1!$C$2:$C$5</c:f>
              <c:numCache>
                <c:formatCode>General</c:formatCode>
                <c:ptCount val="4"/>
                <c:pt idx="0">
                  <c:v>53.1</c:v>
                </c:pt>
                <c:pt idx="1">
                  <c:v>65.9</c:v>
                </c:pt>
                <c:pt idx="2">
                  <c:v>53.4</c:v>
                </c:pt>
                <c:pt idx="3">
                  <c:v>66.6</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share of value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Sheet1!$B$2:$B$5</c:f>
              <c:numCache>
                <c:formatCode>General</c:formatCode>
                <c:ptCount val="4"/>
                <c:pt idx="0">
                  <c:v>36.5</c:v>
                </c:pt>
                <c:pt idx="1">
                  <c:v>28</c:v>
                </c:pt>
                <c:pt idx="2">
                  <c:v>33</c:v>
                </c:pt>
                <c:pt idx="3">
                  <c:v>26.7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Sheet1!$C$2:$C$5</c:f>
              <c:numCache>
                <c:formatCode>General</c:formatCode>
                <c:ptCount val="4"/>
                <c:pt idx="0">
                  <c:v>63.5</c:v>
                </c:pt>
                <c:pt idx="1">
                  <c:v>72</c:v>
                </c:pt>
                <c:pt idx="2">
                  <c:v>67</c:v>
                </c:pt>
                <c:pt idx="3">
                  <c:v>73.3</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Bookings (K)</a:t>
            </a:r>
          </a:p>
        </c:rich>
      </c:tx>
      <c:layout/>
      <c:overlay val="0"/>
    </c:title>
    <c:autoTitleDeleted val="0"/>
    <c:plotArea>
      <c:layout/>
      <c:barChart>
        <c:barDir val="bar"/>
        <c:grouping val="clustered"/>
        <c:varyColors val="0"/>
        <c:ser>
          <c:idx val="0"/>
          <c:order val="0"/>
          <c:tx>
            <c:strRef>
              <c:f>Sheet1!$B$1</c:f>
              <c:strCache>
                <c:ptCount val="1"/>
                <c:pt idx="0">
                  <c:v>DL</c:v>
                </c:pt>
              </c:strCache>
            </c:strRef>
          </c:tx>
          <c:spPr>
            <a:solidFill>
              <a:srgbClr val="165A73"/>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9.5</c:v>
                </c:pt>
                <c:pt idx="1">
                  <c:v>7.2</c:v>
                </c:pt>
                <c:pt idx="2">
                  <c:v>2.1</c:v>
                </c:pt>
                <c:pt idx="3">
                  <c:v>32.2</c:v>
                </c:pt>
                <c:pt idx="4">
                  <c:v>12.2</c:v>
                </c:pt>
                <c:pt idx="5">
                  <c:v>0.6</c:v>
                </c:pt>
              </c:numCache>
            </c:numRef>
          </c:val>
        </c:ser>
        <c:ser>
          <c:idx val="1"/>
          <c:order val="1"/>
          <c:tx>
            <c:strRef>
              <c:f>Sheet1!$C$1</c:f>
              <c:strCache>
                <c:ptCount val="1"/>
                <c:pt idx="0">
                  <c:v>PL</c:v>
                </c:pt>
              </c:strCache>
            </c:strRef>
          </c:tx>
          <c:spPr>
            <a:solidFill>
              <a:srgbClr val="3FB89F"/>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4.3</c:v>
                </c:pt>
                <c:pt idx="1">
                  <c:v>0.4</c:v>
                </c:pt>
                <c:pt idx="2">
                  <c:v>0.1</c:v>
                </c:pt>
                <c:pt idx="3">
                  <c:v>1.2</c:v>
                </c:pt>
                <c:pt idx="4">
                  <c:v>0.4</c:v>
                </c:pt>
                <c:pt idx="5">
                  <c:v>0.1</c:v>
                </c:pt>
              </c:numCache>
            </c:numRef>
          </c:val>
        </c:ser>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Charge type (%)</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4.9</c:v>
                </c:pt>
                <c:pt idx="1">
                  <c:v>6.9</c:v>
                </c:pt>
                <c:pt idx="2">
                  <c:v>7.6</c:v>
                </c:pt>
                <c:pt idx="3">
                  <c:v>6.9</c:v>
                </c:pt>
                <c:pt idx="4">
                  <c:v>6.9</c:v>
                </c:pt>
                <c:pt idx="5">
                  <c:v>3.8</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55</c:v>
                </c:pt>
                <c:pt idx="1">
                  <c:v>47.9</c:v>
                </c:pt>
                <c:pt idx="2">
                  <c:v>47.9</c:v>
                </c:pt>
                <c:pt idx="3">
                  <c:v>49.4</c:v>
                </c:pt>
                <c:pt idx="4">
                  <c:v>46.4</c:v>
                </c:pt>
                <c:pt idx="5">
                  <c:v>17.5</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40.1</c:v>
                </c:pt>
                <c:pt idx="1">
                  <c:v>45.1</c:v>
                </c:pt>
                <c:pt idx="2">
                  <c:v>44.5</c:v>
                </c:pt>
                <c:pt idx="3">
                  <c:v>43.8</c:v>
                </c:pt>
                <c:pt idx="4">
                  <c:v>46.7</c:v>
                </c:pt>
                <c:pt idx="5">
                  <c:v>78.7</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Tenure in years (%)</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9.7</c:v>
                </c:pt>
                <c:pt idx="1">
                  <c:v>10.5</c:v>
                </c:pt>
                <c:pt idx="2">
                  <c:v>10.9</c:v>
                </c:pt>
                <c:pt idx="3">
                  <c:v>11.6</c:v>
                </c:pt>
                <c:pt idx="4">
                  <c:v>11.6</c:v>
                </c:pt>
                <c:pt idx="5">
                  <c:v>4.4</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21.9</c:v>
                </c:pt>
                <c:pt idx="1">
                  <c:v>22.7</c:v>
                </c:pt>
                <c:pt idx="2">
                  <c:v>23.1</c:v>
                </c:pt>
                <c:pt idx="3">
                  <c:v>23.3</c:v>
                </c:pt>
                <c:pt idx="4">
                  <c:v>22.7</c:v>
                </c:pt>
                <c:pt idx="5">
                  <c:v>14.7</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68.4</c:v>
                </c:pt>
                <c:pt idx="1">
                  <c:v>66.8</c:v>
                </c:pt>
                <c:pt idx="2">
                  <c:v>66</c:v>
                </c:pt>
                <c:pt idx="3">
                  <c:v>65.1</c:v>
                </c:pt>
                <c:pt idx="4">
                  <c:v>65.7</c:v>
                </c:pt>
                <c:pt idx="5">
                  <c:v>80.9</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Nano-loan flag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44.7</c:v>
                </c:pt>
                <c:pt idx="1">
                  <c:v>39.6</c:v>
                </c:pt>
                <c:pt idx="2">
                  <c:v>36.8</c:v>
                </c:pt>
                <c:pt idx="3">
                  <c:v>38</c:v>
                </c:pt>
                <c:pt idx="4">
                  <c:v>35.2</c:v>
                </c:pt>
                <c:pt idx="5">
                  <c:v>37.1</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55.3</c:v>
                </c:pt>
                <c:pt idx="1">
                  <c:v>60.4</c:v>
                </c:pt>
                <c:pt idx="2">
                  <c:v>63.2</c:v>
                </c:pt>
                <c:pt idx="3">
                  <c:v>62</c:v>
                </c:pt>
                <c:pt idx="4">
                  <c:v>64.8</c:v>
                </c:pt>
                <c:pt idx="5">
                  <c:v>62.9</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TRUE flag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33.4</c:v>
                </c:pt>
                <c:pt idx="1">
                  <c:v>32.7</c:v>
                </c:pt>
                <c:pt idx="2">
                  <c:v>31.3</c:v>
                </c:pt>
                <c:pt idx="3">
                  <c:v>31.9</c:v>
                </c:pt>
                <c:pt idx="4">
                  <c:v>29.7</c:v>
                </c:pt>
                <c:pt idx="5">
                  <c:v>18.1</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66.6</c:v>
                </c:pt>
                <c:pt idx="1">
                  <c:v>67.3</c:v>
                </c:pt>
                <c:pt idx="2">
                  <c:v>68.7</c:v>
                </c:pt>
                <c:pt idx="3">
                  <c:v>68.1</c:v>
                </c:pt>
                <c:pt idx="4">
                  <c:v>70.3</c:v>
                </c:pt>
                <c:pt idx="5">
                  <c:v>81.9</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Charge type (CL / OS)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OS 5-Aug</c:v>
                  </c:pt>
                  <c:pt idx="1">
                    <c:v>OS 4-Aug</c:v>
                  </c:pt>
                  <c:pt idx="2">
                    <c:v>OS 3-Aug</c:v>
                  </c:pt>
                  <c:pt idx="3">
                    <c:v>OS 2-Aug</c:v>
                  </c:pt>
                  <c:pt idx="4">
                    <c:v>OS 1-Aug</c:v>
                  </c:pt>
                  <c:pt idx="5">
                    <c:v>OS bef 1 Aug</c:v>
                  </c:pt>
                  <c:pt idx="6">
                    <c:v>CL 5-Aug</c:v>
                  </c:pt>
                  <c:pt idx="7">
                    <c:v>CL 4-Aug</c:v>
                  </c:pt>
                  <c:pt idx="8">
                    <c:v>CL 3-Aug</c:v>
                  </c:pt>
                  <c:pt idx="9">
                    <c:v>CL 2-Aug</c:v>
                  </c:pt>
                  <c:pt idx="10">
                    <c:v>CL 1-Aug</c:v>
                  </c:pt>
                  <c:pt idx="11">
                    <c:v>CL bef 1 Aug</c:v>
                  </c:pt>
                </c:lvl>
              </c:multiLvlStrCache>
            </c:multiLvlStrRef>
          </c:cat>
          <c:val>
            <c:numRef>
              <c:f>Sheet1!$B$2:$B$13</c:f>
              <c:numCache>
                <c:formatCode>General</c:formatCode>
                <c:ptCount val="12"/>
                <c:pt idx="0">
                  <c:v>6.6</c:v>
                </c:pt>
                <c:pt idx="1">
                  <c:v>8.4</c:v>
                </c:pt>
                <c:pt idx="2">
                  <c:v>8.8</c:v>
                </c:pt>
                <c:pt idx="3">
                  <c:v>7.9</c:v>
                </c:pt>
                <c:pt idx="4">
                  <c:v>7.9</c:v>
                </c:pt>
                <c:pt idx="5">
                  <c:v>7.2</c:v>
                </c:pt>
                <c:pt idx="6">
                  <c:v>6.1</c:v>
                </c:pt>
                <c:pt idx="7">
                  <c:v>7.5</c:v>
                </c:pt>
                <c:pt idx="8">
                  <c:v>8.5</c:v>
                </c:pt>
                <c:pt idx="9">
                  <c:v>7.6</c:v>
                </c:pt>
                <c:pt idx="10">
                  <c:v>7.8</c:v>
                </c:pt>
                <c:pt idx="11">
                  <c:v>5.6</c:v>
                </c:pt>
              </c:numCache>
            </c:numRef>
          </c:val>
        </c:ser>
        <c:ser>
          <c:idx val="1"/>
          <c:order val="1"/>
          <c:tx>
            <c:strRef>
              <c:f>Sheet1!$C$1</c:f>
              <c:strCache>
                <c:ptCount val="1"/>
                <c:pt idx="0">
                  <c:v>Prepaid</c:v>
                </c:pt>
              </c:strCache>
            </c:strRef>
          </c:tx>
          <c:spPr>
            <a:solidFill>
              <a:srgbClr val="1E8E86"/>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OS 5-Aug</c:v>
                  </c:pt>
                  <c:pt idx="1">
                    <c:v>OS 4-Aug</c:v>
                  </c:pt>
                  <c:pt idx="2">
                    <c:v>OS 3-Aug</c:v>
                  </c:pt>
                  <c:pt idx="3">
                    <c:v>OS 2-Aug</c:v>
                  </c:pt>
                  <c:pt idx="4">
                    <c:v>OS 1-Aug</c:v>
                  </c:pt>
                  <c:pt idx="5">
                    <c:v>OS bef 1 Aug</c:v>
                  </c:pt>
                  <c:pt idx="6">
                    <c:v>CL 5-Aug</c:v>
                  </c:pt>
                  <c:pt idx="7">
                    <c:v>CL 4-Aug</c:v>
                  </c:pt>
                  <c:pt idx="8">
                    <c:v>CL 3-Aug</c:v>
                  </c:pt>
                  <c:pt idx="9">
                    <c:v>CL 2-Aug</c:v>
                  </c:pt>
                  <c:pt idx="10">
                    <c:v>CL 1-Aug</c:v>
                  </c:pt>
                  <c:pt idx="11">
                    <c:v>CL bef 1 Aug</c:v>
                  </c:pt>
                </c:lvl>
              </c:multiLvlStrCache>
            </c:multiLvlStrRef>
          </c:cat>
          <c:val>
            <c:numRef>
              <c:f>Sheet1!$C$2:$C$13</c:f>
              <c:numCache>
                <c:formatCode>General</c:formatCode>
                <c:ptCount val="12"/>
                <c:pt idx="0">
                  <c:v>50.3</c:v>
                </c:pt>
                <c:pt idx="1">
                  <c:v>36</c:v>
                </c:pt>
                <c:pt idx="2">
                  <c:v>35.1</c:v>
                </c:pt>
                <c:pt idx="3">
                  <c:v>34.8</c:v>
                </c:pt>
                <c:pt idx="4">
                  <c:v>31.7</c:v>
                </c:pt>
                <c:pt idx="5">
                  <c:v>9.6</c:v>
                </c:pt>
                <c:pt idx="6">
                  <c:v>44.3</c:v>
                </c:pt>
                <c:pt idx="7">
                  <c:v>32.6</c:v>
                </c:pt>
                <c:pt idx="8">
                  <c:v>34.3</c:v>
                </c:pt>
                <c:pt idx="9">
                  <c:v>32.9</c:v>
                </c:pt>
                <c:pt idx="10">
                  <c:v>30.1</c:v>
                </c:pt>
                <c:pt idx="11">
                  <c:v>8.8</c:v>
                </c:pt>
              </c:numCache>
            </c:numRef>
          </c:val>
        </c:ser>
        <c:ser>
          <c:idx val="2"/>
          <c:order val="2"/>
          <c:tx>
            <c:strRef>
              <c:f>Sheet1!$D$1</c:f>
              <c:strCache>
                <c:ptCount val="1"/>
                <c:pt idx="0">
                  <c:v>Postpaid</c:v>
                </c:pt>
              </c:strCache>
            </c:strRef>
          </c:tx>
          <c:spPr>
            <a:solidFill>
              <a:srgbClr val="165A73"/>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OS 5-Aug</c:v>
                  </c:pt>
                  <c:pt idx="1">
                    <c:v>OS 4-Aug</c:v>
                  </c:pt>
                  <c:pt idx="2">
                    <c:v>OS 3-Aug</c:v>
                  </c:pt>
                  <c:pt idx="3">
                    <c:v>OS 2-Aug</c:v>
                  </c:pt>
                  <c:pt idx="4">
                    <c:v>OS 1-Aug</c:v>
                  </c:pt>
                  <c:pt idx="5">
                    <c:v>OS bef 1 Aug</c:v>
                  </c:pt>
                  <c:pt idx="6">
                    <c:v>CL 5-Aug</c:v>
                  </c:pt>
                  <c:pt idx="7">
                    <c:v>CL 4-Aug</c:v>
                  </c:pt>
                  <c:pt idx="8">
                    <c:v>CL 3-Aug</c:v>
                  </c:pt>
                  <c:pt idx="9">
                    <c:v>CL 2-Aug</c:v>
                  </c:pt>
                  <c:pt idx="10">
                    <c:v>CL 1-Aug</c:v>
                  </c:pt>
                  <c:pt idx="11">
                    <c:v>CL bef 1 Aug</c:v>
                  </c:pt>
                </c:lvl>
              </c:multiLvlStrCache>
            </c:multiLvlStrRef>
          </c:cat>
          <c:val>
            <c:numRef>
              <c:f>Sheet1!$D$2:$D$13</c:f>
              <c:numCache>
                <c:formatCode>General</c:formatCode>
                <c:ptCount val="12"/>
                <c:pt idx="0">
                  <c:v>43.1</c:v>
                </c:pt>
                <c:pt idx="1">
                  <c:v>55.6</c:v>
                </c:pt>
                <c:pt idx="2">
                  <c:v>56.1</c:v>
                </c:pt>
                <c:pt idx="3">
                  <c:v>57.2</c:v>
                </c:pt>
                <c:pt idx="4">
                  <c:v>60.4</c:v>
                </c:pt>
                <c:pt idx="5">
                  <c:v>83.2</c:v>
                </c:pt>
                <c:pt idx="6">
                  <c:v>49.6</c:v>
                </c:pt>
                <c:pt idx="7">
                  <c:v>59.9</c:v>
                </c:pt>
                <c:pt idx="8">
                  <c:v>57.2</c:v>
                </c:pt>
                <c:pt idx="9">
                  <c:v>59.5</c:v>
                </c:pt>
                <c:pt idx="10">
                  <c:v>62.1</c:v>
                </c:pt>
                <c:pt idx="11">
                  <c:v>85.6</c:v>
                </c:pt>
              </c:numCache>
            </c:numRef>
          </c:val>
        </c:ser>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Tenure in years (CL / OS)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OS 5-Aug</c:v>
                  </c:pt>
                  <c:pt idx="1">
                    <c:v>OS 4-Aug</c:v>
                  </c:pt>
                  <c:pt idx="2">
                    <c:v>OS 3-Aug</c:v>
                  </c:pt>
                  <c:pt idx="3">
                    <c:v>OS 2-Aug</c:v>
                  </c:pt>
                  <c:pt idx="4">
                    <c:v>OS 1-Aug</c:v>
                  </c:pt>
                  <c:pt idx="5">
                    <c:v>OS bef 1 Aug</c:v>
                  </c:pt>
                  <c:pt idx="6">
                    <c:v>CL 5-Aug</c:v>
                  </c:pt>
                  <c:pt idx="7">
                    <c:v>CL 4-Aug</c:v>
                  </c:pt>
                  <c:pt idx="8">
                    <c:v>CL 3-Aug</c:v>
                  </c:pt>
                  <c:pt idx="9">
                    <c:v>CL 2-Aug</c:v>
                  </c:pt>
                  <c:pt idx="10">
                    <c:v>CL 1-Aug</c:v>
                  </c:pt>
                  <c:pt idx="11">
                    <c:v>CL bef 1 Aug</c:v>
                  </c:pt>
                </c:lvl>
              </c:multiLvlStrCache>
            </c:multiLvlStrRef>
          </c:cat>
          <c:val>
            <c:numRef>
              <c:f>Sheet1!$B$2:$B$13</c:f>
              <c:numCache>
                <c:formatCode>General</c:formatCode>
                <c:ptCount val="12"/>
                <c:pt idx="0">
                  <c:v>9.8</c:v>
                </c:pt>
                <c:pt idx="1">
                  <c:v>9</c:v>
                </c:pt>
                <c:pt idx="2">
                  <c:v>9.9</c:v>
                </c:pt>
                <c:pt idx="3">
                  <c:v>10.3</c:v>
                </c:pt>
                <c:pt idx="4">
                  <c:v>9.7</c:v>
                </c:pt>
                <c:pt idx="5">
                  <c:v>7.1</c:v>
                </c:pt>
                <c:pt idx="6">
                  <c:v>8.3</c:v>
                </c:pt>
                <c:pt idx="7">
                  <c:v>8.4</c:v>
                </c:pt>
                <c:pt idx="8">
                  <c:v>9</c:v>
                </c:pt>
                <c:pt idx="9">
                  <c:v>9.8</c:v>
                </c:pt>
                <c:pt idx="10">
                  <c:v>9.3</c:v>
                </c:pt>
                <c:pt idx="11">
                  <c:v>4.8</c:v>
                </c:pt>
              </c:numCache>
            </c:numRef>
          </c:val>
        </c:ser>
        <c:ser>
          <c:idx val="1"/>
          <c:order val="1"/>
          <c:tx>
            <c:strRef>
              <c:f>Sheet1!$C$1</c:f>
              <c:strCache>
                <c:ptCount val="1"/>
                <c:pt idx="0">
                  <c:v>2–4</c:v>
                </c:pt>
              </c:strCache>
            </c:strRef>
          </c:tx>
          <c:spPr>
            <a:solidFill>
              <a:srgbClr val="1E8E86"/>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OS 5-Aug</c:v>
                  </c:pt>
                  <c:pt idx="1">
                    <c:v>OS 4-Aug</c:v>
                  </c:pt>
                  <c:pt idx="2">
                    <c:v>OS 3-Aug</c:v>
                  </c:pt>
                  <c:pt idx="3">
                    <c:v>OS 2-Aug</c:v>
                  </c:pt>
                  <c:pt idx="4">
                    <c:v>OS 1-Aug</c:v>
                  </c:pt>
                  <c:pt idx="5">
                    <c:v>OS bef 1 Aug</c:v>
                  </c:pt>
                  <c:pt idx="6">
                    <c:v>CL 5-Aug</c:v>
                  </c:pt>
                  <c:pt idx="7">
                    <c:v>CL 4-Aug</c:v>
                  </c:pt>
                  <c:pt idx="8">
                    <c:v>CL 3-Aug</c:v>
                  </c:pt>
                  <c:pt idx="9">
                    <c:v>CL 2-Aug</c:v>
                  </c:pt>
                  <c:pt idx="10">
                    <c:v>CL 1-Aug</c:v>
                  </c:pt>
                  <c:pt idx="11">
                    <c:v>CL bef 1 Aug</c:v>
                  </c:pt>
                </c:lvl>
              </c:multiLvlStrCache>
            </c:multiLvlStrRef>
          </c:cat>
          <c:val>
            <c:numRef>
              <c:f>Sheet1!$C$2:$C$13</c:f>
              <c:numCache>
                <c:formatCode>General</c:formatCode>
                <c:ptCount val="12"/>
                <c:pt idx="0">
                  <c:v>21.6</c:v>
                </c:pt>
                <c:pt idx="1">
                  <c:v>21.4</c:v>
                </c:pt>
                <c:pt idx="2">
                  <c:v>21</c:v>
                </c:pt>
                <c:pt idx="3">
                  <c:v>21</c:v>
                </c:pt>
                <c:pt idx="4">
                  <c:v>20.7</c:v>
                </c:pt>
                <c:pt idx="5">
                  <c:v>10.7</c:v>
                </c:pt>
                <c:pt idx="6">
                  <c:v>20.7</c:v>
                </c:pt>
                <c:pt idx="7">
                  <c:v>19.5</c:v>
                </c:pt>
                <c:pt idx="8">
                  <c:v>20.6</c:v>
                </c:pt>
                <c:pt idx="9">
                  <c:v>20.1</c:v>
                </c:pt>
                <c:pt idx="10">
                  <c:v>20.2</c:v>
                </c:pt>
                <c:pt idx="11">
                  <c:v>11.4</c:v>
                </c:pt>
              </c:numCache>
            </c:numRef>
          </c:val>
        </c:ser>
        <c:ser>
          <c:idx val="2"/>
          <c:order val="2"/>
          <c:tx>
            <c:strRef>
              <c:f>Sheet1!$D$1</c:f>
              <c:strCache>
                <c:ptCount val="1"/>
                <c:pt idx="0">
                  <c:v>5+</c:v>
                </c:pt>
              </c:strCache>
            </c:strRef>
          </c:tx>
          <c:spPr>
            <a:solidFill>
              <a:srgbClr val="165A73"/>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OS 5-Aug</c:v>
                  </c:pt>
                  <c:pt idx="1">
                    <c:v>OS 4-Aug</c:v>
                  </c:pt>
                  <c:pt idx="2">
                    <c:v>OS 3-Aug</c:v>
                  </c:pt>
                  <c:pt idx="3">
                    <c:v>OS 2-Aug</c:v>
                  </c:pt>
                  <c:pt idx="4">
                    <c:v>OS 1-Aug</c:v>
                  </c:pt>
                  <c:pt idx="5">
                    <c:v>OS bef 1 Aug</c:v>
                  </c:pt>
                  <c:pt idx="6">
                    <c:v>CL 5-Aug</c:v>
                  </c:pt>
                  <c:pt idx="7">
                    <c:v>CL 4-Aug</c:v>
                  </c:pt>
                  <c:pt idx="8">
                    <c:v>CL 3-Aug</c:v>
                  </c:pt>
                  <c:pt idx="9">
                    <c:v>CL 2-Aug</c:v>
                  </c:pt>
                  <c:pt idx="10">
                    <c:v>CL 1-Aug</c:v>
                  </c:pt>
                  <c:pt idx="11">
                    <c:v>CL bef 1 Aug</c:v>
                  </c:pt>
                </c:lvl>
              </c:multiLvlStrCache>
            </c:multiLvlStrRef>
          </c:cat>
          <c:val>
            <c:numRef>
              <c:f>Sheet1!$D$2:$D$13</c:f>
              <c:numCache>
                <c:formatCode>General</c:formatCode>
                <c:ptCount val="12"/>
                <c:pt idx="0">
                  <c:v>68.6</c:v>
                </c:pt>
                <c:pt idx="1">
                  <c:v>69.5</c:v>
                </c:pt>
                <c:pt idx="2">
                  <c:v>69.1</c:v>
                </c:pt>
                <c:pt idx="3">
                  <c:v>68.7</c:v>
                </c:pt>
                <c:pt idx="4">
                  <c:v>69.5</c:v>
                </c:pt>
                <c:pt idx="5">
                  <c:v>82.1</c:v>
                </c:pt>
                <c:pt idx="6">
                  <c:v>71</c:v>
                </c:pt>
                <c:pt idx="7">
                  <c:v>72.1</c:v>
                </c:pt>
                <c:pt idx="8">
                  <c:v>70.4</c:v>
                </c:pt>
                <c:pt idx="9">
                  <c:v>70.2</c:v>
                </c:pt>
                <c:pt idx="10">
                  <c:v>70.5</c:v>
                </c:pt>
                <c:pt idx="11">
                  <c:v>83.7</c:v>
                </c:pt>
              </c:numCache>
            </c:numRef>
          </c:val>
        </c:ser>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Nano-loan flag (CL / OS)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OS 5-Aug</c:v>
                  </c:pt>
                  <c:pt idx="1">
                    <c:v>OS 4-Aug</c:v>
                  </c:pt>
                  <c:pt idx="2">
                    <c:v>OS 3-Aug</c:v>
                  </c:pt>
                  <c:pt idx="3">
                    <c:v>OS 2-Aug</c:v>
                  </c:pt>
                  <c:pt idx="4">
                    <c:v>OS 1-Aug</c:v>
                  </c:pt>
                  <c:pt idx="5">
                    <c:v>OS bef 1 Aug</c:v>
                  </c:pt>
                  <c:pt idx="6">
                    <c:v>CL 5-Aug</c:v>
                  </c:pt>
                  <c:pt idx="7">
                    <c:v>CL 4-Aug</c:v>
                  </c:pt>
                  <c:pt idx="8">
                    <c:v>CL 3-Aug</c:v>
                  </c:pt>
                  <c:pt idx="9">
                    <c:v>CL 2-Aug</c:v>
                  </c:pt>
                  <c:pt idx="10">
                    <c:v>CL 1-Aug</c:v>
                  </c:pt>
                  <c:pt idx="11">
                    <c:v>CL bef 1 Aug</c:v>
                  </c:pt>
                </c:lvl>
              </c:multiLvlStrCache>
            </c:multiLvlStrRef>
          </c:cat>
          <c:val>
            <c:numRef>
              <c:f>Sheet1!$B$2:$B$13</c:f>
              <c:numCache>
                <c:formatCode>General</c:formatCode>
                <c:ptCount val="12"/>
                <c:pt idx="0">
                  <c:v>47.4</c:v>
                </c:pt>
                <c:pt idx="1">
                  <c:v>37</c:v>
                </c:pt>
                <c:pt idx="2">
                  <c:v>34</c:v>
                </c:pt>
                <c:pt idx="3">
                  <c:v>34.9</c:v>
                </c:pt>
                <c:pt idx="4">
                  <c:v>31.5</c:v>
                </c:pt>
                <c:pt idx="5">
                  <c:v>41.4</c:v>
                </c:pt>
                <c:pt idx="6">
                  <c:v>45.5</c:v>
                </c:pt>
                <c:pt idx="7">
                  <c:v>35.7</c:v>
                </c:pt>
                <c:pt idx="8">
                  <c:v>32.9</c:v>
                </c:pt>
                <c:pt idx="9">
                  <c:v>34</c:v>
                </c:pt>
                <c:pt idx="10">
                  <c:v>30.9</c:v>
                </c:pt>
                <c:pt idx="11">
                  <c:v>45.2</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OS 5-Aug</c:v>
                  </c:pt>
                  <c:pt idx="1">
                    <c:v>OS 4-Aug</c:v>
                  </c:pt>
                  <c:pt idx="2">
                    <c:v>OS 3-Aug</c:v>
                  </c:pt>
                  <c:pt idx="3">
                    <c:v>OS 2-Aug</c:v>
                  </c:pt>
                  <c:pt idx="4">
                    <c:v>OS 1-Aug</c:v>
                  </c:pt>
                  <c:pt idx="5">
                    <c:v>OS bef 1 Aug</c:v>
                  </c:pt>
                  <c:pt idx="6">
                    <c:v>CL 5-Aug</c:v>
                  </c:pt>
                  <c:pt idx="7">
                    <c:v>CL 4-Aug</c:v>
                  </c:pt>
                  <c:pt idx="8">
                    <c:v>CL 3-Aug</c:v>
                  </c:pt>
                  <c:pt idx="9">
                    <c:v>CL 2-Aug</c:v>
                  </c:pt>
                  <c:pt idx="10">
                    <c:v>CL 1-Aug</c:v>
                  </c:pt>
                  <c:pt idx="11">
                    <c:v>CL bef 1 Aug</c:v>
                  </c:pt>
                </c:lvl>
              </c:multiLvlStrCache>
            </c:multiLvlStrRef>
          </c:cat>
          <c:val>
            <c:numRef>
              <c:f>Sheet1!$C$2:$C$13</c:f>
              <c:numCache>
                <c:formatCode>General</c:formatCode>
                <c:ptCount val="12"/>
                <c:pt idx="0">
                  <c:v>52.6</c:v>
                </c:pt>
                <c:pt idx="1">
                  <c:v>63</c:v>
                </c:pt>
                <c:pt idx="2">
                  <c:v>66</c:v>
                </c:pt>
                <c:pt idx="3">
                  <c:v>65.1</c:v>
                </c:pt>
                <c:pt idx="4">
                  <c:v>68.5</c:v>
                </c:pt>
                <c:pt idx="5">
                  <c:v>58.6</c:v>
                </c:pt>
                <c:pt idx="6">
                  <c:v>54.5</c:v>
                </c:pt>
                <c:pt idx="7">
                  <c:v>64.3</c:v>
                </c:pt>
                <c:pt idx="8">
                  <c:v>67.1</c:v>
                </c:pt>
                <c:pt idx="9">
                  <c:v>66</c:v>
                </c:pt>
                <c:pt idx="10">
                  <c:v>69.1</c:v>
                </c:pt>
                <c:pt idx="11">
                  <c:v>54.8</c:v>
                </c:pt>
              </c:numCache>
            </c:numRef>
          </c:val>
        </c:ser>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TRUE ecosystem (CL / OS)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OS 5-Aug</c:v>
                  </c:pt>
                  <c:pt idx="1">
                    <c:v>OS 4-Aug</c:v>
                  </c:pt>
                  <c:pt idx="2">
                    <c:v>OS 3-Aug</c:v>
                  </c:pt>
                  <c:pt idx="3">
                    <c:v>OS 2-Aug</c:v>
                  </c:pt>
                  <c:pt idx="4">
                    <c:v>OS 1-Aug</c:v>
                  </c:pt>
                  <c:pt idx="5">
                    <c:v>OS bef 1 Aug</c:v>
                  </c:pt>
                  <c:pt idx="6">
                    <c:v>CL 5-Aug</c:v>
                  </c:pt>
                  <c:pt idx="7">
                    <c:v>CL 4-Aug</c:v>
                  </c:pt>
                  <c:pt idx="8">
                    <c:v>CL 3-Aug</c:v>
                  </c:pt>
                  <c:pt idx="9">
                    <c:v>CL 2-Aug</c:v>
                  </c:pt>
                  <c:pt idx="10">
                    <c:v>CL 1-Aug</c:v>
                  </c:pt>
                  <c:pt idx="11">
                    <c:v>CL bef 1 Aug</c:v>
                  </c:pt>
                </c:lvl>
              </c:multiLvlStrCache>
            </c:multiLvlStrRef>
          </c:cat>
          <c:val>
            <c:numRef>
              <c:f>Sheet1!$B$2:$B$13</c:f>
              <c:numCache>
                <c:formatCode>General</c:formatCode>
                <c:ptCount val="12"/>
                <c:pt idx="0">
                  <c:v>35.6</c:v>
                </c:pt>
                <c:pt idx="1">
                  <c:v>30.5</c:v>
                </c:pt>
                <c:pt idx="2">
                  <c:v>28.7</c:v>
                </c:pt>
                <c:pt idx="3">
                  <c:v>29.3</c:v>
                </c:pt>
                <c:pt idx="4">
                  <c:v>26.3</c:v>
                </c:pt>
                <c:pt idx="5">
                  <c:v>17</c:v>
                </c:pt>
                <c:pt idx="6">
                  <c:v>32.3</c:v>
                </c:pt>
                <c:pt idx="7">
                  <c:v>28.2</c:v>
                </c:pt>
                <c:pt idx="8">
                  <c:v>28.9</c:v>
                </c:pt>
                <c:pt idx="9">
                  <c:v>27.7</c:v>
                </c:pt>
                <c:pt idx="10">
                  <c:v>25.6</c:v>
                </c:pt>
                <c:pt idx="11">
                  <c:v>14.6</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OS 5-Aug</c:v>
                  </c:pt>
                  <c:pt idx="1">
                    <c:v>OS 4-Aug</c:v>
                  </c:pt>
                  <c:pt idx="2">
                    <c:v>OS 3-Aug</c:v>
                  </c:pt>
                  <c:pt idx="3">
                    <c:v>OS 2-Aug</c:v>
                  </c:pt>
                  <c:pt idx="4">
                    <c:v>OS 1-Aug</c:v>
                  </c:pt>
                  <c:pt idx="5">
                    <c:v>OS bef 1 Aug</c:v>
                  </c:pt>
                  <c:pt idx="6">
                    <c:v>CL 5-Aug</c:v>
                  </c:pt>
                  <c:pt idx="7">
                    <c:v>CL 4-Aug</c:v>
                  </c:pt>
                  <c:pt idx="8">
                    <c:v>CL 3-Aug</c:v>
                  </c:pt>
                  <c:pt idx="9">
                    <c:v>CL 2-Aug</c:v>
                  </c:pt>
                  <c:pt idx="10">
                    <c:v>CL 1-Aug</c:v>
                  </c:pt>
                  <c:pt idx="11">
                    <c:v>CL bef 1 Aug</c:v>
                  </c:pt>
                </c:lvl>
              </c:multiLvlStrCache>
            </c:multiLvlStrRef>
          </c:cat>
          <c:val>
            <c:numRef>
              <c:f>Sheet1!$C$2:$C$13</c:f>
              <c:numCache>
                <c:formatCode>General</c:formatCode>
                <c:ptCount val="12"/>
                <c:pt idx="0">
                  <c:v>64.4</c:v>
                </c:pt>
                <c:pt idx="1">
                  <c:v>69.5</c:v>
                </c:pt>
                <c:pt idx="2">
                  <c:v>71.3</c:v>
                </c:pt>
                <c:pt idx="3">
                  <c:v>70.7</c:v>
                </c:pt>
                <c:pt idx="4">
                  <c:v>73.7</c:v>
                </c:pt>
                <c:pt idx="5">
                  <c:v>83</c:v>
                </c:pt>
                <c:pt idx="6">
                  <c:v>67.7</c:v>
                </c:pt>
                <c:pt idx="7">
                  <c:v>71.8</c:v>
                </c:pt>
                <c:pt idx="8">
                  <c:v>71.1</c:v>
                </c:pt>
                <c:pt idx="9">
                  <c:v>72.3</c:v>
                </c:pt>
                <c:pt idx="10">
                  <c:v>74.4</c:v>
                </c:pt>
                <c:pt idx="11">
                  <c:v>85.4</c:v>
                </c:pt>
              </c:numCache>
            </c:numRef>
          </c:val>
        </c:ser>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 % of CL / OS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Sheet1!$B$2:$B$5</c:f>
              <c:numCache>
                <c:formatCode>General</c:formatCode>
                <c:ptCount val="4"/>
                <c:pt idx="0">
                  <c:v>16.6</c:v>
                </c:pt>
                <c:pt idx="1">
                  <c:v>13</c:v>
                </c:pt>
                <c:pt idx="2">
                  <c:v>16</c:v>
                </c:pt>
                <c:pt idx="3">
                  <c:v>12.4</c:v>
                </c:pt>
              </c:numCache>
            </c:numRef>
          </c:val>
        </c:ser>
        <c:ser>
          <c:idx val="1"/>
          <c:order val="1"/>
          <c:tx>
            <c:strRef>
              <c:f>Sheet1!$C$1</c:f>
              <c:strCache>
                <c:ptCount val="1"/>
                <c:pt idx="0">
                  <c:v>Low</c:v>
                </c:pt>
              </c:strCache>
            </c:strRef>
          </c:tx>
          <c:spPr>
            <a:solidFill>
              <a:srgbClr val="3FB89F"/>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Sheet1!$C$2:$C$5</c:f>
              <c:numCache>
                <c:formatCode>General</c:formatCode>
                <c:ptCount val="4"/>
                <c:pt idx="0">
                  <c:v>8.6</c:v>
                </c:pt>
                <c:pt idx="1">
                  <c:v>4.4</c:v>
                </c:pt>
                <c:pt idx="2">
                  <c:v>9.7</c:v>
                </c:pt>
                <c:pt idx="3">
                  <c:v>4.6</c:v>
                </c:pt>
              </c:numCache>
            </c:numRef>
          </c:val>
        </c:ser>
        <c:ser>
          <c:idx val="2"/>
          <c:order val="2"/>
          <c:tx>
            <c:strRef>
              <c:f>Sheet1!$D$1</c:f>
              <c:strCache>
                <c:ptCount val="1"/>
                <c:pt idx="0">
                  <c:v>Mid</c:v>
                </c:pt>
              </c:strCache>
            </c:strRef>
          </c:tx>
          <c:spPr>
            <a:solidFill>
              <a:srgbClr val="1E8E86"/>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Sheet1!$D$2:$D$5</c:f>
              <c:numCache>
                <c:formatCode>General</c:formatCode>
                <c:ptCount val="4"/>
                <c:pt idx="0">
                  <c:v>19.1</c:v>
                </c:pt>
                <c:pt idx="1">
                  <c:v>14</c:v>
                </c:pt>
                <c:pt idx="2">
                  <c:v>22.2</c:v>
                </c:pt>
                <c:pt idx="3">
                  <c:v>15.2</c:v>
                </c:pt>
              </c:numCache>
            </c:numRef>
          </c:val>
        </c:ser>
        <c:ser>
          <c:idx val="3"/>
          <c:order val="3"/>
          <c:tx>
            <c:strRef>
              <c:f>Sheet1!$E$1</c:f>
              <c:strCache>
                <c:ptCount val="1"/>
                <c:pt idx="0">
                  <c:v>High</c:v>
                </c:pt>
              </c:strCache>
            </c:strRef>
          </c:tx>
          <c:spPr>
            <a:solidFill>
              <a:srgbClr val="165A73"/>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Sheet1!$E$2:$E$5</c:f>
              <c:numCache>
                <c:formatCode>General</c:formatCode>
                <c:ptCount val="4"/>
                <c:pt idx="0">
                  <c:v>55.7</c:v>
                </c:pt>
                <c:pt idx="1">
                  <c:v>68.6</c:v>
                </c:pt>
                <c:pt idx="2">
                  <c:v>52.2</c:v>
                </c:pt>
                <c:pt idx="3">
                  <c:v>67.8</c:v>
                </c:pt>
              </c:numCache>
            </c:numRef>
          </c:val>
        </c:ser>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9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Risk level · % of CL / OS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Sheet1!$B$2:$B$5</c:f>
              <c:numCache>
                <c:formatCode>General</c:formatCode>
                <c:ptCount val="4"/>
                <c:pt idx="0">
                  <c:v>5.4</c:v>
                </c:pt>
                <c:pt idx="1">
                  <c:v>1.7</c:v>
                </c:pt>
                <c:pt idx="2">
                  <c:v>4.9</c:v>
                </c:pt>
                <c:pt idx="3">
                  <c:v>1.6</c:v>
                </c:pt>
              </c:numCache>
            </c:numRef>
          </c:val>
        </c:ser>
        <c:ser>
          <c:idx val="1"/>
          <c:order val="1"/>
          <c:tx>
            <c:strRef>
              <c:f>Sheet1!$C$1</c:f>
              <c:strCache>
                <c:ptCount val="1"/>
                <c:pt idx="0">
                  <c:v>Low</c:v>
                </c:pt>
              </c:strCache>
            </c:strRef>
          </c:tx>
          <c:spPr>
            <a:solidFill>
              <a:srgbClr val="3FB89F"/>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Sheet1!$C$2:$C$5</c:f>
              <c:numCache>
                <c:formatCode>General</c:formatCode>
                <c:ptCount val="4"/>
                <c:pt idx="0">
                  <c:v>34.3</c:v>
                </c:pt>
                <c:pt idx="1">
                  <c:v>33.1</c:v>
                </c:pt>
                <c:pt idx="2">
                  <c:v>39.9</c:v>
                </c:pt>
                <c:pt idx="3">
                  <c:v>35.8</c:v>
                </c:pt>
              </c:numCache>
            </c:numRef>
          </c:val>
        </c:ser>
        <c:ser>
          <c:idx val="2"/>
          <c:order val="2"/>
          <c:tx>
            <c:strRef>
              <c:f>Sheet1!$D$1</c:f>
              <c:strCache>
                <c:ptCount val="1"/>
                <c:pt idx="0">
                  <c:v>Mid</c:v>
                </c:pt>
              </c:strCache>
            </c:strRef>
          </c:tx>
          <c:spPr>
            <a:solidFill>
              <a:srgbClr val="1E8E86"/>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Sheet1!$D$2:$D$5</c:f>
              <c:numCache>
                <c:formatCode>General</c:formatCode>
                <c:ptCount val="4"/>
                <c:pt idx="0">
                  <c:v>23.3</c:v>
                </c:pt>
                <c:pt idx="1">
                  <c:v>26.1</c:v>
                </c:pt>
                <c:pt idx="2">
                  <c:v>23.4</c:v>
                </c:pt>
                <c:pt idx="3">
                  <c:v>26.3</c:v>
                </c:pt>
              </c:numCache>
            </c:numRef>
          </c:val>
        </c:ser>
        <c:ser>
          <c:idx val="3"/>
          <c:order val="3"/>
          <c:tx>
            <c:strRef>
              <c:f>Sheet1!$E$1</c:f>
              <c:strCache>
                <c:ptCount val="1"/>
                <c:pt idx="0">
                  <c:v>High</c:v>
                </c:pt>
              </c:strCache>
            </c:strRef>
          </c:tx>
          <c:spPr>
            <a:solidFill>
              <a:srgbClr val="165A73"/>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OS · PL</c:v>
                  </c:pt>
                  <c:pt idx="1">
                    <c:v>OS · DL</c:v>
                  </c:pt>
                  <c:pt idx="2">
                    <c:v>CL · PL</c:v>
                  </c:pt>
                  <c:pt idx="3">
                    <c:v>CL · DL</c:v>
                  </c:pt>
                </c:lvl>
              </c:multiLvlStrCache>
            </c:multiLvlStrRef>
          </c:cat>
          <c:val>
            <c:numRef>
              <c:f>Sheet1!$E$2:$E$5</c:f>
              <c:numCache>
                <c:formatCode>General</c:formatCode>
                <c:ptCount val="4"/>
                <c:pt idx="0">
                  <c:v>36.9</c:v>
                </c:pt>
                <c:pt idx="1">
                  <c:v>39.1</c:v>
                </c:pt>
                <c:pt idx="2">
                  <c:v>31.7</c:v>
                </c:pt>
                <c:pt idx="3">
                  <c:v>36.3</c:v>
                </c:pt>
              </c:numCache>
            </c:numRef>
          </c:val>
        </c:ser>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9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Lending_2026.08.07.pptx. Reconciliation checks: DL 85,317 + PL 9,054 = 94,371, matching the stated total booked; the cash-need and risk rows each sum to their own grand totals; and all four AIS breakdowns (charge type, nano loan, true, tenure) sum to 70,100, matching the stated AIS consortium count. The deck's text says '47K are in TRUE ecosystem'; the true table gives 47,840. Consortium bases overlap — KTB 88%, AIS 74% and OR 57% sum well past 100% because customers appear in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use the same percent-stacked form as the cash-need and risk chart on slide 1. Biggest DL/PL gaps: nano-loan flag Y is 61.8% for DL against 53.8% for PL, and PL skews further to prepaid (56.0% vs 48.8%) with correspondingly less postpaid (37.8% vs 44.7%). Tenure and TRUE are within ~3 points across the two loan types. Counts behind the percentages - DL 63,760 and PL 6,340, totalling 70,100.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dimensions as slide 2, measured by value instead of headcount. Charge type is the only mix that moves materially: DL prepaid falls from 48.8% of customers to 30.9% of credit line while postpaid rises 44.7% to 61.8% - postpaid customers carry roughly twice the line each. The other three shift only a few points toward the favourable category: tenure 5+ years 66.3% to 71.3% of DL line, nano Y 61.8% to 66.6%, TRUE Y 68.5% to 73.3%. PL is flatter throughout, and its OS mix leans more to prepaid (52.2%) than its CL mix (46.0%).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the two earlier book-date slides into one, in the same tall-panel layout as the value slide that follows. 2 Aug alone is 33,341 of the 70,100 AIS bookings (47.6%); PL is back-loaded, with 4,255 of its 6,340 bookings on 5 Aug. Nano-loan Y falls from 64.8% on 1 Aug to 55.3% on 5 Aug (9.5pt); TRUE Y drifts 70.3% to 66.6%. Charge type and tenure barely move - prepaid 46-55%, tenure 5+ years 65-68%.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Pairing CL and OS on the same axis makes the utilisation story readable per segment. In every August cohort the prepaid share of outstanding exceeds its share of credit line - by 1.6pt on 1 Aug widening to 6.0pt on 5 Aug - and the same direction holds for 0-1 year tenure, no-nano and non-TRUE. Read plainly: the segments granted smaller lines draw a higher fraction of them, so outstanding is tilted toward the weaker end of every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chart form as slide 1, on value instead of headcount, with CL and OS paired. Risk: High rises from 36.3% of DL credit line to 39.1% of outstanding, and 31.7% to 36.9% on PL; Low falls 35.8% to 33.1% and 39.9% to 34.3%. Cash need moves less - High 67.8% to 68.6% on DL, 52.2% to 55.7% on PL. This is the same direction as the book-date cuts on the previous slide: the weaker segment of every dimension draws a higher fraction of its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membership column is an inference that checks out four ways: A1+A1_o+J+J_O = 70,100 (AIS), K1+K1_O+J+J_O = 83,362 (KTB), O1+A1_o+K1_O+J_O = 53,712 (OR), and Null = 794. J and J_O together hold 61,771 customers (65.5%) and 696.5M of credit line (63.8%).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out of the combined 4x4 table so each dimension reads on its own. Cash need is heavily concentrated - High alone is 63.3% of the credit line. Risk is not: Low 37.0%, Mid 25.5%, High 35.0%. Low risk holding 37.0% of the line against 29.0% of customers means low-risk customers are granted larger lines on average. The DL/PL utilisation gap persists on both cuts: DL 65.2% against PL 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Postpaid customers carry a materially larger line each than prepaid customers, which is why the customer and value rankings invert.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flag Y: 42,806 customers and 503.8M of credit line. Broadly proportional, so the flag does not by itself mark a larger-line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Y: 47,840 customers (68.2%) holding 573.3M of credit line (71.5%) - a few points more than their headcount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tenure earns a bigger line: 5+ years is 66.2% of customers but 71.0% of credit line, while 0-1 years is 11.0% of customers and only 9.0% of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chart" Target="/ppt/charts/chart13.xml"/><Relationship Id="rId5" Type="http://schemas.openxmlformats.org/officeDocument/2006/relationships/chart" Target="/ppt/charts/chart14.xml"/><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BOOK LOAN  ·  TOTAL BOOKED AS OF 5 AUG</a:t>
            </a:r>
            <a:endParaRPr lang="en-US" sz="1150" dirty="0"/>
          </a:p>
        </p:txBody>
      </p:sp>
      <p:sp>
        <p:nvSpPr>
          <p:cNvPr id="3" name="Text 1"/>
          <p:cNvSpPr/>
          <p:nvPr/>
        </p:nvSpPr>
        <p:spPr>
          <a:xfrm>
            <a:off x="548640" y="603504"/>
            <a:ext cx="11064240" cy="65836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Nine in ten booked loans are DL</a:t>
            </a:r>
            <a:endParaRPr lang="en-US" sz="3200" dirty="0"/>
          </a:p>
        </p:txBody>
      </p:sp>
      <p:sp>
        <p:nvSpPr>
          <p:cNvPr id="4" name="Shape 2"/>
          <p:cNvSpPr/>
          <p:nvPr/>
        </p:nvSpPr>
        <p:spPr>
          <a:xfrm>
            <a:off x="548640" y="1335024"/>
            <a:ext cx="2560320" cy="1005840"/>
          </a:xfrm>
          <a:prstGeom prst="roundRect">
            <a:avLst>
              <a:gd name="adj" fmla="val 8182"/>
            </a:avLst>
          </a:prstGeom>
          <a:solidFill>
            <a:srgbClr val="F1F4F9"/>
          </a:solidFill>
          <a:ln/>
        </p:spPr>
      </p:sp>
      <p:sp>
        <p:nvSpPr>
          <p:cNvPr id="5" name="Text 3"/>
          <p:cNvSpPr/>
          <p:nvPr/>
        </p:nvSpPr>
        <p:spPr>
          <a:xfrm>
            <a:off x="77724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94,371</a:t>
            </a:r>
            <a:endParaRPr lang="en-US" sz="2500" dirty="0"/>
          </a:p>
        </p:txBody>
      </p:sp>
      <p:sp>
        <p:nvSpPr>
          <p:cNvPr id="6" name="Text 4"/>
          <p:cNvSpPr/>
          <p:nvPr/>
        </p:nvSpPr>
        <p:spPr>
          <a:xfrm>
            <a:off x="77724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total booked</a:t>
            </a:r>
            <a:endParaRPr lang="en-US" sz="1150" dirty="0"/>
          </a:p>
        </p:txBody>
      </p:sp>
      <p:sp>
        <p:nvSpPr>
          <p:cNvPr id="7" name="Text 5"/>
          <p:cNvSpPr/>
          <p:nvPr/>
        </p:nvSpPr>
        <p:spPr>
          <a:xfrm>
            <a:off x="77724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as of 5 Aug</a:t>
            </a:r>
            <a:endParaRPr lang="en-US" sz="1000" dirty="0"/>
          </a:p>
        </p:txBody>
      </p:sp>
      <p:sp>
        <p:nvSpPr>
          <p:cNvPr id="8" name="Shape 6"/>
          <p:cNvSpPr/>
          <p:nvPr/>
        </p:nvSpPr>
        <p:spPr>
          <a:xfrm>
            <a:off x="3383280" y="1335024"/>
            <a:ext cx="2560320" cy="1005840"/>
          </a:xfrm>
          <a:prstGeom prst="roundRect">
            <a:avLst>
              <a:gd name="adj" fmla="val 8182"/>
            </a:avLst>
          </a:prstGeom>
          <a:solidFill>
            <a:srgbClr val="F1F4F9"/>
          </a:solidFill>
          <a:ln/>
        </p:spPr>
      </p:sp>
      <p:sp>
        <p:nvSpPr>
          <p:cNvPr id="9" name="Text 7"/>
          <p:cNvSpPr/>
          <p:nvPr/>
        </p:nvSpPr>
        <p:spPr>
          <a:xfrm>
            <a:off x="361188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90.4%</a:t>
            </a:r>
            <a:endParaRPr lang="en-US" sz="2500" dirty="0"/>
          </a:p>
        </p:txBody>
      </p:sp>
      <p:sp>
        <p:nvSpPr>
          <p:cNvPr id="10" name="Text 8"/>
          <p:cNvSpPr/>
          <p:nvPr/>
        </p:nvSpPr>
        <p:spPr>
          <a:xfrm>
            <a:off x="361188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of the book is DL</a:t>
            </a:r>
            <a:endParaRPr lang="en-US" sz="1150" dirty="0"/>
          </a:p>
        </p:txBody>
      </p:sp>
      <p:sp>
        <p:nvSpPr>
          <p:cNvPr id="11" name="Text 9"/>
          <p:cNvSpPr/>
          <p:nvPr/>
        </p:nvSpPr>
        <p:spPr>
          <a:xfrm>
            <a:off x="361188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85,317 DL vs 9,054 PL</a:t>
            </a:r>
            <a:endParaRPr lang="en-US" sz="1000" dirty="0"/>
          </a:p>
        </p:txBody>
      </p:sp>
      <p:sp>
        <p:nvSpPr>
          <p:cNvPr id="12" name="Shape 10"/>
          <p:cNvSpPr/>
          <p:nvPr/>
        </p:nvSpPr>
        <p:spPr>
          <a:xfrm>
            <a:off x="6217920" y="1335024"/>
            <a:ext cx="2560320" cy="1005840"/>
          </a:xfrm>
          <a:prstGeom prst="roundRect">
            <a:avLst>
              <a:gd name="adj" fmla="val 8182"/>
            </a:avLst>
          </a:prstGeom>
          <a:solidFill>
            <a:srgbClr val="F1F4F9"/>
          </a:solidFill>
          <a:ln/>
        </p:spPr>
      </p:sp>
      <p:sp>
        <p:nvSpPr>
          <p:cNvPr id="13" name="Text 11"/>
          <p:cNvSpPr/>
          <p:nvPr/>
        </p:nvSpPr>
        <p:spPr>
          <a:xfrm>
            <a:off x="6446520" y="1426464"/>
            <a:ext cx="2103120" cy="402336"/>
          </a:xfrm>
          <a:prstGeom prst="rect">
            <a:avLst/>
          </a:prstGeom>
          <a:noFill/>
          <a:ln/>
        </p:spPr>
        <p:txBody>
          <a:bodyPr wrap="square" lIns="0" tIns="0" rIns="0" bIns="0" rtlCol="0" anchor="ctr"/>
          <a:lstStyle/>
          <a:p>
            <a:pPr indent="0" marL="0">
              <a:buNone/>
            </a:pPr>
            <a:r>
              <a:rPr lang="en-US" sz="2500" b="1" dirty="0">
                <a:solidFill>
                  <a:srgbClr val="E9A03B"/>
                </a:solidFill>
                <a:latin typeface="Cambria" pitchFamily="34" charset="0"/>
                <a:ea typeface="Cambria" pitchFamily="34" charset="-122"/>
                <a:cs typeface="Cambria" pitchFamily="34" charset="-120"/>
              </a:rPr>
              <a:t>64.5%</a:t>
            </a:r>
            <a:endParaRPr lang="en-US" sz="2500" dirty="0"/>
          </a:p>
        </p:txBody>
      </p:sp>
      <p:sp>
        <p:nvSpPr>
          <p:cNvPr id="14" name="Text 12"/>
          <p:cNvSpPr/>
          <p:nvPr/>
        </p:nvSpPr>
        <p:spPr>
          <a:xfrm>
            <a:off x="644652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sit at high cash need</a:t>
            </a:r>
            <a:endParaRPr lang="en-US" sz="1150" dirty="0"/>
          </a:p>
        </p:txBody>
      </p:sp>
      <p:sp>
        <p:nvSpPr>
          <p:cNvPr id="15" name="Text 13"/>
          <p:cNvSpPr/>
          <p:nvPr/>
        </p:nvSpPr>
        <p:spPr>
          <a:xfrm>
            <a:off x="644652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60,839 customers</a:t>
            </a:r>
            <a:endParaRPr lang="en-US" sz="1000" dirty="0"/>
          </a:p>
        </p:txBody>
      </p:sp>
      <p:sp>
        <p:nvSpPr>
          <p:cNvPr id="16" name="Shape 14"/>
          <p:cNvSpPr/>
          <p:nvPr/>
        </p:nvSpPr>
        <p:spPr>
          <a:xfrm>
            <a:off x="9052560" y="1335024"/>
            <a:ext cx="2560320" cy="1005840"/>
          </a:xfrm>
          <a:prstGeom prst="roundRect">
            <a:avLst>
              <a:gd name="adj" fmla="val 8182"/>
            </a:avLst>
          </a:prstGeom>
          <a:solidFill>
            <a:srgbClr val="F1F4F9"/>
          </a:solidFill>
          <a:ln/>
        </p:spPr>
      </p:sp>
      <p:sp>
        <p:nvSpPr>
          <p:cNvPr id="17" name="Text 15"/>
          <p:cNvSpPr/>
          <p:nvPr/>
        </p:nvSpPr>
        <p:spPr>
          <a:xfrm>
            <a:off x="928116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99.2%</a:t>
            </a:r>
            <a:endParaRPr lang="en-US" sz="2500" dirty="0"/>
          </a:p>
        </p:txBody>
      </p:sp>
      <p:sp>
        <p:nvSpPr>
          <p:cNvPr id="18" name="Text 16"/>
          <p:cNvSpPr/>
          <p:nvPr/>
        </p:nvSpPr>
        <p:spPr>
          <a:xfrm>
            <a:off x="928116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are in a consortium</a:t>
            </a:r>
            <a:endParaRPr lang="en-US" sz="1150" dirty="0"/>
          </a:p>
        </p:txBody>
      </p:sp>
      <p:sp>
        <p:nvSpPr>
          <p:cNvPr id="19" name="Text 17"/>
          <p:cNvSpPr/>
          <p:nvPr/>
        </p:nvSpPr>
        <p:spPr>
          <a:xfrm>
            <a:off x="928116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only 794 in none</a:t>
            </a:r>
            <a:endParaRPr lang="en-US" sz="1000" dirty="0"/>
          </a:p>
        </p:txBody>
      </p:sp>
      <p:sp>
        <p:nvSpPr>
          <p:cNvPr id="20" name="Shape 18"/>
          <p:cNvSpPr/>
          <p:nvPr/>
        </p:nvSpPr>
        <p:spPr>
          <a:xfrm>
            <a:off x="548640" y="2523744"/>
            <a:ext cx="5440680" cy="2304288"/>
          </a:xfrm>
          <a:prstGeom prst="roundRect">
            <a:avLst>
              <a:gd name="adj" fmla="val 3571"/>
            </a:avLst>
          </a:prstGeom>
          <a:solidFill>
            <a:srgbClr val="F1F4F9"/>
          </a:solidFill>
          <a:ln/>
        </p:spPr>
      </p:sp>
      <p:sp>
        <p:nvSpPr>
          <p:cNvPr id="21" name="Text 19"/>
          <p:cNvSpPr/>
          <p:nvPr/>
        </p:nvSpPr>
        <p:spPr>
          <a:xfrm>
            <a:off x="822960" y="2688336"/>
            <a:ext cx="4892040" cy="274320"/>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Consortium penetration</a:t>
            </a:r>
            <a:endParaRPr lang="en-US" sz="1500" dirty="0"/>
          </a:p>
        </p:txBody>
      </p:sp>
      <p:sp>
        <p:nvSpPr>
          <p:cNvPr id="22" name="Text 20"/>
          <p:cNvSpPr/>
          <p:nvPr/>
        </p:nvSpPr>
        <p:spPr>
          <a:xfrm>
            <a:off x="822960" y="2962656"/>
            <a:ext cx="4892040" cy="237744"/>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Share of the 94,371 booked customers found in each base</a:t>
            </a:r>
            <a:endParaRPr lang="en-US" sz="1000" dirty="0"/>
          </a:p>
        </p:txBody>
      </p:sp>
      <p:sp>
        <p:nvSpPr>
          <p:cNvPr id="23" name="Text 21"/>
          <p:cNvSpPr/>
          <p:nvPr/>
        </p:nvSpPr>
        <p:spPr>
          <a:xfrm>
            <a:off x="822960" y="331012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KTB</a:t>
            </a:r>
            <a:endParaRPr lang="en-US" sz="1150" dirty="0"/>
          </a:p>
        </p:txBody>
      </p:sp>
      <p:sp>
        <p:nvSpPr>
          <p:cNvPr id="24" name="Shape 22"/>
          <p:cNvSpPr/>
          <p:nvPr/>
        </p:nvSpPr>
        <p:spPr>
          <a:xfrm>
            <a:off x="1965960" y="3355848"/>
            <a:ext cx="2092147" cy="182880"/>
          </a:xfrm>
          <a:prstGeom prst="roundRect">
            <a:avLst>
              <a:gd name="adj" fmla="val 20000"/>
            </a:avLst>
          </a:prstGeom>
          <a:solidFill>
            <a:srgbClr val="165A73"/>
          </a:solidFill>
          <a:ln/>
        </p:spPr>
      </p:sp>
      <p:sp>
        <p:nvSpPr>
          <p:cNvPr id="25" name="Text 23"/>
          <p:cNvSpPr/>
          <p:nvPr/>
        </p:nvSpPr>
        <p:spPr>
          <a:xfrm>
            <a:off x="4480560" y="331012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83,362  ·  88%</a:t>
            </a:r>
            <a:endParaRPr lang="en-US" sz="1150" dirty="0"/>
          </a:p>
        </p:txBody>
      </p:sp>
      <p:sp>
        <p:nvSpPr>
          <p:cNvPr id="26" name="Text 24"/>
          <p:cNvSpPr/>
          <p:nvPr/>
        </p:nvSpPr>
        <p:spPr>
          <a:xfrm>
            <a:off x="822960" y="367588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AIS</a:t>
            </a:r>
            <a:endParaRPr lang="en-US" sz="1150" dirty="0"/>
          </a:p>
        </p:txBody>
      </p:sp>
      <p:sp>
        <p:nvSpPr>
          <p:cNvPr id="27" name="Shape 25"/>
          <p:cNvSpPr/>
          <p:nvPr/>
        </p:nvSpPr>
        <p:spPr>
          <a:xfrm>
            <a:off x="1965960" y="3721608"/>
            <a:ext cx="1759306" cy="182880"/>
          </a:xfrm>
          <a:prstGeom prst="roundRect">
            <a:avLst>
              <a:gd name="adj" fmla="val 20000"/>
            </a:avLst>
          </a:prstGeom>
          <a:solidFill>
            <a:srgbClr val="1E8E86"/>
          </a:solidFill>
          <a:ln/>
        </p:spPr>
      </p:sp>
      <p:sp>
        <p:nvSpPr>
          <p:cNvPr id="28" name="Text 26"/>
          <p:cNvSpPr/>
          <p:nvPr/>
        </p:nvSpPr>
        <p:spPr>
          <a:xfrm>
            <a:off x="4480560" y="367588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70,100  ·  74%</a:t>
            </a:r>
            <a:endParaRPr lang="en-US" sz="1150" dirty="0"/>
          </a:p>
        </p:txBody>
      </p:sp>
      <p:sp>
        <p:nvSpPr>
          <p:cNvPr id="29" name="Text 27"/>
          <p:cNvSpPr/>
          <p:nvPr/>
        </p:nvSpPr>
        <p:spPr>
          <a:xfrm>
            <a:off x="822960" y="404164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OR</a:t>
            </a:r>
            <a:endParaRPr lang="en-US" sz="1150" dirty="0"/>
          </a:p>
        </p:txBody>
      </p:sp>
      <p:sp>
        <p:nvSpPr>
          <p:cNvPr id="30" name="Shape 28"/>
          <p:cNvSpPr/>
          <p:nvPr/>
        </p:nvSpPr>
        <p:spPr>
          <a:xfrm>
            <a:off x="1965960" y="4087368"/>
            <a:ext cx="1355141" cy="182880"/>
          </a:xfrm>
          <a:prstGeom prst="roundRect">
            <a:avLst>
              <a:gd name="adj" fmla="val 20000"/>
            </a:avLst>
          </a:prstGeom>
          <a:solidFill>
            <a:srgbClr val="3FB89F"/>
          </a:solidFill>
          <a:ln/>
        </p:spPr>
      </p:sp>
      <p:sp>
        <p:nvSpPr>
          <p:cNvPr id="31" name="Text 29"/>
          <p:cNvSpPr/>
          <p:nvPr/>
        </p:nvSpPr>
        <p:spPr>
          <a:xfrm>
            <a:off x="4480560" y="404164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53,712  ·  57%</a:t>
            </a:r>
            <a:endParaRPr lang="en-US" sz="1150" dirty="0"/>
          </a:p>
        </p:txBody>
      </p:sp>
      <p:sp>
        <p:nvSpPr>
          <p:cNvPr id="32" name="Text 30"/>
          <p:cNvSpPr/>
          <p:nvPr/>
        </p:nvSpPr>
        <p:spPr>
          <a:xfrm>
            <a:off x="822960" y="440740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Not in any</a:t>
            </a:r>
            <a:endParaRPr lang="en-US" sz="1150" dirty="0"/>
          </a:p>
        </p:txBody>
      </p:sp>
      <p:sp>
        <p:nvSpPr>
          <p:cNvPr id="33" name="Shape 31"/>
          <p:cNvSpPr/>
          <p:nvPr/>
        </p:nvSpPr>
        <p:spPr>
          <a:xfrm>
            <a:off x="1965960" y="4453128"/>
            <a:ext cx="54864" cy="182880"/>
          </a:xfrm>
          <a:prstGeom prst="roundRect">
            <a:avLst>
              <a:gd name="adj" fmla="val 66667"/>
            </a:avLst>
          </a:prstGeom>
          <a:solidFill>
            <a:srgbClr val="8DA0B8"/>
          </a:solidFill>
          <a:ln/>
        </p:spPr>
      </p:sp>
      <p:sp>
        <p:nvSpPr>
          <p:cNvPr id="34" name="Text 32"/>
          <p:cNvSpPr/>
          <p:nvPr/>
        </p:nvSpPr>
        <p:spPr>
          <a:xfrm>
            <a:off x="4480560" y="440740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794  ·  0.8%</a:t>
            </a:r>
            <a:endParaRPr lang="en-US" sz="1150" dirty="0"/>
          </a:p>
        </p:txBody>
      </p:sp>
      <p:sp>
        <p:nvSpPr>
          <p:cNvPr id="35" name="Shape 33"/>
          <p:cNvSpPr/>
          <p:nvPr/>
        </p:nvSpPr>
        <p:spPr>
          <a:xfrm>
            <a:off x="6172200" y="2523744"/>
            <a:ext cx="5440680" cy="2304288"/>
          </a:xfrm>
          <a:prstGeom prst="roundRect">
            <a:avLst>
              <a:gd name="adj" fmla="val 3571"/>
            </a:avLst>
          </a:prstGeom>
          <a:solidFill>
            <a:srgbClr val="F1F4F9"/>
          </a:solidFill>
          <a:ln/>
        </p:spPr>
      </p:sp>
      <p:graphicFrame>
        <p:nvGraphicFramePr>
          <p:cNvPr id="36" name="Chart 0" descr=""/>
          <p:cNvGraphicFramePr/>
          <p:nvPr/>
        </p:nvGraphicFramePr>
        <p:xfrm>
          <a:off x="6291072" y="2615184"/>
          <a:ext cx="5230368" cy="2139696"/>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548640" y="5010912"/>
            <a:ext cx="11064240" cy="1152144"/>
          </a:xfrm>
          <a:prstGeom prst="roundRect">
            <a:avLst>
              <a:gd name="adj" fmla="val 7143"/>
            </a:avLst>
          </a:prstGeom>
          <a:solidFill>
            <a:srgbClr val="0E1E3C"/>
          </a:solidFill>
          <a:ln/>
        </p:spPr>
      </p:sp>
      <p:sp>
        <p:nvSpPr>
          <p:cNvPr id="38" name="Text 35"/>
          <p:cNvSpPr/>
          <p:nvPr/>
        </p:nvSpPr>
        <p:spPr>
          <a:xfrm>
            <a:off x="914400" y="5175504"/>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AIS BASE INFORMATION  ·  70.1K</a:t>
            </a:r>
            <a:endParaRPr lang="en-US" sz="1050" dirty="0"/>
          </a:p>
        </p:txBody>
      </p:sp>
      <p:sp>
        <p:nvSpPr>
          <p:cNvPr id="39" name="Text 36"/>
          <p:cNvSpPr/>
          <p:nvPr/>
        </p:nvSpPr>
        <p:spPr>
          <a:xfrm>
            <a:off x="914400" y="5413248"/>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68% sit in the TRUE ecosystem</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(47,840)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61% carry the nano-loan flag</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(42,806)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66% have tenure of 5 years or more</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(46,441), against 11% at 0–1 years</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Charge type splits 49% prepaid / 44% postpaid / 6% FBB, and 33,341 of the 70.1K — 47.6% — booked on 2 Aug alone.</a:t>
            </a:r>
            <a:endParaRPr lang="en-US" sz="1100" dirty="0"/>
          </a:p>
        </p:txBody>
      </p:sp>
      <p:sp>
        <p:nvSpPr>
          <p:cNvPr id="40" name="Text 37"/>
          <p:cNvSpPr/>
          <p:nvPr/>
        </p:nvSpPr>
        <p:spPr>
          <a:xfrm>
            <a:off x="548640" y="6291072"/>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(Book Loan). DL and PL are not expanded anywhere in that deck. Cash-need and risk percentages are as printed; all others are computed from its own counts and reconcile to 94,371 and 70,100. Consortium bases overlap, so they sum past 100%. AIS-base figures cover the 70.1K AIS base only, not the whole book.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70.1K  ·  DL 63,760 / PL 6,340</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Long-tenured, prepaid-leaning, mostly TRUE</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DL and PL profile almost identically on tenure and TRUE; they part company on charge type and the nano-loan flag.</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four AIS Base Information slides (charge type, nano loan, true, tenure), aggregated across all book dates. Each breakdown sums to 70,100, matching the stated AIS consortium count. Percentages are computed from the deck's own counts and may differ by 1pt from its per-date rounding.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SHARE OF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Postpaid punches far above its headcount</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Prepaid is 48.8% of DL customers but 30.9% of DL credit line; postpaid runs 44.7% to 61.8%.</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AIS base, aggregated across all book dates. CL = credit line, OS = outstanding. Each bar is a mix within that loan type and measure, so all four bars in a panel read to 100%. Compare against slide 2, which shows the same four splits by customer count.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  ·  CUSTOMER COUNT</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Nearly half the base booked on 2 August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PL arrives almost entirely on 5 Aug; the nano-loan flag falls 9.5 points across the cohorts while charge type and tenure barely move.</a:t>
            </a:r>
            <a:endParaRPr lang="en-US" sz="1200" dirty="0"/>
          </a:p>
        </p:txBody>
      </p:sp>
      <p:sp>
        <p:nvSpPr>
          <p:cNvPr id="5" name="Shape 3"/>
          <p:cNvSpPr/>
          <p:nvPr/>
        </p:nvSpPr>
        <p:spPr>
          <a:xfrm>
            <a:off x="548640" y="1426464"/>
            <a:ext cx="2081174" cy="4517136"/>
          </a:xfrm>
          <a:prstGeom prst="roundRect">
            <a:avLst>
              <a:gd name="adj" fmla="val 3954"/>
            </a:avLst>
          </a:prstGeom>
          <a:solidFill>
            <a:srgbClr val="F1F4F9"/>
          </a:solidFill>
          <a:ln/>
        </p:spPr>
      </p:sp>
      <p:graphicFrame>
        <p:nvGraphicFramePr>
          <p:cNvPr id="6" name="Chart 0" descr=""/>
          <p:cNvGraphicFramePr/>
          <p:nvPr/>
        </p:nvGraphicFramePr>
        <p:xfrm>
          <a:off x="630936" y="1499616"/>
          <a:ext cx="1916582" cy="4370832"/>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2794406" y="1426464"/>
            <a:ext cx="2081174" cy="4517136"/>
          </a:xfrm>
          <a:prstGeom prst="roundRect">
            <a:avLst>
              <a:gd name="adj" fmla="val 3954"/>
            </a:avLst>
          </a:prstGeom>
          <a:solidFill>
            <a:srgbClr val="F1F4F9"/>
          </a:solidFill>
          <a:ln/>
        </p:spPr>
      </p:sp>
      <p:graphicFrame>
        <p:nvGraphicFramePr>
          <p:cNvPr id="8" name="Chart 1" descr=""/>
          <p:cNvGraphicFramePr/>
          <p:nvPr/>
        </p:nvGraphicFramePr>
        <p:xfrm>
          <a:off x="2876702" y="1499616"/>
          <a:ext cx="1916582" cy="4370832"/>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40173" y="1426464"/>
            <a:ext cx="2081174" cy="4517136"/>
          </a:xfrm>
          <a:prstGeom prst="roundRect">
            <a:avLst>
              <a:gd name="adj" fmla="val 3954"/>
            </a:avLst>
          </a:prstGeom>
          <a:solidFill>
            <a:srgbClr val="F1F4F9"/>
          </a:solidFill>
          <a:ln/>
        </p:spPr>
      </p:sp>
      <p:graphicFrame>
        <p:nvGraphicFramePr>
          <p:cNvPr id="10" name="Chart 2" descr=""/>
          <p:cNvGraphicFramePr/>
          <p:nvPr/>
        </p:nvGraphicFramePr>
        <p:xfrm>
          <a:off x="5122469" y="1499616"/>
          <a:ext cx="1916582" cy="4370832"/>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7285939" y="1426464"/>
            <a:ext cx="2081174" cy="4517136"/>
          </a:xfrm>
          <a:prstGeom prst="roundRect">
            <a:avLst>
              <a:gd name="adj" fmla="val 3954"/>
            </a:avLst>
          </a:prstGeom>
          <a:solidFill>
            <a:srgbClr val="F1F4F9"/>
          </a:solidFill>
          <a:ln/>
        </p:spPr>
      </p:sp>
      <p:graphicFrame>
        <p:nvGraphicFramePr>
          <p:cNvPr id="12" name="Chart 3" descr=""/>
          <p:cNvGraphicFramePr/>
          <p:nvPr/>
        </p:nvGraphicFramePr>
        <p:xfrm>
          <a:off x="7368235" y="1499616"/>
          <a:ext cx="1916582" cy="4370832"/>
        </p:xfrm>
        <a:graphic xmlns:a="http://schemas.openxmlformats.org/drawingml/2006/main">
          <a:graphicData uri="http://schemas.openxmlformats.org/drawingml/2006/chart">
            <c:chart xmlns:c="http://schemas.openxmlformats.org/drawingml/2006/chart" r:id="rId4"/>
          </a:graphicData>
        </a:graphic>
      </p:graphicFrame>
      <p:sp>
        <p:nvSpPr>
          <p:cNvPr id="13" name="Shape 7"/>
          <p:cNvSpPr/>
          <p:nvPr/>
        </p:nvSpPr>
        <p:spPr>
          <a:xfrm>
            <a:off x="9531706" y="1426464"/>
            <a:ext cx="2081174" cy="4517136"/>
          </a:xfrm>
          <a:prstGeom prst="roundRect">
            <a:avLst>
              <a:gd name="adj" fmla="val 3954"/>
            </a:avLst>
          </a:prstGeom>
          <a:solidFill>
            <a:srgbClr val="F1F4F9"/>
          </a:solidFill>
          <a:ln/>
        </p:spPr>
      </p:sp>
      <p:graphicFrame>
        <p:nvGraphicFramePr>
          <p:cNvPr id="14" name="Chart 4" descr=""/>
          <p:cNvGraphicFramePr/>
          <p:nvPr/>
        </p:nvGraphicFramePr>
        <p:xfrm>
          <a:off x="9614002" y="1499616"/>
          <a:ext cx="1916582" cy="4370832"/>
        </p:xfrm>
        <a:graphic xmlns:a="http://schemas.openxmlformats.org/drawingml/2006/main">
          <a:graphicData uri="http://schemas.openxmlformats.org/drawingml/2006/chart">
            <c:chart xmlns:c="http://schemas.openxmlformats.org/drawingml/2006/chart" r:id="rId5"/>
          </a:graphicData>
        </a:graphic>
      </p:graphicFrame>
      <p:sp>
        <p:nvSpPr>
          <p:cNvPr id="15" name="Text 8"/>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mixes combine DL and PL, bookings are split by loan type. Segments too narrow to hold a label are left blank — exact values are in the tables. 'bef 1 Aug' holds only 708 customers, so its mix is a small-sample outlier. The next slide shows the same four cuts on credit line and outstanding.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  ·  CREDIT LINE vs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Weaker segments draw more of their line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short tenure, no nano flag and non-TRUE each take a larger share of OS than of CL — they use more of what they are granted.</a:t>
            </a:r>
            <a:endParaRPr lang="en-US" sz="1200" dirty="0"/>
          </a:p>
        </p:txBody>
      </p:sp>
      <p:sp>
        <p:nvSpPr>
          <p:cNvPr id="5" name="Shape 3"/>
          <p:cNvSpPr/>
          <p:nvPr/>
        </p:nvSpPr>
        <p:spPr>
          <a:xfrm>
            <a:off x="548640" y="1426464"/>
            <a:ext cx="2628900" cy="4517136"/>
          </a:xfrm>
          <a:prstGeom prst="roundRect">
            <a:avLst>
              <a:gd name="adj" fmla="val 3130"/>
            </a:avLst>
          </a:prstGeom>
          <a:solidFill>
            <a:srgbClr val="F1F4F9"/>
          </a:solidFill>
          <a:ln/>
        </p:spPr>
      </p:sp>
      <p:graphicFrame>
        <p:nvGraphicFramePr>
          <p:cNvPr id="6" name="Chart 0" descr=""/>
          <p:cNvGraphicFramePr/>
          <p:nvPr/>
        </p:nvGraphicFramePr>
        <p:xfrm>
          <a:off x="630936" y="1499616"/>
          <a:ext cx="2464308" cy="4370832"/>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3360420" y="1426464"/>
            <a:ext cx="2628900" cy="4517136"/>
          </a:xfrm>
          <a:prstGeom prst="roundRect">
            <a:avLst>
              <a:gd name="adj" fmla="val 3130"/>
            </a:avLst>
          </a:prstGeom>
          <a:solidFill>
            <a:srgbClr val="F1F4F9"/>
          </a:solidFill>
          <a:ln/>
        </p:spPr>
      </p:sp>
      <p:graphicFrame>
        <p:nvGraphicFramePr>
          <p:cNvPr id="8" name="Chart 1" descr=""/>
          <p:cNvGraphicFramePr/>
          <p:nvPr/>
        </p:nvGraphicFramePr>
        <p:xfrm>
          <a:off x="3442716" y="1499616"/>
          <a:ext cx="2464308" cy="4370832"/>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6172200" y="1426464"/>
            <a:ext cx="2628900" cy="4517136"/>
          </a:xfrm>
          <a:prstGeom prst="roundRect">
            <a:avLst>
              <a:gd name="adj" fmla="val 3130"/>
            </a:avLst>
          </a:prstGeom>
          <a:solidFill>
            <a:srgbClr val="F1F4F9"/>
          </a:solidFill>
          <a:ln/>
        </p:spPr>
      </p:sp>
      <p:graphicFrame>
        <p:nvGraphicFramePr>
          <p:cNvPr id="10" name="Chart 2" descr=""/>
          <p:cNvGraphicFramePr/>
          <p:nvPr/>
        </p:nvGraphicFramePr>
        <p:xfrm>
          <a:off x="6254496" y="1499616"/>
          <a:ext cx="2464308" cy="4370832"/>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8983980" y="1426464"/>
            <a:ext cx="2628900" cy="4517136"/>
          </a:xfrm>
          <a:prstGeom prst="roundRect">
            <a:avLst>
              <a:gd name="adj" fmla="val 3130"/>
            </a:avLst>
          </a:prstGeom>
          <a:solidFill>
            <a:srgbClr val="F1F4F9"/>
          </a:solidFill>
          <a:ln/>
        </p:spPr>
      </p:sp>
      <p:graphicFrame>
        <p:nvGraphicFramePr>
          <p:cNvPr id="12" name="Chart 3" descr=""/>
          <p:cNvGraphicFramePr/>
          <p:nvPr/>
        </p:nvGraphicFramePr>
        <p:xfrm>
          <a:off x="9066276" y="1499616"/>
          <a:ext cx="2464308" cy="4370832"/>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CL = credit line, OS = outstanding; bars are grouped by measure, all six CL cohorts then all six OS. Each bar is a mix within that date and measure, so every bar reads to 100%. The OS-above-CL pattern holds in all five August cohorts on charge type and tenure, and in four of five on the nano and TRUE flags — the exceptions are the 708-customer pre-August cohort and a 0.2-point wobble on TRUE on 3 Aug. The previous slide shows the same four cuts by customer count.</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vs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Riskier customers draw a bigger share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risk is 36.3% of DL credit line but 39.1% of DL outstanding, while low risk falls from 35.8% to 33.1%.</a:t>
            </a:r>
            <a:endParaRPr lang="en-US" sz="1200" dirty="0"/>
          </a:p>
        </p:txBody>
      </p:sp>
      <p:sp>
        <p:nvSpPr>
          <p:cNvPr id="5" name="Shape 3"/>
          <p:cNvSpPr/>
          <p:nvPr/>
        </p:nvSpPr>
        <p:spPr>
          <a:xfrm>
            <a:off x="548640" y="1444752"/>
            <a:ext cx="5440680" cy="4297680"/>
          </a:xfrm>
          <a:prstGeom prst="roundRect">
            <a:avLst>
              <a:gd name="adj" fmla="val 1915"/>
            </a:avLst>
          </a:prstGeom>
          <a:solidFill>
            <a:srgbClr val="F1F4F9"/>
          </a:solidFill>
          <a:ln/>
        </p:spPr>
      </p:sp>
      <p:graphicFrame>
        <p:nvGraphicFramePr>
          <p:cNvPr id="6" name="Chart 0" descr=""/>
          <p:cNvGraphicFramePr/>
          <p:nvPr/>
        </p:nvGraphicFramePr>
        <p:xfrm>
          <a:off x="658368" y="1536192"/>
          <a:ext cx="5221224"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44752"/>
            <a:ext cx="5440680" cy="4297680"/>
          </a:xfrm>
          <a:prstGeom prst="roundRect">
            <a:avLst>
              <a:gd name="adj" fmla="val 1915"/>
            </a:avLst>
          </a:prstGeom>
          <a:solidFill>
            <a:srgbClr val="F1F4F9"/>
          </a:solidFill>
          <a:ln/>
        </p:spPr>
      </p:sp>
      <p:graphicFrame>
        <p:nvGraphicFramePr>
          <p:cNvPr id="8" name="Chart 1" descr=""/>
          <p:cNvGraphicFramePr/>
          <p:nvPr/>
        </p:nvGraphicFramePr>
        <p:xfrm>
          <a:off x="6281928" y="1536192"/>
          <a:ext cx="5221224" cy="411480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548640" y="5888736"/>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bar is a mix within that loan type and measure, so every bar reads to 100%. Slide 1 shows the same two cuts by customer count.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CUSTOMER BASE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Two-thirds of the book is dual AIS–KTB</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1,092.3M of credit line against 660.5M outstanding — 60.5% utilised, and strikingly even across every segment (55.9–64.2%).</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005840"/>
                <a:gridCol w="1874520"/>
                <a:gridCol w="1737360"/>
                <a:gridCol w="1737360"/>
                <a:gridCol w="914400"/>
                <a:gridCol w="1234440"/>
                <a:gridCol w="914400"/>
                <a:gridCol w="164592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cust_base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Consortium membership</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Util.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of book</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CL / customer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Null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11,491,500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6,749,659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14,473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41,840,300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24,908,470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11,128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63,096,500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35,296,729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4,569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13,810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304,195,500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184,286,596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10,066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392,348,700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231,780,882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31,550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12,436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78,572,200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49,176,842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5,884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13,354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177,595,900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114,041,841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15,707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11,307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O1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OR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23,121,400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14,302,687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1,886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1,092,262,000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660,543,706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94,371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11,574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Consortium membership is inferred from the segment codes, not stated in the source: the groupings reproduce the deck's AIS 70,100, KTB 83,362, OR 53,712 and 'not in any' 794 exactly. Customers total 94,371, matching the stated total booked.</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Cash need concentrates, risk does not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cash need holds 63.3% of the credit line; risk splits 37.0% low / 25.5% mid / 35.0% high.</a:t>
            </a:r>
            <a:endParaRPr lang="en-US" sz="1200" dirty="0"/>
          </a:p>
        </p:txBody>
      </p:sp>
      <p:sp>
        <p:nvSpPr>
          <p:cNvPr id="5" name="Text 3"/>
          <p:cNvSpPr/>
          <p:nvPr/>
        </p:nvSpPr>
        <p:spPr>
          <a:xfrm>
            <a:off x="548640" y="140817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cash need</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97,056,100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66,121,891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68.1%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49,726,600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25,232,200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50.7%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146,782,700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13.4%</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35,991,700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22,309,300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30,297,500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13,104,888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66,289,200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118,466,000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71,152,261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69,045,300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28,919,887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187,511,300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17.2%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529,187,600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349,214,853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162,491,200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84,488,426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691,678,800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7" name="Text 4"/>
          <p:cNvSpPr/>
          <p:nvPr/>
        </p:nvSpPr>
        <p:spPr>
          <a:xfrm>
            <a:off x="548640" y="387705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risk level</a:t>
            </a:r>
            <a:endParaRPr lang="en-US" sz="14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48640" y="411480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12,590,700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8,761,738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15,377,700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8,220,903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53.5%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27,968,400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279,717,500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168,239,503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124,397,500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52,044,867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404,115,000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37.0%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205,278,200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132,804,742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64.7%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72,910,600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35,428,732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48.6%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278,188,800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283,115,000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198,992,322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98,874,800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56,050,899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381,989,800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9" name="Text 5"/>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table rolls the same 4×4 cash-need × risk-level grid up along one axis, so both total to 1,092,262,000 of credit line and 660,543,706 outstanding — matching the customer-base table. The source has no customer counts at this cut, so utilisation and share of line are the only derived columns. Low risk holds 37.0% of the line against 29.0% of customers in the deck's risk counts — low-risk customers carry larger lines.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CHARGE TYPE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Prepaid leads on customers, postpaid on value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is 49.4% of customers but only 35.2% of credit line; postpaid is 44.1% of customers and 57.6% of the line.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Charge type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249,200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136,407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687,400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392,234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482,151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469,700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227,690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4,460,774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6,038,900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1,677,047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8,635,800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6,555,154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699,795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5,630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34,110,300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26,130,318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3,807,000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2,767,110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73,797,800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52,025,828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4,334,200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3,107,189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16,248,189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2,055,900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1,210,055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91,515,700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65,578,262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15,516,300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11,084,011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181,461,200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119,074,354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11,809,300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6,807,854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1,512,700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1,110,920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322,039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6,286,900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4,611,637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1,136,061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12,312,500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8,459,232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1,076,500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717,866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5,310,200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3,053,924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1,133,200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797,760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21,080,200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12,562,414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4,028,159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44,479,500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22,963,082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6,926,700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2,658,434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1,591,226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4,671,595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23,777,800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10,506,394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75,587,100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37,371,732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3,850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34,881,400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12,215,652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76,526,900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28,830,128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NANO-LOAN FLAG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Nano flag: 61.1% of customers, 62.9% of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Credit line tracks headcount almost exactly, so the flag does not by itself mark a larger-line population.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Nano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3,564,300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1,713,800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4,046,900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1,340,867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6,062,900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3,365,532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3,149,100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956,104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4,271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35,596,100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26,497,770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3,305,800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2,265,517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7,911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80,947,800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58,213,530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5,967,900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4,308,577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98,295,300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68,449,891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12,293,200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8,248,303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197,381,500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132,450,914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17,088,300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10,853,617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6,482,200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4,672,585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1,213,600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883,915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13,629,900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9,509,204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2,074,900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1,292,051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2,825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24,085,100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13,699,164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6,548,100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3,332,891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46,784,800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24,880,256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8,411,700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4,151,462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24,097,100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10,328,134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78,133,200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34,771,529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5,389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38,255,600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13,985,138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84,065,700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36,101,926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TRUE ECOSYSTEM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TRUE customers hold 71.5%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68.2% of customers, so TRUE membership skews toward the larger lines.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TRUE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703,026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1,040,500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550,376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8,217,600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4,376,306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6,155,500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1,746,595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29,172,100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21,910,280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2,124,876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8,564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87,371,800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62,801,020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6,248,000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4,449,218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10,249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80,685,800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57,662,508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9,374,100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6,867,826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214,991,000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143,238,297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20,007,400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12,234,094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5,351,100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3,829,251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861,946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14,761,000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10,352,538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1,878,600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1,314,020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19,149,900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11,052,852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5,046,300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2,989,981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4,839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51,720,000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27,526,568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9,913,500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4,494,372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7,689,769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1,490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54,715,800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26,227,070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44,594,100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16,623,503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2,765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107,483,100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44,646,385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TENURE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5+ year tenure holds 71.0%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66.2% of customers, while the 0–1 year cohort is 11.0% of customers and just 9.0% of the line.</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Tenure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294,300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147,694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379,567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1,105,000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586,260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816,500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204,584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8,227,900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4,345,378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5,859,600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1,712,820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10,989,100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8,394,662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500,961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23,170,800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17,218,164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2,266,800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1,696,319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8,032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82,384,000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59,098,474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6,311,800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4,376,814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3,685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27,746,100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19,972,246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2,735,355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7,476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59,133,400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41,900,780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6,081,200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4,260,627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21,021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208,797,300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139,027,779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19,315,400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12,105,938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1,703,800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1,282,482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331,913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2,884,710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557,609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14,304,800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10,014,597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2,167,900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1,286,444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6,143,900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3,662,615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1,044,300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504,223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14,243,700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8,361,181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1,501,078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50,482,300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26,555,624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11,395,600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5,479,052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4,903,000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2,229,307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13,653,400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7,082,546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11,682,500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4,802,102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988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34,795,400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15,779,602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45,767,200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17,281,863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113,750,100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48,011,307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Loan - summary as of 5 Aug</dc:title>
  <dc:subject>PptxGenJS Presentation</dc:subject>
  <dc:creator>Lending</dc:creator>
  <cp:lastModifiedBy>Lending</cp:lastModifiedBy>
  <cp:revision>1</cp:revision>
  <dcterms:created xsi:type="dcterms:W3CDTF">2026-08-07T14:06:51Z</dcterms:created>
  <dcterms:modified xsi:type="dcterms:W3CDTF">2026-08-07T14:06:51Z</dcterms:modified>
</cp:coreProperties>
</file>
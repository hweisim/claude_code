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and risk mix (% of customers)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Sheet1!$B$2:$B$5</c:f>
              <c:numCache>
                <c:formatCode>General</c:formatCode>
                <c:ptCount val="4"/>
                <c:pt idx="0">
                  <c:v>13</c:v>
                </c:pt>
                <c:pt idx="1">
                  <c:v>18</c:v>
                </c:pt>
                <c:pt idx="2">
                  <c:v>2</c:v>
                </c:pt>
                <c:pt idx="3">
                  <c:v>6</c:v>
                </c:pt>
              </c:numCache>
            </c:numRef>
          </c:val>
        </c:ser>
        <c:ser>
          <c:idx val="1"/>
          <c:order val="1"/>
          <c:tx>
            <c:strRef>
              <c:f>Sheet1!$C$1</c:f>
              <c:strCache>
                <c:ptCount val="1"/>
                <c:pt idx="0">
                  <c:v>Low</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Sheet1!$C$2:$C$5</c:f>
              <c:numCache>
                <c:formatCode>General</c:formatCode>
                <c:ptCount val="4"/>
                <c:pt idx="0">
                  <c:v>5</c:v>
                </c:pt>
                <c:pt idx="1">
                  <c:v>9</c:v>
                </c:pt>
                <c:pt idx="2">
                  <c:v>29</c:v>
                </c:pt>
                <c:pt idx="3">
                  <c:v>31</c:v>
                </c:pt>
              </c:numCache>
            </c:numRef>
          </c:val>
        </c:ser>
        <c:ser>
          <c:idx val="2"/>
          <c:order val="2"/>
          <c:tx>
            <c:strRef>
              <c:f>Sheet1!$D$1</c:f>
              <c:strCache>
                <c:ptCount val="1"/>
                <c:pt idx="0">
                  <c:v>Mid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Sheet1!$D$2:$D$5</c:f>
              <c:numCache>
                <c:formatCode>General</c:formatCode>
                <c:ptCount val="4"/>
                <c:pt idx="0">
                  <c:v>16</c:v>
                </c:pt>
                <c:pt idx="1">
                  <c:v>21</c:v>
                </c:pt>
                <c:pt idx="2">
                  <c:v>25</c:v>
                </c:pt>
                <c:pt idx="3">
                  <c:v>23</c:v>
                </c:pt>
              </c:numCache>
            </c:numRef>
          </c:val>
        </c:ser>
        <c:ser>
          <c:idx val="3"/>
          <c:order val="3"/>
          <c:tx>
            <c:strRef>
              <c:f>Sheet1!$E$1</c:f>
              <c:strCache>
                <c:ptCount val="1"/>
                <c:pt idx="0">
                  <c:v>High</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Sheet1!$E$2:$E$5</c:f>
              <c:numCache>
                <c:formatCode>General</c:formatCode>
                <c:ptCount val="4"/>
                <c:pt idx="0">
                  <c:v>66</c:v>
                </c:pt>
                <c:pt idx="1">
                  <c:v>52</c:v>
                </c:pt>
                <c:pt idx="2">
                  <c:v>44</c:v>
                </c:pt>
                <c:pt idx="3">
                  <c:v>40</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of customers)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6.5</c:v>
                </c:pt>
                <c:pt idx="1">
                  <c:v>6.2</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48.8</c:v>
                </c:pt>
                <c:pt idx="1">
                  <c:v>56</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44.7</c:v>
                </c:pt>
                <c:pt idx="1">
                  <c:v>37.8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of customers)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11</c:v>
                </c:pt>
                <c:pt idx="1">
                  <c:v>10.8</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22.7</c:v>
                </c:pt>
                <c:pt idx="1">
                  <c:v>23.6</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66.3</c:v>
                </c:pt>
                <c:pt idx="1">
                  <c:v>65.6</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38.2</c:v>
                </c:pt>
                <c:pt idx="1">
                  <c:v>46.2</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61.8</c:v>
                </c:pt>
                <c:pt idx="1">
                  <c:v>53.8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31.5</c:v>
                </c:pt>
                <c:pt idx="1">
                  <c:v>34.7</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68.5</c:v>
                </c:pt>
                <c:pt idx="1">
                  <c:v>65.3</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share of value (%)</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7.3</c:v>
                </c:pt>
                <c:pt idx="1">
                  <c:v>7.8</c:v>
                </c:pt>
                <c:pt idx="2">
                  <c:v>6.9</c:v>
                </c:pt>
                <c:pt idx="3">
                  <c:v>7.5</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30.9</c:v>
                </c:pt>
                <c:pt idx="1">
                  <c:v>32.6</c:v>
                </c:pt>
                <c:pt idx="2">
                  <c:v>46</c:v>
                </c:pt>
                <c:pt idx="3">
                  <c:v>52.2</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Sheet1!$D$2:$D$5</c:f>
              <c:numCache>
                <c:formatCode>General</c:formatCode>
                <c:ptCount val="4"/>
                <c:pt idx="0">
                  <c:v>61.8</c:v>
                </c:pt>
                <c:pt idx="1">
                  <c:v>59.6</c:v>
                </c:pt>
                <c:pt idx="2">
                  <c:v>47.2</c:v>
                </c:pt>
                <c:pt idx="3">
                  <c:v>40.4</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share of value (%)</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9</c:v>
                </c:pt>
                <c:pt idx="1">
                  <c:v>9.7</c:v>
                </c:pt>
                <c:pt idx="2">
                  <c:v>9</c:v>
                </c:pt>
                <c:pt idx="3">
                  <c:v>10.6</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19.7</c:v>
                </c:pt>
                <c:pt idx="1">
                  <c:v>20.6</c:v>
                </c:pt>
                <c:pt idx="2">
                  <c:v>20.9</c:v>
                </c:pt>
                <c:pt idx="3">
                  <c:v>22.1</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Sheet1!$D$2:$D$5</c:f>
              <c:numCache>
                <c:formatCode>General</c:formatCode>
                <c:ptCount val="4"/>
                <c:pt idx="0">
                  <c:v>71.3</c:v>
                </c:pt>
                <c:pt idx="1">
                  <c:v>69.7</c:v>
                </c:pt>
                <c:pt idx="2">
                  <c:v>70.2</c:v>
                </c:pt>
                <c:pt idx="3">
                  <c:v>67.3</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share of value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33.4</c:v>
                </c:pt>
                <c:pt idx="1">
                  <c:v>34.1</c:v>
                </c:pt>
                <c:pt idx="2">
                  <c:v>46.6</c:v>
                </c:pt>
                <c:pt idx="3">
                  <c:v>46.9</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66.6</c:v>
                </c:pt>
                <c:pt idx="1">
                  <c:v>65.9</c:v>
                </c:pt>
                <c:pt idx="2">
                  <c:v>53.4</c:v>
                </c:pt>
                <c:pt idx="3">
                  <c:v>53.1</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share of value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Sheet1!$B$2:$B$5</c:f>
              <c:numCache>
                <c:formatCode>General</c:formatCode>
                <c:ptCount val="4"/>
                <c:pt idx="0">
                  <c:v>26.7</c:v>
                </c:pt>
                <c:pt idx="1">
                  <c:v>28</c:v>
                </c:pt>
                <c:pt idx="2">
                  <c:v>33</c:v>
                </c:pt>
                <c:pt idx="3">
                  <c:v>36.5</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DL · CL</c:v>
                  </c:pt>
                  <c:pt idx="1">
                    <c:v>DL · OS</c:v>
                  </c:pt>
                  <c:pt idx="2">
                    <c:v>PL · CL</c:v>
                  </c:pt>
                  <c:pt idx="3">
                    <c:v>PL · OS</c:v>
                  </c:pt>
                </c:lvl>
              </c:multiLvlStrCache>
            </c:multiLvlStrRef>
          </c:cat>
          <c:val>
            <c:numRef>
              <c:f>Sheet1!$C$2:$C$5</c:f>
              <c:numCache>
                <c:formatCode>General</c:formatCode>
                <c:ptCount val="4"/>
                <c:pt idx="0">
                  <c:v>73.3</c:v>
                </c:pt>
                <c:pt idx="1">
                  <c:v>72</c:v>
                </c:pt>
                <c:pt idx="2">
                  <c:v>67</c:v>
                </c:pt>
                <c:pt idx="3">
                  <c:v>63.5</c:v>
                </c:pt>
              </c:numCache>
            </c:numRef>
          </c:val>
        </c:ser>
        <c:dLbls>
          <c:numFmt formatCode="0.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Bookings by book date (customers)</a:t>
            </a:r>
          </a:p>
        </c:rich>
      </c:tx>
      <c:layout/>
      <c:overlay val="0"/>
    </c:title>
    <c:autoTitleDeleted val="0"/>
    <c:plotArea>
      <c:layout/>
      <c:barChart>
        <c:barDir val="col"/>
        <c:grouping val="clustered"/>
        <c:varyColors val="0"/>
        <c:ser>
          <c:idx val="0"/>
          <c:order val="0"/>
          <c:tx>
            <c:strRef>
              <c:f>Sheet1!$B$1</c:f>
              <c:strCache>
                <c:ptCount val="1"/>
                <c:pt idx="0">
                  <c:v>DL</c:v>
                </c:pt>
              </c:strCache>
            </c:strRef>
          </c:tx>
          <c:spPr>
            <a:solidFill>
              <a:srgbClr val="165A73"/>
            </a:solidFill>
            <a:effectLst/>
          </c:spPr>
          <c:invertIfNegative val="0"/>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641</c:v>
                </c:pt>
                <c:pt idx="1">
                  <c:v>12182</c:v>
                </c:pt>
                <c:pt idx="2">
                  <c:v>32182</c:v>
                </c:pt>
                <c:pt idx="3">
                  <c:v>2060</c:v>
                </c:pt>
                <c:pt idx="4">
                  <c:v>7173</c:v>
                </c:pt>
                <c:pt idx="5">
                  <c:v>9522</c:v>
                </c:pt>
              </c:numCache>
            </c:numRef>
          </c:val>
        </c:ser>
        <c:ser>
          <c:idx val="1"/>
          <c:order val="1"/>
          <c:tx>
            <c:strRef>
              <c:f>Sheet1!$C$1</c:f>
              <c:strCache>
                <c:ptCount val="1"/>
                <c:pt idx="0">
                  <c:v>PL</c:v>
                </c:pt>
              </c:strCache>
            </c:strRef>
          </c:tx>
          <c:spPr>
            <a:solidFill>
              <a:srgbClr val="3FB89F"/>
            </a:solidFill>
            <a:effectLst/>
          </c:spPr>
          <c:invertIfNegative val="0"/>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67</c:v>
                </c:pt>
                <c:pt idx="1">
                  <c:v>398</c:v>
                </c:pt>
                <c:pt idx="2">
                  <c:v>1159</c:v>
                </c:pt>
                <c:pt idx="3">
                  <c:v>90</c:v>
                </c:pt>
                <c:pt idx="4">
                  <c:v>371</c:v>
                </c:pt>
                <c:pt idx="5">
                  <c:v>4255</c:v>
                </c:pt>
              </c:numCache>
            </c:numRef>
          </c:val>
        </c:ser>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max val="36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by book date (% of customers)</a:t>
            </a:r>
          </a:p>
        </c:rich>
      </c:tx>
      <c:layout/>
      <c:overlay val="0"/>
    </c:title>
    <c:autoTitleDeleted val="0"/>
    <c:plotArea>
      <c:layout/>
      <c:barChart>
        <c:barDir val="col"/>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37.1</c:v>
                </c:pt>
                <c:pt idx="1">
                  <c:v>35.2</c:v>
                </c:pt>
                <c:pt idx="2">
                  <c:v>38</c:v>
                </c:pt>
                <c:pt idx="3">
                  <c:v>36.8</c:v>
                </c:pt>
                <c:pt idx="4">
                  <c:v>39.6</c:v>
                </c:pt>
                <c:pt idx="5">
                  <c:v>44.7</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62.9</c:v>
                </c:pt>
                <c:pt idx="1">
                  <c:v>64.8</c:v>
                </c:pt>
                <c:pt idx="2">
                  <c:v>62</c:v>
                </c:pt>
                <c:pt idx="3">
                  <c:v>63.2</c:v>
                </c:pt>
                <c:pt idx="4">
                  <c:v>60.4</c:v>
                </c:pt>
                <c:pt idx="5">
                  <c:v>55.3</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by book date (% of customers)</a:t>
            </a:r>
          </a:p>
        </c:rich>
      </c:tx>
      <c:layout/>
      <c:overlay val="0"/>
    </c:title>
    <c:autoTitleDeleted val="0"/>
    <c:plotArea>
      <c:layout/>
      <c:barChart>
        <c:barDir val="col"/>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18.1</c:v>
                </c:pt>
                <c:pt idx="1">
                  <c:v>29.7</c:v>
                </c:pt>
                <c:pt idx="2">
                  <c:v>31.9</c:v>
                </c:pt>
                <c:pt idx="3">
                  <c:v>31.3</c:v>
                </c:pt>
                <c:pt idx="4">
                  <c:v>32.7</c:v>
                </c:pt>
                <c:pt idx="5">
                  <c:v>33.4</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81.9</c:v>
                </c:pt>
                <c:pt idx="1">
                  <c:v>70.3</c:v>
                </c:pt>
                <c:pt idx="2">
                  <c:v>68.1</c:v>
                </c:pt>
                <c:pt idx="3">
                  <c:v>68.7</c:v>
                </c:pt>
                <c:pt idx="4">
                  <c:v>67.3</c:v>
                </c:pt>
                <c:pt idx="5">
                  <c:v>66.6</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by book date (% of customers)</a:t>
            </a:r>
          </a:p>
        </c:rich>
      </c:tx>
      <c:layout/>
      <c:overlay val="0"/>
    </c:title>
    <c:autoTitleDeleted val="0"/>
    <c:plotArea>
      <c:layout/>
      <c:barChart>
        <c:barDir val="col"/>
        <c:grouping val="percentStacked"/>
        <c:varyColors val="0"/>
        <c:ser>
          <c:idx val="0"/>
          <c:order val="0"/>
          <c:tx>
            <c:strRef>
              <c:f>Sheet1!$B$1</c:f>
              <c:strCache>
                <c:ptCount val="1"/>
                <c:pt idx="0">
                  <c:v>FBB</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3.8</c:v>
                </c:pt>
                <c:pt idx="1">
                  <c:v>6.9</c:v>
                </c:pt>
                <c:pt idx="2">
                  <c:v>6.9</c:v>
                </c:pt>
                <c:pt idx="3">
                  <c:v>7.6</c:v>
                </c:pt>
                <c:pt idx="4">
                  <c:v>6.9</c:v>
                </c:pt>
                <c:pt idx="5">
                  <c:v>4.9</c:v>
                </c:pt>
              </c:numCache>
            </c:numRef>
          </c:val>
        </c:ser>
        <c:ser>
          <c:idx val="1"/>
          <c:order val="1"/>
          <c:tx>
            <c:strRef>
              <c:f>Sheet1!$C$1</c:f>
              <c:strCache>
                <c:ptCount val="1"/>
                <c:pt idx="0">
                  <c:v>Prepaid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17.5</c:v>
                </c:pt>
                <c:pt idx="1">
                  <c:v>46.4</c:v>
                </c:pt>
                <c:pt idx="2">
                  <c:v>49.4</c:v>
                </c:pt>
                <c:pt idx="3">
                  <c:v>47.9</c:v>
                </c:pt>
                <c:pt idx="4">
                  <c:v>47.9</c:v>
                </c:pt>
                <c:pt idx="5">
                  <c:v>55</c:v>
                </c:pt>
              </c:numCache>
            </c:numRef>
          </c:val>
        </c:ser>
        <c:ser>
          <c:idx val="2"/>
          <c:order val="2"/>
          <c:tx>
            <c:strRef>
              <c:f>Sheet1!$D$1</c:f>
              <c:strCache>
                <c:ptCount val="1"/>
                <c:pt idx="0">
                  <c:v>Postpaid</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Sheet1!$D$2:$D$7</c:f>
              <c:numCache>
                <c:formatCode>General</c:formatCode>
                <c:ptCount val="6"/>
                <c:pt idx="0">
                  <c:v>78.7</c:v>
                </c:pt>
                <c:pt idx="1">
                  <c:v>46.7</c:v>
                </c:pt>
                <c:pt idx="2">
                  <c:v>43.8</c:v>
                </c:pt>
                <c:pt idx="3">
                  <c:v>44.5</c:v>
                </c:pt>
                <c:pt idx="4">
                  <c:v>45.1</c:v>
                </c:pt>
                <c:pt idx="5">
                  <c:v>40.1</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by book date (% of customers)</a:t>
            </a:r>
          </a:p>
        </c:rich>
      </c:tx>
      <c:layout/>
      <c:overlay val="0"/>
    </c:title>
    <c:autoTitleDeleted val="0"/>
    <c:plotArea>
      <c:layout/>
      <c:barChart>
        <c:barDir val="col"/>
        <c:grouping val="percentStacked"/>
        <c:varyColors val="0"/>
        <c:ser>
          <c:idx val="0"/>
          <c:order val="0"/>
          <c:tx>
            <c:strRef>
              <c:f>Sheet1!$B$1</c:f>
              <c:strCache>
                <c:ptCount val="1"/>
                <c:pt idx="0">
                  <c:v>0–1</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4.4</c:v>
                </c:pt>
                <c:pt idx="1">
                  <c:v>11.6</c:v>
                </c:pt>
                <c:pt idx="2">
                  <c:v>11.6</c:v>
                </c:pt>
                <c:pt idx="3">
                  <c:v>10.9</c:v>
                </c:pt>
                <c:pt idx="4">
                  <c:v>10.5</c:v>
                </c:pt>
                <c:pt idx="5">
                  <c:v>9.7</c:v>
                </c:pt>
              </c:numCache>
            </c:numRef>
          </c:val>
        </c:ser>
        <c:ser>
          <c:idx val="1"/>
          <c:order val="1"/>
          <c:tx>
            <c:strRef>
              <c:f>Sheet1!$C$1</c:f>
              <c:strCache>
                <c:ptCount val="1"/>
                <c:pt idx="0">
                  <c:v>2–4</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14.7</c:v>
                </c:pt>
                <c:pt idx="1">
                  <c:v>22.7</c:v>
                </c:pt>
                <c:pt idx="2">
                  <c:v>23.3</c:v>
                </c:pt>
                <c:pt idx="3">
                  <c:v>23.1</c:v>
                </c:pt>
                <c:pt idx="4">
                  <c:v>22.7</c:v>
                </c:pt>
                <c:pt idx="5">
                  <c:v>21.9</c:v>
                </c:pt>
              </c:numCache>
            </c:numRef>
          </c:val>
        </c:ser>
        <c:ser>
          <c:idx val="2"/>
          <c:order val="2"/>
          <c:tx>
            <c:strRef>
              <c:f>Sheet1!$D$1</c:f>
              <c:strCache>
                <c:ptCount val="1"/>
                <c:pt idx="0">
                  <c:v>5 or more</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Sheet1!$D$2:$D$7</c:f>
              <c:numCache>
                <c:formatCode>General</c:formatCode>
                <c:ptCount val="6"/>
                <c:pt idx="0">
                  <c:v>80.9</c:v>
                </c:pt>
                <c:pt idx="1">
                  <c:v>65.7</c:v>
                </c:pt>
                <c:pt idx="2">
                  <c:v>65.1</c:v>
                </c:pt>
                <c:pt idx="3">
                  <c:v>66</c:v>
                </c:pt>
                <c:pt idx="4">
                  <c:v>66.8</c:v>
                </c:pt>
                <c:pt idx="5">
                  <c:v>68.4</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Charge type (CL / OS)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Sheet1!$B$2:$B$13</c:f>
              <c:numCache>
                <c:formatCode>General</c:formatCode>
                <c:ptCount val="12"/>
                <c:pt idx="0">
                  <c:v>6.6</c:v>
                </c:pt>
                <c:pt idx="1">
                  <c:v>6.1</c:v>
                </c:pt>
                <c:pt idx="2">
                  <c:v>8.4</c:v>
                </c:pt>
                <c:pt idx="3">
                  <c:v>7.5</c:v>
                </c:pt>
                <c:pt idx="4">
                  <c:v>8.8</c:v>
                </c:pt>
                <c:pt idx="5">
                  <c:v>8.5</c:v>
                </c:pt>
                <c:pt idx="6">
                  <c:v>7.9</c:v>
                </c:pt>
                <c:pt idx="7">
                  <c:v>7.6</c:v>
                </c:pt>
                <c:pt idx="8">
                  <c:v>7.9</c:v>
                </c:pt>
                <c:pt idx="9">
                  <c:v>7.8</c:v>
                </c:pt>
                <c:pt idx="10">
                  <c:v>7.2</c:v>
                </c:pt>
                <c:pt idx="11">
                  <c:v>5.6</c:v>
                </c:pt>
              </c:numCache>
            </c:numRef>
          </c:val>
        </c:ser>
        <c:ser>
          <c:idx val="1"/>
          <c:order val="1"/>
          <c:tx>
            <c:strRef>
              <c:f>Sheet1!$C$1</c:f>
              <c:strCache>
                <c:ptCount val="1"/>
                <c:pt idx="0">
                  <c:v>Prepaid</c:v>
                </c:pt>
              </c:strCache>
            </c:strRef>
          </c:tx>
          <c:spPr>
            <a:solidFill>
              <a:srgbClr val="1E8E86"/>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Sheet1!$C$2:$C$13</c:f>
              <c:numCache>
                <c:formatCode>General</c:formatCode>
                <c:ptCount val="12"/>
                <c:pt idx="0">
                  <c:v>50.3</c:v>
                </c:pt>
                <c:pt idx="1">
                  <c:v>44.3</c:v>
                </c:pt>
                <c:pt idx="2">
                  <c:v>36</c:v>
                </c:pt>
                <c:pt idx="3">
                  <c:v>32.6</c:v>
                </c:pt>
                <c:pt idx="4">
                  <c:v>35.1</c:v>
                </c:pt>
                <c:pt idx="5">
                  <c:v>34.3</c:v>
                </c:pt>
                <c:pt idx="6">
                  <c:v>34.8</c:v>
                </c:pt>
                <c:pt idx="7">
                  <c:v>32.9</c:v>
                </c:pt>
                <c:pt idx="8">
                  <c:v>31.7</c:v>
                </c:pt>
                <c:pt idx="9">
                  <c:v>30.1</c:v>
                </c:pt>
                <c:pt idx="10">
                  <c:v>9.6</c:v>
                </c:pt>
                <c:pt idx="11">
                  <c:v>8.8</c:v>
                </c:pt>
              </c:numCache>
            </c:numRef>
          </c:val>
        </c:ser>
        <c:ser>
          <c:idx val="2"/>
          <c:order val="2"/>
          <c:tx>
            <c:strRef>
              <c:f>Sheet1!$D$1</c:f>
              <c:strCache>
                <c:ptCount val="1"/>
                <c:pt idx="0">
                  <c:v>Postpaid</c:v>
                </c:pt>
              </c:strCache>
            </c:strRef>
          </c:tx>
          <c:spPr>
            <a:solidFill>
              <a:srgbClr val="165A73"/>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Sheet1!$D$2:$D$13</c:f>
              <c:numCache>
                <c:formatCode>General</c:formatCode>
                <c:ptCount val="12"/>
                <c:pt idx="0">
                  <c:v>43.1</c:v>
                </c:pt>
                <c:pt idx="1">
                  <c:v>49.6</c:v>
                </c:pt>
                <c:pt idx="2">
                  <c:v>55.6</c:v>
                </c:pt>
                <c:pt idx="3">
                  <c:v>59.9</c:v>
                </c:pt>
                <c:pt idx="4">
                  <c:v>56.1</c:v>
                </c:pt>
                <c:pt idx="5">
                  <c:v>57.2</c:v>
                </c:pt>
                <c:pt idx="6">
                  <c:v>57.2</c:v>
                </c:pt>
                <c:pt idx="7">
                  <c:v>59.5</c:v>
                </c:pt>
                <c:pt idx="8">
                  <c:v>60.4</c:v>
                </c:pt>
                <c:pt idx="9">
                  <c:v>62.1</c:v>
                </c:pt>
                <c:pt idx="10">
                  <c:v>83.2</c:v>
                </c:pt>
                <c:pt idx="11">
                  <c:v>85.6</c:v>
                </c:pt>
              </c:numCache>
            </c:numRef>
          </c:val>
        </c:ser>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Tenure in years (CL / OS)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Sheet1!$B$2:$B$13</c:f>
              <c:numCache>
                <c:formatCode>General</c:formatCode>
                <c:ptCount val="12"/>
                <c:pt idx="0">
                  <c:v>9.8</c:v>
                </c:pt>
                <c:pt idx="1">
                  <c:v>8.3</c:v>
                </c:pt>
                <c:pt idx="2">
                  <c:v>9</c:v>
                </c:pt>
                <c:pt idx="3">
                  <c:v>8.4</c:v>
                </c:pt>
                <c:pt idx="4">
                  <c:v>9.9</c:v>
                </c:pt>
                <c:pt idx="5">
                  <c:v>9</c:v>
                </c:pt>
                <c:pt idx="6">
                  <c:v>10.3</c:v>
                </c:pt>
                <c:pt idx="7">
                  <c:v>9.8</c:v>
                </c:pt>
                <c:pt idx="8">
                  <c:v>9.7</c:v>
                </c:pt>
                <c:pt idx="9">
                  <c:v>9.3</c:v>
                </c:pt>
                <c:pt idx="10">
                  <c:v>7.1</c:v>
                </c:pt>
                <c:pt idx="11">
                  <c:v>4.8</c:v>
                </c:pt>
              </c:numCache>
            </c:numRef>
          </c:val>
        </c:ser>
        <c:ser>
          <c:idx val="1"/>
          <c:order val="1"/>
          <c:tx>
            <c:strRef>
              <c:f>Sheet1!$C$1</c:f>
              <c:strCache>
                <c:ptCount val="1"/>
                <c:pt idx="0">
                  <c:v>2–4</c:v>
                </c:pt>
              </c:strCache>
            </c:strRef>
          </c:tx>
          <c:spPr>
            <a:solidFill>
              <a:srgbClr val="1E8E86"/>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Sheet1!$C$2:$C$13</c:f>
              <c:numCache>
                <c:formatCode>General</c:formatCode>
                <c:ptCount val="12"/>
                <c:pt idx="0">
                  <c:v>21.6</c:v>
                </c:pt>
                <c:pt idx="1">
                  <c:v>20.7</c:v>
                </c:pt>
                <c:pt idx="2">
                  <c:v>21.4</c:v>
                </c:pt>
                <c:pt idx="3">
                  <c:v>19.5</c:v>
                </c:pt>
                <c:pt idx="4">
                  <c:v>21</c:v>
                </c:pt>
                <c:pt idx="5">
                  <c:v>20.6</c:v>
                </c:pt>
                <c:pt idx="6">
                  <c:v>21</c:v>
                </c:pt>
                <c:pt idx="7">
                  <c:v>20.1</c:v>
                </c:pt>
                <c:pt idx="8">
                  <c:v>20.7</c:v>
                </c:pt>
                <c:pt idx="9">
                  <c:v>20.2</c:v>
                </c:pt>
                <c:pt idx="10">
                  <c:v>10.7</c:v>
                </c:pt>
                <c:pt idx="11">
                  <c:v>11.4</c:v>
                </c:pt>
              </c:numCache>
            </c:numRef>
          </c:val>
        </c:ser>
        <c:ser>
          <c:idx val="2"/>
          <c:order val="2"/>
          <c:tx>
            <c:strRef>
              <c:f>Sheet1!$D$1</c:f>
              <c:strCache>
                <c:ptCount val="1"/>
                <c:pt idx="0">
                  <c:v>5+</c:v>
                </c:pt>
              </c:strCache>
            </c:strRef>
          </c:tx>
          <c:spPr>
            <a:solidFill>
              <a:srgbClr val="165A73"/>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Sheet1!$D$2:$D$13</c:f>
              <c:numCache>
                <c:formatCode>General</c:formatCode>
                <c:ptCount val="12"/>
                <c:pt idx="0">
                  <c:v>68.6</c:v>
                </c:pt>
                <c:pt idx="1">
                  <c:v>71</c:v>
                </c:pt>
                <c:pt idx="2">
                  <c:v>69.5</c:v>
                </c:pt>
                <c:pt idx="3">
                  <c:v>72.1</c:v>
                </c:pt>
                <c:pt idx="4">
                  <c:v>69.1</c:v>
                </c:pt>
                <c:pt idx="5">
                  <c:v>70.4</c:v>
                </c:pt>
                <c:pt idx="6">
                  <c:v>68.7</c:v>
                </c:pt>
                <c:pt idx="7">
                  <c:v>70.2</c:v>
                </c:pt>
                <c:pt idx="8">
                  <c:v>69.5</c:v>
                </c:pt>
                <c:pt idx="9">
                  <c:v>70.5</c:v>
                </c:pt>
                <c:pt idx="10">
                  <c:v>82.1</c:v>
                </c:pt>
                <c:pt idx="11">
                  <c:v>83.7</c:v>
                </c:pt>
              </c:numCache>
            </c:numRef>
          </c:val>
        </c:ser>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Nano-loan flag (CL / OS)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Sheet1!$B$2:$B$13</c:f>
              <c:numCache>
                <c:formatCode>General</c:formatCode>
                <c:ptCount val="12"/>
                <c:pt idx="0">
                  <c:v>47.4</c:v>
                </c:pt>
                <c:pt idx="1">
                  <c:v>45.5</c:v>
                </c:pt>
                <c:pt idx="2">
                  <c:v>37</c:v>
                </c:pt>
                <c:pt idx="3">
                  <c:v>35.7</c:v>
                </c:pt>
                <c:pt idx="4">
                  <c:v>34</c:v>
                </c:pt>
                <c:pt idx="5">
                  <c:v>32.9</c:v>
                </c:pt>
                <c:pt idx="6">
                  <c:v>34.9</c:v>
                </c:pt>
                <c:pt idx="7">
                  <c:v>34</c:v>
                </c:pt>
                <c:pt idx="8">
                  <c:v>31.5</c:v>
                </c:pt>
                <c:pt idx="9">
                  <c:v>30.9</c:v>
                </c:pt>
                <c:pt idx="10">
                  <c:v>41.4</c:v>
                </c:pt>
                <c:pt idx="11">
                  <c:v>45.2</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Sheet1!$C$2:$C$13</c:f>
              <c:numCache>
                <c:formatCode>General</c:formatCode>
                <c:ptCount val="12"/>
                <c:pt idx="0">
                  <c:v>52.6</c:v>
                </c:pt>
                <c:pt idx="1">
                  <c:v>54.5</c:v>
                </c:pt>
                <c:pt idx="2">
                  <c:v>63</c:v>
                </c:pt>
                <c:pt idx="3">
                  <c:v>64.3</c:v>
                </c:pt>
                <c:pt idx="4">
                  <c:v>66</c:v>
                </c:pt>
                <c:pt idx="5">
                  <c:v>67.1</c:v>
                </c:pt>
                <c:pt idx="6">
                  <c:v>65.1</c:v>
                </c:pt>
                <c:pt idx="7">
                  <c:v>66</c:v>
                </c:pt>
                <c:pt idx="8">
                  <c:v>68.5</c:v>
                </c:pt>
                <c:pt idx="9">
                  <c:v>69.1</c:v>
                </c:pt>
                <c:pt idx="10">
                  <c:v>58.6</c:v>
                </c:pt>
                <c:pt idx="11">
                  <c:v>54.8</c:v>
                </c:pt>
              </c:numCache>
            </c:numRef>
          </c:val>
        </c:ser>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TRUE ecosystem (CL / OS)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Sheet1!$B$2:$B$13</c:f>
              <c:numCache>
                <c:formatCode>General</c:formatCode>
                <c:ptCount val="12"/>
                <c:pt idx="0">
                  <c:v>35.6</c:v>
                </c:pt>
                <c:pt idx="1">
                  <c:v>32.3</c:v>
                </c:pt>
                <c:pt idx="2">
                  <c:v>30.5</c:v>
                </c:pt>
                <c:pt idx="3">
                  <c:v>28.2</c:v>
                </c:pt>
                <c:pt idx="4">
                  <c:v>28.7</c:v>
                </c:pt>
                <c:pt idx="5">
                  <c:v>28.9</c:v>
                </c:pt>
                <c:pt idx="6">
                  <c:v>29.3</c:v>
                </c:pt>
                <c:pt idx="7">
                  <c:v>27.7</c:v>
                </c:pt>
                <c:pt idx="8">
                  <c:v>26.3</c:v>
                </c:pt>
                <c:pt idx="9">
                  <c:v>25.6</c:v>
                </c:pt>
                <c:pt idx="10">
                  <c:v>17</c:v>
                </c:pt>
                <c:pt idx="11">
                  <c:v>14.6</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Sheet1!$A$2:$A$13</c:f>
              <c:multiLvlStrCache>
                <c:ptCount val="12"/>
                <c:lvl>
                  <c:pt idx="0">
                    <c:v>5-Aug OS</c:v>
                  </c:pt>
                  <c:pt idx="1">
                    <c:v>5-Aug CL</c:v>
                  </c:pt>
                  <c:pt idx="2">
                    <c:v>4-Aug OS</c:v>
                  </c:pt>
                  <c:pt idx="3">
                    <c:v>4-Aug CL</c:v>
                  </c:pt>
                  <c:pt idx="4">
                    <c:v>3-Aug OS</c:v>
                  </c:pt>
                  <c:pt idx="5">
                    <c:v>3-Aug CL</c:v>
                  </c:pt>
                  <c:pt idx="6">
                    <c:v>2-Aug OS</c:v>
                  </c:pt>
                  <c:pt idx="7">
                    <c:v>2-Aug CL</c:v>
                  </c:pt>
                  <c:pt idx="8">
                    <c:v>1-Aug OS</c:v>
                  </c:pt>
                  <c:pt idx="9">
                    <c:v>1-Aug CL</c:v>
                  </c:pt>
                  <c:pt idx="10">
                    <c:v>bef 1 Aug OS</c:v>
                  </c:pt>
                  <c:pt idx="11">
                    <c:v>bef 1 Aug CL</c:v>
                  </c:pt>
                </c:lvl>
              </c:multiLvlStrCache>
            </c:multiLvlStrRef>
          </c:cat>
          <c:val>
            <c:numRef>
              <c:f>Sheet1!$C$2:$C$13</c:f>
              <c:numCache>
                <c:formatCode>General</c:formatCode>
                <c:ptCount val="12"/>
                <c:pt idx="0">
                  <c:v>64.4</c:v>
                </c:pt>
                <c:pt idx="1">
                  <c:v>67.7</c:v>
                </c:pt>
                <c:pt idx="2">
                  <c:v>69.5</c:v>
                </c:pt>
                <c:pt idx="3">
                  <c:v>71.8</c:v>
                </c:pt>
                <c:pt idx="4">
                  <c:v>71.3</c:v>
                </c:pt>
                <c:pt idx="5">
                  <c:v>71.1</c:v>
                </c:pt>
                <c:pt idx="6">
                  <c:v>70.7</c:v>
                </c:pt>
                <c:pt idx="7">
                  <c:v>72.3</c:v>
                </c:pt>
                <c:pt idx="8">
                  <c:v>73.7</c:v>
                </c:pt>
                <c:pt idx="9">
                  <c:v>74.4</c:v>
                </c:pt>
                <c:pt idx="10">
                  <c:v>83</c:v>
                </c:pt>
                <c:pt idx="11">
                  <c:v>85.4</c:v>
                </c:pt>
              </c:numCache>
            </c:numRef>
          </c:val>
        </c:ser>
        <c:dLbls>
          <c:numFmt formatCode="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 % of CL / OS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Sheet1!$B$2:$B$5</c:f>
              <c:numCache>
                <c:formatCode>General</c:formatCode>
                <c:ptCount val="4"/>
                <c:pt idx="0">
                  <c:v>16.6</c:v>
                </c:pt>
                <c:pt idx="1">
                  <c:v>16</c:v>
                </c:pt>
                <c:pt idx="2">
                  <c:v>13</c:v>
                </c:pt>
                <c:pt idx="3">
                  <c:v>12.4</c:v>
                </c:pt>
              </c:numCache>
            </c:numRef>
          </c:val>
        </c:ser>
        <c:ser>
          <c:idx val="1"/>
          <c:order val="1"/>
          <c:tx>
            <c:strRef>
              <c:f>Sheet1!$C$1</c:f>
              <c:strCache>
                <c:ptCount val="1"/>
                <c:pt idx="0">
                  <c:v>Low</c:v>
                </c:pt>
              </c:strCache>
            </c:strRef>
          </c:tx>
          <c:spPr>
            <a:solidFill>
              <a:srgbClr val="3FB89F"/>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Sheet1!$C$2:$C$5</c:f>
              <c:numCache>
                <c:formatCode>General</c:formatCode>
                <c:ptCount val="4"/>
                <c:pt idx="0">
                  <c:v>8.6</c:v>
                </c:pt>
                <c:pt idx="1">
                  <c:v>9.7</c:v>
                </c:pt>
                <c:pt idx="2">
                  <c:v>4.4</c:v>
                </c:pt>
                <c:pt idx="3">
                  <c:v>4.6</c:v>
                </c:pt>
              </c:numCache>
            </c:numRef>
          </c:val>
        </c:ser>
        <c:ser>
          <c:idx val="2"/>
          <c:order val="2"/>
          <c:tx>
            <c:strRef>
              <c:f>Sheet1!$D$1</c:f>
              <c:strCache>
                <c:ptCount val="1"/>
                <c:pt idx="0">
                  <c:v>Mid</c:v>
                </c:pt>
              </c:strCache>
            </c:strRef>
          </c:tx>
          <c:spPr>
            <a:solidFill>
              <a:srgbClr val="1E8E86"/>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Sheet1!$D$2:$D$5</c:f>
              <c:numCache>
                <c:formatCode>General</c:formatCode>
                <c:ptCount val="4"/>
                <c:pt idx="0">
                  <c:v>19.1</c:v>
                </c:pt>
                <c:pt idx="1">
                  <c:v>22.2</c:v>
                </c:pt>
                <c:pt idx="2">
                  <c:v>14</c:v>
                </c:pt>
                <c:pt idx="3">
                  <c:v>15.2</c:v>
                </c:pt>
              </c:numCache>
            </c:numRef>
          </c:val>
        </c:ser>
        <c:ser>
          <c:idx val="3"/>
          <c:order val="3"/>
          <c:tx>
            <c:strRef>
              <c:f>Sheet1!$E$1</c:f>
              <c:strCache>
                <c:ptCount val="1"/>
                <c:pt idx="0">
                  <c:v>High</c:v>
                </c:pt>
              </c:strCache>
            </c:strRef>
          </c:tx>
          <c:spPr>
            <a:solidFill>
              <a:srgbClr val="165A73"/>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Sheet1!$E$2:$E$5</c:f>
              <c:numCache>
                <c:formatCode>General</c:formatCode>
                <c:ptCount val="4"/>
                <c:pt idx="0">
                  <c:v>55.7</c:v>
                </c:pt>
                <c:pt idx="1">
                  <c:v>52.2</c:v>
                </c:pt>
                <c:pt idx="2">
                  <c:v>68.6</c:v>
                </c:pt>
                <c:pt idx="3">
                  <c:v>67.8</c:v>
                </c:pt>
              </c:numCache>
            </c:numRef>
          </c:val>
        </c:ser>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9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Risk level · % of CL / OS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Sheet1!$B$2:$B$5</c:f>
              <c:numCache>
                <c:formatCode>General</c:formatCode>
                <c:ptCount val="4"/>
                <c:pt idx="0">
                  <c:v>5.4</c:v>
                </c:pt>
                <c:pt idx="1">
                  <c:v>4.9</c:v>
                </c:pt>
                <c:pt idx="2">
                  <c:v>1.7</c:v>
                </c:pt>
                <c:pt idx="3">
                  <c:v>1.6</c:v>
                </c:pt>
              </c:numCache>
            </c:numRef>
          </c:val>
        </c:ser>
        <c:ser>
          <c:idx val="1"/>
          <c:order val="1"/>
          <c:tx>
            <c:strRef>
              <c:f>Sheet1!$C$1</c:f>
              <c:strCache>
                <c:ptCount val="1"/>
                <c:pt idx="0">
                  <c:v>Low</c:v>
                </c:pt>
              </c:strCache>
            </c:strRef>
          </c:tx>
          <c:spPr>
            <a:solidFill>
              <a:srgbClr val="3FB89F"/>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Sheet1!$C$2:$C$5</c:f>
              <c:numCache>
                <c:formatCode>General</c:formatCode>
                <c:ptCount val="4"/>
                <c:pt idx="0">
                  <c:v>34.3</c:v>
                </c:pt>
                <c:pt idx="1">
                  <c:v>39.9</c:v>
                </c:pt>
                <c:pt idx="2">
                  <c:v>33.1</c:v>
                </c:pt>
                <c:pt idx="3">
                  <c:v>35.8</c:v>
                </c:pt>
              </c:numCache>
            </c:numRef>
          </c:val>
        </c:ser>
        <c:ser>
          <c:idx val="2"/>
          <c:order val="2"/>
          <c:tx>
            <c:strRef>
              <c:f>Sheet1!$D$1</c:f>
              <c:strCache>
                <c:ptCount val="1"/>
                <c:pt idx="0">
                  <c:v>Mid</c:v>
                </c:pt>
              </c:strCache>
            </c:strRef>
          </c:tx>
          <c:spPr>
            <a:solidFill>
              <a:srgbClr val="1E8E86"/>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Sheet1!$D$2:$D$5</c:f>
              <c:numCache>
                <c:formatCode>General</c:formatCode>
                <c:ptCount val="4"/>
                <c:pt idx="0">
                  <c:v>23.3</c:v>
                </c:pt>
                <c:pt idx="1">
                  <c:v>23.4</c:v>
                </c:pt>
                <c:pt idx="2">
                  <c:v>26.1</c:v>
                </c:pt>
                <c:pt idx="3">
                  <c:v>26.3</c:v>
                </c:pt>
              </c:numCache>
            </c:numRef>
          </c:val>
        </c:ser>
        <c:ser>
          <c:idx val="3"/>
          <c:order val="3"/>
          <c:tx>
            <c:strRef>
              <c:f>Sheet1!$E$1</c:f>
              <c:strCache>
                <c:ptCount val="1"/>
                <c:pt idx="0">
                  <c:v>High</c:v>
                </c:pt>
              </c:strCache>
            </c:strRef>
          </c:tx>
          <c:spPr>
            <a:solidFill>
              <a:srgbClr val="165A73"/>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PL · OS</c:v>
                  </c:pt>
                  <c:pt idx="1">
                    <c:v>PL · CL</c:v>
                  </c:pt>
                  <c:pt idx="2">
                    <c:v>DL · OS</c:v>
                  </c:pt>
                  <c:pt idx="3">
                    <c:v>DL · CL</c:v>
                  </c:pt>
                </c:lvl>
              </c:multiLvlStrCache>
            </c:multiLvlStrRef>
          </c:cat>
          <c:val>
            <c:numRef>
              <c:f>Sheet1!$E$2:$E$5</c:f>
              <c:numCache>
                <c:formatCode>General</c:formatCode>
                <c:ptCount val="4"/>
                <c:pt idx="0">
                  <c:v>36.9</c:v>
                </c:pt>
                <c:pt idx="1">
                  <c:v>31.7</c:v>
                </c:pt>
                <c:pt idx="2">
                  <c:v>39.1</c:v>
                </c:pt>
                <c:pt idx="3">
                  <c:v>36.3</c:v>
                </c:pt>
              </c:numCache>
            </c:numRef>
          </c:val>
        </c:ser>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9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Lending_2026.08.07.pptx. Reconciliation checks: DL 85,317 + PL 9,054 = 94,371, matching the stated total booked; the cash-need and risk rows each sum to their own grand totals; and all four AIS breakdowns (charge type, nano loan, true, tenure) sum to 70,100, matching the stated AIS consortium count. The deck's text says '47K are in TRUE ecosystem'; the true table gives 47,840. Consortium bases overlap — KTB 88%, AIS 74% and OR 57% sum well past 100% because customers appear in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use the same percent-stacked form as the cash-need and risk chart on slide 1. Biggest DL/PL gaps: nano-loan flag Y is 61.8% for DL against 53.8% for PL, and PL skews further to prepaid (56.0% vs 48.8%) with correspondingly less postpaid (37.8% vs 44.7%). Tenure and TRUE are within ~3 points across the two loan types. Counts behind the percentages - DL 63,760 and PL 6,340, totalling 70,100.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dimensions as slide 2, measured by value instead of headcount. Charge type is the only mix that moves materially: DL prepaid falls from 48.8% of customers to 30.9% of credit line while postpaid rises 44.7% to 61.8% - postpaid customers carry roughly twice the line each. The other three shift only a few points toward the favourable category: tenure 5+ years 66.3% to 71.3% of DL line, nano Y 61.8% to 66.6%, TRUE Y 68.5% to 73.3%. PL is flatter throughout, and its OS mix leans more to prepaid (52.2%) than its CL mix (46.0%).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Aug alone accounts for 33,341 of the 70,100 AIS bookings (47.6%). PL is back-loaded: 4,255 of its 6,340 bookings (67%) land on 5 Aug. Nano-loan Y falls from 64.8% on 1 Aug to 55.3% on 5 Aug, a 9.5 point drop, and the PL surge on 5 Aug is part of why - PL runs a lower nano share than DL. TRUE Y drifts down more gently, 70.3% to 66.6%. Charge type and tenure are effectively flat across the same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Completes the by-book-date view: charge type and tenure alongside the nano-loan flag and TRUE on slide 3. From 1 Aug onward prepaid runs 46.4, 49.4, 47.9, 47.9, 55.0 and tenure 5+ years runs 65.7, 65.1, 66.0, 66.8, 68.4 - spreads of 8.6 and 3.3 points against 9.5 for the nano-loan flag. The 5 Aug prepaid uptick coincides with the PL surge, and PL runs a higher prepaid share than DL (56.0% vs 48.8%).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Pairing CL and OS on the same axis makes the utilisation story readable per segment. In every August cohort the prepaid share of outstanding exceeds its share of credit line - by 1.6pt on 1 Aug widening to 6.0pt on 5 Aug - and the same direction holds for 0-1 year tenure, no-nano and non-TRUE. Read plainly: the segments granted smaller lines draw a higher fraction of them, so outstanding is tilted toward the weaker end of every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chart form as slide 1, on value instead of headcount, with CL and OS paired. Risk: High rises from 36.3% of DL credit line to 39.1% of outstanding, and 31.7% to 36.9% on PL; Low falls 35.8% to 33.1% and 39.9% to 34.3%. Cash need moves less - High 67.8% to 68.6% on DL, 52.2% to 55.7% on PL. This is the same direction as the book-date cuts on the previous slide: the weaker segment of every dimension draws a higher fraction of its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membership column is an inference that checks out four ways: A1+A1_o+J+J_O = 70,100 (AIS), K1+K1_O+J+J_O = 83,362 (KTB), O1+A1_o+K1_O+J_O = 53,712 (OR), and Null = 794. J and J_O together hold 61,771 customers (65.5%) and 696.5M of credit line (63.8%).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out of the combined 4x4 table so each dimension reads on its own. Cash need is heavily concentrated - High alone is 63.3% of the credit line. Risk is not: Low 37.0%, Mid 25.5%, High 35.0%. Low risk holding 37.0% of the line against 29.0% of customers means low-risk customers are granted larger lines on average. The DL/PL utilisation gap persists on both cuts: DL 65.2% against PL 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Postpaid customers carry a materially larger line each than prepaid customers, which is why the customer and value rankings invert.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Nano flag Y: 42,806 customers and 503.8M of credit line. Broadly proportional, so the flag does not by itself mark a larger-line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TRUE Y: 47,840 customers (68.2%) holding 573.3M of credit line (71.5%) - a few points more than their headcount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tenure earns a bigger line: 5+ years is 66.2% of customers but 71.0% of credit line, while 0-1 years is 11.0% of customers and only 9.0% of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BOOK LOAN  ·  TOTAL BOOKED AS OF 5 AUG</a:t>
            </a:r>
            <a:endParaRPr lang="en-US" sz="1150" dirty="0"/>
          </a:p>
        </p:txBody>
      </p:sp>
      <p:sp>
        <p:nvSpPr>
          <p:cNvPr id="3" name="Text 1"/>
          <p:cNvSpPr/>
          <p:nvPr/>
        </p:nvSpPr>
        <p:spPr>
          <a:xfrm>
            <a:off x="548640" y="603504"/>
            <a:ext cx="11064240" cy="65836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Nine in ten booked loans are DL</a:t>
            </a:r>
            <a:endParaRPr lang="en-US" sz="3200" dirty="0"/>
          </a:p>
        </p:txBody>
      </p:sp>
      <p:sp>
        <p:nvSpPr>
          <p:cNvPr id="4" name="Shape 2"/>
          <p:cNvSpPr/>
          <p:nvPr/>
        </p:nvSpPr>
        <p:spPr>
          <a:xfrm>
            <a:off x="548640" y="1335024"/>
            <a:ext cx="2560320" cy="1005840"/>
          </a:xfrm>
          <a:prstGeom prst="roundRect">
            <a:avLst>
              <a:gd name="adj" fmla="val 8182"/>
            </a:avLst>
          </a:prstGeom>
          <a:solidFill>
            <a:srgbClr val="F1F4F9"/>
          </a:solidFill>
          <a:ln/>
        </p:spPr>
      </p:sp>
      <p:sp>
        <p:nvSpPr>
          <p:cNvPr id="5" name="Text 3"/>
          <p:cNvSpPr/>
          <p:nvPr/>
        </p:nvSpPr>
        <p:spPr>
          <a:xfrm>
            <a:off x="77724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94,371</a:t>
            </a:r>
            <a:endParaRPr lang="en-US" sz="2500" dirty="0"/>
          </a:p>
        </p:txBody>
      </p:sp>
      <p:sp>
        <p:nvSpPr>
          <p:cNvPr id="6" name="Text 4"/>
          <p:cNvSpPr/>
          <p:nvPr/>
        </p:nvSpPr>
        <p:spPr>
          <a:xfrm>
            <a:off x="77724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total booked</a:t>
            </a:r>
            <a:endParaRPr lang="en-US" sz="1150" dirty="0"/>
          </a:p>
        </p:txBody>
      </p:sp>
      <p:sp>
        <p:nvSpPr>
          <p:cNvPr id="7" name="Text 5"/>
          <p:cNvSpPr/>
          <p:nvPr/>
        </p:nvSpPr>
        <p:spPr>
          <a:xfrm>
            <a:off x="77724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as of 5 Aug</a:t>
            </a:r>
            <a:endParaRPr lang="en-US" sz="1000" dirty="0"/>
          </a:p>
        </p:txBody>
      </p:sp>
      <p:sp>
        <p:nvSpPr>
          <p:cNvPr id="8" name="Shape 6"/>
          <p:cNvSpPr/>
          <p:nvPr/>
        </p:nvSpPr>
        <p:spPr>
          <a:xfrm>
            <a:off x="3383280" y="1335024"/>
            <a:ext cx="2560320" cy="1005840"/>
          </a:xfrm>
          <a:prstGeom prst="roundRect">
            <a:avLst>
              <a:gd name="adj" fmla="val 8182"/>
            </a:avLst>
          </a:prstGeom>
          <a:solidFill>
            <a:srgbClr val="F1F4F9"/>
          </a:solidFill>
          <a:ln/>
        </p:spPr>
      </p:sp>
      <p:sp>
        <p:nvSpPr>
          <p:cNvPr id="9" name="Text 7"/>
          <p:cNvSpPr/>
          <p:nvPr/>
        </p:nvSpPr>
        <p:spPr>
          <a:xfrm>
            <a:off x="361188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90.4%</a:t>
            </a:r>
            <a:endParaRPr lang="en-US" sz="2500" dirty="0"/>
          </a:p>
        </p:txBody>
      </p:sp>
      <p:sp>
        <p:nvSpPr>
          <p:cNvPr id="10" name="Text 8"/>
          <p:cNvSpPr/>
          <p:nvPr/>
        </p:nvSpPr>
        <p:spPr>
          <a:xfrm>
            <a:off x="361188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of the book is DL</a:t>
            </a:r>
            <a:endParaRPr lang="en-US" sz="1150" dirty="0"/>
          </a:p>
        </p:txBody>
      </p:sp>
      <p:sp>
        <p:nvSpPr>
          <p:cNvPr id="11" name="Text 9"/>
          <p:cNvSpPr/>
          <p:nvPr/>
        </p:nvSpPr>
        <p:spPr>
          <a:xfrm>
            <a:off x="361188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85,317 DL vs 9,054 PL</a:t>
            </a:r>
            <a:endParaRPr lang="en-US" sz="1000" dirty="0"/>
          </a:p>
        </p:txBody>
      </p:sp>
      <p:sp>
        <p:nvSpPr>
          <p:cNvPr id="12" name="Shape 10"/>
          <p:cNvSpPr/>
          <p:nvPr/>
        </p:nvSpPr>
        <p:spPr>
          <a:xfrm>
            <a:off x="6217920" y="1335024"/>
            <a:ext cx="2560320" cy="1005840"/>
          </a:xfrm>
          <a:prstGeom prst="roundRect">
            <a:avLst>
              <a:gd name="adj" fmla="val 8182"/>
            </a:avLst>
          </a:prstGeom>
          <a:solidFill>
            <a:srgbClr val="F1F4F9"/>
          </a:solidFill>
          <a:ln/>
        </p:spPr>
      </p:sp>
      <p:sp>
        <p:nvSpPr>
          <p:cNvPr id="13" name="Text 11"/>
          <p:cNvSpPr/>
          <p:nvPr/>
        </p:nvSpPr>
        <p:spPr>
          <a:xfrm>
            <a:off x="6446520" y="1426464"/>
            <a:ext cx="2103120" cy="402336"/>
          </a:xfrm>
          <a:prstGeom prst="rect">
            <a:avLst/>
          </a:prstGeom>
          <a:noFill/>
          <a:ln/>
        </p:spPr>
        <p:txBody>
          <a:bodyPr wrap="square" lIns="0" tIns="0" rIns="0" bIns="0" rtlCol="0" anchor="ctr"/>
          <a:lstStyle/>
          <a:p>
            <a:pPr indent="0" marL="0">
              <a:buNone/>
            </a:pPr>
            <a:r>
              <a:rPr lang="en-US" sz="2500" b="1" dirty="0">
                <a:solidFill>
                  <a:srgbClr val="E9A03B"/>
                </a:solidFill>
                <a:latin typeface="Cambria" pitchFamily="34" charset="0"/>
                <a:ea typeface="Cambria" pitchFamily="34" charset="-122"/>
                <a:cs typeface="Cambria" pitchFamily="34" charset="-120"/>
              </a:rPr>
              <a:t>64.5%</a:t>
            </a:r>
            <a:endParaRPr lang="en-US" sz="2500" dirty="0"/>
          </a:p>
        </p:txBody>
      </p:sp>
      <p:sp>
        <p:nvSpPr>
          <p:cNvPr id="14" name="Text 12"/>
          <p:cNvSpPr/>
          <p:nvPr/>
        </p:nvSpPr>
        <p:spPr>
          <a:xfrm>
            <a:off x="644652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sit at high cash need</a:t>
            </a:r>
            <a:endParaRPr lang="en-US" sz="1150" dirty="0"/>
          </a:p>
        </p:txBody>
      </p:sp>
      <p:sp>
        <p:nvSpPr>
          <p:cNvPr id="15" name="Text 13"/>
          <p:cNvSpPr/>
          <p:nvPr/>
        </p:nvSpPr>
        <p:spPr>
          <a:xfrm>
            <a:off x="644652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60,839 customers</a:t>
            </a:r>
            <a:endParaRPr lang="en-US" sz="1000" dirty="0"/>
          </a:p>
        </p:txBody>
      </p:sp>
      <p:sp>
        <p:nvSpPr>
          <p:cNvPr id="16" name="Shape 14"/>
          <p:cNvSpPr/>
          <p:nvPr/>
        </p:nvSpPr>
        <p:spPr>
          <a:xfrm>
            <a:off x="9052560" y="1335024"/>
            <a:ext cx="2560320" cy="1005840"/>
          </a:xfrm>
          <a:prstGeom prst="roundRect">
            <a:avLst>
              <a:gd name="adj" fmla="val 8182"/>
            </a:avLst>
          </a:prstGeom>
          <a:solidFill>
            <a:srgbClr val="F1F4F9"/>
          </a:solidFill>
          <a:ln/>
        </p:spPr>
      </p:sp>
      <p:sp>
        <p:nvSpPr>
          <p:cNvPr id="17" name="Text 15"/>
          <p:cNvSpPr/>
          <p:nvPr/>
        </p:nvSpPr>
        <p:spPr>
          <a:xfrm>
            <a:off x="928116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99.2%</a:t>
            </a:r>
            <a:endParaRPr lang="en-US" sz="2500" dirty="0"/>
          </a:p>
        </p:txBody>
      </p:sp>
      <p:sp>
        <p:nvSpPr>
          <p:cNvPr id="18" name="Text 16"/>
          <p:cNvSpPr/>
          <p:nvPr/>
        </p:nvSpPr>
        <p:spPr>
          <a:xfrm>
            <a:off x="928116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are in a consortium</a:t>
            </a:r>
            <a:endParaRPr lang="en-US" sz="1150" dirty="0"/>
          </a:p>
        </p:txBody>
      </p:sp>
      <p:sp>
        <p:nvSpPr>
          <p:cNvPr id="19" name="Text 17"/>
          <p:cNvSpPr/>
          <p:nvPr/>
        </p:nvSpPr>
        <p:spPr>
          <a:xfrm>
            <a:off x="928116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only 794 in none</a:t>
            </a:r>
            <a:endParaRPr lang="en-US" sz="1000" dirty="0"/>
          </a:p>
        </p:txBody>
      </p:sp>
      <p:sp>
        <p:nvSpPr>
          <p:cNvPr id="20" name="Shape 18"/>
          <p:cNvSpPr/>
          <p:nvPr/>
        </p:nvSpPr>
        <p:spPr>
          <a:xfrm>
            <a:off x="548640" y="2523744"/>
            <a:ext cx="5440680" cy="2304288"/>
          </a:xfrm>
          <a:prstGeom prst="roundRect">
            <a:avLst>
              <a:gd name="adj" fmla="val 3571"/>
            </a:avLst>
          </a:prstGeom>
          <a:solidFill>
            <a:srgbClr val="F1F4F9"/>
          </a:solidFill>
          <a:ln/>
        </p:spPr>
      </p:sp>
      <p:sp>
        <p:nvSpPr>
          <p:cNvPr id="21" name="Text 19"/>
          <p:cNvSpPr/>
          <p:nvPr/>
        </p:nvSpPr>
        <p:spPr>
          <a:xfrm>
            <a:off x="822960" y="2688336"/>
            <a:ext cx="4892040" cy="274320"/>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Consortium penetration</a:t>
            </a:r>
            <a:endParaRPr lang="en-US" sz="1500" dirty="0"/>
          </a:p>
        </p:txBody>
      </p:sp>
      <p:sp>
        <p:nvSpPr>
          <p:cNvPr id="22" name="Text 20"/>
          <p:cNvSpPr/>
          <p:nvPr/>
        </p:nvSpPr>
        <p:spPr>
          <a:xfrm>
            <a:off x="822960" y="2962656"/>
            <a:ext cx="4892040" cy="237744"/>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Share of the 94,371 booked customers found in each base</a:t>
            </a:r>
            <a:endParaRPr lang="en-US" sz="1000" dirty="0"/>
          </a:p>
        </p:txBody>
      </p:sp>
      <p:sp>
        <p:nvSpPr>
          <p:cNvPr id="23" name="Text 21"/>
          <p:cNvSpPr/>
          <p:nvPr/>
        </p:nvSpPr>
        <p:spPr>
          <a:xfrm>
            <a:off x="822960" y="331012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KTB</a:t>
            </a:r>
            <a:endParaRPr lang="en-US" sz="1150" dirty="0"/>
          </a:p>
        </p:txBody>
      </p:sp>
      <p:sp>
        <p:nvSpPr>
          <p:cNvPr id="24" name="Shape 22"/>
          <p:cNvSpPr/>
          <p:nvPr/>
        </p:nvSpPr>
        <p:spPr>
          <a:xfrm>
            <a:off x="1965960" y="3355848"/>
            <a:ext cx="2092147" cy="182880"/>
          </a:xfrm>
          <a:prstGeom prst="roundRect">
            <a:avLst>
              <a:gd name="adj" fmla="val 20000"/>
            </a:avLst>
          </a:prstGeom>
          <a:solidFill>
            <a:srgbClr val="165A73"/>
          </a:solidFill>
          <a:ln/>
        </p:spPr>
      </p:sp>
      <p:sp>
        <p:nvSpPr>
          <p:cNvPr id="25" name="Text 23"/>
          <p:cNvSpPr/>
          <p:nvPr/>
        </p:nvSpPr>
        <p:spPr>
          <a:xfrm>
            <a:off x="4480560" y="331012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83,362  ·  88%</a:t>
            </a:r>
            <a:endParaRPr lang="en-US" sz="1150" dirty="0"/>
          </a:p>
        </p:txBody>
      </p:sp>
      <p:sp>
        <p:nvSpPr>
          <p:cNvPr id="26" name="Text 24"/>
          <p:cNvSpPr/>
          <p:nvPr/>
        </p:nvSpPr>
        <p:spPr>
          <a:xfrm>
            <a:off x="822960" y="367588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AIS</a:t>
            </a:r>
            <a:endParaRPr lang="en-US" sz="1150" dirty="0"/>
          </a:p>
        </p:txBody>
      </p:sp>
      <p:sp>
        <p:nvSpPr>
          <p:cNvPr id="27" name="Shape 25"/>
          <p:cNvSpPr/>
          <p:nvPr/>
        </p:nvSpPr>
        <p:spPr>
          <a:xfrm>
            <a:off x="1965960" y="3721608"/>
            <a:ext cx="1759306" cy="182880"/>
          </a:xfrm>
          <a:prstGeom prst="roundRect">
            <a:avLst>
              <a:gd name="adj" fmla="val 20000"/>
            </a:avLst>
          </a:prstGeom>
          <a:solidFill>
            <a:srgbClr val="1E8E86"/>
          </a:solidFill>
          <a:ln/>
        </p:spPr>
      </p:sp>
      <p:sp>
        <p:nvSpPr>
          <p:cNvPr id="28" name="Text 26"/>
          <p:cNvSpPr/>
          <p:nvPr/>
        </p:nvSpPr>
        <p:spPr>
          <a:xfrm>
            <a:off x="4480560" y="367588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70,100  ·  74%</a:t>
            </a:r>
            <a:endParaRPr lang="en-US" sz="1150" dirty="0"/>
          </a:p>
        </p:txBody>
      </p:sp>
      <p:sp>
        <p:nvSpPr>
          <p:cNvPr id="29" name="Text 27"/>
          <p:cNvSpPr/>
          <p:nvPr/>
        </p:nvSpPr>
        <p:spPr>
          <a:xfrm>
            <a:off x="822960" y="404164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OR</a:t>
            </a:r>
            <a:endParaRPr lang="en-US" sz="1150" dirty="0"/>
          </a:p>
        </p:txBody>
      </p:sp>
      <p:sp>
        <p:nvSpPr>
          <p:cNvPr id="30" name="Shape 28"/>
          <p:cNvSpPr/>
          <p:nvPr/>
        </p:nvSpPr>
        <p:spPr>
          <a:xfrm>
            <a:off x="1965960" y="4087368"/>
            <a:ext cx="1355141" cy="182880"/>
          </a:xfrm>
          <a:prstGeom prst="roundRect">
            <a:avLst>
              <a:gd name="adj" fmla="val 20000"/>
            </a:avLst>
          </a:prstGeom>
          <a:solidFill>
            <a:srgbClr val="3FB89F"/>
          </a:solidFill>
          <a:ln/>
        </p:spPr>
      </p:sp>
      <p:sp>
        <p:nvSpPr>
          <p:cNvPr id="31" name="Text 29"/>
          <p:cNvSpPr/>
          <p:nvPr/>
        </p:nvSpPr>
        <p:spPr>
          <a:xfrm>
            <a:off x="4480560" y="404164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53,712  ·  57%</a:t>
            </a:r>
            <a:endParaRPr lang="en-US" sz="1150" dirty="0"/>
          </a:p>
        </p:txBody>
      </p:sp>
      <p:sp>
        <p:nvSpPr>
          <p:cNvPr id="32" name="Text 30"/>
          <p:cNvSpPr/>
          <p:nvPr/>
        </p:nvSpPr>
        <p:spPr>
          <a:xfrm>
            <a:off x="822960" y="440740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Not in any</a:t>
            </a:r>
            <a:endParaRPr lang="en-US" sz="1150" dirty="0"/>
          </a:p>
        </p:txBody>
      </p:sp>
      <p:sp>
        <p:nvSpPr>
          <p:cNvPr id="33" name="Shape 31"/>
          <p:cNvSpPr/>
          <p:nvPr/>
        </p:nvSpPr>
        <p:spPr>
          <a:xfrm>
            <a:off x="1965960" y="4453128"/>
            <a:ext cx="54864" cy="182880"/>
          </a:xfrm>
          <a:prstGeom prst="roundRect">
            <a:avLst>
              <a:gd name="adj" fmla="val 66667"/>
            </a:avLst>
          </a:prstGeom>
          <a:solidFill>
            <a:srgbClr val="8DA0B8"/>
          </a:solidFill>
          <a:ln/>
        </p:spPr>
      </p:sp>
      <p:sp>
        <p:nvSpPr>
          <p:cNvPr id="34" name="Text 32"/>
          <p:cNvSpPr/>
          <p:nvPr/>
        </p:nvSpPr>
        <p:spPr>
          <a:xfrm>
            <a:off x="4480560" y="440740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794  ·  0.8%</a:t>
            </a:r>
            <a:endParaRPr lang="en-US" sz="1150" dirty="0"/>
          </a:p>
        </p:txBody>
      </p:sp>
      <p:sp>
        <p:nvSpPr>
          <p:cNvPr id="35" name="Shape 33"/>
          <p:cNvSpPr/>
          <p:nvPr/>
        </p:nvSpPr>
        <p:spPr>
          <a:xfrm>
            <a:off x="6172200" y="2523744"/>
            <a:ext cx="5440680" cy="2304288"/>
          </a:xfrm>
          <a:prstGeom prst="roundRect">
            <a:avLst>
              <a:gd name="adj" fmla="val 3571"/>
            </a:avLst>
          </a:prstGeom>
          <a:solidFill>
            <a:srgbClr val="F1F4F9"/>
          </a:solidFill>
          <a:ln/>
        </p:spPr>
      </p:sp>
      <p:graphicFrame>
        <p:nvGraphicFramePr>
          <p:cNvPr id="36" name="Chart 0" descr=""/>
          <p:cNvGraphicFramePr/>
          <p:nvPr/>
        </p:nvGraphicFramePr>
        <p:xfrm>
          <a:off x="6291072" y="2615184"/>
          <a:ext cx="5230368" cy="2139696"/>
        </p:xfrm>
        <a:graphic xmlns:a="http://schemas.openxmlformats.org/drawingml/2006/main">
          <a:graphicData uri="http://schemas.openxmlformats.org/drawingml/2006/chart">
            <c:chart xmlns:c="http://schemas.openxmlformats.org/drawingml/2006/chart" r:id="rId1"/>
          </a:graphicData>
        </a:graphic>
      </p:graphicFrame>
      <p:sp>
        <p:nvSpPr>
          <p:cNvPr id="37" name="Shape 34"/>
          <p:cNvSpPr/>
          <p:nvPr/>
        </p:nvSpPr>
        <p:spPr>
          <a:xfrm>
            <a:off x="548640" y="5010912"/>
            <a:ext cx="11064240" cy="1152144"/>
          </a:xfrm>
          <a:prstGeom prst="roundRect">
            <a:avLst>
              <a:gd name="adj" fmla="val 7143"/>
            </a:avLst>
          </a:prstGeom>
          <a:solidFill>
            <a:srgbClr val="0E1E3C"/>
          </a:solidFill>
          <a:ln/>
        </p:spPr>
      </p:sp>
      <p:sp>
        <p:nvSpPr>
          <p:cNvPr id="38" name="Text 35"/>
          <p:cNvSpPr/>
          <p:nvPr/>
        </p:nvSpPr>
        <p:spPr>
          <a:xfrm>
            <a:off x="914400" y="5175504"/>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AIS BASE INFORMATION  ·  70.1K</a:t>
            </a:r>
            <a:endParaRPr lang="en-US" sz="1050" dirty="0"/>
          </a:p>
        </p:txBody>
      </p:sp>
      <p:sp>
        <p:nvSpPr>
          <p:cNvPr id="39" name="Text 36"/>
          <p:cNvSpPr/>
          <p:nvPr/>
        </p:nvSpPr>
        <p:spPr>
          <a:xfrm>
            <a:off x="914400" y="5413248"/>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68% sit in the TRUE ecosystem</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(47,840)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61% carry the nano-loan flag</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(42,806)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66% have tenure of 5 years or more</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(46,441), against 11% at 0–1 years</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Charge type splits 49% prepaid / 44% postpaid / 6% FBB, and 33,341 of the 70.1K — 47.6% — booked on 2 Aug alone.</a:t>
            </a:r>
            <a:endParaRPr lang="en-US" sz="1100" dirty="0"/>
          </a:p>
        </p:txBody>
      </p:sp>
      <p:sp>
        <p:nvSpPr>
          <p:cNvPr id="40" name="Text 37"/>
          <p:cNvSpPr/>
          <p:nvPr/>
        </p:nvSpPr>
        <p:spPr>
          <a:xfrm>
            <a:off x="548640" y="6291072"/>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(Book Loan). DL and PL are not expanded anywhere in that deck. Cash-need and risk percentages are as printed; all others are computed from its own counts and reconcile to 94,371 and 70,100. Consortium bases overlap, so they sum past 100%. AIS-base figures cover the 70.1K AIS base only, not the whole book.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70.1K  ·  DL 63,760 / PL 6,340</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Long-tenured, prepaid-leaning, mostly TRUE</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DL and PL profile almost identically on tenure and TRUE; they part company on charge type and the nano-loan flag.</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four AIS Base Information slides (charge type, nano loan, true, tenure), aggregated across all book dates. Each breakdown sums to 70,100, matching the stated AIS consortium count. Percentages are computed from the deck's own counts and may differ by 1pt from its per-date rounding.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SHARE OF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Postpaid punches far above its headcount</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Prepaid is 48.8% of DL customers but 30.9% of DL credit line; postpaid runs 44.7% to 61.8%.</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AIS base, aggregated across all book dates. CL = credit line, OS = outstanding. Each bar is a mix within that loan type and measure, so all four bars in a panel read to 100%. Compare against slide 2, which shows the same four splits by customer count.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Nearly half the base booked on 2 August</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PL arrives almost entirely on 5 Aug, and each later cohort is a little less nano-loan — the flag falls 9.5 points from 1 to 5 Aug.</a:t>
            </a:r>
            <a:endParaRPr lang="en-US" sz="1250" dirty="0"/>
          </a:p>
        </p:txBody>
      </p:sp>
      <p:sp>
        <p:nvSpPr>
          <p:cNvPr id="5" name="Shape 3"/>
          <p:cNvSpPr/>
          <p:nvPr/>
        </p:nvSpPr>
        <p:spPr>
          <a:xfrm>
            <a:off x="548640" y="1426464"/>
            <a:ext cx="11064240" cy="2139696"/>
          </a:xfrm>
          <a:prstGeom prst="roundRect">
            <a:avLst>
              <a:gd name="adj" fmla="val 3846"/>
            </a:avLst>
          </a:prstGeom>
          <a:solidFill>
            <a:srgbClr val="F1F4F9"/>
          </a:solidFill>
          <a:ln/>
        </p:spPr>
      </p:sp>
      <p:graphicFrame>
        <p:nvGraphicFramePr>
          <p:cNvPr id="6" name="Chart 0" descr=""/>
          <p:cNvGraphicFramePr/>
          <p:nvPr/>
        </p:nvGraphicFramePr>
        <p:xfrm>
          <a:off x="658368" y="1517904"/>
          <a:ext cx="10844784" cy="195681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3712464"/>
            <a:ext cx="5440680" cy="2249424"/>
          </a:xfrm>
          <a:prstGeom prst="roundRect">
            <a:avLst>
              <a:gd name="adj" fmla="val 3659"/>
            </a:avLst>
          </a:prstGeom>
          <a:solidFill>
            <a:srgbClr val="F1F4F9"/>
          </a:solidFill>
          <a:ln/>
        </p:spPr>
      </p:sp>
      <p:graphicFrame>
        <p:nvGraphicFramePr>
          <p:cNvPr id="8" name="Chart 1" descr=""/>
          <p:cNvGraphicFramePr/>
          <p:nvPr/>
        </p:nvGraphicFramePr>
        <p:xfrm>
          <a:off x="658368" y="3803904"/>
          <a:ext cx="5221224" cy="2066544"/>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6172200" y="3712464"/>
            <a:ext cx="5440680" cy="2249424"/>
          </a:xfrm>
          <a:prstGeom prst="roundRect">
            <a:avLst>
              <a:gd name="adj" fmla="val 3659"/>
            </a:avLst>
          </a:prstGeom>
          <a:solidFill>
            <a:srgbClr val="F1F4F9"/>
          </a:solidFill>
          <a:ln/>
        </p:spPr>
      </p:sp>
      <p:graphicFrame>
        <p:nvGraphicFramePr>
          <p:cNvPr id="10" name="Chart 2" descr=""/>
          <p:cNvGraphicFramePr/>
          <p:nvPr/>
        </p:nvGraphicFramePr>
        <p:xfrm>
          <a:off x="6281928" y="3803904"/>
          <a:ext cx="5221224" cy="2066544"/>
        </p:xfrm>
        <a:graphic xmlns:a="http://schemas.openxmlformats.org/drawingml/2006/main">
          <a:graphicData uri="http://schemas.openxmlformats.org/drawingml/2006/chart">
            <c:chart xmlns:c="http://schemas.openxmlformats.org/drawingml/2006/chart" r:id="rId3"/>
          </a:graphicData>
        </a:graphic>
      </p:graphicFrame>
      <p:sp>
        <p:nvSpPr>
          <p:cNvPr id="11" name="Text 6"/>
          <p:cNvSpPr/>
          <p:nvPr/>
        </p:nvSpPr>
        <p:spPr>
          <a:xfrm>
            <a:off x="548640" y="6089904"/>
            <a:ext cx="11064240" cy="512064"/>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AIS Base Information slides. Volumes are the grand totals per book date; the two mixes combine DL and PL. 'bef 1 Aug' holds only 708 customers, so its mix is a small-sample outlier. Charge type and tenure move far less across the same window and are charted on the next slide.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Charge type and tenure hold steady</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Unlike the nano-loan flag, these two barely move from 1 Aug onward — only the small pre-August cohort looks different.</a:t>
            </a:r>
            <a:endParaRPr lang="en-US" sz="1250" dirty="0"/>
          </a:p>
        </p:txBody>
      </p:sp>
      <p:sp>
        <p:nvSpPr>
          <p:cNvPr id="5" name="Shape 3"/>
          <p:cNvSpPr/>
          <p:nvPr/>
        </p:nvSpPr>
        <p:spPr>
          <a:xfrm>
            <a:off x="548640" y="1444752"/>
            <a:ext cx="5440680" cy="3127248"/>
          </a:xfrm>
          <a:prstGeom prst="roundRect">
            <a:avLst>
              <a:gd name="adj" fmla="val 2632"/>
            </a:avLst>
          </a:prstGeom>
          <a:solidFill>
            <a:srgbClr val="F1F4F9"/>
          </a:solidFill>
          <a:ln/>
        </p:spPr>
      </p:sp>
      <p:graphicFrame>
        <p:nvGraphicFramePr>
          <p:cNvPr id="6" name="Chart 0" descr=""/>
          <p:cNvGraphicFramePr/>
          <p:nvPr/>
        </p:nvGraphicFramePr>
        <p:xfrm>
          <a:off x="658368" y="1536192"/>
          <a:ext cx="5221224" cy="2944368"/>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44752"/>
            <a:ext cx="5440680" cy="3127248"/>
          </a:xfrm>
          <a:prstGeom prst="roundRect">
            <a:avLst>
              <a:gd name="adj" fmla="val 2632"/>
            </a:avLst>
          </a:prstGeom>
          <a:solidFill>
            <a:srgbClr val="F1F4F9"/>
          </a:solidFill>
          <a:ln/>
        </p:spPr>
      </p:sp>
      <p:graphicFrame>
        <p:nvGraphicFramePr>
          <p:cNvPr id="8" name="Chart 1" descr=""/>
          <p:cNvGraphicFramePr/>
          <p:nvPr/>
        </p:nvGraphicFramePr>
        <p:xfrm>
          <a:off x="6281928" y="1536192"/>
          <a:ext cx="5221224" cy="2944368"/>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4754880"/>
            <a:ext cx="11064240" cy="1188720"/>
          </a:xfrm>
          <a:prstGeom prst="roundRect">
            <a:avLst>
              <a:gd name="adj" fmla="val 6923"/>
            </a:avLst>
          </a:prstGeom>
          <a:solidFill>
            <a:srgbClr val="0E1E3C"/>
          </a:solidFill>
          <a:ln/>
        </p:spPr>
      </p:sp>
      <p:sp>
        <p:nvSpPr>
          <p:cNvPr id="10" name="Text 6"/>
          <p:cNvSpPr/>
          <p:nvPr/>
        </p:nvSpPr>
        <p:spPr>
          <a:xfrm>
            <a:off x="914400" y="4919472"/>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HOW MUCH EACH MIX MOVES, 1 AUG TO 5 AUG</a:t>
            </a:r>
            <a:endParaRPr lang="en-US" sz="1050" dirty="0"/>
          </a:p>
        </p:txBody>
      </p:sp>
      <p:sp>
        <p:nvSpPr>
          <p:cNvPr id="11" name="Text 7"/>
          <p:cNvSpPr/>
          <p:nvPr/>
        </p:nvSpPr>
        <p:spPr>
          <a:xfrm>
            <a:off x="914400" y="5175504"/>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Prepaid 46–55% (8.6pt) · Tenure 5+ years 65–68% (3.3pt)</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 against the nano-loan flag's 9.5pt slide on the previous slide. Charge type drifts toward prepaid on 5 Aug, tracking the PL surge; tenure is flat throughout.</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The pre-1-Aug cohort is the exception — 79% postpaid, 81% long-tenured — but holds just 708 of the 70,100 customers.</a:t>
            </a:r>
            <a:endParaRPr lang="en-US" sz="1100" dirty="0"/>
          </a:p>
        </p:txBody>
      </p:sp>
      <p:sp>
        <p:nvSpPr>
          <p:cNvPr id="12" name="Text 8"/>
          <p:cNvSpPr/>
          <p:nvPr/>
        </p:nvSpPr>
        <p:spPr>
          <a:xfrm>
            <a:off x="548640" y="6089904"/>
            <a:ext cx="11064240" cy="512064"/>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charge type and tenure AIS Base Information slides, DL and PL combined and aggregated to each book date. Percentages are computed from the deck's own counts; each date column sums to that date's grand total, and the six together sum to 70,100.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  ·  CREDIT LINE vs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Weaker segments draw more of their line</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short tenure, no nano flag and non-TRUE each take a larger share of OS than of CL — they use more of what they are granted.</a:t>
            </a:r>
            <a:endParaRPr lang="en-US" sz="1200" dirty="0"/>
          </a:p>
        </p:txBody>
      </p:sp>
      <p:sp>
        <p:nvSpPr>
          <p:cNvPr id="5" name="Shape 3"/>
          <p:cNvSpPr/>
          <p:nvPr/>
        </p:nvSpPr>
        <p:spPr>
          <a:xfrm>
            <a:off x="548640" y="1426464"/>
            <a:ext cx="2628900" cy="4517136"/>
          </a:xfrm>
          <a:prstGeom prst="roundRect">
            <a:avLst>
              <a:gd name="adj" fmla="val 3130"/>
            </a:avLst>
          </a:prstGeom>
          <a:solidFill>
            <a:srgbClr val="F1F4F9"/>
          </a:solidFill>
          <a:ln/>
        </p:spPr>
      </p:sp>
      <p:graphicFrame>
        <p:nvGraphicFramePr>
          <p:cNvPr id="6" name="Chart 0" descr=""/>
          <p:cNvGraphicFramePr/>
          <p:nvPr/>
        </p:nvGraphicFramePr>
        <p:xfrm>
          <a:off x="630936" y="1499616"/>
          <a:ext cx="2464308" cy="4370832"/>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3360420" y="1426464"/>
            <a:ext cx="2628900" cy="4517136"/>
          </a:xfrm>
          <a:prstGeom prst="roundRect">
            <a:avLst>
              <a:gd name="adj" fmla="val 3130"/>
            </a:avLst>
          </a:prstGeom>
          <a:solidFill>
            <a:srgbClr val="F1F4F9"/>
          </a:solidFill>
          <a:ln/>
        </p:spPr>
      </p:sp>
      <p:graphicFrame>
        <p:nvGraphicFramePr>
          <p:cNvPr id="8" name="Chart 1" descr=""/>
          <p:cNvGraphicFramePr/>
          <p:nvPr/>
        </p:nvGraphicFramePr>
        <p:xfrm>
          <a:off x="3442716" y="1499616"/>
          <a:ext cx="2464308" cy="4370832"/>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6172200" y="1426464"/>
            <a:ext cx="2628900" cy="4517136"/>
          </a:xfrm>
          <a:prstGeom prst="roundRect">
            <a:avLst>
              <a:gd name="adj" fmla="val 3130"/>
            </a:avLst>
          </a:prstGeom>
          <a:solidFill>
            <a:srgbClr val="F1F4F9"/>
          </a:solidFill>
          <a:ln/>
        </p:spPr>
      </p:sp>
      <p:graphicFrame>
        <p:nvGraphicFramePr>
          <p:cNvPr id="10" name="Chart 2" descr=""/>
          <p:cNvGraphicFramePr/>
          <p:nvPr/>
        </p:nvGraphicFramePr>
        <p:xfrm>
          <a:off x="6254496" y="1499616"/>
          <a:ext cx="2464308" cy="4370832"/>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8983980" y="1426464"/>
            <a:ext cx="2628900" cy="4517136"/>
          </a:xfrm>
          <a:prstGeom prst="roundRect">
            <a:avLst>
              <a:gd name="adj" fmla="val 3130"/>
            </a:avLst>
          </a:prstGeom>
          <a:solidFill>
            <a:srgbClr val="F1F4F9"/>
          </a:solidFill>
          <a:ln/>
        </p:spPr>
      </p:sp>
      <p:graphicFrame>
        <p:nvGraphicFramePr>
          <p:cNvPr id="12" name="Chart 3" descr=""/>
          <p:cNvGraphicFramePr/>
          <p:nvPr/>
        </p:nvGraphicFramePr>
        <p:xfrm>
          <a:off x="9066276" y="1499616"/>
          <a:ext cx="2464308" cy="4370832"/>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CL = credit line, OS = outstanding; each bar is a mix within that date and measure, so every bar reads to 100%. The OS-above-CL pattern holds in all five August cohorts on charge type and tenure, and in four of five on the nano and TRUE flags — the exceptions are the 708-customer pre-August cohort and a 0.2-point wobble on TRUE on 3 Aug. Slides 4 and 5 show the same four cuts by customer count.</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vs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Riskier customers draw a bigger share</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risk is 36.3% of DL credit line but 39.1% of DL outstanding, while low risk falls from 35.8% to 33.1%.</a:t>
            </a:r>
            <a:endParaRPr lang="en-US" sz="1200" dirty="0"/>
          </a:p>
        </p:txBody>
      </p:sp>
      <p:sp>
        <p:nvSpPr>
          <p:cNvPr id="5" name="Shape 3"/>
          <p:cNvSpPr/>
          <p:nvPr/>
        </p:nvSpPr>
        <p:spPr>
          <a:xfrm>
            <a:off x="548640" y="1444752"/>
            <a:ext cx="5440680" cy="4297680"/>
          </a:xfrm>
          <a:prstGeom prst="roundRect">
            <a:avLst>
              <a:gd name="adj" fmla="val 1915"/>
            </a:avLst>
          </a:prstGeom>
          <a:solidFill>
            <a:srgbClr val="F1F4F9"/>
          </a:solidFill>
          <a:ln/>
        </p:spPr>
      </p:sp>
      <p:graphicFrame>
        <p:nvGraphicFramePr>
          <p:cNvPr id="6" name="Chart 0" descr=""/>
          <p:cNvGraphicFramePr/>
          <p:nvPr/>
        </p:nvGraphicFramePr>
        <p:xfrm>
          <a:off x="658368" y="1536192"/>
          <a:ext cx="5221224"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44752"/>
            <a:ext cx="5440680" cy="4297680"/>
          </a:xfrm>
          <a:prstGeom prst="roundRect">
            <a:avLst>
              <a:gd name="adj" fmla="val 1915"/>
            </a:avLst>
          </a:prstGeom>
          <a:solidFill>
            <a:srgbClr val="F1F4F9"/>
          </a:solidFill>
          <a:ln/>
        </p:spPr>
      </p:sp>
      <p:graphicFrame>
        <p:nvGraphicFramePr>
          <p:cNvPr id="8" name="Chart 1" descr=""/>
          <p:cNvGraphicFramePr/>
          <p:nvPr/>
        </p:nvGraphicFramePr>
        <p:xfrm>
          <a:off x="6281928" y="1536192"/>
          <a:ext cx="5221224" cy="411480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548640" y="5888736"/>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bar is a mix within that loan type and measure, so every bar reads to 100%. Slide 1 shows the same two cuts by customer count, where cash need and risk are the only figures the source states as percentages.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CUSTOMER BASE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Two-thirds of the book is dual AIS–KTB</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1,092.3M of credit line against 660.5M outstanding — 60.5% utilised, and strikingly even across every segment (55.9–64.2%).</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005840"/>
                <a:gridCol w="1874520"/>
                <a:gridCol w="1737360"/>
                <a:gridCol w="1737360"/>
                <a:gridCol w="914400"/>
                <a:gridCol w="1234440"/>
                <a:gridCol w="914400"/>
                <a:gridCol w="1645920"/>
              </a:tblGrid>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cust_base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Consortium membership</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Util.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of book</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CL / customer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Null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11,491,500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6,749,659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14,473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41,840,300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24,908,470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11,128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63,096,500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35,296,729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4,569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13,810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304,195,500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184,286,596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10,066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392,348,700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231,780,882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31,550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12,436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78,572,200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49,176,842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5,884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13,354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177,595,900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114,041,841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15,707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11,307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O1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OR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23,121,400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14,302,687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1,886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1,092,262,000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660,543,706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94,371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11,574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Consortium membership is inferred from the segment codes, not stated in the source: the groupings reproduce the deck's AIS 70,100, KTB 83,362, OR 53,712 and 'not in any' 794 exactly. Customers total 94,371, matching the stated total booked.</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Cash need concentrates, risk does not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cash need holds 63.3% of the credit line; risk splits 37.0% low / 25.5% mid / 35.0% high.</a:t>
            </a:r>
            <a:endParaRPr lang="en-US" sz="1200" dirty="0"/>
          </a:p>
        </p:txBody>
      </p:sp>
      <p:sp>
        <p:nvSpPr>
          <p:cNvPr id="5" name="Text 3"/>
          <p:cNvSpPr/>
          <p:nvPr/>
        </p:nvSpPr>
        <p:spPr>
          <a:xfrm>
            <a:off x="548640" y="140817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cash need</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97,056,100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66,121,891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68.1%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49,726,600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25,232,200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50.7%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146,782,700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13.4%</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35,991,700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22,309,300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30,297,500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13,104,888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66,289,200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118,466,000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71,152,261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69,045,300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28,919,887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187,511,300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17.2%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529,187,600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349,214,853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162,491,200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84,488,426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691,678,800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7" name="Text 4"/>
          <p:cNvSpPr/>
          <p:nvPr/>
        </p:nvSpPr>
        <p:spPr>
          <a:xfrm>
            <a:off x="548640" y="387705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risk level</a:t>
            </a:r>
            <a:endParaRPr lang="en-US" sz="14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48640" y="411480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12,590,700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8,761,738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15,377,700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8,220,903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53.5%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27,968,400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279,717,500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168,239,503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124,397,500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52,044,867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404,115,000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37.0%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205,278,200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132,804,742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64.7%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72,910,600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35,428,732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48.6%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278,188,800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283,115,000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198,992,322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98,874,800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56,050,899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381,989,800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9" name="Text 5"/>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table rolls the same 4×4 cash-need × risk-level grid up along one axis, so both total to 1,092,262,000 of credit line and 660,543,706 outstanding — matching the customer-base table. The source has no customer counts at this cut, so utilisation and share of line are the only derived columns. Low risk holds 37.0% of the line against 29.0% of customers in the deck's risk counts — low-risk customers carry larger lines.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CHARGE TYPE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Prepaid leads on customers, postpaid on value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is 49.4% of customers but only 35.2% of credit line; postpaid is 44.1% of customers and 57.6% of the line.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Charge type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249,200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136,407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687,400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392,234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482,151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469,700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227,690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4,460,774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6,038,900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1,677,047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8,635,800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6,555,154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699,795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5,630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34,110,300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26,130,318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3,807,000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2,767,110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73,797,800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52,025,828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4,334,200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3,107,189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16,248,189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2,055,900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1,210,055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91,515,700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65,578,262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15,516,300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11,084,011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181,461,200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119,074,354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11,809,300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6,807,854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1,512,700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1,110,920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322,039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6,286,900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4,611,637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1,136,061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12,312,500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8,459,232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1,076,500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717,866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5,310,200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3,053,924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1,133,200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797,760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21,080,200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12,562,414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4,028,159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44,479,500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22,963,082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6,926,700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2,658,434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1,591,226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4,671,595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23,777,800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10,506,394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75,587,100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37,371,732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3,850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34,881,400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12,215,652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76,526,900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28,830,128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NANO-LOAN FLAG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Nano flag: 61.1% of customers, 62.9% of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Credit line tracks headcount almost exactly, so the flag does not by itself mark a larger-line population.</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Nano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3,564,300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1,713,800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4,046,900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1,340,867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6,062,900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3,365,532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3,149,100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956,104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4,271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35,596,100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26,497,770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3,305,800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2,265,517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7,911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80,947,800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58,213,530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5,967,900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4,308,577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98,295,300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68,449,891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12,293,200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8,248,303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197,381,500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132,450,914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17,088,300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10,853,617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6,482,200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4,672,585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1,213,600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883,915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13,629,900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9,509,204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2,074,900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1,292,051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2,825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24,085,100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13,699,164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6,548,100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3,332,891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46,784,800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24,880,256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8,411,700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4,151,462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24,097,100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10,328,134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78,133,200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34,771,529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5,389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38,255,600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13,985,138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84,065,700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36,101,926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TRUE ECOSYSTEM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TRUE customers hold 71.5%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68.2% of customers, so TRUE membership skews toward the larger lines.</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TRUE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703,026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1,040,500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550,376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8,217,600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4,376,306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6,155,500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1,746,595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29,172,100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21,910,280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2,124,876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8,564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87,371,800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62,801,020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6,248,000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4,449,218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10,249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80,685,800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57,662,508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9,374,100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6,867,826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214,991,000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143,238,297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20,007,400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12,234,094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5,351,100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3,829,251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861,946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14,761,000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10,352,538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1,878,600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1,314,020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19,149,900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11,052,852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5,046,300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2,989,981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4,839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51,720,000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27,526,568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9,913,500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4,494,372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7,689,769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1,490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54,715,800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26,227,070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44,594,100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16,623,503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2,765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107,483,100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44,646,385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TENURE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5+ year tenure holds 71.0%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66.2% of customers, while the 0–1 year cohort is 11.0% of customers and just 9.0% of the line.</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Tenure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294,300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147,694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379,567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1,105,000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586,260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816,500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204,584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8,227,900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4,345,378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5,859,600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1,712,820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10,989,100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8,394,662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500,961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23,170,800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17,218,164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2,266,800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1,696,319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8,032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82,384,000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59,098,474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6,311,800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4,376,814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3,685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27,746,100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19,972,246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2,735,355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7,476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59,133,400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41,900,780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6,081,200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4,260,627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21,021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208,797,300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139,027,779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19,315,400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12,105,938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1,703,800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1,282,482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331,913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2,884,710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557,609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14,304,800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10,014,597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2,167,900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1,286,444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6,143,900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3,662,615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1,044,300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504,223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14,243,700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8,361,181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1,501,078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50,482,300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26,555,624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11,395,600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5,479,052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4,903,000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2,229,307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13,653,400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7,082,546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11,682,500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4,802,102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988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34,795,400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15,779,602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45,767,200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17,281,863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113,750,100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48,011,307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Loan - summary as of 5 Aug</dc:title>
  <dc:subject>PptxGenJS Presentation</dc:subject>
  <dc:creator>Lending</dc:creator>
  <cp:lastModifiedBy>Lending</cp:lastModifiedBy>
  <cp:revision>1</cp:revision>
  <dcterms:created xsi:type="dcterms:W3CDTF">2026-08-07T13:12:47Z</dcterms:created>
  <dcterms:modified xsi:type="dcterms:W3CDTF">2026-08-07T13:12:47Z</dcterms:modified>
</cp:coreProperties>
</file>
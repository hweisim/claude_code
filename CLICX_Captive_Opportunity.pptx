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Captive base of 48.0M as stated; the seven segment rows sum to 47.3M without CLICX plus 1.7M with, so there is roughly 0.7M of rounding or residual between the two. CLICX reaches 3.5% of the consortium base. 97% of CLICX customers are captive, and 46K sit outside it. AIS &amp; KTB and AIS KTB OR together are 60% of CLICX customers, 40% of the base, and the same two segments lead on app-in and deposit. Reach is the practical point: 21.6M non-CLICX customers are active at AIS and 18.8M at KTB, and the AIS &amp; KTB and AIS KTB OR segments appear in both columns, so they can be approached through either partner. One cell to check at source: OR Only shows 11K CLICX customers but 16K deposit customers, which cannot both be right as a subset. Small cell, likely rounding, but worth confirming.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Penetration with an OR relationship is 6.9% against 2.6% without, a 2.7x lift on a base of 9.8M against 39.2M. Pairwise the lift is 6.6x for AIS only to AIS &amp; OR, 2.6x for KTB only to KTB OR, and 2.0x for AIS &amp; KTB to AIS KTB OR. The same direction holds on loan booking - 24.5% with OR against 16.0% without - and on cash-need intensity among non-CLICX customers, where the medium-high share rises in every pair. Caveat on causality: this is association, not proof. OR customers may simply be a more digitally engaged population, so the lift would partly survive without any OR intervention. The practical read is that OR is an excellent targeting signal regardless of whether it is causal.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711K app-ins, 138K booked (19.4%), 126K drawn down (91.3% of booked). Drawdown holds between 83% and 100% across every segment, so once a loan is booked it is almost always taken. The variance is all at booking. Booking runs from 8.8% for KTB to 26.1% for AIS &amp; OR, and every OR-linked segment books above 22% while KTB-only books at 8.8%. Outside CLICX, 14.3M customers show medium-high cash need against 32.8M low, and 6.2M of the medium-high sit in AIS &amp; KTB alone. AIS &amp; KTB x OR has the highest intensity at 60%. Two actions follow: target AIS &amp; KTB for app-in volume, and investigate why KTB-only applicants fail at booking - credit policy, data quality or journey - since the drawdown rate shows demand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755K of 1.7M CLICX customers, 44%, already hold a TrueMoney wallet. By product: deposit 575K (44%), lending 319K (44%), payment 178K (52%). Payment is proportionally the most exposed, deposit the largest in absolute terms and the one carrying balance. Outside CLICX the rate is 22%, so CLICX's own customers are roughly twice as wallet-penetrated as the population it has not acquired. That is uncomfortable: the installed base is the exposed one. Penetration outside CLICX tracks the mobile relationship rather than the bank one - 55.6% for customers with both pre and post paid, 43.8% post-paid, 27.1% pre-paid, against 6.8% for KTB-only and 4.0% non-mobile. The strategic read is two-sided: defend the dual-holders before the virtual bank launches, and prioritise KTB-only and non-mobile customers for acquisition because no wallet relationship competes there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priorities, each drawn from a different source view, ordered by urgency rather than size. Defend first: 755K CLICX customers already hold a TrueMoney wallet, 575K of them on deposit. That exposure is live the day the virtual bank launches, and it sits with customers already acquired, so the cost of losing them is sunk acquisition plus balance. Acquire second: the OR relationship is the strongest single predictor in the data, lifting penetration from 2.6% to 6.9%, booking from 16.0% to 24.5%, and cash-need intensity in every pairwise comparison. Convert third: 6.2M AIS &amp; KTB customers outside CLICX carry medium-high cash need, 43% of the total pool, and they are reachable through either partner. The uncomfortable summary is that growth and risk overlap: the 3.5% of the consortium base CLICX has reached is twice as wallet-penetrated as the 96.5% it has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48M captive customers, 1.7M on CLICX</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*Captive = AIS × KTB × OR consortium base. Figures as supplied and rounded; the segment rows sum to 47.3M against a stated 48.0M.</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Captive 48.0M   ·   On CLICX 1.7M (3.5%)   ·   Reachable at AIS 21.6M   ·   Reachable at KTB 18.8M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96% of the consortium base has never opened CLICX — 21.6M of them are active at AIS and 18.8M at KTB today.</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48.0M</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captive customers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AIS × KTB × OR consortium</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1.7M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on CLICX</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3.5% of the captive base</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21.6M</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reachable at AIS</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no CLICX, active today</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18.8M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reachable at KTB</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no CLICX, active today</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Where the captive base sits</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Penetration = CLICX customers ÷ segment base · priority segments highlighted</a:t>
            </a:r>
            <a:endParaRPr lang="en-US" sz="9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49808" y="3474720"/>
          <a:ext cx="6281928" cy="914400"/>
        </p:xfrm>
        <a:graphic>
          <a:graphicData uri="http://schemas.openxmlformats.org/drawingml/2006/table">
            <a:tbl>
              <a:tblPr/>
              <a:tblGrid>
                <a:gridCol w="1298448"/>
                <a:gridCol w="978408"/>
                <a:gridCol w="978408"/>
                <a:gridCol w="1069848"/>
                <a:gridCol w="978408"/>
                <a:gridCol w="978408"/>
              </a:tblGrid>
              <a:tr h="219456">
                <a:tc>
                  <a:txBody>
                    <a:bodyPr/>
                    <a:lstStyle/>
                    <a:p>
                      <a:pPr algn="l" indent="0" marL="0">
                        <a:buNone/>
                      </a:pPr>
                      <a:r>
                        <a:rPr lang="en-US" sz="800" b="1" dirty="0">
                          <a:solidFill>
                            <a:srgbClr val="FFFFFF"/>
                          </a:solidFill>
                          <a:latin typeface="Graphik TH" pitchFamily="34" charset="0"/>
                          <a:ea typeface="Graphik TH" pitchFamily="34" charset="-122"/>
                          <a:cs typeface="Graphik TH" pitchFamily="34" charset="-120"/>
                        </a:rPr>
                        <a:t>Segment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No CLICX</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On CLICX</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Penetration</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App-in</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Deposit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 only</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12.2M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79K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0.6%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33K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56K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 &amp; 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1.3M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58K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4.3%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23K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44K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045D66"/>
                          </a:solidFill>
                          <a:latin typeface="Graphik TH" pitchFamily="34" charset="0"/>
                          <a:ea typeface="Graphik TH" pitchFamily="34" charset="-122"/>
                          <a:cs typeface="Graphik TH" pitchFamily="34" charset="-120"/>
                        </a:rPr>
                        <a:t>AIS &amp; KTB</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E8F6F3"/>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14.0M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597K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4.1%</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256K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439K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045D66"/>
                          </a:solidFill>
                          <a:latin typeface="Graphik TH" pitchFamily="34" charset="0"/>
                          <a:ea typeface="Graphik TH" pitchFamily="34" charset="-122"/>
                          <a:cs typeface="Graphik TH" pitchFamily="34" charset="-120"/>
                        </a:rPr>
                        <a:t>AIS KTB 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E8F6F3"/>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4.8M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428K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8.2%</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177K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330K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KTB only</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12.0M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342K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2.8%</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136K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245K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KTB 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2.3M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181K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7.3%</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77K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137K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OR only</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703K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11K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9K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3D"/>
                          </a:solidFill>
                          <a:latin typeface="Graphik TH" pitchFamily="34" charset="0"/>
                          <a:ea typeface="Graphik TH" pitchFamily="34" charset="-122"/>
                          <a:cs typeface="Graphik TH" pitchFamily="34" charset="-120"/>
                        </a:rPr>
                        <a:t>16K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10312">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Total</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47.3M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1.7M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3.5%</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711K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1.3M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r>
            </a:tbl>
          </a:graphicData>
        </a:graphic>
      </p:graphicFrame>
      <p:sp>
        <p:nvSpPr>
          <p:cNvPr id="26" name="Shape 23"/>
          <p:cNvSpPr/>
          <p:nvPr/>
        </p:nvSpPr>
        <p:spPr>
          <a:xfrm>
            <a:off x="7479792" y="2798064"/>
            <a:ext cx="4325112" cy="2322576"/>
          </a:xfrm>
          <a:prstGeom prst="roundRect">
            <a:avLst>
              <a:gd name="adj" fmla="val 3543"/>
            </a:avLst>
          </a:prstGeom>
          <a:solidFill>
            <a:srgbClr val="F1F4F9"/>
          </a:solidFill>
          <a:ln/>
        </p:spPr>
      </p:sp>
      <p:sp>
        <p:nvSpPr>
          <p:cNvPr id="27" name="Text 24"/>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Where to find the 48M</a:t>
            </a:r>
            <a:endParaRPr lang="en-US" sz="1400" dirty="0"/>
          </a:p>
        </p:txBody>
      </p:sp>
      <p:sp>
        <p:nvSpPr>
          <p:cNvPr id="28" name="Text 25"/>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Not on CLICX, active at a consortium partner</a:t>
            </a:r>
            <a:endParaRPr lang="en-US" sz="950" dirty="0"/>
          </a:p>
        </p:txBody>
      </p:sp>
      <p:sp>
        <p:nvSpPr>
          <p:cNvPr id="29" name="Text 26"/>
          <p:cNvSpPr/>
          <p:nvPr/>
        </p:nvSpPr>
        <p:spPr>
          <a:xfrm>
            <a:off x="7735824" y="3438144"/>
            <a:ext cx="1188720"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AIS only</a:t>
            </a:r>
            <a:endParaRPr lang="en-US" sz="850" dirty="0"/>
          </a:p>
        </p:txBody>
      </p:sp>
      <p:sp>
        <p:nvSpPr>
          <p:cNvPr id="30" name="Shape 27"/>
          <p:cNvSpPr/>
          <p:nvPr/>
        </p:nvSpPr>
        <p:spPr>
          <a:xfrm>
            <a:off x="8979408" y="3479292"/>
            <a:ext cx="745808" cy="155448"/>
          </a:xfrm>
          <a:prstGeom prst="roundRect">
            <a:avLst>
              <a:gd name="adj" fmla="val 17647"/>
            </a:avLst>
          </a:prstGeom>
          <a:solidFill>
            <a:srgbClr val="165A73"/>
          </a:solidFill>
          <a:ln/>
        </p:spPr>
      </p:sp>
      <p:sp>
        <p:nvSpPr>
          <p:cNvPr id="31" name="Text 28"/>
          <p:cNvSpPr/>
          <p:nvPr/>
        </p:nvSpPr>
        <p:spPr>
          <a:xfrm>
            <a:off x="9838944" y="3438144"/>
            <a:ext cx="457200" cy="237744"/>
          </a:xfrm>
          <a:prstGeom prst="rect">
            <a:avLst/>
          </a:prstGeom>
          <a:noFill/>
          <a:ln/>
        </p:spPr>
        <p:txBody>
          <a:bodyPr wrap="square" lIns="0" tIns="0" rIns="0" bIns="0" rtlCol="0" anchor="ctr"/>
          <a:lstStyle/>
          <a:p>
            <a:pPr algn="r" indent="0" marL="0">
              <a:buNone/>
            </a:pPr>
            <a:r>
              <a:rPr lang="en-US" sz="800" b="1" dirty="0">
                <a:solidFill>
                  <a:srgbClr val="165A73"/>
                </a:solidFill>
                <a:latin typeface="Graphik TH" pitchFamily="34" charset="0"/>
                <a:ea typeface="Graphik TH" pitchFamily="34" charset="-122"/>
                <a:cs typeface="Graphik TH" pitchFamily="34" charset="-120"/>
              </a:rPr>
              <a:t>8.7M</a:t>
            </a:r>
            <a:endParaRPr lang="en-US" sz="800" dirty="0"/>
          </a:p>
        </p:txBody>
      </p:sp>
      <p:sp>
        <p:nvSpPr>
          <p:cNvPr id="32" name="Text 29"/>
          <p:cNvSpPr/>
          <p:nvPr/>
        </p:nvSpPr>
        <p:spPr>
          <a:xfrm>
            <a:off x="7735824" y="3685032"/>
            <a:ext cx="1188720"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AIS &amp; OR</a:t>
            </a:r>
            <a:endParaRPr lang="en-US" sz="850" dirty="0"/>
          </a:p>
        </p:txBody>
      </p:sp>
      <p:sp>
        <p:nvSpPr>
          <p:cNvPr id="33" name="Shape 30"/>
          <p:cNvSpPr/>
          <p:nvPr/>
        </p:nvSpPr>
        <p:spPr>
          <a:xfrm>
            <a:off x="8979408" y="3726180"/>
            <a:ext cx="62065" cy="155448"/>
          </a:xfrm>
          <a:prstGeom prst="roundRect">
            <a:avLst>
              <a:gd name="adj" fmla="val 44199"/>
            </a:avLst>
          </a:prstGeom>
          <a:solidFill>
            <a:srgbClr val="165A73"/>
          </a:solidFill>
          <a:ln/>
        </p:spPr>
      </p:sp>
      <p:sp>
        <p:nvSpPr>
          <p:cNvPr id="34" name="Text 31"/>
          <p:cNvSpPr/>
          <p:nvPr/>
        </p:nvSpPr>
        <p:spPr>
          <a:xfrm>
            <a:off x="9838944" y="3685032"/>
            <a:ext cx="457200" cy="237744"/>
          </a:xfrm>
          <a:prstGeom prst="rect">
            <a:avLst/>
          </a:prstGeom>
          <a:noFill/>
          <a:ln/>
        </p:spPr>
        <p:txBody>
          <a:bodyPr wrap="square" lIns="0" tIns="0" rIns="0" bIns="0" rtlCol="0" anchor="ctr"/>
          <a:lstStyle/>
          <a:p>
            <a:pPr algn="r" indent="0" marL="0">
              <a:buNone/>
            </a:pPr>
            <a:r>
              <a:rPr lang="en-US" sz="800" b="1" dirty="0">
                <a:solidFill>
                  <a:srgbClr val="165A73"/>
                </a:solidFill>
                <a:latin typeface="Graphik TH" pitchFamily="34" charset="0"/>
                <a:ea typeface="Graphik TH" pitchFamily="34" charset="-122"/>
                <a:cs typeface="Graphik TH" pitchFamily="34" charset="-120"/>
              </a:rPr>
              <a:t>724K</a:t>
            </a:r>
            <a:endParaRPr lang="en-US" sz="800" dirty="0"/>
          </a:p>
        </p:txBody>
      </p:sp>
      <p:sp>
        <p:nvSpPr>
          <p:cNvPr id="35" name="Text 32"/>
          <p:cNvSpPr/>
          <p:nvPr/>
        </p:nvSpPr>
        <p:spPr>
          <a:xfrm>
            <a:off x="7735824" y="3931920"/>
            <a:ext cx="1188720"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AIS &amp; KTB</a:t>
            </a:r>
            <a:endParaRPr lang="en-US" sz="850" dirty="0"/>
          </a:p>
        </p:txBody>
      </p:sp>
      <p:sp>
        <p:nvSpPr>
          <p:cNvPr id="36" name="Shape 33"/>
          <p:cNvSpPr/>
          <p:nvPr/>
        </p:nvSpPr>
        <p:spPr>
          <a:xfrm>
            <a:off x="8979408" y="3973068"/>
            <a:ext cx="822960" cy="155448"/>
          </a:xfrm>
          <a:prstGeom prst="roundRect">
            <a:avLst>
              <a:gd name="adj" fmla="val 17647"/>
            </a:avLst>
          </a:prstGeom>
          <a:solidFill>
            <a:srgbClr val="165A73"/>
          </a:solidFill>
          <a:ln/>
        </p:spPr>
      </p:sp>
      <p:sp>
        <p:nvSpPr>
          <p:cNvPr id="37" name="Text 34"/>
          <p:cNvSpPr/>
          <p:nvPr/>
        </p:nvSpPr>
        <p:spPr>
          <a:xfrm>
            <a:off x="9838944" y="3931920"/>
            <a:ext cx="457200" cy="237744"/>
          </a:xfrm>
          <a:prstGeom prst="rect">
            <a:avLst/>
          </a:prstGeom>
          <a:noFill/>
          <a:ln/>
        </p:spPr>
        <p:txBody>
          <a:bodyPr wrap="square" lIns="0" tIns="0" rIns="0" bIns="0" rtlCol="0" anchor="ctr"/>
          <a:lstStyle/>
          <a:p>
            <a:pPr algn="r" indent="0" marL="0">
              <a:buNone/>
            </a:pPr>
            <a:r>
              <a:rPr lang="en-US" sz="800" b="1" dirty="0">
                <a:solidFill>
                  <a:srgbClr val="165A73"/>
                </a:solidFill>
                <a:latin typeface="Graphik TH" pitchFamily="34" charset="0"/>
                <a:ea typeface="Graphik TH" pitchFamily="34" charset="-122"/>
                <a:cs typeface="Graphik TH" pitchFamily="34" charset="-120"/>
              </a:rPr>
              <a:t>9.6M</a:t>
            </a:r>
            <a:endParaRPr lang="en-US" sz="800" dirty="0"/>
          </a:p>
        </p:txBody>
      </p:sp>
      <p:sp>
        <p:nvSpPr>
          <p:cNvPr id="38" name="Shape 35"/>
          <p:cNvSpPr/>
          <p:nvPr/>
        </p:nvSpPr>
        <p:spPr>
          <a:xfrm>
            <a:off x="10314432" y="3973068"/>
            <a:ext cx="660083" cy="155448"/>
          </a:xfrm>
          <a:prstGeom prst="roundRect">
            <a:avLst>
              <a:gd name="adj" fmla="val 17647"/>
            </a:avLst>
          </a:prstGeom>
          <a:solidFill>
            <a:srgbClr val="3FB89F"/>
          </a:solidFill>
          <a:ln/>
        </p:spPr>
      </p:sp>
      <p:sp>
        <p:nvSpPr>
          <p:cNvPr id="39" name="Text 36"/>
          <p:cNvSpPr/>
          <p:nvPr/>
        </p:nvSpPr>
        <p:spPr>
          <a:xfrm>
            <a:off x="11173968" y="3931920"/>
            <a:ext cx="457200" cy="237744"/>
          </a:xfrm>
          <a:prstGeom prst="rect">
            <a:avLst/>
          </a:prstGeom>
          <a:noFill/>
          <a:ln/>
        </p:spPr>
        <p:txBody>
          <a:bodyPr wrap="square" lIns="0" tIns="0" rIns="0" bIns="0" rtlCol="0" anchor="ctr"/>
          <a:lstStyle/>
          <a:p>
            <a:pPr algn="r" indent="0" marL="0">
              <a:buNone/>
            </a:pPr>
            <a:r>
              <a:rPr lang="en-US" sz="800" b="1" dirty="0">
                <a:solidFill>
                  <a:srgbClr val="3FB89F"/>
                </a:solidFill>
                <a:latin typeface="Graphik TH" pitchFamily="34" charset="0"/>
                <a:ea typeface="Graphik TH" pitchFamily="34" charset="-122"/>
                <a:cs typeface="Graphik TH" pitchFamily="34" charset="-120"/>
              </a:rPr>
              <a:t>7.7M</a:t>
            </a:r>
            <a:endParaRPr lang="en-US" sz="800" dirty="0"/>
          </a:p>
        </p:txBody>
      </p:sp>
      <p:sp>
        <p:nvSpPr>
          <p:cNvPr id="40" name="Text 37"/>
          <p:cNvSpPr/>
          <p:nvPr/>
        </p:nvSpPr>
        <p:spPr>
          <a:xfrm>
            <a:off x="7735824" y="4178808"/>
            <a:ext cx="1188720"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AIS KTB OR</a:t>
            </a:r>
            <a:endParaRPr lang="en-US" sz="850" dirty="0"/>
          </a:p>
        </p:txBody>
      </p:sp>
      <p:sp>
        <p:nvSpPr>
          <p:cNvPr id="41" name="Shape 38"/>
          <p:cNvSpPr/>
          <p:nvPr/>
        </p:nvSpPr>
        <p:spPr>
          <a:xfrm>
            <a:off x="8979408" y="4219956"/>
            <a:ext cx="222885" cy="155448"/>
          </a:xfrm>
          <a:prstGeom prst="roundRect">
            <a:avLst>
              <a:gd name="adj" fmla="val 17647"/>
            </a:avLst>
          </a:prstGeom>
          <a:solidFill>
            <a:srgbClr val="165A73"/>
          </a:solidFill>
          <a:ln/>
        </p:spPr>
      </p:sp>
      <p:sp>
        <p:nvSpPr>
          <p:cNvPr id="42" name="Text 39"/>
          <p:cNvSpPr/>
          <p:nvPr/>
        </p:nvSpPr>
        <p:spPr>
          <a:xfrm>
            <a:off x="9838944" y="4178808"/>
            <a:ext cx="457200" cy="237744"/>
          </a:xfrm>
          <a:prstGeom prst="rect">
            <a:avLst/>
          </a:prstGeom>
          <a:noFill/>
          <a:ln/>
        </p:spPr>
        <p:txBody>
          <a:bodyPr wrap="square" lIns="0" tIns="0" rIns="0" bIns="0" rtlCol="0" anchor="ctr"/>
          <a:lstStyle/>
          <a:p>
            <a:pPr algn="r" indent="0" marL="0">
              <a:buNone/>
            </a:pPr>
            <a:r>
              <a:rPr lang="en-US" sz="800" b="1" dirty="0">
                <a:solidFill>
                  <a:srgbClr val="165A73"/>
                </a:solidFill>
                <a:latin typeface="Graphik TH" pitchFamily="34" charset="0"/>
                <a:ea typeface="Graphik TH" pitchFamily="34" charset="-122"/>
                <a:cs typeface="Graphik TH" pitchFamily="34" charset="-120"/>
              </a:rPr>
              <a:t>2.6M</a:t>
            </a:r>
            <a:endParaRPr lang="en-US" sz="800" dirty="0"/>
          </a:p>
        </p:txBody>
      </p:sp>
      <p:sp>
        <p:nvSpPr>
          <p:cNvPr id="43" name="Shape 40"/>
          <p:cNvSpPr/>
          <p:nvPr/>
        </p:nvSpPr>
        <p:spPr>
          <a:xfrm>
            <a:off x="10314432" y="4219956"/>
            <a:ext cx="291465" cy="155448"/>
          </a:xfrm>
          <a:prstGeom prst="roundRect">
            <a:avLst>
              <a:gd name="adj" fmla="val 17647"/>
            </a:avLst>
          </a:prstGeom>
          <a:solidFill>
            <a:srgbClr val="3FB89F"/>
          </a:solidFill>
          <a:ln/>
        </p:spPr>
      </p:sp>
      <p:sp>
        <p:nvSpPr>
          <p:cNvPr id="44" name="Text 41"/>
          <p:cNvSpPr/>
          <p:nvPr/>
        </p:nvSpPr>
        <p:spPr>
          <a:xfrm>
            <a:off x="11173968" y="4178808"/>
            <a:ext cx="457200" cy="237744"/>
          </a:xfrm>
          <a:prstGeom prst="rect">
            <a:avLst/>
          </a:prstGeom>
          <a:noFill/>
          <a:ln/>
        </p:spPr>
        <p:txBody>
          <a:bodyPr wrap="square" lIns="0" tIns="0" rIns="0" bIns="0" rtlCol="0" anchor="ctr"/>
          <a:lstStyle/>
          <a:p>
            <a:pPr algn="r" indent="0" marL="0">
              <a:buNone/>
            </a:pPr>
            <a:r>
              <a:rPr lang="en-US" sz="800" b="1" dirty="0">
                <a:solidFill>
                  <a:srgbClr val="3FB89F"/>
                </a:solidFill>
                <a:latin typeface="Graphik TH" pitchFamily="34" charset="0"/>
                <a:ea typeface="Graphik TH" pitchFamily="34" charset="-122"/>
                <a:cs typeface="Graphik TH" pitchFamily="34" charset="-120"/>
              </a:rPr>
              <a:t>3.4M</a:t>
            </a:r>
            <a:endParaRPr lang="en-US" sz="800" dirty="0"/>
          </a:p>
        </p:txBody>
      </p:sp>
      <p:sp>
        <p:nvSpPr>
          <p:cNvPr id="45" name="Text 42"/>
          <p:cNvSpPr/>
          <p:nvPr/>
        </p:nvSpPr>
        <p:spPr>
          <a:xfrm>
            <a:off x="7735824" y="4425696"/>
            <a:ext cx="1188720"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KTB only</a:t>
            </a:r>
            <a:endParaRPr lang="en-US" sz="850" dirty="0"/>
          </a:p>
        </p:txBody>
      </p:sp>
      <p:sp>
        <p:nvSpPr>
          <p:cNvPr id="46" name="Shape 43"/>
          <p:cNvSpPr/>
          <p:nvPr/>
        </p:nvSpPr>
        <p:spPr>
          <a:xfrm>
            <a:off x="10314432" y="4466844"/>
            <a:ext cx="531495" cy="155448"/>
          </a:xfrm>
          <a:prstGeom prst="roundRect">
            <a:avLst>
              <a:gd name="adj" fmla="val 17647"/>
            </a:avLst>
          </a:prstGeom>
          <a:solidFill>
            <a:srgbClr val="3FB89F"/>
          </a:solidFill>
          <a:ln/>
        </p:spPr>
      </p:sp>
      <p:sp>
        <p:nvSpPr>
          <p:cNvPr id="47" name="Text 44"/>
          <p:cNvSpPr/>
          <p:nvPr/>
        </p:nvSpPr>
        <p:spPr>
          <a:xfrm>
            <a:off x="11173968" y="4425696"/>
            <a:ext cx="457200" cy="237744"/>
          </a:xfrm>
          <a:prstGeom prst="rect">
            <a:avLst/>
          </a:prstGeom>
          <a:noFill/>
          <a:ln/>
        </p:spPr>
        <p:txBody>
          <a:bodyPr wrap="square" lIns="0" tIns="0" rIns="0" bIns="0" rtlCol="0" anchor="ctr"/>
          <a:lstStyle/>
          <a:p>
            <a:pPr algn="r" indent="0" marL="0">
              <a:buNone/>
            </a:pPr>
            <a:r>
              <a:rPr lang="en-US" sz="800" b="1" dirty="0">
                <a:solidFill>
                  <a:srgbClr val="3FB89F"/>
                </a:solidFill>
                <a:latin typeface="Graphik TH" pitchFamily="34" charset="0"/>
                <a:ea typeface="Graphik TH" pitchFamily="34" charset="-122"/>
                <a:cs typeface="Graphik TH" pitchFamily="34" charset="-120"/>
              </a:rPr>
              <a:t>6.2M</a:t>
            </a:r>
            <a:endParaRPr lang="en-US" sz="800" dirty="0"/>
          </a:p>
        </p:txBody>
      </p:sp>
      <p:sp>
        <p:nvSpPr>
          <p:cNvPr id="48" name="Text 45"/>
          <p:cNvSpPr/>
          <p:nvPr/>
        </p:nvSpPr>
        <p:spPr>
          <a:xfrm>
            <a:off x="7735824" y="4672584"/>
            <a:ext cx="1188720" cy="237744"/>
          </a:xfrm>
          <a:prstGeom prst="rect">
            <a:avLst/>
          </a:prstGeom>
          <a:noFill/>
          <a:ln/>
        </p:spPr>
        <p:txBody>
          <a:bodyPr wrap="square" lIns="0" tIns="0" rIns="0" bIns="0" rtlCol="0" anchor="ctr"/>
          <a:lstStyle/>
          <a:p>
            <a:pPr indent="0" marL="0">
              <a:buNone/>
            </a:pPr>
            <a:r>
              <a:rPr lang="en-US" sz="850" b="1" dirty="0">
                <a:solidFill>
                  <a:srgbClr val="16233D"/>
                </a:solidFill>
                <a:latin typeface="Graphik TH" pitchFamily="34" charset="0"/>
                <a:ea typeface="Graphik TH" pitchFamily="34" charset="-122"/>
                <a:cs typeface="Graphik TH" pitchFamily="34" charset="-120"/>
              </a:rPr>
              <a:t>KTB OR</a:t>
            </a:r>
            <a:endParaRPr lang="en-US" sz="850" dirty="0"/>
          </a:p>
        </p:txBody>
      </p:sp>
      <p:sp>
        <p:nvSpPr>
          <p:cNvPr id="49" name="Shape 46"/>
          <p:cNvSpPr/>
          <p:nvPr/>
        </p:nvSpPr>
        <p:spPr>
          <a:xfrm>
            <a:off x="10314432" y="4713732"/>
            <a:ext cx="128588" cy="155448"/>
          </a:xfrm>
          <a:prstGeom prst="roundRect">
            <a:avLst>
              <a:gd name="adj" fmla="val 21333"/>
            </a:avLst>
          </a:prstGeom>
          <a:solidFill>
            <a:srgbClr val="3FB89F"/>
          </a:solidFill>
          <a:ln/>
        </p:spPr>
      </p:sp>
      <p:sp>
        <p:nvSpPr>
          <p:cNvPr id="50" name="Text 47"/>
          <p:cNvSpPr/>
          <p:nvPr/>
        </p:nvSpPr>
        <p:spPr>
          <a:xfrm>
            <a:off x="11173968" y="4672584"/>
            <a:ext cx="457200" cy="237744"/>
          </a:xfrm>
          <a:prstGeom prst="rect">
            <a:avLst/>
          </a:prstGeom>
          <a:noFill/>
          <a:ln/>
        </p:spPr>
        <p:txBody>
          <a:bodyPr wrap="square" lIns="0" tIns="0" rIns="0" bIns="0" rtlCol="0" anchor="ctr"/>
          <a:lstStyle/>
          <a:p>
            <a:pPr algn="r" indent="0" marL="0">
              <a:buNone/>
            </a:pPr>
            <a:r>
              <a:rPr lang="en-US" sz="800" b="1" dirty="0">
                <a:solidFill>
                  <a:srgbClr val="3FB89F"/>
                </a:solidFill>
                <a:latin typeface="Graphik TH" pitchFamily="34" charset="0"/>
                <a:ea typeface="Graphik TH" pitchFamily="34" charset="-122"/>
                <a:cs typeface="Graphik TH" pitchFamily="34" charset="-120"/>
              </a:rPr>
              <a:t>1.5M</a:t>
            </a:r>
            <a:endParaRPr lang="en-US" sz="800" dirty="0"/>
          </a:p>
        </p:txBody>
      </p:sp>
      <p:sp>
        <p:nvSpPr>
          <p:cNvPr id="51" name="Text 48"/>
          <p:cNvSpPr/>
          <p:nvPr/>
        </p:nvSpPr>
        <p:spPr>
          <a:xfrm>
            <a:off x="8979408" y="4937760"/>
            <a:ext cx="1316736" cy="182880"/>
          </a:xfrm>
          <a:prstGeom prst="rect">
            <a:avLst/>
          </a:prstGeom>
          <a:noFill/>
          <a:ln/>
        </p:spPr>
        <p:txBody>
          <a:bodyPr wrap="square" lIns="0" tIns="0" rIns="0" bIns="0" rtlCol="0" anchor="ctr"/>
          <a:lstStyle/>
          <a:p>
            <a:pPr indent="0" marL="0">
              <a:buNone/>
            </a:pPr>
            <a:r>
              <a:rPr lang="en-US" sz="850" b="1" dirty="0">
                <a:solidFill>
                  <a:srgbClr val="165A73"/>
                </a:solidFill>
                <a:latin typeface="Graphik TH" pitchFamily="34" charset="0"/>
                <a:ea typeface="Graphik TH" pitchFamily="34" charset="-122"/>
                <a:cs typeface="Graphik TH" pitchFamily="34" charset="-120"/>
              </a:rPr>
              <a:t>Active at AIS  21.6M</a:t>
            </a:r>
            <a:endParaRPr lang="en-US" sz="850" dirty="0"/>
          </a:p>
        </p:txBody>
      </p:sp>
      <p:sp>
        <p:nvSpPr>
          <p:cNvPr id="52" name="Text 49"/>
          <p:cNvSpPr/>
          <p:nvPr/>
        </p:nvSpPr>
        <p:spPr>
          <a:xfrm>
            <a:off x="10314432" y="4937760"/>
            <a:ext cx="1316736" cy="182880"/>
          </a:xfrm>
          <a:prstGeom prst="rect">
            <a:avLst/>
          </a:prstGeom>
          <a:noFill/>
          <a:ln/>
        </p:spPr>
        <p:txBody>
          <a:bodyPr wrap="square" lIns="0" tIns="0" rIns="0" bIns="0" rtlCol="0" anchor="ctr"/>
          <a:lstStyle/>
          <a:p>
            <a:pPr indent="0" marL="0">
              <a:buNone/>
            </a:pPr>
            <a:r>
              <a:rPr lang="en-US" sz="850" b="1" dirty="0">
                <a:solidFill>
                  <a:srgbClr val="3FB89F"/>
                </a:solidFill>
                <a:latin typeface="Graphik TH" pitchFamily="34" charset="0"/>
                <a:ea typeface="Graphik TH" pitchFamily="34" charset="-122"/>
                <a:cs typeface="Graphik TH" pitchFamily="34" charset="-120"/>
              </a:rPr>
              <a:t>Active at KTB  18.8M</a:t>
            </a:r>
            <a:endParaRPr lang="en-US" sz="850" dirty="0"/>
          </a:p>
        </p:txBody>
      </p:sp>
      <p:sp>
        <p:nvSpPr>
          <p:cNvPr id="53" name="Shape 50"/>
          <p:cNvSpPr/>
          <p:nvPr/>
        </p:nvSpPr>
        <p:spPr>
          <a:xfrm>
            <a:off x="530352" y="5285232"/>
            <a:ext cx="11274552" cy="786384"/>
          </a:xfrm>
          <a:prstGeom prst="roundRect">
            <a:avLst>
              <a:gd name="adj" fmla="val 10465"/>
            </a:avLst>
          </a:prstGeom>
          <a:solidFill>
            <a:srgbClr val="E8F6F3"/>
          </a:solidFill>
          <a:ln/>
        </p:spPr>
      </p:sp>
      <p:sp>
        <p:nvSpPr>
          <p:cNvPr id="54" name="Text 51"/>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AIS &amp; KTB and AIS KTB OR hold 60% of CLICX customers from 40% of the base</a:t>
            </a:r>
            <a:pPr indent="0" marL="0">
              <a:buNone/>
            </a:pPr>
            <a:r>
              <a:rPr lang="en-US" sz="1100" dirty="0">
                <a:solidFill>
                  <a:srgbClr val="16233D"/>
                </a:solidFill>
                <a:latin typeface="Graphik TH" pitchFamily="34" charset="0"/>
                <a:ea typeface="Graphik TH" pitchFamily="34" charset="-122"/>
                <a:cs typeface="Graphik TH" pitchFamily="34" charset="-120"/>
              </a:rPr>
              <a:t>  —  they over-index on adoption, on app-in and on deposit, and they are still active at AIS or KTB. These two segments are where acquisition should start.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An OR relationship multiplies CLICX adoption</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*Penetration = CLICX customers ÷ segment base. Cash-need intensity is the medium-high share of the non-CLICX segment.</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With OR 9.8M base → 678K on CLICX (6.9%)   ·   Without OR 39.2M → 1.0M (2.6%)   ·   2.7× lift</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The same lift shows up three times over: adoption, loan booking, and cash-need intensity.</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6.9%</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penetration with OR</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678K of 9.8M</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8DA0B8"/>
                </a:solidFill>
                <a:latin typeface="Graphik TH" pitchFamily="34" charset="0"/>
                <a:ea typeface="Graphik TH" pitchFamily="34" charset="-122"/>
                <a:cs typeface="Graphik TH" pitchFamily="34" charset="-120"/>
              </a:rPr>
              <a:t>2.6%</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penetration without OR</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1.0M of 39.2M</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6.6×</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AIS only → AIS &amp; OR</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0.64% → 4.27%</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24.5%</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loan booking with OR</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against 16.0% without</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CLICX penetration by segment</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Segments carrying an OR relationship in teal</a:t>
            </a:r>
            <a:endParaRPr lang="en-US" sz="950" dirty="0"/>
          </a:p>
        </p:txBody>
      </p:sp>
      <p:sp>
        <p:nvSpPr>
          <p:cNvPr id="25" name="Text 23"/>
          <p:cNvSpPr/>
          <p:nvPr/>
        </p:nvSpPr>
        <p:spPr>
          <a:xfrm>
            <a:off x="786384" y="34564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only</a:t>
            </a:r>
            <a:endParaRPr lang="en-US" sz="950" dirty="0"/>
          </a:p>
        </p:txBody>
      </p:sp>
      <p:sp>
        <p:nvSpPr>
          <p:cNvPr id="26" name="Shape 24"/>
          <p:cNvSpPr/>
          <p:nvPr/>
        </p:nvSpPr>
        <p:spPr>
          <a:xfrm>
            <a:off x="2194560" y="3497580"/>
            <a:ext cx="2148840" cy="155448"/>
          </a:xfrm>
          <a:prstGeom prst="roundRect">
            <a:avLst>
              <a:gd name="adj" fmla="val 17647"/>
            </a:avLst>
          </a:prstGeom>
          <a:solidFill>
            <a:srgbClr val="E4E9F0"/>
          </a:solidFill>
          <a:ln/>
        </p:spPr>
      </p:sp>
      <p:sp>
        <p:nvSpPr>
          <p:cNvPr id="27" name="Shape 25"/>
          <p:cNvSpPr/>
          <p:nvPr/>
        </p:nvSpPr>
        <p:spPr>
          <a:xfrm>
            <a:off x="2194560" y="3497580"/>
            <a:ext cx="168873" cy="155448"/>
          </a:xfrm>
          <a:prstGeom prst="roundRect">
            <a:avLst>
              <a:gd name="adj" fmla="val 17647"/>
            </a:avLst>
          </a:prstGeom>
          <a:solidFill>
            <a:srgbClr val="8DA0B8"/>
          </a:solidFill>
          <a:ln/>
        </p:spPr>
      </p:sp>
      <p:sp>
        <p:nvSpPr>
          <p:cNvPr id="28" name="Text 26"/>
          <p:cNvSpPr/>
          <p:nvPr/>
        </p:nvSpPr>
        <p:spPr>
          <a:xfrm>
            <a:off x="4443984" y="3456432"/>
            <a:ext cx="822960" cy="237744"/>
          </a:xfrm>
          <a:prstGeom prst="rect">
            <a:avLst/>
          </a:prstGeom>
          <a:noFill/>
          <a:ln/>
        </p:spPr>
        <p:txBody>
          <a:bodyPr wrap="square" lIns="0" tIns="0" rIns="0" bIns="0" rtlCol="0" anchor="ctr"/>
          <a:lstStyle/>
          <a:p>
            <a:pPr algn="r" indent="0" marL="0">
              <a:buNone/>
            </a:pPr>
            <a:r>
              <a:rPr lang="en-US" sz="950" b="1" dirty="0">
                <a:solidFill>
                  <a:srgbClr val="8DA0B8"/>
                </a:solidFill>
                <a:latin typeface="Graphik TH" pitchFamily="34" charset="0"/>
                <a:ea typeface="Graphik TH" pitchFamily="34" charset="-122"/>
                <a:cs typeface="Graphik TH" pitchFamily="34" charset="-120"/>
              </a:rPr>
              <a:t>0.64%</a:t>
            </a:r>
            <a:endParaRPr lang="en-US" sz="950" dirty="0"/>
          </a:p>
        </p:txBody>
      </p:sp>
      <p:sp>
        <p:nvSpPr>
          <p:cNvPr id="29" name="Text 27"/>
          <p:cNvSpPr/>
          <p:nvPr/>
        </p:nvSpPr>
        <p:spPr>
          <a:xfrm>
            <a:off x="786384" y="36850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&amp; OR</a:t>
            </a:r>
            <a:endParaRPr lang="en-US" sz="950" dirty="0"/>
          </a:p>
        </p:txBody>
      </p:sp>
      <p:sp>
        <p:nvSpPr>
          <p:cNvPr id="30" name="Shape 28"/>
          <p:cNvSpPr/>
          <p:nvPr/>
        </p:nvSpPr>
        <p:spPr>
          <a:xfrm>
            <a:off x="2194560" y="3726180"/>
            <a:ext cx="2148840" cy="155448"/>
          </a:xfrm>
          <a:prstGeom prst="roundRect">
            <a:avLst>
              <a:gd name="adj" fmla="val 17647"/>
            </a:avLst>
          </a:prstGeom>
          <a:solidFill>
            <a:srgbClr val="E4E9F0"/>
          </a:solidFill>
          <a:ln/>
        </p:spPr>
      </p:sp>
      <p:sp>
        <p:nvSpPr>
          <p:cNvPr id="31" name="Shape 29"/>
          <p:cNvSpPr/>
          <p:nvPr/>
        </p:nvSpPr>
        <p:spPr>
          <a:xfrm>
            <a:off x="2194560" y="3726180"/>
            <a:ext cx="1121048" cy="155448"/>
          </a:xfrm>
          <a:prstGeom prst="roundRect">
            <a:avLst>
              <a:gd name="adj" fmla="val 17647"/>
            </a:avLst>
          </a:prstGeom>
          <a:solidFill>
            <a:srgbClr val="1E8E86"/>
          </a:solidFill>
          <a:ln/>
        </p:spPr>
      </p:sp>
      <p:sp>
        <p:nvSpPr>
          <p:cNvPr id="32" name="Text 30"/>
          <p:cNvSpPr/>
          <p:nvPr/>
        </p:nvSpPr>
        <p:spPr>
          <a:xfrm>
            <a:off x="4443984" y="36850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4.27%</a:t>
            </a:r>
            <a:endParaRPr lang="en-US" sz="950" dirty="0"/>
          </a:p>
        </p:txBody>
      </p:sp>
      <p:sp>
        <p:nvSpPr>
          <p:cNvPr id="33" name="Text 31"/>
          <p:cNvSpPr/>
          <p:nvPr/>
        </p:nvSpPr>
        <p:spPr>
          <a:xfrm>
            <a:off x="786384" y="39136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&amp; KTB</a:t>
            </a:r>
            <a:endParaRPr lang="en-US" sz="950" dirty="0"/>
          </a:p>
        </p:txBody>
      </p:sp>
      <p:sp>
        <p:nvSpPr>
          <p:cNvPr id="34" name="Shape 32"/>
          <p:cNvSpPr/>
          <p:nvPr/>
        </p:nvSpPr>
        <p:spPr>
          <a:xfrm>
            <a:off x="2194560" y="3954780"/>
            <a:ext cx="2148840" cy="155448"/>
          </a:xfrm>
          <a:prstGeom prst="roundRect">
            <a:avLst>
              <a:gd name="adj" fmla="val 17647"/>
            </a:avLst>
          </a:prstGeom>
          <a:solidFill>
            <a:srgbClr val="E4E9F0"/>
          </a:solidFill>
          <a:ln/>
        </p:spPr>
      </p:sp>
      <p:sp>
        <p:nvSpPr>
          <p:cNvPr id="35" name="Shape 33"/>
          <p:cNvSpPr/>
          <p:nvPr/>
        </p:nvSpPr>
        <p:spPr>
          <a:xfrm>
            <a:off x="2194560" y="3954780"/>
            <a:ext cx="1073511" cy="155448"/>
          </a:xfrm>
          <a:prstGeom prst="roundRect">
            <a:avLst>
              <a:gd name="adj" fmla="val 17647"/>
            </a:avLst>
          </a:prstGeom>
          <a:solidFill>
            <a:srgbClr val="8DA0B8"/>
          </a:solidFill>
          <a:ln/>
        </p:spPr>
      </p:sp>
      <p:sp>
        <p:nvSpPr>
          <p:cNvPr id="36" name="Text 34"/>
          <p:cNvSpPr/>
          <p:nvPr/>
        </p:nvSpPr>
        <p:spPr>
          <a:xfrm>
            <a:off x="4443984" y="3913632"/>
            <a:ext cx="822960" cy="237744"/>
          </a:xfrm>
          <a:prstGeom prst="rect">
            <a:avLst/>
          </a:prstGeom>
          <a:noFill/>
          <a:ln/>
        </p:spPr>
        <p:txBody>
          <a:bodyPr wrap="square" lIns="0" tIns="0" rIns="0" bIns="0" rtlCol="0" anchor="ctr"/>
          <a:lstStyle/>
          <a:p>
            <a:pPr algn="r" indent="0" marL="0">
              <a:buNone/>
            </a:pPr>
            <a:r>
              <a:rPr lang="en-US" sz="950" b="1" dirty="0">
                <a:solidFill>
                  <a:srgbClr val="8DA0B8"/>
                </a:solidFill>
                <a:latin typeface="Graphik TH" pitchFamily="34" charset="0"/>
                <a:ea typeface="Graphik TH" pitchFamily="34" charset="-122"/>
                <a:cs typeface="Graphik TH" pitchFamily="34" charset="-120"/>
              </a:rPr>
              <a:t>4.09%</a:t>
            </a:r>
            <a:endParaRPr lang="en-US" sz="950" dirty="0"/>
          </a:p>
        </p:txBody>
      </p:sp>
      <p:sp>
        <p:nvSpPr>
          <p:cNvPr id="37" name="Text 35"/>
          <p:cNvSpPr/>
          <p:nvPr/>
        </p:nvSpPr>
        <p:spPr>
          <a:xfrm>
            <a:off x="786384" y="41422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KTB OR</a:t>
            </a:r>
            <a:endParaRPr lang="en-US" sz="950" dirty="0"/>
          </a:p>
        </p:txBody>
      </p:sp>
      <p:sp>
        <p:nvSpPr>
          <p:cNvPr id="38" name="Shape 36"/>
          <p:cNvSpPr/>
          <p:nvPr/>
        </p:nvSpPr>
        <p:spPr>
          <a:xfrm>
            <a:off x="2194560" y="4183380"/>
            <a:ext cx="2148840" cy="155448"/>
          </a:xfrm>
          <a:prstGeom prst="roundRect">
            <a:avLst>
              <a:gd name="adj" fmla="val 17647"/>
            </a:avLst>
          </a:prstGeom>
          <a:solidFill>
            <a:srgbClr val="E4E9F0"/>
          </a:solidFill>
          <a:ln/>
        </p:spPr>
      </p:sp>
      <p:sp>
        <p:nvSpPr>
          <p:cNvPr id="39" name="Shape 37"/>
          <p:cNvSpPr/>
          <p:nvPr/>
        </p:nvSpPr>
        <p:spPr>
          <a:xfrm>
            <a:off x="2194560" y="4183380"/>
            <a:ext cx="2148840" cy="155448"/>
          </a:xfrm>
          <a:prstGeom prst="roundRect">
            <a:avLst>
              <a:gd name="adj" fmla="val 17647"/>
            </a:avLst>
          </a:prstGeom>
          <a:solidFill>
            <a:srgbClr val="1E8E86"/>
          </a:solidFill>
          <a:ln/>
        </p:spPr>
      </p:sp>
      <p:sp>
        <p:nvSpPr>
          <p:cNvPr id="40" name="Text 38"/>
          <p:cNvSpPr/>
          <p:nvPr/>
        </p:nvSpPr>
        <p:spPr>
          <a:xfrm>
            <a:off x="4443984" y="41422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8.19%</a:t>
            </a:r>
            <a:endParaRPr lang="en-US" sz="950" dirty="0"/>
          </a:p>
        </p:txBody>
      </p:sp>
      <p:sp>
        <p:nvSpPr>
          <p:cNvPr id="41" name="Text 39"/>
          <p:cNvSpPr/>
          <p:nvPr/>
        </p:nvSpPr>
        <p:spPr>
          <a:xfrm>
            <a:off x="786384" y="43708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KTB only</a:t>
            </a:r>
            <a:endParaRPr lang="en-US" sz="950" dirty="0"/>
          </a:p>
        </p:txBody>
      </p:sp>
      <p:sp>
        <p:nvSpPr>
          <p:cNvPr id="42" name="Shape 40"/>
          <p:cNvSpPr/>
          <p:nvPr/>
        </p:nvSpPr>
        <p:spPr>
          <a:xfrm>
            <a:off x="2194560" y="4411980"/>
            <a:ext cx="2148840" cy="155448"/>
          </a:xfrm>
          <a:prstGeom prst="roundRect">
            <a:avLst>
              <a:gd name="adj" fmla="val 17647"/>
            </a:avLst>
          </a:prstGeom>
          <a:solidFill>
            <a:srgbClr val="E4E9F0"/>
          </a:solidFill>
          <a:ln/>
        </p:spPr>
      </p:sp>
      <p:sp>
        <p:nvSpPr>
          <p:cNvPr id="43" name="Shape 41"/>
          <p:cNvSpPr/>
          <p:nvPr/>
        </p:nvSpPr>
        <p:spPr>
          <a:xfrm>
            <a:off x="2194560" y="4411980"/>
            <a:ext cx="727338" cy="155448"/>
          </a:xfrm>
          <a:prstGeom prst="roundRect">
            <a:avLst>
              <a:gd name="adj" fmla="val 17647"/>
            </a:avLst>
          </a:prstGeom>
          <a:solidFill>
            <a:srgbClr val="8DA0B8"/>
          </a:solidFill>
          <a:ln/>
        </p:spPr>
      </p:sp>
      <p:sp>
        <p:nvSpPr>
          <p:cNvPr id="44" name="Text 42"/>
          <p:cNvSpPr/>
          <p:nvPr/>
        </p:nvSpPr>
        <p:spPr>
          <a:xfrm>
            <a:off x="4443984" y="4370832"/>
            <a:ext cx="822960" cy="237744"/>
          </a:xfrm>
          <a:prstGeom prst="rect">
            <a:avLst/>
          </a:prstGeom>
          <a:noFill/>
          <a:ln/>
        </p:spPr>
        <p:txBody>
          <a:bodyPr wrap="square" lIns="0" tIns="0" rIns="0" bIns="0" rtlCol="0" anchor="ctr"/>
          <a:lstStyle/>
          <a:p>
            <a:pPr algn="r" indent="0" marL="0">
              <a:buNone/>
            </a:pPr>
            <a:r>
              <a:rPr lang="en-US" sz="950" b="1" dirty="0">
                <a:solidFill>
                  <a:srgbClr val="8DA0B8"/>
                </a:solidFill>
                <a:latin typeface="Graphik TH" pitchFamily="34" charset="0"/>
                <a:ea typeface="Graphik TH" pitchFamily="34" charset="-122"/>
                <a:cs typeface="Graphik TH" pitchFamily="34" charset="-120"/>
              </a:rPr>
              <a:t>2.77%</a:t>
            </a:r>
            <a:endParaRPr lang="en-US" sz="950" dirty="0"/>
          </a:p>
        </p:txBody>
      </p:sp>
      <p:sp>
        <p:nvSpPr>
          <p:cNvPr id="45" name="Text 43"/>
          <p:cNvSpPr/>
          <p:nvPr/>
        </p:nvSpPr>
        <p:spPr>
          <a:xfrm>
            <a:off x="786384" y="45994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KTB OR</a:t>
            </a:r>
            <a:endParaRPr lang="en-US" sz="950" dirty="0"/>
          </a:p>
        </p:txBody>
      </p:sp>
      <p:sp>
        <p:nvSpPr>
          <p:cNvPr id="46" name="Shape 44"/>
          <p:cNvSpPr/>
          <p:nvPr/>
        </p:nvSpPr>
        <p:spPr>
          <a:xfrm>
            <a:off x="2194560" y="4640580"/>
            <a:ext cx="2148840" cy="155448"/>
          </a:xfrm>
          <a:prstGeom prst="roundRect">
            <a:avLst>
              <a:gd name="adj" fmla="val 17647"/>
            </a:avLst>
          </a:prstGeom>
          <a:solidFill>
            <a:srgbClr val="E4E9F0"/>
          </a:solidFill>
          <a:ln/>
        </p:spPr>
      </p:sp>
      <p:sp>
        <p:nvSpPr>
          <p:cNvPr id="47" name="Shape 45"/>
          <p:cNvSpPr/>
          <p:nvPr/>
        </p:nvSpPr>
        <p:spPr>
          <a:xfrm>
            <a:off x="2194560" y="4640580"/>
            <a:ext cx="1914907" cy="155448"/>
          </a:xfrm>
          <a:prstGeom prst="roundRect">
            <a:avLst>
              <a:gd name="adj" fmla="val 17647"/>
            </a:avLst>
          </a:prstGeom>
          <a:solidFill>
            <a:srgbClr val="1E8E86"/>
          </a:solidFill>
          <a:ln/>
        </p:spPr>
      </p:sp>
      <p:sp>
        <p:nvSpPr>
          <p:cNvPr id="48" name="Text 46"/>
          <p:cNvSpPr/>
          <p:nvPr/>
        </p:nvSpPr>
        <p:spPr>
          <a:xfrm>
            <a:off x="4443984" y="45994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7.30%</a:t>
            </a:r>
            <a:endParaRPr lang="en-US" sz="950" dirty="0"/>
          </a:p>
        </p:txBody>
      </p:sp>
      <p:sp>
        <p:nvSpPr>
          <p:cNvPr id="49" name="Text 47"/>
          <p:cNvSpPr/>
          <p:nvPr/>
        </p:nvSpPr>
        <p:spPr>
          <a:xfrm>
            <a:off x="786384" y="4828032"/>
            <a:ext cx="13258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OR only</a:t>
            </a:r>
            <a:endParaRPr lang="en-US" sz="950" dirty="0"/>
          </a:p>
        </p:txBody>
      </p:sp>
      <p:sp>
        <p:nvSpPr>
          <p:cNvPr id="50" name="Shape 48"/>
          <p:cNvSpPr/>
          <p:nvPr/>
        </p:nvSpPr>
        <p:spPr>
          <a:xfrm>
            <a:off x="2194560" y="4869180"/>
            <a:ext cx="2148840" cy="155448"/>
          </a:xfrm>
          <a:prstGeom prst="roundRect">
            <a:avLst>
              <a:gd name="adj" fmla="val 17647"/>
            </a:avLst>
          </a:prstGeom>
          <a:solidFill>
            <a:srgbClr val="E4E9F0"/>
          </a:solidFill>
          <a:ln/>
        </p:spPr>
      </p:sp>
      <p:sp>
        <p:nvSpPr>
          <p:cNvPr id="51" name="Shape 49"/>
          <p:cNvSpPr/>
          <p:nvPr/>
        </p:nvSpPr>
        <p:spPr>
          <a:xfrm>
            <a:off x="2194560" y="4869180"/>
            <a:ext cx="404381" cy="155448"/>
          </a:xfrm>
          <a:prstGeom prst="roundRect">
            <a:avLst>
              <a:gd name="adj" fmla="val 17647"/>
            </a:avLst>
          </a:prstGeom>
          <a:solidFill>
            <a:srgbClr val="1E8E86"/>
          </a:solidFill>
          <a:ln/>
        </p:spPr>
      </p:sp>
      <p:sp>
        <p:nvSpPr>
          <p:cNvPr id="52" name="Text 50"/>
          <p:cNvSpPr/>
          <p:nvPr/>
        </p:nvSpPr>
        <p:spPr>
          <a:xfrm>
            <a:off x="4443984" y="48280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1.54%</a:t>
            </a:r>
            <a:endParaRPr lang="en-US" sz="950" dirty="0"/>
          </a:p>
        </p:txBody>
      </p:sp>
      <p:sp>
        <p:nvSpPr>
          <p:cNvPr id="53" name="Shape 51"/>
          <p:cNvSpPr/>
          <p:nvPr/>
        </p:nvSpPr>
        <p:spPr>
          <a:xfrm>
            <a:off x="6281928" y="2798064"/>
            <a:ext cx="5522976" cy="2322576"/>
          </a:xfrm>
          <a:prstGeom prst="roundRect">
            <a:avLst>
              <a:gd name="adj" fmla="val 3543"/>
            </a:avLst>
          </a:prstGeom>
          <a:solidFill>
            <a:srgbClr val="F1F4F9"/>
          </a:solidFill>
          <a:ln/>
        </p:spPr>
      </p:sp>
      <p:sp>
        <p:nvSpPr>
          <p:cNvPr id="54" name="Text 52"/>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The same lift, three ways</a:t>
            </a:r>
            <a:endParaRPr lang="en-US" sz="1400" dirty="0"/>
          </a:p>
        </p:txBody>
      </p:sp>
      <p:sp>
        <p:nvSpPr>
          <p:cNvPr id="55" name="Text 53"/>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Adding OR to a segment, measured on three outcomes</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501384" y="3511296"/>
          <a:ext cx="5084064" cy="914400"/>
        </p:xfrm>
        <a:graphic>
          <a:graphicData uri="http://schemas.openxmlformats.org/drawingml/2006/table">
            <a:tbl>
              <a:tblPr/>
              <a:tblGrid>
                <a:gridCol w="1554480"/>
                <a:gridCol w="1115568"/>
                <a:gridCol w="548640"/>
                <a:gridCol w="914400"/>
                <a:gridCol w="950976"/>
              </a:tblGrid>
              <a:tr h="237744">
                <a:tc>
                  <a:txBody>
                    <a:bodyPr/>
                    <a:lstStyle/>
                    <a:p>
                      <a:pPr algn="l" indent="0" marL="0">
                        <a:buNone/>
                      </a:pPr>
                      <a:r>
                        <a:rPr lang="en-US" sz="800" b="1" dirty="0">
                          <a:solidFill>
                            <a:srgbClr val="FFFFFF"/>
                          </a:solidFill>
                          <a:latin typeface="Graphik TH" pitchFamily="34" charset="0"/>
                          <a:ea typeface="Graphik TH" pitchFamily="34" charset="-122"/>
                          <a:cs typeface="Graphik TH" pitchFamily="34" charset="-120"/>
                        </a:rPr>
                        <a:t>Pair</a:t>
                      </a:r>
                      <a:endParaRPr lang="en-US" sz="80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Penetration</a:t>
                      </a:r>
                      <a:endParaRPr lang="en-US" sz="80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Lift</a:t>
                      </a:r>
                      <a:endParaRPr lang="en-US" sz="80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Booking rate</a:t>
                      </a:r>
                      <a:endParaRPr lang="en-US" sz="80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M-H cash need</a:t>
                      </a:r>
                      <a:endParaRPr lang="en-US" sz="80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310896">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 only → AIS &amp; OR</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0.6% → 4.3%</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6.6×</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18% → 26%</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17% → 36%</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310896">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KTB only → KTB OR</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2.8% → 7.3%</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2.6×</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9% → 26%</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17% → 34%</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310896">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 &amp; KTB → AIS KTB OR</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4.1% → 8.2%</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2.0×</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20% → 24%</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44% → 60%</a:t>
                      </a:r>
                      <a:endParaRPr lang="en-US" sz="850" dirty="0">
                        <a:latin typeface="Graphik TH" charset="0"/>
                        <a:ea typeface="Graphik TH" charset="0"/>
                        <a:cs typeface="Graphik TH" charset="0"/>
                      </a:endParaRPr>
                    </a:p>
                  </a:txBody>
                  <a:tcPr marL="54864" marR="54864" marT="18288" marB="18288"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bl>
          </a:graphicData>
        </a:graphic>
      </p:graphicFrame>
      <p:sp>
        <p:nvSpPr>
          <p:cNvPr id="57" name="Shape 54"/>
          <p:cNvSpPr/>
          <p:nvPr/>
        </p:nvSpPr>
        <p:spPr>
          <a:xfrm>
            <a:off x="6537960" y="4736592"/>
            <a:ext cx="5010912" cy="310896"/>
          </a:xfrm>
          <a:prstGeom prst="roundRect">
            <a:avLst>
              <a:gd name="adj" fmla="val 26471"/>
            </a:avLst>
          </a:prstGeom>
          <a:solidFill>
            <a:srgbClr val="E8F6F3"/>
          </a:solidFill>
          <a:ln/>
        </p:spPr>
      </p:sp>
      <p:sp>
        <p:nvSpPr>
          <p:cNvPr id="58" name="Text 55"/>
          <p:cNvSpPr/>
          <p:nvPr/>
        </p:nvSpPr>
        <p:spPr>
          <a:xfrm>
            <a:off x="6684264" y="4736592"/>
            <a:ext cx="4718304" cy="310896"/>
          </a:xfrm>
          <a:prstGeom prst="rect">
            <a:avLst/>
          </a:prstGeom>
          <a:noFill/>
          <a:ln/>
        </p:spPr>
        <p:txBody>
          <a:bodyPr wrap="square" lIns="0" tIns="0" rIns="0" bIns="0" rtlCol="0" anchor="ctr"/>
          <a:lstStyle/>
          <a:p>
            <a:pPr indent="0" marL="0">
              <a:buNone/>
            </a:pPr>
            <a:r>
              <a:rPr lang="en-US" sz="950" b="1" dirty="0">
                <a:solidFill>
                  <a:srgbClr val="045D66"/>
                </a:solidFill>
                <a:latin typeface="Graphik TH" pitchFamily="34" charset="0"/>
                <a:ea typeface="Graphik TH" pitchFamily="34" charset="-122"/>
                <a:cs typeface="Graphik TH" pitchFamily="34" charset="-120"/>
              </a:rPr>
              <a:t>OR presence moves all three in the same direction, every time.</a:t>
            </a:r>
            <a:endParaRPr lang="en-US" sz="950" dirty="0"/>
          </a:p>
        </p:txBody>
      </p:sp>
      <p:sp>
        <p:nvSpPr>
          <p:cNvPr id="59" name="Shape 56"/>
          <p:cNvSpPr/>
          <p:nvPr/>
        </p:nvSpPr>
        <p:spPr>
          <a:xfrm>
            <a:off x="530352" y="5285232"/>
            <a:ext cx="11274552" cy="786384"/>
          </a:xfrm>
          <a:prstGeom prst="roundRect">
            <a:avLst>
              <a:gd name="adj" fmla="val 10465"/>
            </a:avLst>
          </a:prstGeom>
          <a:solidFill>
            <a:srgbClr val="E8F6F3"/>
          </a:solidFill>
          <a:ln/>
        </p:spPr>
      </p:sp>
      <p:sp>
        <p:nvSpPr>
          <p:cNvPr id="60" name="Text 57"/>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OR-linked customers adopt CLICX at 6.9% against 2.6%, and book loans at 24.5% against 16.0%</a:t>
            </a:r>
            <a:pPr indent="0" marL="0">
              <a:buNone/>
            </a:pPr>
            <a:r>
              <a:rPr lang="en-US" sz="1100" dirty="0">
                <a:solidFill>
                  <a:srgbClr val="16233D"/>
                </a:solidFill>
                <a:latin typeface="Graphik TH" pitchFamily="34" charset="0"/>
                <a:ea typeface="Graphik TH" pitchFamily="34" charset="-122"/>
                <a:cs typeface="Graphik TH" pitchFamily="34" charset="-120"/>
              </a:rPr>
              <a:t>  —  the OR relationship is the strongest single predictor in this data. Lead acquisition through the OR channel and prioritise OR-linked segments in every campaign.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Lending : 711K app-ins convert to 138K booked loans</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*App-in, booked and drawdown as supplied, rounded to thousands. Cash need is derived from AIS and KTB data for customers not on CLICX.</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App-in 711K   ·   Booked 138K (19.4%)   ·   Drawn 126K (91.3%)   ·   Cash-need pool outside CLICX 14.3M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Drawdown is uniformly high at 91.3%. The leak is at booking, and it is a segment problem, not a product one.</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711K</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loan app-ins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41.9% of CLICX customers</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138K</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booked</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19.4% of app-ins</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126K</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drawn down</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91.3% of booked</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14.3M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medium-high cash need</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outside CLICX · the pool</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Booking rate by segment</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Booked ÷ app-in · OR-linked segments in teal</a:t>
            </a:r>
            <a:endParaRPr lang="en-US" sz="950" dirty="0"/>
          </a:p>
        </p:txBody>
      </p:sp>
      <p:sp>
        <p:nvSpPr>
          <p:cNvPr id="25" name="Text 23"/>
          <p:cNvSpPr/>
          <p:nvPr/>
        </p:nvSpPr>
        <p:spPr>
          <a:xfrm>
            <a:off x="786384" y="34564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a:t>
            </a:r>
            <a:endParaRPr lang="en-US" sz="950" dirty="0"/>
          </a:p>
        </p:txBody>
      </p:sp>
      <p:sp>
        <p:nvSpPr>
          <p:cNvPr id="26" name="Shape 24"/>
          <p:cNvSpPr/>
          <p:nvPr/>
        </p:nvSpPr>
        <p:spPr>
          <a:xfrm>
            <a:off x="2432304" y="3497580"/>
            <a:ext cx="1828800" cy="155448"/>
          </a:xfrm>
          <a:prstGeom prst="roundRect">
            <a:avLst>
              <a:gd name="adj" fmla="val 17647"/>
            </a:avLst>
          </a:prstGeom>
          <a:solidFill>
            <a:srgbClr val="E4E9F0"/>
          </a:solidFill>
          <a:ln/>
        </p:spPr>
      </p:sp>
      <p:sp>
        <p:nvSpPr>
          <p:cNvPr id="27" name="Shape 25"/>
          <p:cNvSpPr/>
          <p:nvPr/>
        </p:nvSpPr>
        <p:spPr>
          <a:xfrm>
            <a:off x="2432304" y="3497580"/>
            <a:ext cx="1274618" cy="155448"/>
          </a:xfrm>
          <a:prstGeom prst="roundRect">
            <a:avLst>
              <a:gd name="adj" fmla="val 17647"/>
            </a:avLst>
          </a:prstGeom>
          <a:solidFill>
            <a:srgbClr val="E9A03B"/>
          </a:solidFill>
          <a:ln/>
        </p:spPr>
      </p:sp>
      <p:sp>
        <p:nvSpPr>
          <p:cNvPr id="28" name="Text 26"/>
          <p:cNvSpPr/>
          <p:nvPr/>
        </p:nvSpPr>
        <p:spPr>
          <a:xfrm>
            <a:off x="4443984" y="3456432"/>
            <a:ext cx="822960" cy="237744"/>
          </a:xfrm>
          <a:prstGeom prst="rect">
            <a:avLst/>
          </a:prstGeom>
          <a:noFill/>
          <a:ln/>
        </p:spPr>
        <p:txBody>
          <a:bodyPr wrap="square" lIns="0" tIns="0" rIns="0" bIns="0" rtlCol="0" anchor="ctr"/>
          <a:lstStyle/>
          <a:p>
            <a:pPr algn="r" indent="0" marL="0">
              <a:buNone/>
            </a:pPr>
            <a:r>
              <a:rPr lang="en-US" sz="950" b="1" dirty="0">
                <a:solidFill>
                  <a:srgbClr val="E9A03B"/>
                </a:solidFill>
                <a:latin typeface="Graphik TH" pitchFamily="34" charset="0"/>
                <a:ea typeface="Graphik TH" pitchFamily="34" charset="-122"/>
                <a:cs typeface="Graphik TH" pitchFamily="34" charset="-120"/>
              </a:rPr>
              <a:t>18.2%</a:t>
            </a:r>
            <a:endParaRPr lang="en-US" sz="950" dirty="0"/>
          </a:p>
        </p:txBody>
      </p:sp>
      <p:sp>
        <p:nvSpPr>
          <p:cNvPr id="29" name="Text 27"/>
          <p:cNvSpPr/>
          <p:nvPr/>
        </p:nvSpPr>
        <p:spPr>
          <a:xfrm>
            <a:off x="786384" y="36850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&amp; OR</a:t>
            </a:r>
            <a:endParaRPr lang="en-US" sz="950" dirty="0"/>
          </a:p>
        </p:txBody>
      </p:sp>
      <p:sp>
        <p:nvSpPr>
          <p:cNvPr id="30" name="Shape 28"/>
          <p:cNvSpPr/>
          <p:nvPr/>
        </p:nvSpPr>
        <p:spPr>
          <a:xfrm>
            <a:off x="2432304" y="3726180"/>
            <a:ext cx="1828800" cy="155448"/>
          </a:xfrm>
          <a:prstGeom prst="roundRect">
            <a:avLst>
              <a:gd name="adj" fmla="val 17647"/>
            </a:avLst>
          </a:prstGeom>
          <a:solidFill>
            <a:srgbClr val="E4E9F0"/>
          </a:solidFill>
          <a:ln/>
        </p:spPr>
      </p:sp>
      <p:sp>
        <p:nvSpPr>
          <p:cNvPr id="31" name="Shape 29"/>
          <p:cNvSpPr/>
          <p:nvPr/>
        </p:nvSpPr>
        <p:spPr>
          <a:xfrm>
            <a:off x="2432304" y="3726180"/>
            <a:ext cx="1828800" cy="155448"/>
          </a:xfrm>
          <a:prstGeom prst="roundRect">
            <a:avLst>
              <a:gd name="adj" fmla="val 17647"/>
            </a:avLst>
          </a:prstGeom>
          <a:solidFill>
            <a:srgbClr val="1E8E86"/>
          </a:solidFill>
          <a:ln/>
        </p:spPr>
      </p:sp>
      <p:sp>
        <p:nvSpPr>
          <p:cNvPr id="32" name="Text 30"/>
          <p:cNvSpPr/>
          <p:nvPr/>
        </p:nvSpPr>
        <p:spPr>
          <a:xfrm>
            <a:off x="4443984" y="36850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26.1%</a:t>
            </a:r>
            <a:endParaRPr lang="en-US" sz="950" dirty="0"/>
          </a:p>
        </p:txBody>
      </p:sp>
      <p:sp>
        <p:nvSpPr>
          <p:cNvPr id="33" name="Text 31"/>
          <p:cNvSpPr/>
          <p:nvPr/>
        </p:nvSpPr>
        <p:spPr>
          <a:xfrm>
            <a:off x="786384" y="39136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&amp; KTB</a:t>
            </a:r>
            <a:endParaRPr lang="en-US" sz="950" dirty="0"/>
          </a:p>
        </p:txBody>
      </p:sp>
      <p:sp>
        <p:nvSpPr>
          <p:cNvPr id="34" name="Shape 32"/>
          <p:cNvSpPr/>
          <p:nvPr/>
        </p:nvSpPr>
        <p:spPr>
          <a:xfrm>
            <a:off x="2432304" y="3954780"/>
            <a:ext cx="1828800" cy="155448"/>
          </a:xfrm>
          <a:prstGeom prst="roundRect">
            <a:avLst>
              <a:gd name="adj" fmla="val 17647"/>
            </a:avLst>
          </a:prstGeom>
          <a:solidFill>
            <a:srgbClr val="E4E9F0"/>
          </a:solidFill>
          <a:ln/>
        </p:spPr>
      </p:sp>
      <p:sp>
        <p:nvSpPr>
          <p:cNvPr id="35" name="Shape 33"/>
          <p:cNvSpPr/>
          <p:nvPr/>
        </p:nvSpPr>
        <p:spPr>
          <a:xfrm>
            <a:off x="2432304" y="3954780"/>
            <a:ext cx="1369219" cy="155448"/>
          </a:xfrm>
          <a:prstGeom prst="roundRect">
            <a:avLst>
              <a:gd name="adj" fmla="val 17647"/>
            </a:avLst>
          </a:prstGeom>
          <a:solidFill>
            <a:srgbClr val="E9A03B"/>
          </a:solidFill>
          <a:ln/>
        </p:spPr>
      </p:sp>
      <p:sp>
        <p:nvSpPr>
          <p:cNvPr id="36" name="Text 34"/>
          <p:cNvSpPr/>
          <p:nvPr/>
        </p:nvSpPr>
        <p:spPr>
          <a:xfrm>
            <a:off x="4443984" y="3913632"/>
            <a:ext cx="822960" cy="237744"/>
          </a:xfrm>
          <a:prstGeom prst="rect">
            <a:avLst/>
          </a:prstGeom>
          <a:noFill/>
          <a:ln/>
        </p:spPr>
        <p:txBody>
          <a:bodyPr wrap="square" lIns="0" tIns="0" rIns="0" bIns="0" rtlCol="0" anchor="ctr"/>
          <a:lstStyle/>
          <a:p>
            <a:pPr algn="r" indent="0" marL="0">
              <a:buNone/>
            </a:pPr>
            <a:r>
              <a:rPr lang="en-US" sz="950" b="1" dirty="0">
                <a:solidFill>
                  <a:srgbClr val="E9A03B"/>
                </a:solidFill>
                <a:latin typeface="Graphik TH" pitchFamily="34" charset="0"/>
                <a:ea typeface="Graphik TH" pitchFamily="34" charset="-122"/>
                <a:cs typeface="Graphik TH" pitchFamily="34" charset="-120"/>
              </a:rPr>
              <a:t>19.5%</a:t>
            </a:r>
            <a:endParaRPr lang="en-US" sz="950" dirty="0"/>
          </a:p>
        </p:txBody>
      </p:sp>
      <p:sp>
        <p:nvSpPr>
          <p:cNvPr id="37" name="Text 35"/>
          <p:cNvSpPr/>
          <p:nvPr/>
        </p:nvSpPr>
        <p:spPr>
          <a:xfrm>
            <a:off x="786384" y="41422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AIS &amp; KTB &amp; OR</a:t>
            </a:r>
            <a:endParaRPr lang="en-US" sz="950" dirty="0"/>
          </a:p>
        </p:txBody>
      </p:sp>
      <p:sp>
        <p:nvSpPr>
          <p:cNvPr id="38" name="Shape 36"/>
          <p:cNvSpPr/>
          <p:nvPr/>
        </p:nvSpPr>
        <p:spPr>
          <a:xfrm>
            <a:off x="2432304" y="4183380"/>
            <a:ext cx="1828800" cy="155448"/>
          </a:xfrm>
          <a:prstGeom prst="roundRect">
            <a:avLst>
              <a:gd name="adj" fmla="val 17647"/>
            </a:avLst>
          </a:prstGeom>
          <a:solidFill>
            <a:srgbClr val="E4E9F0"/>
          </a:solidFill>
          <a:ln/>
        </p:spPr>
      </p:sp>
      <p:sp>
        <p:nvSpPr>
          <p:cNvPr id="39" name="Shape 37"/>
          <p:cNvSpPr/>
          <p:nvPr/>
        </p:nvSpPr>
        <p:spPr>
          <a:xfrm>
            <a:off x="2432304" y="4183380"/>
            <a:ext cx="1663485" cy="155448"/>
          </a:xfrm>
          <a:prstGeom prst="roundRect">
            <a:avLst>
              <a:gd name="adj" fmla="val 17647"/>
            </a:avLst>
          </a:prstGeom>
          <a:solidFill>
            <a:srgbClr val="1E8E86"/>
          </a:solidFill>
          <a:ln/>
        </p:spPr>
      </p:sp>
      <p:sp>
        <p:nvSpPr>
          <p:cNvPr id="40" name="Text 38"/>
          <p:cNvSpPr/>
          <p:nvPr/>
        </p:nvSpPr>
        <p:spPr>
          <a:xfrm>
            <a:off x="4443984" y="41422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23.7%</a:t>
            </a:r>
            <a:endParaRPr lang="en-US" sz="950" dirty="0"/>
          </a:p>
        </p:txBody>
      </p:sp>
      <p:sp>
        <p:nvSpPr>
          <p:cNvPr id="41" name="Text 39"/>
          <p:cNvSpPr/>
          <p:nvPr/>
        </p:nvSpPr>
        <p:spPr>
          <a:xfrm>
            <a:off x="786384" y="43708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KTB</a:t>
            </a:r>
            <a:endParaRPr lang="en-US" sz="950" dirty="0"/>
          </a:p>
        </p:txBody>
      </p:sp>
      <p:sp>
        <p:nvSpPr>
          <p:cNvPr id="42" name="Shape 40"/>
          <p:cNvSpPr/>
          <p:nvPr/>
        </p:nvSpPr>
        <p:spPr>
          <a:xfrm>
            <a:off x="2432304" y="4411980"/>
            <a:ext cx="1828800" cy="155448"/>
          </a:xfrm>
          <a:prstGeom prst="roundRect">
            <a:avLst>
              <a:gd name="adj" fmla="val 17647"/>
            </a:avLst>
          </a:prstGeom>
          <a:solidFill>
            <a:srgbClr val="E4E9F0"/>
          </a:solidFill>
          <a:ln/>
        </p:spPr>
      </p:sp>
      <p:sp>
        <p:nvSpPr>
          <p:cNvPr id="43" name="Shape 41"/>
          <p:cNvSpPr/>
          <p:nvPr/>
        </p:nvSpPr>
        <p:spPr>
          <a:xfrm>
            <a:off x="2432304" y="4411980"/>
            <a:ext cx="618565" cy="155448"/>
          </a:xfrm>
          <a:prstGeom prst="roundRect">
            <a:avLst>
              <a:gd name="adj" fmla="val 17647"/>
            </a:avLst>
          </a:prstGeom>
          <a:solidFill>
            <a:srgbClr val="E9A03B"/>
          </a:solidFill>
          <a:ln/>
        </p:spPr>
      </p:sp>
      <p:sp>
        <p:nvSpPr>
          <p:cNvPr id="44" name="Text 42"/>
          <p:cNvSpPr/>
          <p:nvPr/>
        </p:nvSpPr>
        <p:spPr>
          <a:xfrm>
            <a:off x="4443984" y="4370832"/>
            <a:ext cx="822960" cy="237744"/>
          </a:xfrm>
          <a:prstGeom prst="rect">
            <a:avLst/>
          </a:prstGeom>
          <a:noFill/>
          <a:ln/>
        </p:spPr>
        <p:txBody>
          <a:bodyPr wrap="square" lIns="0" tIns="0" rIns="0" bIns="0" rtlCol="0" anchor="ctr"/>
          <a:lstStyle/>
          <a:p>
            <a:pPr algn="r" indent="0" marL="0">
              <a:buNone/>
            </a:pPr>
            <a:r>
              <a:rPr lang="en-US" sz="950" b="1" dirty="0">
                <a:solidFill>
                  <a:srgbClr val="E9A03B"/>
                </a:solidFill>
                <a:latin typeface="Graphik TH" pitchFamily="34" charset="0"/>
                <a:ea typeface="Graphik TH" pitchFamily="34" charset="-122"/>
                <a:cs typeface="Graphik TH" pitchFamily="34" charset="-120"/>
              </a:rPr>
              <a:t>8.8%</a:t>
            </a:r>
            <a:endParaRPr lang="en-US" sz="950" dirty="0"/>
          </a:p>
        </p:txBody>
      </p:sp>
      <p:sp>
        <p:nvSpPr>
          <p:cNvPr id="45" name="Text 43"/>
          <p:cNvSpPr/>
          <p:nvPr/>
        </p:nvSpPr>
        <p:spPr>
          <a:xfrm>
            <a:off x="786384" y="45994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KTB &amp; OR</a:t>
            </a:r>
            <a:endParaRPr lang="en-US" sz="950" dirty="0"/>
          </a:p>
        </p:txBody>
      </p:sp>
      <p:sp>
        <p:nvSpPr>
          <p:cNvPr id="46" name="Shape 44"/>
          <p:cNvSpPr/>
          <p:nvPr/>
        </p:nvSpPr>
        <p:spPr>
          <a:xfrm>
            <a:off x="2432304" y="4640580"/>
            <a:ext cx="1828800" cy="155448"/>
          </a:xfrm>
          <a:prstGeom prst="roundRect">
            <a:avLst>
              <a:gd name="adj" fmla="val 17647"/>
            </a:avLst>
          </a:prstGeom>
          <a:solidFill>
            <a:srgbClr val="E4E9F0"/>
          </a:solidFill>
          <a:ln/>
        </p:spPr>
      </p:sp>
      <p:sp>
        <p:nvSpPr>
          <p:cNvPr id="47" name="Shape 45"/>
          <p:cNvSpPr/>
          <p:nvPr/>
        </p:nvSpPr>
        <p:spPr>
          <a:xfrm>
            <a:off x="2432304" y="4640580"/>
            <a:ext cx="1820883" cy="155448"/>
          </a:xfrm>
          <a:prstGeom prst="roundRect">
            <a:avLst>
              <a:gd name="adj" fmla="val 17647"/>
            </a:avLst>
          </a:prstGeom>
          <a:solidFill>
            <a:srgbClr val="1E8E86"/>
          </a:solidFill>
          <a:ln/>
        </p:spPr>
      </p:sp>
      <p:sp>
        <p:nvSpPr>
          <p:cNvPr id="48" name="Text 46"/>
          <p:cNvSpPr/>
          <p:nvPr/>
        </p:nvSpPr>
        <p:spPr>
          <a:xfrm>
            <a:off x="4443984" y="45994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26.0%</a:t>
            </a:r>
            <a:endParaRPr lang="en-US" sz="950" dirty="0"/>
          </a:p>
        </p:txBody>
      </p:sp>
      <p:sp>
        <p:nvSpPr>
          <p:cNvPr id="49" name="Text 47"/>
          <p:cNvSpPr/>
          <p:nvPr/>
        </p:nvSpPr>
        <p:spPr>
          <a:xfrm>
            <a:off x="786384" y="4828032"/>
            <a:ext cx="1554480" cy="23774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OR</a:t>
            </a:r>
            <a:endParaRPr lang="en-US" sz="950" dirty="0"/>
          </a:p>
        </p:txBody>
      </p:sp>
      <p:sp>
        <p:nvSpPr>
          <p:cNvPr id="50" name="Shape 48"/>
          <p:cNvSpPr/>
          <p:nvPr/>
        </p:nvSpPr>
        <p:spPr>
          <a:xfrm>
            <a:off x="2432304" y="4869180"/>
            <a:ext cx="1828800" cy="155448"/>
          </a:xfrm>
          <a:prstGeom prst="roundRect">
            <a:avLst>
              <a:gd name="adj" fmla="val 17647"/>
            </a:avLst>
          </a:prstGeom>
          <a:solidFill>
            <a:srgbClr val="E4E9F0"/>
          </a:solidFill>
          <a:ln/>
        </p:spPr>
      </p:sp>
      <p:sp>
        <p:nvSpPr>
          <p:cNvPr id="51" name="Shape 49"/>
          <p:cNvSpPr/>
          <p:nvPr/>
        </p:nvSpPr>
        <p:spPr>
          <a:xfrm>
            <a:off x="2432304" y="4869180"/>
            <a:ext cx="1557867" cy="155448"/>
          </a:xfrm>
          <a:prstGeom prst="roundRect">
            <a:avLst>
              <a:gd name="adj" fmla="val 17647"/>
            </a:avLst>
          </a:prstGeom>
          <a:solidFill>
            <a:srgbClr val="1E8E86"/>
          </a:solidFill>
          <a:ln/>
        </p:spPr>
      </p:sp>
      <p:sp>
        <p:nvSpPr>
          <p:cNvPr id="52" name="Text 50"/>
          <p:cNvSpPr/>
          <p:nvPr/>
        </p:nvSpPr>
        <p:spPr>
          <a:xfrm>
            <a:off x="4443984" y="4828032"/>
            <a:ext cx="822960" cy="237744"/>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22.2%</a:t>
            </a:r>
            <a:endParaRPr lang="en-US" sz="950" dirty="0"/>
          </a:p>
        </p:txBody>
      </p:sp>
      <p:sp>
        <p:nvSpPr>
          <p:cNvPr id="53" name="Shape 51"/>
          <p:cNvSpPr/>
          <p:nvPr/>
        </p:nvSpPr>
        <p:spPr>
          <a:xfrm>
            <a:off x="6281928" y="2798064"/>
            <a:ext cx="5522976" cy="2322576"/>
          </a:xfrm>
          <a:prstGeom prst="roundRect">
            <a:avLst>
              <a:gd name="adj" fmla="val 3543"/>
            </a:avLst>
          </a:prstGeom>
          <a:solidFill>
            <a:srgbClr val="F1F4F9"/>
          </a:solidFill>
          <a:ln/>
        </p:spPr>
      </p:sp>
      <p:sp>
        <p:nvSpPr>
          <p:cNvPr id="54" name="Text 52"/>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Cash need outside CLICX</a:t>
            </a:r>
            <a:endParaRPr lang="en-US" sz="1400" dirty="0"/>
          </a:p>
        </p:txBody>
      </p:sp>
      <p:sp>
        <p:nvSpPr>
          <p:cNvPr id="55" name="Text 53"/>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Customers not on CLICX, THB-free sizing in customers</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01384" y="3474720"/>
          <a:ext cx="5084064" cy="914400"/>
        </p:xfrm>
        <a:graphic>
          <a:graphicData uri="http://schemas.openxmlformats.org/drawingml/2006/table">
            <a:tbl>
              <a:tblPr/>
              <a:tblGrid>
                <a:gridCol w="1700784"/>
                <a:gridCol w="1234440"/>
                <a:gridCol w="1005840"/>
                <a:gridCol w="1143000"/>
              </a:tblGrid>
              <a:tr h="219456">
                <a:tc>
                  <a:txBody>
                    <a:bodyPr/>
                    <a:lstStyle/>
                    <a:p>
                      <a:pPr algn="l" indent="0" marL="0">
                        <a:buNone/>
                      </a:pPr>
                      <a:r>
                        <a:rPr lang="en-US" sz="800" b="1" dirty="0">
                          <a:solidFill>
                            <a:srgbClr val="FFFFFF"/>
                          </a:solidFill>
                          <a:latin typeface="Graphik TH" pitchFamily="34" charset="0"/>
                          <a:ea typeface="Graphik TH" pitchFamily="34" charset="-122"/>
                          <a:cs typeface="Graphik TH" pitchFamily="34" charset="-120"/>
                        </a:rPr>
                        <a:t>Segment</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M-H cash need</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Low</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00" b="1" dirty="0">
                          <a:solidFill>
                            <a:srgbClr val="FFFFFF"/>
                          </a:solidFill>
                          <a:latin typeface="Graphik TH" pitchFamily="34" charset="0"/>
                          <a:ea typeface="Graphik TH" pitchFamily="34" charset="-122"/>
                          <a:cs typeface="Graphik TH" pitchFamily="34" charset="-120"/>
                        </a:rPr>
                        <a:t>M-H share</a:t>
                      </a:r>
                      <a:endParaRPr lang="en-US" sz="8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2.1M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10.0M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 &amp; 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454K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818K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36%</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045D66"/>
                          </a:solidFill>
                          <a:latin typeface="Graphik TH" pitchFamily="34" charset="0"/>
                          <a:ea typeface="Graphik TH" pitchFamily="34" charset="-122"/>
                          <a:cs typeface="Graphik TH" pitchFamily="34" charset="-120"/>
                        </a:rPr>
                        <a:t>AIS &amp; KTB</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E8F6F3"/>
                    </a:solidFill>
                  </a:tcPr>
                </a:tc>
                <a:tc>
                  <a:txBody>
                    <a:bodyPr/>
                    <a:lstStyle/>
                    <a:p>
                      <a:pPr algn="r" indent="0" marL="0">
                        <a:buNone/>
                      </a:pPr>
                      <a:r>
                        <a:rPr lang="en-US" sz="850" b="1" dirty="0">
                          <a:solidFill>
                            <a:srgbClr val="045D66"/>
                          </a:solidFill>
                          <a:latin typeface="Graphik TH" pitchFamily="34" charset="0"/>
                          <a:ea typeface="Graphik TH" pitchFamily="34" charset="-122"/>
                          <a:cs typeface="Graphik TH" pitchFamily="34" charset="-120"/>
                        </a:rPr>
                        <a:t>6.2M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7.9M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44%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AIS &amp; KTB x 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2.8M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1.9M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E8E86"/>
                          </a:solidFill>
                          <a:latin typeface="Graphik TH" pitchFamily="34" charset="0"/>
                          <a:ea typeface="Graphik TH" pitchFamily="34" charset="-122"/>
                          <a:cs typeface="Graphik TH" pitchFamily="34" charset="-120"/>
                        </a:rPr>
                        <a:t>60%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KTB</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2.0M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10.0M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17%</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KTB &amp; 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786K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1.5M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34%</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192024">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0K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dirty="0">
                          <a:solidFill>
                            <a:srgbClr val="6B7A90"/>
                          </a:solidFill>
                          <a:latin typeface="Graphik TH" pitchFamily="34" charset="0"/>
                          <a:ea typeface="Graphik TH" pitchFamily="34" charset="-122"/>
                          <a:cs typeface="Graphik TH" pitchFamily="34" charset="-120"/>
                        </a:rPr>
                        <a:t>686K</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10312">
                <a:tc>
                  <a:txBody>
                    <a:bodyPr/>
                    <a:lstStyle/>
                    <a:p>
                      <a:pPr algn="l" indent="0" marL="0">
                        <a:buNone/>
                      </a:pPr>
                      <a:r>
                        <a:rPr lang="en-US" sz="850" b="1" dirty="0">
                          <a:solidFill>
                            <a:srgbClr val="16233D"/>
                          </a:solidFill>
                          <a:latin typeface="Graphik TH" pitchFamily="34" charset="0"/>
                          <a:ea typeface="Graphik TH" pitchFamily="34" charset="-122"/>
                          <a:cs typeface="Graphik TH" pitchFamily="34" charset="-120"/>
                        </a:rPr>
                        <a:t>Total</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14.3M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32.8M</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850" b="1" dirty="0">
                          <a:solidFill>
                            <a:srgbClr val="16233D"/>
                          </a:solidFill>
                          <a:latin typeface="Graphik TH" pitchFamily="34" charset="0"/>
                          <a:ea typeface="Graphik TH" pitchFamily="34" charset="-122"/>
                          <a:cs typeface="Graphik TH" pitchFamily="34" charset="-120"/>
                        </a:rPr>
                        <a:t>30%</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r>
            </a:tbl>
          </a:graphicData>
        </a:graphic>
      </p:graphicFrame>
      <p:sp>
        <p:nvSpPr>
          <p:cNvPr id="57" name="Shape 54"/>
          <p:cNvSpPr/>
          <p:nvPr/>
        </p:nvSpPr>
        <p:spPr>
          <a:xfrm>
            <a:off x="530352" y="5285232"/>
            <a:ext cx="11274552" cy="786384"/>
          </a:xfrm>
          <a:prstGeom prst="roundRect">
            <a:avLst>
              <a:gd name="adj" fmla="val 10465"/>
            </a:avLst>
          </a:prstGeom>
          <a:solidFill>
            <a:srgbClr val="FBF0E6"/>
          </a:solidFill>
          <a:ln/>
        </p:spPr>
      </p:sp>
      <p:sp>
        <p:nvSpPr>
          <p:cNvPr id="58" name="Text 55"/>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6.2M AIS &amp; KTB customers outside CLICX have medium-high cash need</a:t>
            </a:r>
            <a:pPr indent="0" marL="0">
              <a:buNone/>
            </a:pPr>
            <a:r>
              <a:rPr lang="en-US" sz="1100" dirty="0">
                <a:solidFill>
                  <a:srgbClr val="16233D"/>
                </a:solidFill>
                <a:latin typeface="Graphik TH" pitchFamily="34" charset="0"/>
                <a:ea typeface="Graphik TH" pitchFamily="34" charset="-122"/>
                <a:cs typeface="Graphik TH" pitchFamily="34" charset="-120"/>
              </a:rPr>
              <a:t>  —  the largest single lending pool in the base, and the same segment that already supplies 36% of app-ins. Fixing KTB booking at 8.8% is the other half of the prize.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755K CLICX customers already hold a TrueMoney wallet</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*TMW = TrueMoney Wallet holding, from AIS and KTB data. TrueMoney VB = the TrueMoney virtual bank.</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CLICX with TMW 755K (44%)   ·   Deposit at risk 575K   ·   Payment at risk 178K   ·   Outside CLICX 10.0M of 45.0M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CLICX's own base is twice as wallet-penetrated as the base it has not reached — the installed base is the exposed one.</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575K</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deposit customers at risk</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44% of the CLICX deposit base</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178K</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payment customers at risk</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52% — most exposed product</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44%</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of CLICX hold TMW</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755K of 1.7M</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22%</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outside CLICX hold TMW</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10.0M of 45.0M</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Exposure inside CLICX</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By product · share of each product base holding a wallet</a:t>
            </a:r>
            <a:endParaRPr lang="en-US" sz="950" dirty="0"/>
          </a:p>
        </p:txBody>
      </p:sp>
      <p:sp>
        <p:nvSpPr>
          <p:cNvPr id="25" name="Text 23"/>
          <p:cNvSpPr/>
          <p:nvPr/>
        </p:nvSpPr>
        <p:spPr>
          <a:xfrm>
            <a:off x="786384" y="3529584"/>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Deposit</a:t>
            </a:r>
            <a:endParaRPr lang="en-US" sz="1050" dirty="0"/>
          </a:p>
        </p:txBody>
      </p:sp>
      <p:sp>
        <p:nvSpPr>
          <p:cNvPr id="26" name="Text 24"/>
          <p:cNvSpPr/>
          <p:nvPr/>
        </p:nvSpPr>
        <p:spPr>
          <a:xfrm>
            <a:off x="2377440" y="3529584"/>
            <a:ext cx="640080" cy="274320"/>
          </a:xfrm>
          <a:prstGeom prst="rect">
            <a:avLst/>
          </a:prstGeom>
          <a:noFill/>
          <a:ln/>
        </p:spPr>
        <p:txBody>
          <a:bodyPr wrap="square" lIns="0" tIns="0" rIns="0" bIns="0" rtlCol="0" anchor="ctr"/>
          <a:lstStyle/>
          <a:p>
            <a:pPr algn="r" indent="0" marL="0">
              <a:buNone/>
            </a:pPr>
            <a:r>
              <a:rPr lang="en-US" sz="1000" dirty="0">
                <a:solidFill>
                  <a:srgbClr val="6B7A90"/>
                </a:solidFill>
                <a:latin typeface="Graphik TH" pitchFamily="34" charset="0"/>
                <a:ea typeface="Graphik TH" pitchFamily="34" charset="-122"/>
                <a:cs typeface="Graphik TH" pitchFamily="34" charset="-120"/>
              </a:rPr>
              <a:t>1.3M</a:t>
            </a:r>
            <a:endParaRPr lang="en-US" sz="1000" dirty="0"/>
          </a:p>
        </p:txBody>
      </p:sp>
      <p:sp>
        <p:nvSpPr>
          <p:cNvPr id="27" name="Shape 25"/>
          <p:cNvSpPr/>
          <p:nvPr/>
        </p:nvSpPr>
        <p:spPr>
          <a:xfrm>
            <a:off x="3145536" y="3584448"/>
            <a:ext cx="1554480" cy="164592"/>
          </a:xfrm>
          <a:prstGeom prst="roundRect">
            <a:avLst>
              <a:gd name="adj" fmla="val 16667"/>
            </a:avLst>
          </a:prstGeom>
          <a:solidFill>
            <a:srgbClr val="E4E9F0"/>
          </a:solidFill>
          <a:ln/>
        </p:spPr>
      </p:sp>
      <p:sp>
        <p:nvSpPr>
          <p:cNvPr id="28" name="Shape 26"/>
          <p:cNvSpPr/>
          <p:nvPr/>
        </p:nvSpPr>
        <p:spPr>
          <a:xfrm>
            <a:off x="3145536" y="3584448"/>
            <a:ext cx="687558" cy="164592"/>
          </a:xfrm>
          <a:prstGeom prst="roundRect">
            <a:avLst>
              <a:gd name="adj" fmla="val 16667"/>
            </a:avLst>
          </a:prstGeom>
          <a:solidFill>
            <a:srgbClr val="C00000"/>
          </a:solidFill>
          <a:ln/>
        </p:spPr>
      </p:sp>
      <p:sp>
        <p:nvSpPr>
          <p:cNvPr id="29" name="Text 27"/>
          <p:cNvSpPr/>
          <p:nvPr/>
        </p:nvSpPr>
        <p:spPr>
          <a:xfrm>
            <a:off x="4773168" y="3529584"/>
            <a:ext cx="1024128" cy="274320"/>
          </a:xfrm>
          <a:prstGeom prst="rect">
            <a:avLst/>
          </a:prstGeom>
          <a:noFill/>
          <a:ln/>
        </p:spPr>
        <p:txBody>
          <a:bodyPr wrap="square" lIns="0" tIns="0" rIns="0" bIns="0" rtlCol="0" anchor="ctr"/>
          <a:lstStyle/>
          <a:p>
            <a:pPr algn="r" indent="0" marL="0">
              <a:buNone/>
            </a:pPr>
            <a:r>
              <a:rPr lang="en-US" sz="1000" b="1" dirty="0">
                <a:solidFill>
                  <a:srgbClr val="C00000"/>
                </a:solidFill>
                <a:latin typeface="Graphik TH" pitchFamily="34" charset="0"/>
                <a:ea typeface="Graphik TH" pitchFamily="34" charset="-122"/>
                <a:cs typeface="Graphik TH" pitchFamily="34" charset="-120"/>
              </a:rPr>
              <a:t>575K  44%</a:t>
            </a:r>
            <a:endParaRPr lang="en-US" sz="1000" dirty="0"/>
          </a:p>
        </p:txBody>
      </p:sp>
      <p:sp>
        <p:nvSpPr>
          <p:cNvPr id="30" name="Text 28"/>
          <p:cNvSpPr/>
          <p:nvPr/>
        </p:nvSpPr>
        <p:spPr>
          <a:xfrm>
            <a:off x="786384" y="3931920"/>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Lending (App-in)</a:t>
            </a:r>
            <a:endParaRPr lang="en-US" sz="1050" dirty="0"/>
          </a:p>
        </p:txBody>
      </p:sp>
      <p:sp>
        <p:nvSpPr>
          <p:cNvPr id="31" name="Text 29"/>
          <p:cNvSpPr/>
          <p:nvPr/>
        </p:nvSpPr>
        <p:spPr>
          <a:xfrm>
            <a:off x="2377440" y="3931920"/>
            <a:ext cx="640080" cy="274320"/>
          </a:xfrm>
          <a:prstGeom prst="rect">
            <a:avLst/>
          </a:prstGeom>
          <a:noFill/>
          <a:ln/>
        </p:spPr>
        <p:txBody>
          <a:bodyPr wrap="square" lIns="0" tIns="0" rIns="0" bIns="0" rtlCol="0" anchor="ctr"/>
          <a:lstStyle/>
          <a:p>
            <a:pPr algn="r" indent="0" marL="0">
              <a:buNone/>
            </a:pPr>
            <a:r>
              <a:rPr lang="en-US" sz="1000" dirty="0">
                <a:solidFill>
                  <a:srgbClr val="6B7A90"/>
                </a:solidFill>
                <a:latin typeface="Graphik TH" pitchFamily="34" charset="0"/>
                <a:ea typeface="Graphik TH" pitchFamily="34" charset="-122"/>
                <a:cs typeface="Graphik TH" pitchFamily="34" charset="-120"/>
              </a:rPr>
              <a:t>730K</a:t>
            </a:r>
            <a:endParaRPr lang="en-US" sz="1000" dirty="0"/>
          </a:p>
        </p:txBody>
      </p:sp>
      <p:sp>
        <p:nvSpPr>
          <p:cNvPr id="32" name="Shape 30"/>
          <p:cNvSpPr/>
          <p:nvPr/>
        </p:nvSpPr>
        <p:spPr>
          <a:xfrm>
            <a:off x="3145536" y="3986784"/>
            <a:ext cx="1554480" cy="164592"/>
          </a:xfrm>
          <a:prstGeom prst="roundRect">
            <a:avLst>
              <a:gd name="adj" fmla="val 16667"/>
            </a:avLst>
          </a:prstGeom>
          <a:solidFill>
            <a:srgbClr val="E4E9F0"/>
          </a:solidFill>
          <a:ln/>
        </p:spPr>
      </p:sp>
      <p:sp>
        <p:nvSpPr>
          <p:cNvPr id="33" name="Shape 31"/>
          <p:cNvSpPr/>
          <p:nvPr/>
        </p:nvSpPr>
        <p:spPr>
          <a:xfrm>
            <a:off x="3145536" y="3986784"/>
            <a:ext cx="679286" cy="164592"/>
          </a:xfrm>
          <a:prstGeom prst="roundRect">
            <a:avLst>
              <a:gd name="adj" fmla="val 16667"/>
            </a:avLst>
          </a:prstGeom>
          <a:solidFill>
            <a:srgbClr val="C00000"/>
          </a:solidFill>
          <a:ln/>
        </p:spPr>
      </p:sp>
      <p:sp>
        <p:nvSpPr>
          <p:cNvPr id="34" name="Text 32"/>
          <p:cNvSpPr/>
          <p:nvPr/>
        </p:nvSpPr>
        <p:spPr>
          <a:xfrm>
            <a:off x="4773168" y="3931920"/>
            <a:ext cx="1024128" cy="274320"/>
          </a:xfrm>
          <a:prstGeom prst="rect">
            <a:avLst/>
          </a:prstGeom>
          <a:noFill/>
          <a:ln/>
        </p:spPr>
        <p:txBody>
          <a:bodyPr wrap="square" lIns="0" tIns="0" rIns="0" bIns="0" rtlCol="0" anchor="ctr"/>
          <a:lstStyle/>
          <a:p>
            <a:pPr algn="r" indent="0" marL="0">
              <a:buNone/>
            </a:pPr>
            <a:r>
              <a:rPr lang="en-US" sz="1000" b="1" dirty="0">
                <a:solidFill>
                  <a:srgbClr val="C00000"/>
                </a:solidFill>
                <a:latin typeface="Graphik TH" pitchFamily="34" charset="0"/>
                <a:ea typeface="Graphik TH" pitchFamily="34" charset="-122"/>
                <a:cs typeface="Graphik TH" pitchFamily="34" charset="-120"/>
              </a:rPr>
              <a:t>319K  44%</a:t>
            </a:r>
            <a:endParaRPr lang="en-US" sz="1000" dirty="0"/>
          </a:p>
        </p:txBody>
      </p:sp>
      <p:sp>
        <p:nvSpPr>
          <p:cNvPr id="35" name="Text 33"/>
          <p:cNvSpPr/>
          <p:nvPr/>
        </p:nvSpPr>
        <p:spPr>
          <a:xfrm>
            <a:off x="786384" y="4334256"/>
            <a:ext cx="1554480" cy="274320"/>
          </a:xfrm>
          <a:prstGeom prst="rect">
            <a:avLst/>
          </a:prstGeom>
          <a:noFill/>
          <a:ln/>
        </p:spPr>
        <p:txBody>
          <a:bodyPr wrap="square" lIns="0" tIns="0" rIns="0" bIns="0" rtlCol="0" anchor="ctr"/>
          <a:lstStyle/>
          <a:p>
            <a:pPr indent="0" marL="0">
              <a:buNone/>
            </a:pPr>
            <a:r>
              <a:rPr lang="en-US" sz="1050" b="1" dirty="0">
                <a:solidFill>
                  <a:srgbClr val="16233D"/>
                </a:solidFill>
                <a:latin typeface="Graphik TH" pitchFamily="34" charset="0"/>
                <a:ea typeface="Graphik TH" pitchFamily="34" charset="-122"/>
                <a:cs typeface="Graphik TH" pitchFamily="34" charset="-120"/>
              </a:rPr>
              <a:t>Payment</a:t>
            </a:r>
            <a:endParaRPr lang="en-US" sz="1050" dirty="0"/>
          </a:p>
        </p:txBody>
      </p:sp>
      <p:sp>
        <p:nvSpPr>
          <p:cNvPr id="36" name="Text 34"/>
          <p:cNvSpPr/>
          <p:nvPr/>
        </p:nvSpPr>
        <p:spPr>
          <a:xfrm>
            <a:off x="2377440" y="4334256"/>
            <a:ext cx="640080" cy="274320"/>
          </a:xfrm>
          <a:prstGeom prst="rect">
            <a:avLst/>
          </a:prstGeom>
          <a:noFill/>
          <a:ln/>
        </p:spPr>
        <p:txBody>
          <a:bodyPr wrap="square" lIns="0" tIns="0" rIns="0" bIns="0" rtlCol="0" anchor="ctr"/>
          <a:lstStyle/>
          <a:p>
            <a:pPr algn="r" indent="0" marL="0">
              <a:buNone/>
            </a:pPr>
            <a:r>
              <a:rPr lang="en-US" sz="1000" dirty="0">
                <a:solidFill>
                  <a:srgbClr val="6B7A90"/>
                </a:solidFill>
                <a:latin typeface="Graphik TH" pitchFamily="34" charset="0"/>
                <a:ea typeface="Graphik TH" pitchFamily="34" charset="-122"/>
                <a:cs typeface="Graphik TH" pitchFamily="34" charset="-120"/>
              </a:rPr>
              <a:t>345K</a:t>
            </a:r>
            <a:endParaRPr lang="en-US" sz="1000" dirty="0"/>
          </a:p>
        </p:txBody>
      </p:sp>
      <p:sp>
        <p:nvSpPr>
          <p:cNvPr id="37" name="Shape 35"/>
          <p:cNvSpPr/>
          <p:nvPr/>
        </p:nvSpPr>
        <p:spPr>
          <a:xfrm>
            <a:off x="3145536" y="4389120"/>
            <a:ext cx="1554480" cy="164592"/>
          </a:xfrm>
          <a:prstGeom prst="roundRect">
            <a:avLst>
              <a:gd name="adj" fmla="val 16667"/>
            </a:avLst>
          </a:prstGeom>
          <a:solidFill>
            <a:srgbClr val="E4E9F0"/>
          </a:solidFill>
          <a:ln/>
        </p:spPr>
      </p:sp>
      <p:sp>
        <p:nvSpPr>
          <p:cNvPr id="38" name="Shape 36"/>
          <p:cNvSpPr/>
          <p:nvPr/>
        </p:nvSpPr>
        <p:spPr>
          <a:xfrm>
            <a:off x="3145536" y="4389120"/>
            <a:ext cx="802022" cy="164592"/>
          </a:xfrm>
          <a:prstGeom prst="roundRect">
            <a:avLst>
              <a:gd name="adj" fmla="val 16667"/>
            </a:avLst>
          </a:prstGeom>
          <a:solidFill>
            <a:srgbClr val="C00000"/>
          </a:solidFill>
          <a:ln/>
        </p:spPr>
      </p:sp>
      <p:sp>
        <p:nvSpPr>
          <p:cNvPr id="39" name="Text 37"/>
          <p:cNvSpPr/>
          <p:nvPr/>
        </p:nvSpPr>
        <p:spPr>
          <a:xfrm>
            <a:off x="4773168" y="4334256"/>
            <a:ext cx="1024128" cy="274320"/>
          </a:xfrm>
          <a:prstGeom prst="rect">
            <a:avLst/>
          </a:prstGeom>
          <a:noFill/>
          <a:ln/>
        </p:spPr>
        <p:txBody>
          <a:bodyPr wrap="square" lIns="0" tIns="0" rIns="0" bIns="0" rtlCol="0" anchor="ctr"/>
          <a:lstStyle/>
          <a:p>
            <a:pPr algn="r" indent="0" marL="0">
              <a:buNone/>
            </a:pPr>
            <a:r>
              <a:rPr lang="en-US" sz="1000" b="1" dirty="0">
                <a:solidFill>
                  <a:srgbClr val="C00000"/>
                </a:solidFill>
                <a:latin typeface="Graphik TH" pitchFamily="34" charset="0"/>
                <a:ea typeface="Graphik TH" pitchFamily="34" charset="-122"/>
                <a:cs typeface="Graphik TH" pitchFamily="34" charset="-120"/>
              </a:rPr>
              <a:t>178K  52%</a:t>
            </a:r>
            <a:endParaRPr lang="en-US" sz="1000" dirty="0"/>
          </a:p>
        </p:txBody>
      </p:sp>
      <p:sp>
        <p:nvSpPr>
          <p:cNvPr id="40" name="Shape 38"/>
          <p:cNvSpPr/>
          <p:nvPr/>
        </p:nvSpPr>
        <p:spPr>
          <a:xfrm>
            <a:off x="786384" y="4700016"/>
            <a:ext cx="5010912" cy="329184"/>
          </a:xfrm>
          <a:prstGeom prst="roundRect">
            <a:avLst>
              <a:gd name="adj" fmla="val 25000"/>
            </a:avLst>
          </a:prstGeom>
          <a:solidFill>
            <a:srgbClr val="FBF0E6"/>
          </a:solidFill>
          <a:ln/>
        </p:spPr>
      </p:sp>
      <p:sp>
        <p:nvSpPr>
          <p:cNvPr id="41" name="Text 39"/>
          <p:cNvSpPr/>
          <p:nvPr/>
        </p:nvSpPr>
        <p:spPr>
          <a:xfrm>
            <a:off x="932688" y="4700016"/>
            <a:ext cx="4718304" cy="329184"/>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Payment is the most exposed at 52%; deposit is the largest at 575K customers.</a:t>
            </a:r>
            <a:endParaRPr lang="en-US" sz="950" dirty="0"/>
          </a:p>
        </p:txBody>
      </p:sp>
      <p:sp>
        <p:nvSpPr>
          <p:cNvPr id="42" name="Shape 40"/>
          <p:cNvSpPr/>
          <p:nvPr/>
        </p:nvSpPr>
        <p:spPr>
          <a:xfrm>
            <a:off x="6281928" y="2798064"/>
            <a:ext cx="5522976" cy="2322576"/>
          </a:xfrm>
          <a:prstGeom prst="roundRect">
            <a:avLst>
              <a:gd name="adj" fmla="val 3543"/>
            </a:avLst>
          </a:prstGeom>
          <a:solidFill>
            <a:srgbClr val="F1F4F9"/>
          </a:solidFill>
          <a:ln/>
        </p:spPr>
      </p:sp>
      <p:sp>
        <p:nvSpPr>
          <p:cNvPr id="43" name="Text 41"/>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Wallet penetration outside CLICX</a:t>
            </a:r>
            <a:endParaRPr lang="en-US" sz="1400" dirty="0"/>
          </a:p>
        </p:txBody>
      </p:sp>
      <p:sp>
        <p:nvSpPr>
          <p:cNvPr id="44" name="Text 42"/>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By mobile relationship · the acquisition battleground</a:t>
            </a:r>
            <a:endParaRPr lang="en-US" sz="950" dirty="0"/>
          </a:p>
        </p:txBody>
      </p:sp>
      <p:sp>
        <p:nvSpPr>
          <p:cNvPr id="45" name="Text 43"/>
          <p:cNvSpPr/>
          <p:nvPr/>
        </p:nvSpPr>
        <p:spPr>
          <a:xfrm>
            <a:off x="6537960" y="3511296"/>
            <a:ext cx="1554480" cy="237744"/>
          </a:xfrm>
          <a:prstGeom prst="rect">
            <a:avLst/>
          </a:prstGeom>
          <a:noFill/>
          <a:ln/>
        </p:spPr>
        <p:txBody>
          <a:bodyPr wrap="square" lIns="0" tIns="0" rIns="0" bIns="0" rtlCol="0" anchor="ctr"/>
          <a:lstStyle/>
          <a:p>
            <a:pPr indent="0" marL="0">
              <a:buNone/>
            </a:pPr>
            <a:r>
              <a:rPr lang="en-US" sz="900" dirty="0">
                <a:solidFill>
                  <a:srgbClr val="16233D"/>
                </a:solidFill>
                <a:latin typeface="Graphik TH" pitchFamily="34" charset="0"/>
                <a:ea typeface="Graphik TH" pitchFamily="34" charset="-122"/>
                <a:cs typeface="Graphik TH" pitchFamily="34" charset="-120"/>
              </a:rPr>
              <a:t>Pre-paid only</a:t>
            </a:r>
            <a:endParaRPr lang="en-US" sz="900" dirty="0"/>
          </a:p>
        </p:txBody>
      </p:sp>
      <p:sp>
        <p:nvSpPr>
          <p:cNvPr id="46" name="Shape 44"/>
          <p:cNvSpPr/>
          <p:nvPr/>
        </p:nvSpPr>
        <p:spPr>
          <a:xfrm>
            <a:off x="8229600" y="3552444"/>
            <a:ext cx="1920240" cy="155448"/>
          </a:xfrm>
          <a:prstGeom prst="roundRect">
            <a:avLst>
              <a:gd name="adj" fmla="val 17647"/>
            </a:avLst>
          </a:prstGeom>
          <a:solidFill>
            <a:srgbClr val="E4E9F0"/>
          </a:solidFill>
          <a:ln/>
        </p:spPr>
      </p:sp>
      <p:sp>
        <p:nvSpPr>
          <p:cNvPr id="47" name="Shape 45"/>
          <p:cNvSpPr/>
          <p:nvPr/>
        </p:nvSpPr>
        <p:spPr>
          <a:xfrm>
            <a:off x="8229600" y="3552444"/>
            <a:ext cx="937926" cy="155448"/>
          </a:xfrm>
          <a:prstGeom prst="roundRect">
            <a:avLst>
              <a:gd name="adj" fmla="val 17647"/>
            </a:avLst>
          </a:prstGeom>
          <a:solidFill>
            <a:srgbClr val="C00000"/>
          </a:solidFill>
          <a:ln/>
        </p:spPr>
      </p:sp>
      <p:sp>
        <p:nvSpPr>
          <p:cNvPr id="48" name="Text 46"/>
          <p:cNvSpPr/>
          <p:nvPr/>
        </p:nvSpPr>
        <p:spPr>
          <a:xfrm>
            <a:off x="10241280" y="3511296"/>
            <a:ext cx="1307592" cy="237744"/>
          </a:xfrm>
          <a:prstGeom prst="rect">
            <a:avLst/>
          </a:prstGeom>
          <a:noFill/>
          <a:ln/>
        </p:spPr>
        <p:txBody>
          <a:bodyPr wrap="square" lIns="0" tIns="0" rIns="0" bIns="0" rtlCol="0" anchor="ctr"/>
          <a:lstStyle/>
          <a:p>
            <a:pPr algn="r" indent="0" marL="0">
              <a:buNone/>
            </a:pPr>
            <a:r>
              <a:rPr lang="en-US" sz="900" b="1" dirty="0">
                <a:solidFill>
                  <a:srgbClr val="C00000"/>
                </a:solidFill>
                <a:latin typeface="Graphik TH" pitchFamily="34" charset="0"/>
                <a:ea typeface="Graphik TH" pitchFamily="34" charset="-122"/>
                <a:cs typeface="Graphik TH" pitchFamily="34" charset="-120"/>
              </a:rPr>
              <a:t>5.4M of 19.9M  27%</a:t>
            </a:r>
            <a:endParaRPr lang="en-US" sz="900" dirty="0"/>
          </a:p>
        </p:txBody>
      </p:sp>
      <p:sp>
        <p:nvSpPr>
          <p:cNvPr id="49" name="Text 47"/>
          <p:cNvSpPr/>
          <p:nvPr/>
        </p:nvSpPr>
        <p:spPr>
          <a:xfrm>
            <a:off x="6537960" y="3803904"/>
            <a:ext cx="1554480" cy="237744"/>
          </a:xfrm>
          <a:prstGeom prst="rect">
            <a:avLst/>
          </a:prstGeom>
          <a:noFill/>
          <a:ln/>
        </p:spPr>
        <p:txBody>
          <a:bodyPr wrap="square" lIns="0" tIns="0" rIns="0" bIns="0" rtlCol="0" anchor="ctr"/>
          <a:lstStyle/>
          <a:p>
            <a:pPr indent="0" marL="0">
              <a:buNone/>
            </a:pPr>
            <a:r>
              <a:rPr lang="en-US" sz="900" dirty="0">
                <a:solidFill>
                  <a:srgbClr val="16233D"/>
                </a:solidFill>
                <a:latin typeface="Graphik TH" pitchFamily="34" charset="0"/>
                <a:ea typeface="Graphik TH" pitchFamily="34" charset="-122"/>
                <a:cs typeface="Graphik TH" pitchFamily="34" charset="-120"/>
              </a:rPr>
              <a:t>Post Paid only</a:t>
            </a:r>
            <a:endParaRPr lang="en-US" sz="900" dirty="0"/>
          </a:p>
        </p:txBody>
      </p:sp>
      <p:sp>
        <p:nvSpPr>
          <p:cNvPr id="50" name="Shape 48"/>
          <p:cNvSpPr/>
          <p:nvPr/>
        </p:nvSpPr>
        <p:spPr>
          <a:xfrm>
            <a:off x="8229600" y="3845052"/>
            <a:ext cx="1920240" cy="155448"/>
          </a:xfrm>
          <a:prstGeom prst="roundRect">
            <a:avLst>
              <a:gd name="adj" fmla="val 17647"/>
            </a:avLst>
          </a:prstGeom>
          <a:solidFill>
            <a:srgbClr val="E4E9F0"/>
          </a:solidFill>
          <a:ln/>
        </p:spPr>
      </p:sp>
      <p:sp>
        <p:nvSpPr>
          <p:cNvPr id="51" name="Shape 49"/>
          <p:cNvSpPr/>
          <p:nvPr/>
        </p:nvSpPr>
        <p:spPr>
          <a:xfrm>
            <a:off x="8229600" y="3845052"/>
            <a:ext cx="1512189" cy="155448"/>
          </a:xfrm>
          <a:prstGeom prst="roundRect">
            <a:avLst>
              <a:gd name="adj" fmla="val 17647"/>
            </a:avLst>
          </a:prstGeom>
          <a:solidFill>
            <a:srgbClr val="C00000"/>
          </a:solidFill>
          <a:ln/>
        </p:spPr>
      </p:sp>
      <p:sp>
        <p:nvSpPr>
          <p:cNvPr id="52" name="Text 50"/>
          <p:cNvSpPr/>
          <p:nvPr/>
        </p:nvSpPr>
        <p:spPr>
          <a:xfrm>
            <a:off x="10241280" y="3803904"/>
            <a:ext cx="1307592" cy="237744"/>
          </a:xfrm>
          <a:prstGeom prst="rect">
            <a:avLst/>
          </a:prstGeom>
          <a:noFill/>
          <a:ln/>
        </p:spPr>
        <p:txBody>
          <a:bodyPr wrap="square" lIns="0" tIns="0" rIns="0" bIns="0" rtlCol="0" anchor="ctr"/>
          <a:lstStyle/>
          <a:p>
            <a:pPr algn="r" indent="0" marL="0">
              <a:buNone/>
            </a:pPr>
            <a:r>
              <a:rPr lang="en-US" sz="900" b="1" dirty="0">
                <a:solidFill>
                  <a:srgbClr val="C00000"/>
                </a:solidFill>
                <a:latin typeface="Graphik TH" pitchFamily="34" charset="0"/>
                <a:ea typeface="Graphik TH" pitchFamily="34" charset="-122"/>
                <a:cs typeface="Graphik TH" pitchFamily="34" charset="-120"/>
              </a:rPr>
              <a:t>2.8M of 6.4M  44%</a:t>
            </a:r>
            <a:endParaRPr lang="en-US" sz="900" dirty="0"/>
          </a:p>
        </p:txBody>
      </p:sp>
      <p:sp>
        <p:nvSpPr>
          <p:cNvPr id="53" name="Text 51"/>
          <p:cNvSpPr/>
          <p:nvPr/>
        </p:nvSpPr>
        <p:spPr>
          <a:xfrm>
            <a:off x="6537960" y="4096512"/>
            <a:ext cx="1554480" cy="237744"/>
          </a:xfrm>
          <a:prstGeom prst="rect">
            <a:avLst/>
          </a:prstGeom>
          <a:noFill/>
          <a:ln/>
        </p:spPr>
        <p:txBody>
          <a:bodyPr wrap="square" lIns="0" tIns="0" rIns="0" bIns="0" rtlCol="0" anchor="ctr"/>
          <a:lstStyle/>
          <a:p>
            <a:pPr indent="0" marL="0">
              <a:buNone/>
            </a:pPr>
            <a:r>
              <a:rPr lang="en-US" sz="900" dirty="0">
                <a:solidFill>
                  <a:srgbClr val="16233D"/>
                </a:solidFill>
                <a:latin typeface="Graphik TH" pitchFamily="34" charset="0"/>
                <a:ea typeface="Graphik TH" pitchFamily="34" charset="-122"/>
                <a:cs typeface="Graphik TH" pitchFamily="34" charset="-120"/>
              </a:rPr>
              <a:t>Both</a:t>
            </a:r>
            <a:endParaRPr lang="en-US" sz="900" dirty="0"/>
          </a:p>
        </p:txBody>
      </p:sp>
      <p:sp>
        <p:nvSpPr>
          <p:cNvPr id="54" name="Shape 52"/>
          <p:cNvSpPr/>
          <p:nvPr/>
        </p:nvSpPr>
        <p:spPr>
          <a:xfrm>
            <a:off x="8229600" y="4137660"/>
            <a:ext cx="1920240" cy="155448"/>
          </a:xfrm>
          <a:prstGeom prst="roundRect">
            <a:avLst>
              <a:gd name="adj" fmla="val 17647"/>
            </a:avLst>
          </a:prstGeom>
          <a:solidFill>
            <a:srgbClr val="E4E9F0"/>
          </a:solidFill>
          <a:ln/>
        </p:spPr>
      </p:sp>
      <p:sp>
        <p:nvSpPr>
          <p:cNvPr id="55" name="Shape 53"/>
          <p:cNvSpPr/>
          <p:nvPr/>
        </p:nvSpPr>
        <p:spPr>
          <a:xfrm>
            <a:off x="8229600" y="4137660"/>
            <a:ext cx="1920240" cy="155448"/>
          </a:xfrm>
          <a:prstGeom prst="roundRect">
            <a:avLst>
              <a:gd name="adj" fmla="val 17647"/>
            </a:avLst>
          </a:prstGeom>
          <a:solidFill>
            <a:srgbClr val="C00000"/>
          </a:solidFill>
          <a:ln/>
        </p:spPr>
      </p:sp>
      <p:sp>
        <p:nvSpPr>
          <p:cNvPr id="56" name="Text 54"/>
          <p:cNvSpPr/>
          <p:nvPr/>
        </p:nvSpPr>
        <p:spPr>
          <a:xfrm>
            <a:off x="10241280" y="4096512"/>
            <a:ext cx="1307592" cy="237744"/>
          </a:xfrm>
          <a:prstGeom prst="rect">
            <a:avLst/>
          </a:prstGeom>
          <a:noFill/>
          <a:ln/>
        </p:spPr>
        <p:txBody>
          <a:bodyPr wrap="square" lIns="0" tIns="0" rIns="0" bIns="0" rtlCol="0" anchor="ctr"/>
          <a:lstStyle/>
          <a:p>
            <a:pPr algn="r" indent="0" marL="0">
              <a:buNone/>
            </a:pPr>
            <a:r>
              <a:rPr lang="en-US" sz="900" b="1" dirty="0">
                <a:solidFill>
                  <a:srgbClr val="C00000"/>
                </a:solidFill>
                <a:latin typeface="Graphik TH" pitchFamily="34" charset="0"/>
                <a:ea typeface="Graphik TH" pitchFamily="34" charset="-122"/>
                <a:cs typeface="Graphik TH" pitchFamily="34" charset="-120"/>
              </a:rPr>
              <a:t>1.0M of 1.8M  56%</a:t>
            </a:r>
            <a:endParaRPr lang="en-US" sz="900" dirty="0"/>
          </a:p>
        </p:txBody>
      </p:sp>
      <p:sp>
        <p:nvSpPr>
          <p:cNvPr id="57" name="Text 55"/>
          <p:cNvSpPr/>
          <p:nvPr/>
        </p:nvSpPr>
        <p:spPr>
          <a:xfrm>
            <a:off x="6537960" y="4389120"/>
            <a:ext cx="1554480" cy="237744"/>
          </a:xfrm>
          <a:prstGeom prst="rect">
            <a:avLst/>
          </a:prstGeom>
          <a:noFill/>
          <a:ln/>
        </p:spPr>
        <p:txBody>
          <a:bodyPr wrap="square" lIns="0" tIns="0" rIns="0" bIns="0" rtlCol="0" anchor="ctr"/>
          <a:lstStyle/>
          <a:p>
            <a:pPr indent="0" marL="0">
              <a:buNone/>
            </a:pPr>
            <a:r>
              <a:rPr lang="en-US" sz="900" dirty="0">
                <a:solidFill>
                  <a:srgbClr val="16233D"/>
                </a:solidFill>
                <a:latin typeface="Graphik TH" pitchFamily="34" charset="0"/>
                <a:ea typeface="Graphik TH" pitchFamily="34" charset="-122"/>
                <a:cs typeface="Graphik TH" pitchFamily="34" charset="-120"/>
              </a:rPr>
              <a:t>Non-mobile</a:t>
            </a:r>
            <a:endParaRPr lang="en-US" sz="900" dirty="0"/>
          </a:p>
        </p:txBody>
      </p:sp>
      <p:sp>
        <p:nvSpPr>
          <p:cNvPr id="58" name="Shape 56"/>
          <p:cNvSpPr/>
          <p:nvPr/>
        </p:nvSpPr>
        <p:spPr>
          <a:xfrm>
            <a:off x="8229600" y="4430268"/>
            <a:ext cx="1920240" cy="155448"/>
          </a:xfrm>
          <a:prstGeom prst="roundRect">
            <a:avLst>
              <a:gd name="adj" fmla="val 17647"/>
            </a:avLst>
          </a:prstGeom>
          <a:solidFill>
            <a:srgbClr val="E4E9F0"/>
          </a:solidFill>
          <a:ln/>
        </p:spPr>
      </p:sp>
      <p:sp>
        <p:nvSpPr>
          <p:cNvPr id="59" name="Shape 57"/>
          <p:cNvSpPr/>
          <p:nvPr/>
        </p:nvSpPr>
        <p:spPr>
          <a:xfrm>
            <a:off x="8229600" y="4430268"/>
            <a:ext cx="138257" cy="155448"/>
          </a:xfrm>
          <a:prstGeom prst="roundRect">
            <a:avLst>
              <a:gd name="adj" fmla="val 19841"/>
            </a:avLst>
          </a:prstGeom>
          <a:solidFill>
            <a:srgbClr val="1E8E86"/>
          </a:solidFill>
          <a:ln/>
        </p:spPr>
      </p:sp>
      <p:sp>
        <p:nvSpPr>
          <p:cNvPr id="60" name="Text 58"/>
          <p:cNvSpPr/>
          <p:nvPr/>
        </p:nvSpPr>
        <p:spPr>
          <a:xfrm>
            <a:off x="10241280" y="4389120"/>
            <a:ext cx="1307592" cy="237744"/>
          </a:xfrm>
          <a:prstGeom prst="rect">
            <a:avLst/>
          </a:prstGeom>
          <a:noFill/>
          <a:ln/>
        </p:spPr>
        <p:txBody>
          <a:bodyPr wrap="square" lIns="0" tIns="0" rIns="0" bIns="0" rtlCol="0" anchor="ctr"/>
          <a:lstStyle/>
          <a:p>
            <a:pPr algn="r" indent="0" marL="0">
              <a:buNone/>
            </a:pPr>
            <a:r>
              <a:rPr lang="en-US" sz="900" b="1" dirty="0">
                <a:solidFill>
                  <a:srgbClr val="1E8E86"/>
                </a:solidFill>
                <a:latin typeface="Graphik TH" pitchFamily="34" charset="0"/>
                <a:ea typeface="Graphik TH" pitchFamily="34" charset="-122"/>
                <a:cs typeface="Graphik TH" pitchFamily="34" charset="-120"/>
              </a:rPr>
              <a:t>68K of 1.7M  4%</a:t>
            </a:r>
            <a:endParaRPr lang="en-US" sz="900" dirty="0"/>
          </a:p>
        </p:txBody>
      </p:sp>
      <p:sp>
        <p:nvSpPr>
          <p:cNvPr id="61" name="Text 59"/>
          <p:cNvSpPr/>
          <p:nvPr/>
        </p:nvSpPr>
        <p:spPr>
          <a:xfrm>
            <a:off x="6537960" y="4681728"/>
            <a:ext cx="1554480" cy="237744"/>
          </a:xfrm>
          <a:prstGeom prst="rect">
            <a:avLst/>
          </a:prstGeom>
          <a:noFill/>
          <a:ln/>
        </p:spPr>
        <p:txBody>
          <a:bodyPr wrap="square" lIns="0" tIns="0" rIns="0" bIns="0" rtlCol="0" anchor="ctr"/>
          <a:lstStyle/>
          <a:p>
            <a:pPr indent="0" marL="0">
              <a:buNone/>
            </a:pPr>
            <a:r>
              <a:rPr lang="en-US" sz="900" dirty="0">
                <a:solidFill>
                  <a:srgbClr val="16233D"/>
                </a:solidFill>
                <a:latin typeface="Graphik TH" pitchFamily="34" charset="0"/>
                <a:ea typeface="Graphik TH" pitchFamily="34" charset="-122"/>
                <a:cs typeface="Graphik TH" pitchFamily="34" charset="-120"/>
              </a:rPr>
              <a:t>KTB only</a:t>
            </a:r>
            <a:endParaRPr lang="en-US" sz="900" dirty="0"/>
          </a:p>
        </p:txBody>
      </p:sp>
      <p:sp>
        <p:nvSpPr>
          <p:cNvPr id="62" name="Shape 60"/>
          <p:cNvSpPr/>
          <p:nvPr/>
        </p:nvSpPr>
        <p:spPr>
          <a:xfrm>
            <a:off x="8229600" y="4722876"/>
            <a:ext cx="1920240" cy="155448"/>
          </a:xfrm>
          <a:prstGeom prst="roundRect">
            <a:avLst>
              <a:gd name="adj" fmla="val 17647"/>
            </a:avLst>
          </a:prstGeom>
          <a:solidFill>
            <a:srgbClr val="E4E9F0"/>
          </a:solidFill>
          <a:ln/>
        </p:spPr>
      </p:sp>
      <p:sp>
        <p:nvSpPr>
          <p:cNvPr id="63" name="Shape 61"/>
          <p:cNvSpPr/>
          <p:nvPr/>
        </p:nvSpPr>
        <p:spPr>
          <a:xfrm>
            <a:off x="8229600" y="4722876"/>
            <a:ext cx="236742" cy="155448"/>
          </a:xfrm>
          <a:prstGeom prst="roundRect">
            <a:avLst>
              <a:gd name="adj" fmla="val 17647"/>
            </a:avLst>
          </a:prstGeom>
          <a:solidFill>
            <a:srgbClr val="1E8E86"/>
          </a:solidFill>
          <a:ln/>
        </p:spPr>
      </p:sp>
      <p:sp>
        <p:nvSpPr>
          <p:cNvPr id="64" name="Text 62"/>
          <p:cNvSpPr/>
          <p:nvPr/>
        </p:nvSpPr>
        <p:spPr>
          <a:xfrm>
            <a:off x="10241280" y="4681728"/>
            <a:ext cx="1307592" cy="237744"/>
          </a:xfrm>
          <a:prstGeom prst="rect">
            <a:avLst/>
          </a:prstGeom>
          <a:noFill/>
          <a:ln/>
        </p:spPr>
        <p:txBody>
          <a:bodyPr wrap="square" lIns="0" tIns="0" rIns="0" bIns="0" rtlCol="0" anchor="ctr"/>
          <a:lstStyle/>
          <a:p>
            <a:pPr algn="r" indent="0" marL="0">
              <a:buNone/>
            </a:pPr>
            <a:r>
              <a:rPr lang="en-US" sz="900" b="1" dirty="0">
                <a:solidFill>
                  <a:srgbClr val="1E8E86"/>
                </a:solidFill>
                <a:latin typeface="Graphik TH" pitchFamily="34" charset="0"/>
                <a:ea typeface="Graphik TH" pitchFamily="34" charset="-122"/>
                <a:cs typeface="Graphik TH" pitchFamily="34" charset="-120"/>
              </a:rPr>
              <a:t>1.0M of 14.6M  7%</a:t>
            </a:r>
            <a:endParaRPr lang="en-US" sz="900" dirty="0"/>
          </a:p>
        </p:txBody>
      </p:sp>
      <p:sp>
        <p:nvSpPr>
          <p:cNvPr id="65" name="Text 63"/>
          <p:cNvSpPr/>
          <p:nvPr/>
        </p:nvSpPr>
        <p:spPr>
          <a:xfrm>
            <a:off x="6537960" y="4919472"/>
            <a:ext cx="5010912" cy="182880"/>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Wallet penetration tracks the mobile relationship, not the bank one.</a:t>
            </a:r>
            <a:endParaRPr lang="en-US" sz="900" dirty="0"/>
          </a:p>
        </p:txBody>
      </p:sp>
      <p:sp>
        <p:nvSpPr>
          <p:cNvPr id="66" name="Shape 64"/>
          <p:cNvSpPr/>
          <p:nvPr/>
        </p:nvSpPr>
        <p:spPr>
          <a:xfrm>
            <a:off x="530352" y="5285232"/>
            <a:ext cx="11274552" cy="786384"/>
          </a:xfrm>
          <a:prstGeom prst="roundRect">
            <a:avLst>
              <a:gd name="adj" fmla="val 10465"/>
            </a:avLst>
          </a:prstGeom>
          <a:solidFill>
            <a:srgbClr val="E8F6F3"/>
          </a:solidFill>
          <a:ln/>
        </p:spPr>
      </p:sp>
      <p:sp>
        <p:nvSpPr>
          <p:cNvPr id="67" name="Text 65"/>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KTB-only customers are 93% wallet-free — 13.6M people TrueMoney has not reached either</a:t>
            </a:r>
            <a:pPr indent="0" marL="0">
              <a:buNone/>
            </a:pPr>
            <a:r>
              <a:rPr lang="en-US" sz="1100" dirty="0">
                <a:solidFill>
                  <a:srgbClr val="16233D"/>
                </a:solidFill>
                <a:latin typeface="Graphik TH" pitchFamily="34" charset="0"/>
                <a:ea typeface="Graphik TH" pitchFamily="34" charset="-122"/>
                <a:cs typeface="Graphik TH" pitchFamily="34" charset="-120"/>
              </a:rPr>
              <a:t>  —  the cleanest acquisition pool in the base. Defend the 575K deposit customers who already hold a wallet, and win the ones where no wallet relationship exists yet.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Where to play</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*Sizing uses the segments as supplied. Each priority is drawn from a different one of the four source views.</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Defend 755K   ·   Acquire through OR 9.8M at 6.9% penetration   ·   Convert 6.2M AIS &amp; KTB with cash need</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One defensive priority and two offensive ones, in the order the data supports.</a:t>
            </a:r>
            <a:endParaRPr lang="en-US" sz="1400" dirty="0"/>
          </a:p>
        </p:txBody>
      </p:sp>
      <p:sp>
        <p:nvSpPr>
          <p:cNvPr id="6" name="Shape 4"/>
          <p:cNvSpPr/>
          <p:nvPr/>
        </p:nvSpPr>
        <p:spPr>
          <a:xfrm>
            <a:off x="530352" y="1645920"/>
            <a:ext cx="3602736" cy="4059936"/>
          </a:xfrm>
          <a:prstGeom prst="roundRect">
            <a:avLst>
              <a:gd name="adj" fmla="val 2284"/>
            </a:avLst>
          </a:prstGeom>
          <a:solidFill>
            <a:srgbClr val="F1F4F9"/>
          </a:solidFill>
          <a:ln/>
        </p:spPr>
      </p:sp>
      <p:sp>
        <p:nvSpPr>
          <p:cNvPr id="7" name="Shape 5"/>
          <p:cNvSpPr/>
          <p:nvPr/>
        </p:nvSpPr>
        <p:spPr>
          <a:xfrm>
            <a:off x="768096" y="1773936"/>
            <a:ext cx="274320" cy="256032"/>
          </a:xfrm>
          <a:prstGeom prst="roundRect">
            <a:avLst>
              <a:gd name="adj" fmla="val 17857"/>
            </a:avLst>
          </a:prstGeom>
          <a:solidFill>
            <a:srgbClr val="C00000"/>
          </a:solidFill>
          <a:ln/>
        </p:spPr>
      </p:sp>
      <p:sp>
        <p:nvSpPr>
          <p:cNvPr id="8" name="Text 6"/>
          <p:cNvSpPr/>
          <p:nvPr/>
        </p:nvSpPr>
        <p:spPr>
          <a:xfrm>
            <a:off x="768096" y="177393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1</a:t>
            </a:r>
            <a:endParaRPr lang="en-US" sz="1100" dirty="0"/>
          </a:p>
        </p:txBody>
      </p:sp>
      <p:sp>
        <p:nvSpPr>
          <p:cNvPr id="9" name="Text 7"/>
          <p:cNvSpPr/>
          <p:nvPr/>
        </p:nvSpPr>
        <p:spPr>
          <a:xfrm>
            <a:off x="1152144" y="1773936"/>
            <a:ext cx="2743200" cy="256032"/>
          </a:xfrm>
          <a:prstGeom prst="rect">
            <a:avLst/>
          </a:prstGeom>
          <a:noFill/>
          <a:ln/>
        </p:spPr>
        <p:txBody>
          <a:bodyPr wrap="square" lIns="0" tIns="0" rIns="0" bIns="0" rtlCol="0" anchor="ctr"/>
          <a:lstStyle/>
          <a:p>
            <a:pPr indent="0" marL="0">
              <a:buNone/>
            </a:pPr>
            <a:r>
              <a:rPr lang="en-US" sz="950" b="1" spc="160" kern="0" dirty="0">
                <a:solidFill>
                  <a:srgbClr val="C00000"/>
                </a:solidFill>
                <a:latin typeface="Graphik TH" pitchFamily="34" charset="0"/>
                <a:ea typeface="Graphik TH" pitchFamily="34" charset="-122"/>
                <a:cs typeface="Graphik TH" pitchFamily="34" charset="-120"/>
              </a:rPr>
              <a:t>DEFEND</a:t>
            </a:r>
            <a:endParaRPr lang="en-US" sz="950" dirty="0"/>
          </a:p>
        </p:txBody>
      </p:sp>
      <p:sp>
        <p:nvSpPr>
          <p:cNvPr id="10" name="Text 8"/>
          <p:cNvSpPr/>
          <p:nvPr/>
        </p:nvSpPr>
        <p:spPr>
          <a:xfrm>
            <a:off x="768096" y="2103120"/>
            <a:ext cx="31272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The dual-holders</a:t>
            </a:r>
            <a:endParaRPr lang="en-US" sz="1400" dirty="0"/>
          </a:p>
        </p:txBody>
      </p:sp>
      <p:sp>
        <p:nvSpPr>
          <p:cNvPr id="11" name="Text 9"/>
          <p:cNvSpPr/>
          <p:nvPr/>
        </p:nvSpPr>
        <p:spPr>
          <a:xfrm>
            <a:off x="768096" y="2432304"/>
            <a:ext cx="3127248" cy="457200"/>
          </a:xfrm>
          <a:prstGeom prst="rect">
            <a:avLst/>
          </a:prstGeom>
          <a:noFill/>
          <a:ln/>
        </p:spPr>
        <p:txBody>
          <a:bodyPr wrap="square" lIns="0" tIns="0" rIns="0" bIns="0" rtlCol="0" anchor="ctr"/>
          <a:lstStyle/>
          <a:p>
            <a:pPr indent="0" marL="0">
              <a:buNone/>
            </a:pPr>
            <a:r>
              <a:rPr lang="en-US" sz="2800" b="1" dirty="0">
                <a:solidFill>
                  <a:srgbClr val="C00000"/>
                </a:solidFill>
                <a:latin typeface="Graphik TH" pitchFamily="34" charset="0"/>
                <a:ea typeface="Graphik TH" pitchFamily="34" charset="-122"/>
                <a:cs typeface="Graphik TH" pitchFamily="34" charset="-120"/>
              </a:rPr>
              <a:t>755K</a:t>
            </a:r>
            <a:endParaRPr lang="en-US" sz="2800" dirty="0"/>
          </a:p>
        </p:txBody>
      </p:sp>
      <p:sp>
        <p:nvSpPr>
          <p:cNvPr id="12" name="Text 10"/>
          <p:cNvSpPr/>
          <p:nvPr/>
        </p:nvSpPr>
        <p:spPr>
          <a:xfrm>
            <a:off x="768096" y="2907792"/>
            <a:ext cx="3127248" cy="384048"/>
          </a:xfrm>
          <a:prstGeom prst="rect">
            <a:avLst/>
          </a:prstGeom>
          <a:noFill/>
          <a:ln/>
        </p:spPr>
        <p:txBody>
          <a:bodyPr wrap="square" lIns="0" tIns="0" rIns="0" bIns="0" rtlCol="0" anchor="t"/>
          <a:lstStyle/>
          <a:p>
            <a:pPr indent="0" marL="0">
              <a:buNone/>
            </a:pPr>
            <a:r>
              <a:rPr lang="en-US" sz="900" dirty="0">
                <a:solidFill>
                  <a:srgbClr val="6B7A90"/>
                </a:solidFill>
                <a:latin typeface="Graphik TH" pitchFamily="34" charset="0"/>
                <a:ea typeface="Graphik TH" pitchFamily="34" charset="-122"/>
                <a:cs typeface="Graphik TH" pitchFamily="34" charset="-120"/>
              </a:rPr>
              <a:t>CLICX customers who already hold a TrueMoney wallet (44%)</a:t>
            </a:r>
            <a:endParaRPr lang="en-US" sz="900" dirty="0"/>
          </a:p>
        </p:txBody>
      </p:sp>
      <p:sp>
        <p:nvSpPr>
          <p:cNvPr id="13" name="Shape 11"/>
          <p:cNvSpPr/>
          <p:nvPr/>
        </p:nvSpPr>
        <p:spPr>
          <a:xfrm>
            <a:off x="768096" y="3364992"/>
            <a:ext cx="3127248" cy="10973"/>
          </a:xfrm>
          <a:prstGeom prst="rect">
            <a:avLst/>
          </a:prstGeom>
          <a:solidFill>
            <a:srgbClr val="D8DFE9"/>
          </a:solidFill>
          <a:ln/>
        </p:spPr>
      </p:sp>
      <p:sp>
        <p:nvSpPr>
          <p:cNvPr id="14" name="Text 12"/>
          <p:cNvSpPr/>
          <p:nvPr/>
        </p:nvSpPr>
        <p:spPr>
          <a:xfrm>
            <a:off x="768096" y="3474720"/>
            <a:ext cx="3127248" cy="219456"/>
          </a:xfrm>
          <a:prstGeom prst="rect">
            <a:avLst/>
          </a:prstGeom>
          <a:noFill/>
          <a:ln/>
        </p:spPr>
        <p:txBody>
          <a:bodyPr wrap="square" lIns="0" tIns="0" rIns="0" bIns="0" rtlCol="0" anchor="ctr"/>
          <a:lstStyle/>
          <a:p>
            <a:pPr indent="0" marL="0">
              <a:buNone/>
            </a:pPr>
            <a:r>
              <a:rPr lang="en-US" sz="1050" b="1" dirty="0">
                <a:solidFill>
                  <a:srgbClr val="C00000"/>
                </a:solidFill>
                <a:latin typeface="Graphik TH" pitchFamily="34" charset="0"/>
                <a:ea typeface="Graphik TH" pitchFamily="34" charset="-122"/>
                <a:cs typeface="Graphik TH" pitchFamily="34" charset="-120"/>
              </a:rPr>
              <a:t>Deposit at risk</a:t>
            </a:r>
            <a:endParaRPr lang="en-US" sz="1050" dirty="0"/>
          </a:p>
        </p:txBody>
      </p:sp>
      <p:sp>
        <p:nvSpPr>
          <p:cNvPr id="15" name="Text 13"/>
          <p:cNvSpPr/>
          <p:nvPr/>
        </p:nvSpPr>
        <p:spPr>
          <a:xfrm>
            <a:off x="768096" y="3675888"/>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575K customers, 44% of the deposit base</a:t>
            </a:r>
            <a:endParaRPr lang="en-US" sz="900" dirty="0"/>
          </a:p>
        </p:txBody>
      </p:sp>
      <p:sp>
        <p:nvSpPr>
          <p:cNvPr id="16" name="Text 14"/>
          <p:cNvSpPr/>
          <p:nvPr/>
        </p:nvSpPr>
        <p:spPr>
          <a:xfrm>
            <a:off x="768096" y="4187952"/>
            <a:ext cx="3127248" cy="219456"/>
          </a:xfrm>
          <a:prstGeom prst="rect">
            <a:avLst/>
          </a:prstGeom>
          <a:noFill/>
          <a:ln/>
        </p:spPr>
        <p:txBody>
          <a:bodyPr wrap="square" lIns="0" tIns="0" rIns="0" bIns="0" rtlCol="0" anchor="ctr"/>
          <a:lstStyle/>
          <a:p>
            <a:pPr indent="0" marL="0">
              <a:buNone/>
            </a:pPr>
            <a:r>
              <a:rPr lang="en-US" sz="1050" b="1" dirty="0">
                <a:solidFill>
                  <a:srgbClr val="C00000"/>
                </a:solidFill>
                <a:latin typeface="Graphik TH" pitchFamily="34" charset="0"/>
                <a:ea typeface="Graphik TH" pitchFamily="34" charset="-122"/>
                <a:cs typeface="Graphik TH" pitchFamily="34" charset="-120"/>
              </a:rPr>
              <a:t>Payment at risk</a:t>
            </a:r>
            <a:endParaRPr lang="en-US" sz="1050" dirty="0"/>
          </a:p>
        </p:txBody>
      </p:sp>
      <p:sp>
        <p:nvSpPr>
          <p:cNvPr id="17" name="Text 15"/>
          <p:cNvSpPr/>
          <p:nvPr/>
        </p:nvSpPr>
        <p:spPr>
          <a:xfrm>
            <a:off x="768096" y="4389120"/>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178K customers, 52% — the most exposed product</a:t>
            </a:r>
            <a:endParaRPr lang="en-US" sz="900" dirty="0"/>
          </a:p>
        </p:txBody>
      </p:sp>
      <p:sp>
        <p:nvSpPr>
          <p:cNvPr id="18" name="Text 16"/>
          <p:cNvSpPr/>
          <p:nvPr/>
        </p:nvSpPr>
        <p:spPr>
          <a:xfrm>
            <a:off x="768096" y="4901184"/>
            <a:ext cx="3127248" cy="219456"/>
          </a:xfrm>
          <a:prstGeom prst="rect">
            <a:avLst/>
          </a:prstGeom>
          <a:noFill/>
          <a:ln/>
        </p:spPr>
        <p:txBody>
          <a:bodyPr wrap="square" lIns="0" tIns="0" rIns="0" bIns="0" rtlCol="0" anchor="ctr"/>
          <a:lstStyle/>
          <a:p>
            <a:pPr indent="0" marL="0">
              <a:buNone/>
            </a:pPr>
            <a:r>
              <a:rPr lang="en-US" sz="1050" b="1" dirty="0">
                <a:solidFill>
                  <a:srgbClr val="C00000"/>
                </a:solidFill>
                <a:latin typeface="Graphik TH" pitchFamily="34" charset="0"/>
                <a:ea typeface="Graphik TH" pitchFamily="34" charset="-122"/>
                <a:cs typeface="Graphik TH" pitchFamily="34" charset="-120"/>
              </a:rPr>
              <a:t>Act before launch</a:t>
            </a:r>
            <a:endParaRPr lang="en-US" sz="1050" dirty="0"/>
          </a:p>
        </p:txBody>
      </p:sp>
      <p:sp>
        <p:nvSpPr>
          <p:cNvPr id="19" name="Text 17"/>
          <p:cNvSpPr/>
          <p:nvPr/>
        </p:nvSpPr>
        <p:spPr>
          <a:xfrm>
            <a:off x="768096" y="5102352"/>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Deepen the deposit relationship while the wallet is still a wallet, not a bank.</a:t>
            </a:r>
            <a:endParaRPr lang="en-US" sz="900" dirty="0"/>
          </a:p>
        </p:txBody>
      </p:sp>
      <p:sp>
        <p:nvSpPr>
          <p:cNvPr id="20" name="Shape 18"/>
          <p:cNvSpPr/>
          <p:nvPr/>
        </p:nvSpPr>
        <p:spPr>
          <a:xfrm>
            <a:off x="4361688" y="1645920"/>
            <a:ext cx="3602736" cy="4059936"/>
          </a:xfrm>
          <a:prstGeom prst="roundRect">
            <a:avLst>
              <a:gd name="adj" fmla="val 2284"/>
            </a:avLst>
          </a:prstGeom>
          <a:solidFill>
            <a:srgbClr val="F1F4F9"/>
          </a:solidFill>
          <a:ln/>
        </p:spPr>
      </p:sp>
      <p:sp>
        <p:nvSpPr>
          <p:cNvPr id="21" name="Shape 19"/>
          <p:cNvSpPr/>
          <p:nvPr/>
        </p:nvSpPr>
        <p:spPr>
          <a:xfrm>
            <a:off x="4599432" y="1773936"/>
            <a:ext cx="274320" cy="256032"/>
          </a:xfrm>
          <a:prstGeom prst="roundRect">
            <a:avLst>
              <a:gd name="adj" fmla="val 17857"/>
            </a:avLst>
          </a:prstGeom>
          <a:solidFill>
            <a:srgbClr val="045D66"/>
          </a:solidFill>
          <a:ln/>
        </p:spPr>
      </p:sp>
      <p:sp>
        <p:nvSpPr>
          <p:cNvPr id="22" name="Text 20"/>
          <p:cNvSpPr/>
          <p:nvPr/>
        </p:nvSpPr>
        <p:spPr>
          <a:xfrm>
            <a:off x="4599432" y="177393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2</a:t>
            </a:r>
            <a:endParaRPr lang="en-US" sz="1100" dirty="0"/>
          </a:p>
        </p:txBody>
      </p:sp>
      <p:sp>
        <p:nvSpPr>
          <p:cNvPr id="23" name="Text 21"/>
          <p:cNvSpPr/>
          <p:nvPr/>
        </p:nvSpPr>
        <p:spPr>
          <a:xfrm>
            <a:off x="4983480" y="1773936"/>
            <a:ext cx="2743200" cy="256032"/>
          </a:xfrm>
          <a:prstGeom prst="rect">
            <a:avLst/>
          </a:prstGeom>
          <a:noFill/>
          <a:ln/>
        </p:spPr>
        <p:txBody>
          <a:bodyPr wrap="square" lIns="0" tIns="0" rIns="0" bIns="0" rtlCol="0" anchor="ctr"/>
          <a:lstStyle/>
          <a:p>
            <a:pPr indent="0" marL="0">
              <a:buNone/>
            </a:pPr>
            <a:r>
              <a:rPr lang="en-US" sz="950" b="1" spc="160" kern="0" dirty="0">
                <a:solidFill>
                  <a:srgbClr val="045D66"/>
                </a:solidFill>
                <a:latin typeface="Graphik TH" pitchFamily="34" charset="0"/>
                <a:ea typeface="Graphik TH" pitchFamily="34" charset="-122"/>
                <a:cs typeface="Graphik TH" pitchFamily="34" charset="-120"/>
              </a:rPr>
              <a:t>ACQUIRE</a:t>
            </a:r>
            <a:endParaRPr lang="en-US" sz="950" dirty="0"/>
          </a:p>
        </p:txBody>
      </p:sp>
      <p:sp>
        <p:nvSpPr>
          <p:cNvPr id="24" name="Text 22"/>
          <p:cNvSpPr/>
          <p:nvPr/>
        </p:nvSpPr>
        <p:spPr>
          <a:xfrm>
            <a:off x="4599432" y="2103120"/>
            <a:ext cx="31272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OR-linked segments</a:t>
            </a:r>
            <a:endParaRPr lang="en-US" sz="1400" dirty="0"/>
          </a:p>
        </p:txBody>
      </p:sp>
      <p:sp>
        <p:nvSpPr>
          <p:cNvPr id="25" name="Text 23"/>
          <p:cNvSpPr/>
          <p:nvPr/>
        </p:nvSpPr>
        <p:spPr>
          <a:xfrm>
            <a:off x="4599432" y="2432304"/>
            <a:ext cx="3127248" cy="457200"/>
          </a:xfrm>
          <a:prstGeom prst="rect">
            <a:avLst/>
          </a:prstGeom>
          <a:noFill/>
          <a:ln/>
        </p:spPr>
        <p:txBody>
          <a:bodyPr wrap="square" lIns="0" tIns="0" rIns="0" bIns="0" rtlCol="0" anchor="ctr"/>
          <a:lstStyle/>
          <a:p>
            <a:pPr indent="0" marL="0">
              <a:buNone/>
            </a:pPr>
            <a:r>
              <a:rPr lang="en-US" sz="2800" b="1" dirty="0">
                <a:solidFill>
                  <a:srgbClr val="045D66"/>
                </a:solidFill>
                <a:latin typeface="Graphik TH" pitchFamily="34" charset="0"/>
                <a:ea typeface="Graphik TH" pitchFamily="34" charset="-122"/>
                <a:cs typeface="Graphik TH" pitchFamily="34" charset="-120"/>
              </a:rPr>
              <a:t>6.9%</a:t>
            </a:r>
            <a:endParaRPr lang="en-US" sz="2800" dirty="0"/>
          </a:p>
        </p:txBody>
      </p:sp>
      <p:sp>
        <p:nvSpPr>
          <p:cNvPr id="26" name="Text 24"/>
          <p:cNvSpPr/>
          <p:nvPr/>
        </p:nvSpPr>
        <p:spPr>
          <a:xfrm>
            <a:off x="4599432" y="2907792"/>
            <a:ext cx="3127248" cy="384048"/>
          </a:xfrm>
          <a:prstGeom prst="rect">
            <a:avLst/>
          </a:prstGeom>
          <a:noFill/>
          <a:ln/>
        </p:spPr>
        <p:txBody>
          <a:bodyPr wrap="square" lIns="0" tIns="0" rIns="0" bIns="0" rtlCol="0" anchor="t"/>
          <a:lstStyle/>
          <a:p>
            <a:pPr indent="0" marL="0">
              <a:buNone/>
            </a:pPr>
            <a:r>
              <a:rPr lang="en-US" sz="900" dirty="0">
                <a:solidFill>
                  <a:srgbClr val="6B7A90"/>
                </a:solidFill>
                <a:latin typeface="Graphik TH" pitchFamily="34" charset="0"/>
                <a:ea typeface="Graphik TH" pitchFamily="34" charset="-122"/>
                <a:cs typeface="Graphik TH" pitchFamily="34" charset="-120"/>
              </a:rPr>
              <a:t>CLICX penetration with an OR relationship, against 2.6% without</a:t>
            </a:r>
            <a:endParaRPr lang="en-US" sz="900" dirty="0"/>
          </a:p>
        </p:txBody>
      </p:sp>
      <p:sp>
        <p:nvSpPr>
          <p:cNvPr id="27" name="Shape 25"/>
          <p:cNvSpPr/>
          <p:nvPr/>
        </p:nvSpPr>
        <p:spPr>
          <a:xfrm>
            <a:off x="4599432" y="3364992"/>
            <a:ext cx="3127248" cy="10973"/>
          </a:xfrm>
          <a:prstGeom prst="rect">
            <a:avLst/>
          </a:prstGeom>
          <a:solidFill>
            <a:srgbClr val="D8DFE9"/>
          </a:solidFill>
          <a:ln/>
        </p:spPr>
      </p:sp>
      <p:sp>
        <p:nvSpPr>
          <p:cNvPr id="28" name="Text 26"/>
          <p:cNvSpPr/>
          <p:nvPr/>
        </p:nvSpPr>
        <p:spPr>
          <a:xfrm>
            <a:off x="4599432" y="3474720"/>
            <a:ext cx="3127248" cy="219456"/>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Strongest signal</a:t>
            </a:r>
            <a:endParaRPr lang="en-US" sz="1050" dirty="0"/>
          </a:p>
        </p:txBody>
      </p:sp>
      <p:sp>
        <p:nvSpPr>
          <p:cNvPr id="29" name="Text 27"/>
          <p:cNvSpPr/>
          <p:nvPr/>
        </p:nvSpPr>
        <p:spPr>
          <a:xfrm>
            <a:off x="4599432" y="3675888"/>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OR presence lifts adoption 2× to 7×, booking to 24.5%, and cash-need intensity.</a:t>
            </a:r>
            <a:endParaRPr lang="en-US" sz="900" dirty="0"/>
          </a:p>
        </p:txBody>
      </p:sp>
      <p:sp>
        <p:nvSpPr>
          <p:cNvPr id="30" name="Text 28"/>
          <p:cNvSpPr/>
          <p:nvPr/>
        </p:nvSpPr>
        <p:spPr>
          <a:xfrm>
            <a:off x="4599432" y="4187952"/>
            <a:ext cx="3127248" cy="219456"/>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Start here</a:t>
            </a:r>
            <a:endParaRPr lang="en-US" sz="1050" dirty="0"/>
          </a:p>
        </p:txBody>
      </p:sp>
      <p:sp>
        <p:nvSpPr>
          <p:cNvPr id="31" name="Text 29"/>
          <p:cNvSpPr/>
          <p:nvPr/>
        </p:nvSpPr>
        <p:spPr>
          <a:xfrm>
            <a:off x="4599432" y="4389120"/>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AIS KTB OR converts at 8.2% — the highest of any segment, on a 5.2M base.</a:t>
            </a:r>
            <a:endParaRPr lang="en-US" sz="900" dirty="0"/>
          </a:p>
        </p:txBody>
      </p:sp>
      <p:sp>
        <p:nvSpPr>
          <p:cNvPr id="32" name="Text 30"/>
          <p:cNvSpPr/>
          <p:nvPr/>
        </p:nvSpPr>
        <p:spPr>
          <a:xfrm>
            <a:off x="4599432" y="4901184"/>
            <a:ext cx="3127248" cy="219456"/>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Channel</a:t>
            </a:r>
            <a:endParaRPr lang="en-US" sz="1050" dirty="0"/>
          </a:p>
        </p:txBody>
      </p:sp>
      <p:sp>
        <p:nvSpPr>
          <p:cNvPr id="33" name="Text 31"/>
          <p:cNvSpPr/>
          <p:nvPr/>
        </p:nvSpPr>
        <p:spPr>
          <a:xfrm>
            <a:off x="4599432" y="5102352"/>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Lead through the OR touchpoint; it reaches customers AIS and KTB alone do not.</a:t>
            </a:r>
            <a:endParaRPr lang="en-US" sz="900" dirty="0"/>
          </a:p>
        </p:txBody>
      </p:sp>
      <p:sp>
        <p:nvSpPr>
          <p:cNvPr id="34" name="Shape 32"/>
          <p:cNvSpPr/>
          <p:nvPr/>
        </p:nvSpPr>
        <p:spPr>
          <a:xfrm>
            <a:off x="8193024" y="1645920"/>
            <a:ext cx="3602736" cy="4059936"/>
          </a:xfrm>
          <a:prstGeom prst="roundRect">
            <a:avLst>
              <a:gd name="adj" fmla="val 2284"/>
            </a:avLst>
          </a:prstGeom>
          <a:solidFill>
            <a:srgbClr val="F1F4F9"/>
          </a:solidFill>
          <a:ln/>
        </p:spPr>
      </p:sp>
      <p:sp>
        <p:nvSpPr>
          <p:cNvPr id="35" name="Shape 33"/>
          <p:cNvSpPr/>
          <p:nvPr/>
        </p:nvSpPr>
        <p:spPr>
          <a:xfrm>
            <a:off x="8430768" y="1773936"/>
            <a:ext cx="274320" cy="256032"/>
          </a:xfrm>
          <a:prstGeom prst="roundRect">
            <a:avLst>
              <a:gd name="adj" fmla="val 17857"/>
            </a:avLst>
          </a:prstGeom>
          <a:solidFill>
            <a:srgbClr val="E9A03B"/>
          </a:solidFill>
          <a:ln/>
        </p:spPr>
      </p:sp>
      <p:sp>
        <p:nvSpPr>
          <p:cNvPr id="36" name="Text 34"/>
          <p:cNvSpPr/>
          <p:nvPr/>
        </p:nvSpPr>
        <p:spPr>
          <a:xfrm>
            <a:off x="8430768" y="177393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Graphik TH" pitchFamily="34" charset="0"/>
                <a:ea typeface="Graphik TH" pitchFamily="34" charset="-122"/>
                <a:cs typeface="Graphik TH" pitchFamily="34" charset="-120"/>
              </a:rPr>
              <a:t>3</a:t>
            </a:r>
            <a:endParaRPr lang="en-US" sz="1100" dirty="0"/>
          </a:p>
        </p:txBody>
      </p:sp>
      <p:sp>
        <p:nvSpPr>
          <p:cNvPr id="37" name="Text 35"/>
          <p:cNvSpPr/>
          <p:nvPr/>
        </p:nvSpPr>
        <p:spPr>
          <a:xfrm>
            <a:off x="8814816" y="1773936"/>
            <a:ext cx="2743200" cy="256032"/>
          </a:xfrm>
          <a:prstGeom prst="rect">
            <a:avLst/>
          </a:prstGeom>
          <a:noFill/>
          <a:ln/>
        </p:spPr>
        <p:txBody>
          <a:bodyPr wrap="square" lIns="0" tIns="0" rIns="0" bIns="0" rtlCol="0" anchor="ctr"/>
          <a:lstStyle/>
          <a:p>
            <a:pPr indent="0" marL="0">
              <a:buNone/>
            </a:pPr>
            <a:r>
              <a:rPr lang="en-US" sz="950" b="1" spc="160" kern="0" dirty="0">
                <a:solidFill>
                  <a:srgbClr val="E9A03B"/>
                </a:solidFill>
                <a:latin typeface="Graphik TH" pitchFamily="34" charset="0"/>
                <a:ea typeface="Graphik TH" pitchFamily="34" charset="-122"/>
                <a:cs typeface="Graphik TH" pitchFamily="34" charset="-120"/>
              </a:rPr>
              <a:t>CONVERT</a:t>
            </a:r>
            <a:endParaRPr lang="en-US" sz="950" dirty="0"/>
          </a:p>
        </p:txBody>
      </p:sp>
      <p:sp>
        <p:nvSpPr>
          <p:cNvPr id="38" name="Text 36"/>
          <p:cNvSpPr/>
          <p:nvPr/>
        </p:nvSpPr>
        <p:spPr>
          <a:xfrm>
            <a:off x="8430768" y="2103120"/>
            <a:ext cx="31272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Cash need in AIS &amp; KTB</a:t>
            </a:r>
            <a:endParaRPr lang="en-US" sz="1400" dirty="0"/>
          </a:p>
        </p:txBody>
      </p:sp>
      <p:sp>
        <p:nvSpPr>
          <p:cNvPr id="39" name="Text 37"/>
          <p:cNvSpPr/>
          <p:nvPr/>
        </p:nvSpPr>
        <p:spPr>
          <a:xfrm>
            <a:off x="8430768" y="2432304"/>
            <a:ext cx="3127248" cy="457200"/>
          </a:xfrm>
          <a:prstGeom prst="rect">
            <a:avLst/>
          </a:prstGeom>
          <a:noFill/>
          <a:ln/>
        </p:spPr>
        <p:txBody>
          <a:bodyPr wrap="square" lIns="0" tIns="0" rIns="0" bIns="0" rtlCol="0" anchor="ctr"/>
          <a:lstStyle/>
          <a:p>
            <a:pPr indent="0" marL="0">
              <a:buNone/>
            </a:pPr>
            <a:r>
              <a:rPr lang="en-US" sz="2800" b="1" dirty="0">
                <a:solidFill>
                  <a:srgbClr val="E9A03B"/>
                </a:solidFill>
                <a:latin typeface="Graphik TH" pitchFamily="34" charset="0"/>
                <a:ea typeface="Graphik TH" pitchFamily="34" charset="-122"/>
                <a:cs typeface="Graphik TH" pitchFamily="34" charset="-120"/>
              </a:rPr>
              <a:t>6.2M</a:t>
            </a:r>
            <a:endParaRPr lang="en-US" sz="2800" dirty="0"/>
          </a:p>
        </p:txBody>
      </p:sp>
      <p:sp>
        <p:nvSpPr>
          <p:cNvPr id="40" name="Text 38"/>
          <p:cNvSpPr/>
          <p:nvPr/>
        </p:nvSpPr>
        <p:spPr>
          <a:xfrm>
            <a:off x="8430768" y="2907792"/>
            <a:ext cx="3127248" cy="384048"/>
          </a:xfrm>
          <a:prstGeom prst="rect">
            <a:avLst/>
          </a:prstGeom>
          <a:noFill/>
          <a:ln/>
        </p:spPr>
        <p:txBody>
          <a:bodyPr wrap="square" lIns="0" tIns="0" rIns="0" bIns="0" rtlCol="0" anchor="t"/>
          <a:lstStyle/>
          <a:p>
            <a:pPr indent="0" marL="0">
              <a:buNone/>
            </a:pPr>
            <a:r>
              <a:rPr lang="en-US" sz="900" dirty="0">
                <a:solidFill>
                  <a:srgbClr val="6B7A90"/>
                </a:solidFill>
                <a:latin typeface="Graphik TH" pitchFamily="34" charset="0"/>
                <a:ea typeface="Graphik TH" pitchFamily="34" charset="-122"/>
                <a:cs typeface="Graphik TH" pitchFamily="34" charset="-120"/>
              </a:rPr>
              <a:t>non-CLICX AIS &amp; KTB customers with medium-high cash need</a:t>
            </a:r>
            <a:endParaRPr lang="en-US" sz="900" dirty="0"/>
          </a:p>
        </p:txBody>
      </p:sp>
      <p:sp>
        <p:nvSpPr>
          <p:cNvPr id="41" name="Shape 39"/>
          <p:cNvSpPr/>
          <p:nvPr/>
        </p:nvSpPr>
        <p:spPr>
          <a:xfrm>
            <a:off x="8430768" y="3364992"/>
            <a:ext cx="3127248" cy="10973"/>
          </a:xfrm>
          <a:prstGeom prst="rect">
            <a:avLst/>
          </a:prstGeom>
          <a:solidFill>
            <a:srgbClr val="D8DFE9"/>
          </a:solidFill>
          <a:ln/>
        </p:spPr>
      </p:sp>
      <p:sp>
        <p:nvSpPr>
          <p:cNvPr id="42" name="Text 40"/>
          <p:cNvSpPr/>
          <p:nvPr/>
        </p:nvSpPr>
        <p:spPr>
          <a:xfrm>
            <a:off x="8430768" y="3474720"/>
            <a:ext cx="3127248" cy="219456"/>
          </a:xfrm>
          <a:prstGeom prst="rect">
            <a:avLst/>
          </a:prstGeom>
          <a:noFill/>
          <a:ln/>
        </p:spPr>
        <p:txBody>
          <a:bodyPr wrap="square" lIns="0" tIns="0" rIns="0" bIns="0" rtlCol="0" anchor="ctr"/>
          <a:lstStyle/>
          <a:p>
            <a:pPr indent="0" marL="0">
              <a:buNone/>
            </a:pPr>
            <a:r>
              <a:rPr lang="en-US" sz="1050" b="1" dirty="0">
                <a:solidFill>
                  <a:srgbClr val="E9A03B"/>
                </a:solidFill>
                <a:latin typeface="Graphik TH" pitchFamily="34" charset="0"/>
                <a:ea typeface="Graphik TH" pitchFamily="34" charset="-122"/>
                <a:cs typeface="Graphik TH" pitchFamily="34" charset="-120"/>
              </a:rPr>
              <a:t>Largest pool</a:t>
            </a:r>
            <a:endParaRPr lang="en-US" sz="1050" dirty="0"/>
          </a:p>
        </p:txBody>
      </p:sp>
      <p:sp>
        <p:nvSpPr>
          <p:cNvPr id="43" name="Text 41"/>
          <p:cNvSpPr/>
          <p:nvPr/>
        </p:nvSpPr>
        <p:spPr>
          <a:xfrm>
            <a:off x="8430768" y="3675888"/>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43% of all medium-high cash need outside CLICX.</a:t>
            </a:r>
            <a:endParaRPr lang="en-US" sz="900" dirty="0"/>
          </a:p>
        </p:txBody>
      </p:sp>
      <p:sp>
        <p:nvSpPr>
          <p:cNvPr id="44" name="Text 42"/>
          <p:cNvSpPr/>
          <p:nvPr/>
        </p:nvSpPr>
        <p:spPr>
          <a:xfrm>
            <a:off x="8430768" y="4187952"/>
            <a:ext cx="3127248" cy="219456"/>
          </a:xfrm>
          <a:prstGeom prst="rect">
            <a:avLst/>
          </a:prstGeom>
          <a:noFill/>
          <a:ln/>
        </p:spPr>
        <p:txBody>
          <a:bodyPr wrap="square" lIns="0" tIns="0" rIns="0" bIns="0" rtlCol="0" anchor="ctr"/>
          <a:lstStyle/>
          <a:p>
            <a:pPr indent="0" marL="0">
              <a:buNone/>
            </a:pPr>
            <a:r>
              <a:rPr lang="en-US" sz="1050" b="1" dirty="0">
                <a:solidFill>
                  <a:srgbClr val="E9A03B"/>
                </a:solidFill>
                <a:latin typeface="Graphik TH" pitchFamily="34" charset="0"/>
                <a:ea typeface="Graphik TH" pitchFamily="34" charset="-122"/>
                <a:cs typeface="Graphik TH" pitchFamily="34" charset="-120"/>
              </a:rPr>
              <a:t>Reachable</a:t>
            </a:r>
            <a:endParaRPr lang="en-US" sz="1050" dirty="0"/>
          </a:p>
        </p:txBody>
      </p:sp>
      <p:sp>
        <p:nvSpPr>
          <p:cNvPr id="45" name="Text 43"/>
          <p:cNvSpPr/>
          <p:nvPr/>
        </p:nvSpPr>
        <p:spPr>
          <a:xfrm>
            <a:off x="8430768" y="4389120"/>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Part of the 21.6M active at AIS and 18.8M active at KTB.</a:t>
            </a:r>
            <a:endParaRPr lang="en-US" sz="900" dirty="0"/>
          </a:p>
        </p:txBody>
      </p:sp>
      <p:sp>
        <p:nvSpPr>
          <p:cNvPr id="46" name="Text 44"/>
          <p:cNvSpPr/>
          <p:nvPr/>
        </p:nvSpPr>
        <p:spPr>
          <a:xfrm>
            <a:off x="8430768" y="4901184"/>
            <a:ext cx="3127248" cy="219456"/>
          </a:xfrm>
          <a:prstGeom prst="rect">
            <a:avLst/>
          </a:prstGeom>
          <a:noFill/>
          <a:ln/>
        </p:spPr>
        <p:txBody>
          <a:bodyPr wrap="square" lIns="0" tIns="0" rIns="0" bIns="0" rtlCol="0" anchor="ctr"/>
          <a:lstStyle/>
          <a:p>
            <a:pPr indent="0" marL="0">
              <a:buNone/>
            </a:pPr>
            <a:r>
              <a:rPr lang="en-US" sz="1050" b="1" dirty="0">
                <a:solidFill>
                  <a:srgbClr val="E9A03B"/>
                </a:solidFill>
                <a:latin typeface="Graphik TH" pitchFamily="34" charset="0"/>
                <a:ea typeface="Graphik TH" pitchFamily="34" charset="-122"/>
                <a:cs typeface="Graphik TH" pitchFamily="34" charset="-120"/>
              </a:rPr>
              <a:t>Fix booking</a:t>
            </a:r>
            <a:endParaRPr lang="en-US" sz="1050" dirty="0"/>
          </a:p>
        </p:txBody>
      </p:sp>
      <p:sp>
        <p:nvSpPr>
          <p:cNvPr id="47" name="Text 45"/>
          <p:cNvSpPr/>
          <p:nvPr/>
        </p:nvSpPr>
        <p:spPr>
          <a:xfrm>
            <a:off x="8430768" y="5102352"/>
            <a:ext cx="3127248" cy="493776"/>
          </a:xfrm>
          <a:prstGeom prst="rect">
            <a:avLst/>
          </a:prstGeom>
          <a:noFill/>
          <a:ln/>
        </p:spPr>
        <p:txBody>
          <a:bodyPr wrap="square" lIns="0" tIns="0" rIns="0" bIns="0" rtlCol="0" anchor="t"/>
          <a:lstStyle/>
          <a:p>
            <a:pPr indent="0" marL="0">
              <a:buNone/>
            </a:pPr>
            <a:r>
              <a:rPr lang="en-US" sz="900" dirty="0">
                <a:solidFill>
                  <a:srgbClr val="16233D"/>
                </a:solidFill>
                <a:latin typeface="Graphik TH" pitchFamily="34" charset="0"/>
                <a:ea typeface="Graphik TH" pitchFamily="34" charset="-122"/>
                <a:cs typeface="Graphik TH" pitchFamily="34" charset="-120"/>
              </a:rPr>
              <a:t>KTB books at 8.8% against 26% for KTB &amp; OR — demand is real, the funnel is not.</a:t>
            </a:r>
            <a:endParaRPr lang="en-US" sz="900" dirty="0"/>
          </a:p>
        </p:txBody>
      </p:sp>
      <p:sp>
        <p:nvSpPr>
          <p:cNvPr id="48" name="Shape 46"/>
          <p:cNvSpPr/>
          <p:nvPr/>
        </p:nvSpPr>
        <p:spPr>
          <a:xfrm>
            <a:off x="530352" y="5833872"/>
            <a:ext cx="11274552" cy="512064"/>
          </a:xfrm>
          <a:prstGeom prst="roundRect">
            <a:avLst>
              <a:gd name="adj" fmla="val 16071"/>
            </a:avLst>
          </a:prstGeom>
          <a:solidFill>
            <a:srgbClr val="E8F6F3"/>
          </a:solidFill>
          <a:ln/>
        </p:spPr>
      </p:sp>
      <p:sp>
        <p:nvSpPr>
          <p:cNvPr id="49" name="Text 47"/>
          <p:cNvSpPr/>
          <p:nvPr/>
        </p:nvSpPr>
        <p:spPr>
          <a:xfrm>
            <a:off x="804672" y="5833872"/>
            <a:ext cx="10725912" cy="512064"/>
          </a:xfrm>
          <a:prstGeom prst="rect">
            <a:avLst/>
          </a:prstGeom>
          <a:noFill/>
          <a:ln/>
        </p:spPr>
        <p:txBody>
          <a:bodyPr wrap="square" lIns="0" tIns="0" rIns="0" bIns="0" rtlCol="0" anchor="ctr"/>
          <a:lstStyle/>
          <a:p>
            <a:pPr indent="0" marL="0">
              <a:buNone/>
            </a:pPr>
            <a:r>
              <a:rPr lang="en-US" sz="1050" b="1" dirty="0">
                <a:solidFill>
                  <a:srgbClr val="045D66"/>
                </a:solidFill>
                <a:latin typeface="Graphik TH" pitchFamily="34" charset="0"/>
                <a:ea typeface="Graphik TH" pitchFamily="34" charset="-122"/>
                <a:cs typeface="Graphik TH" pitchFamily="34" charset="-120"/>
              </a:rPr>
              <a:t>Defend 755K, then acquire where OR already works</a:t>
            </a:r>
            <a:pPr indent="0" marL="0">
              <a:buNone/>
            </a:pPr>
            <a:r>
              <a:rPr lang="en-US" sz="1050" dirty="0">
                <a:solidFill>
                  <a:srgbClr val="16233D"/>
                </a:solidFill>
                <a:latin typeface="Graphik TH" pitchFamily="34" charset="0"/>
                <a:ea typeface="Graphik TH" pitchFamily="34" charset="-122"/>
                <a:cs typeface="Graphik TH" pitchFamily="34" charset="-120"/>
              </a:rPr>
              <a:t>  —  CLICX reaches 3.5% of its own consortium base, and the part it has reached is the part most exposed to TrueMoney. The growth and the risk sit in the same place.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CLICX captive opportunity</dc:title>
  <dc:subject>PptxGenJS Presentation</dc:subject>
  <dc:creator>CLICX Analytics</dc:creator>
  <cp:lastModifiedBy>CLICX Analytics</cp:lastModifiedBy>
  <cp:revision>1</cp:revision>
  <dcterms:created xsi:type="dcterms:W3CDTF">2026-10-06T10:50:19Z</dcterms:created>
  <dcterms:modified xsi:type="dcterms:W3CDTF">2026-10-06T10:50:19Z</dcterms:modified>
</cp:coreProperties>
</file>
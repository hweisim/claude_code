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9AA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Click</c:v>
                  </c:pt>
                  <c:pt idx="1">
                    <c:v>View, no click</c:v>
                  </c:pt>
                  <c:pt idx="2">
                    <c:v>Organic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4547</c:v>
                </c:pt>
                <c:pt idx="1">
                  <c:v>6637</c:v>
                </c:pt>
                <c:pt idx="2">
                  <c:v>2148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Click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128</c:v>
                </c:pt>
                <c:pt idx="1">
                  <c:v>2533</c:v>
                </c:pt>
                <c:pt idx="2">
                  <c:v>1886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View, no click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153</c:v>
                </c:pt>
                <c:pt idx="1">
                  <c:v>2444</c:v>
                </c:pt>
                <c:pt idx="2">
                  <c:v>4040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Organic</c:v>
                </c:pt>
              </c:strCache>
            </c:strRef>
          </c:tx>
          <c:spPr>
            <a:solidFill>
              <a:srgbClr val="7E9AA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1159</c:v>
                </c:pt>
                <c:pt idx="1">
                  <c:v>150</c:v>
                </c:pt>
                <c:pt idx="2">
                  <c:v>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33484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Reached (viewed)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Existing with
Save Max</c:v>
                  </c:pt>
                  <c:pt idx="1">
                    <c:v>Existing</c:v>
                  </c:pt>
                  <c:pt idx="2">
                    <c:v>New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87.6</c:v>
                </c:pt>
                <c:pt idx="1">
                  <c:v>97.1</c:v>
                </c:pt>
                <c:pt idx="2">
                  <c:v>19.5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Click rate of viewers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Existing with
Save Max</c:v>
                  </c:pt>
                  <c:pt idx="1">
                    <c:v>Existing</c:v>
                  </c:pt>
                  <c:pt idx="2">
                    <c:v>New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31.8</c:v>
                </c:pt>
                <c:pt idx="1">
                  <c:v>50.9</c:v>
                </c:pt>
                <c:pt idx="2">
                  <c:v>45.6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33484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C2B33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0C2B33"/>
                </a:solidFill>
                <a:latin typeface="Calibri"/>
              </a:rPr>
              <a:t>Click rate among those reached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Click rate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9AA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Banner</c:v>
                  </c:pt>
                  <c:pt idx="1">
                    <c:v>Push notification</c:v>
                  </c:pt>
                  <c:pt idx="2">
                    <c:v>All channels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40.2</c:v>
                </c:pt>
                <c:pt idx="1">
                  <c:v>87.2</c:v>
                </c:pt>
                <c:pt idx="2">
                  <c:v>40.7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of 13,332 customers, classified by view_f / click_f. Three mutually exclusive buckets: organic (no view, no click), viewed-only, and viewed-and-clicked. No customer clicked without a view, so the funnel is strictly sequential.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Organic 2,148 (16.1%); view-only 6,637 (49.8%); click 4,547 (34.1%). Reach = 11,184 of 13,332 = 83.9%. Click rate among those reached = 4,547 / 11,184 = 40.7%.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Strictly sequential funnel: 13,332 -&gt; 11,184 viewed (83.9%) -&gt; 4,547 clicked (40.7% of viewers, 34.1% of base). The view-to-click step loses 6,637 customers, far more than the 2,148 never reached.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with Save Max is the biggest segment but converts least. Existing punches above its weight: 38.5% of the base, 55.7% of clicks. New is small and almost entirely unreached.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Reach: Save Max 87.6%, Existing 97.1%, New 19.5%. Click rate among viewers: 31.8%, 50.9%, 45.6%. New customers convert well when reached — the gap is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Banner: 11,183 viewers, 4,490 clicks, 40.2%. Push: 78 viewers, 68 clicks, 87.2%. Overlap is 77 viewers / 11 clickers, so the two channels do not sum to the totals. Push is 0.6% of the base but converts 2.2x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 push recipients had seen the banner without clicking; 57 clicked the push (89.1%). Within Save Max, push converts at 87.2% vs 30.9% on banner. Dual-channel viewers click at 90.9% vs 40.3% for banner-only. Caveat: n=78, non-random selection, no holdout.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Priorities ranked by addressable volume: Save Max non-clickers (4,040) are the largest pool, New unreached (1,159) the cheapest lift, Existing the benchmark to protect.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EXPOSURE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810512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Organic, View, Click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2186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13,332 customers split across the funnel — and where each segment falls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4315968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3159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13,332 customers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14813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23760" y="1938528"/>
            <a:ext cx="219456" cy="219456"/>
          </a:xfrm>
          <a:prstGeom prst="ellipse">
            <a:avLst/>
          </a:prstGeom>
          <a:solidFill>
            <a:srgbClr val="7E9AA1"/>
          </a:solidFill>
          <a:ln w="12700">
            <a:solidFill>
              <a:srgbClr val="7E9A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71232" y="16459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070848" y="17007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— never saw it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70848" y="2048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2,148 customers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949440" y="28529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23760" y="3310128"/>
            <a:ext cx="219456" cy="2194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71232" y="30175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70848" y="30723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Viewed, did not click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70848" y="3419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6,637 customers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949440" y="42245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0" y="4681728"/>
            <a:ext cx="219456" cy="21945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43891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070848" y="44439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 and clicked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70848" y="4791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4,547 customers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Segments: Existing with Save Max · Existing · New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divides three 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falls into exactly one bucket — no one clicked without first viewing.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57400"/>
            <a:ext cx="237744" cy="237744"/>
          </a:xfrm>
          <a:prstGeom prst="ellipse">
            <a:avLst/>
          </a:prstGeom>
          <a:solidFill>
            <a:srgbClr val="7E9AA1"/>
          </a:solidFill>
          <a:ln w="12700">
            <a:solidFill>
              <a:srgbClr val="7E9A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7E9A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2,148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16.1%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4124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exposed to the campaign — no view, no click.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057400"/>
            <a:ext cx="237744" cy="23774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no click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3600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6,637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49.8%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63600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it and stopped there. The largest single group.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0768" y="2057400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5995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3076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4,547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34.1%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43076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 and clicked through — the converted third.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48640" y="4023360"/>
          <a:ext cx="75895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8412480" y="402336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6800" y="4261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a funnel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686800" y="459028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83.9%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base was reached (11,184 viewed).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8686800" y="550468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40.7%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reached clicked.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is not the problem — the click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width is proportional to customer count.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9144000" cy="960120"/>
          </a:xfrm>
          <a:prstGeom prst="roundRect">
            <a:avLst>
              <a:gd name="adj" fmla="val 7619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920240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13,332</a:t>
            </a:r>
            <a:pPr indent="0" marL="0">
              <a:buNone/>
            </a:pPr>
            <a:r>
              <a:rPr lang="en-US" sz="14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All customers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7671816" cy="960120"/>
          </a:xfrm>
          <a:prstGeom prst="roundRect">
            <a:avLst>
              <a:gd name="adj" fmla="val 761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154680"/>
            <a:ext cx="7214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11,184</a:t>
            </a:r>
            <a:pPr indent="0" marL="0">
              <a:buNone/>
            </a:pPr>
            <a:r>
              <a:rPr lang="en-US" sz="1400" dirty="0">
                <a:solidFill>
                  <a:srgbClr val="DC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Viewed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50808" y="315468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83.9% of the base was reached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4389120"/>
            <a:ext cx="3118104" cy="960120"/>
          </a:xfrm>
          <a:prstGeom prst="roundRect">
            <a:avLst>
              <a:gd name="adj" fmla="val 761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389120"/>
            <a:ext cx="2660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4,547</a:t>
            </a:r>
            <a:pPr indent="0" marL="0">
              <a:buNone/>
            </a:pPr>
            <a:r>
              <a:rPr lang="en-US" sz="1400" dirty="0">
                <a:solidFill>
                  <a:srgbClr val="DC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Clicked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97096" y="4389120"/>
            <a:ext cx="7415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40.7% of viewers clicked — the single biggest drop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789920" cy="804672"/>
          </a:xfrm>
          <a:prstGeom prst="roundRect">
            <a:avLst>
              <a:gd name="adj" fmla="val 11364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5907024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63040" y="562356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6,637 customers saw the campaign and did nothing — 3.1x the number who never saw it at all. The opportunity is in conversion, not in wider distribution.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volume actually sits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counts in each bucket, by segment.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78308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21040" y="202996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31936" y="192938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with Save Max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321040" y="2331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6,765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321040" y="2697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50.7% of the base · 1,886 clicks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0" y="320040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21040" y="344728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334670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321040" y="3749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5,127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321040" y="41148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38.5% of the base · 2,533 clicks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461772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486460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31936" y="47640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21040" y="5166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1,440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21040" y="55321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 of the base · 128 clicks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customers deliver 2,533 of all 4,547 clicks (55.7%) from only 38.5% of the base. New customers contribute 2.8%.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EXPOSURE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and click quality pull apart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= share of segment that viewed. Click rate = share of viewers who clicked.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5943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766560" y="17830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40880" y="20391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51776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with Save Max — seen, ignored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040880" y="23134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87.6% reached, but only 31.8% of those viewers clicked. The weakest conversion of the three, on the largest audience.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66560" y="31546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0" y="34107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51776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— the engine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40880" y="36850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reached and a 50.9% click rate. Nearly every customer saw it and half acted on 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45262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040880" y="47823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51776" y="46725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barely reached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040880" y="50566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19.5% ever saw the campaign, yet 45.6% of those who did clicked. Distribution, not appeal, is the constraint.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5989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83.9% reached · 40.7% click rate among those reached.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channels, opposite profiles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carried the reach. Push notification carried the conversion.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237744" cy="23774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19568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11,183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4124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3288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4,490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53288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2452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22452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3255264"/>
            <a:ext cx="4809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83.9% of the base and delivered 98.7% of every click.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0528" y="2011680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9712" y="19568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51052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0216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20216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893808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87.2%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893808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10528" y="3255264"/>
            <a:ext cx="4809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0.6% of the base — but almost everyone who got it clicked.</a:t>
            </a:r>
            <a:endParaRPr lang="en-US" sz="115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548640" y="3931920"/>
          <a:ext cx="53949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Shape 23"/>
          <p:cNvSpPr/>
          <p:nvPr/>
        </p:nvSpPr>
        <p:spPr>
          <a:xfrm>
            <a:off x="6217920" y="393192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537960" y="41696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is the gap, not quality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537960" y="45171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 : 1</a:t>
            </a:r>
            <a:endParaRPr lang="en-US" sz="3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viewers for every push recipient — while push converts at 2.2x the banner's rate.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6537960" y="55412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40.7% click rate is, in practice, the banner's number.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48640" y="614476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customers saw both channels and 11 clicked both, so channel figures sum to more than the 11,184 total viewers and 4,547 total clicks.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IN DETAIL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rescued the clicks the banner lost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went only to Existing with Save Max — 78 of that segment's 6,765 customers.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423160" cy="1051560"/>
          </a:xfrm>
          <a:prstGeom prst="roundRect">
            <a:avLst>
              <a:gd name="adj" fmla="val 7826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6,765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31520" y="234086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Max base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71800" y="1783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9A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782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5,925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611880" y="234086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the banner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852160" y="1783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9A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423160" cy="1051560"/>
          </a:xfrm>
          <a:prstGeom prst="roundRect">
            <a:avLst>
              <a:gd name="adj" fmla="val 7826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492240" y="234086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got push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32520" y="1783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9A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189720" y="1783080"/>
            <a:ext cx="2423160" cy="1051560"/>
          </a:xfrm>
          <a:prstGeom prst="roundRect">
            <a:avLst>
              <a:gd name="adj" fmla="val 782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72600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9372600" y="234086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clicked the push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6324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324612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89.1%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423160" y="3246120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recipients were rescued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38862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push recipients had already seen the banner and not clicked it. 57 of them clicked the push — clicks the banner had failed to convert.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306324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324612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2.8x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092440" y="3246120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response, same customers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8862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Existing with Save Max: 30.9% click rate on banner, 87.2% on push. The audience is identical, so channel explains the gap.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98348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4400" y="4983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only: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40.3% clicked</a:t>
            </a:r>
            <a:pPr indent="0" marL="0">
              <a:buNone/>
            </a:pPr>
            <a:r>
              <a:rPr lang="en-US" sz="1200" dirty="0">
                <a:solidFill>
                  <a:srgbClr val="8F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(11,106 viewers)          </a:t>
            </a:r>
            <a:pPr indent="0" marL="0">
              <a:buNone/>
            </a:pPr>
            <a:r>
              <a:rPr lang="en-US" sz="13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both channels:  </a:t>
            </a:r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90.9% clicked</a:t>
            </a:r>
            <a:pPr indent="0" marL="0">
              <a:buNone/>
            </a:pPr>
            <a:r>
              <a:rPr lang="en-US" sz="1200" dirty="0">
                <a:solidFill>
                  <a:srgbClr val="8FB4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(77 viewers)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only: push reached 78 people, recipients were not randomly selected and there was no holdout, so part of the gap may be targeting rather than channel.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NEXT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moves the numbers point 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121408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reach gap on New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1,159 of 1,440 never saw the campaign, and none received a push. They click at 45.6% when reached — the cheapest incremental volume available.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4296" y="2121408"/>
            <a:ext cx="566928" cy="5669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5429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the push test on Save Max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5429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4,040 saw the banner and did nothing. Push already converts this exact segment at 87.2% versus 30.9% — but only 78 have ever received one.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9056" y="2121408"/>
            <a:ext cx="566928" cy="566928"/>
          </a:xfrm>
          <a:prstGeom prst="ellipse">
            <a:avLst/>
          </a:prstGeom>
          <a:solidFill>
            <a:srgbClr val="A9C9CE"/>
          </a:solidFill>
          <a:ln w="12700">
            <a:solidFill>
              <a:srgbClr val="A9C9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what works for Existing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4905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reach and a 50.9% click rate on banner alone, with no push at all. Treat it as the benchmark and the holdout, not a target for more spend.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0F343E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39496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is the constraint, not coverage — and the best channel has reached only 78 people.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Campaign Funnel Summary</dc:title>
  <dc:subject>PptxGenJS Presentation</dc:subject>
  <dc:creator>Analytics</dc:creator>
  <cp:lastModifiedBy>Analytics</cp:lastModifiedBy>
  <cp:revision>1</cp:revision>
  <dcterms:created xsi:type="dcterms:W3CDTF">2026-08-18T03:47:22Z</dcterms:created>
  <dcterms:modified xsi:type="dcterms:W3CDTF">2026-08-18T03:47:22Z</dcterms:modified>
</cp:coreProperties>
</file>
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E9AA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Click</c:v>
                  </c:pt>
                  <c:pt idx="1">
                    <c:v>View, no click</c:v>
                  </c:pt>
                  <c:pt idx="2">
                    <c:v>Organic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4547</c:v>
                </c:pt>
                <c:pt idx="1">
                  <c:v>6637</c:v>
                </c:pt>
                <c:pt idx="2">
                  <c:v>2148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3348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C2B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6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Click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</c:v>
                  </c:pt>
                  <c:pt idx="1">
                    <c:v>Existing</c:v>
                  </c:pt>
                  <c:pt idx="2">
                    <c:v>Existing with Save Max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128</c:v>
                </c:pt>
                <c:pt idx="1">
                  <c:v>2533</c:v>
                </c:pt>
                <c:pt idx="2">
                  <c:v>1886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View, no click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</c:v>
                  </c:pt>
                  <c:pt idx="1">
                    <c:v>Existing</c:v>
                  </c:pt>
                  <c:pt idx="2">
                    <c:v>Existing with Save Max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153</c:v>
                </c:pt>
                <c:pt idx="1">
                  <c:v>2444</c:v>
                </c:pt>
                <c:pt idx="2">
                  <c:v>4040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Organic</c:v>
                </c:pt>
              </c:strCache>
            </c:strRef>
          </c:tx>
          <c:spPr>
            <a:solidFill>
              <a:srgbClr val="7E9AA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</c:v>
                  </c:pt>
                  <c:pt idx="1">
                    <c:v>Existing</c:v>
                  </c:pt>
                  <c:pt idx="2">
                    <c:v>Existing with Save Max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1159</c:v>
                </c:pt>
                <c:pt idx="1">
                  <c:v>150</c:v>
                </c:pt>
                <c:pt idx="2">
                  <c:v>839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3348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0C2B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7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33484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Reached (viewed)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Existing with
Save Max</c:v>
                  </c:pt>
                  <c:pt idx="1">
                    <c:v>Existing</c:v>
                  </c:pt>
                  <c:pt idx="2">
                    <c:v>New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87.6</c:v>
                </c:pt>
                <c:pt idx="1">
                  <c:v>97.1</c:v>
                </c:pt>
                <c:pt idx="2">
                  <c:v>19.5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Click rate of viewers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3348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Existing with
Save Max</c:v>
                  </c:pt>
                  <c:pt idx="1">
                    <c:v>Existing</c:v>
                  </c:pt>
                  <c:pt idx="2">
                    <c:v>New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31.8</c:v>
                </c:pt>
                <c:pt idx="1">
                  <c:v>50.9</c:v>
                </c:pt>
                <c:pt idx="2">
                  <c:v>45.6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3348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C2B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33484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of 13,332 customers, classified by view_f / click_f. Three mutually exclusive buckets: organic (no view, no click), viewed-only, and viewed-and-clicked. No customer clicked without a view, so the funnel is strictly sequential.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Organic 2,148 (16.1%); view-only 6,637 (49.8%); click 4,547 (34.1%). Reach = 11,184 of 13,332 = 83.9%. Click rate among those reached = 4,547 / 11,184 = 40.7%.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Strictly sequential funnel: 13,332 -&gt; 11,184 viewed (83.9%) -&gt; 4,547 clicked (40.7% of viewers, 34.1% of base). The view-to-click step loses 6,637 customers, far more than the 2,148 never reached.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with Save Max is the biggest segment but converts least. Existing punches above its weight: 38.5% of the base, 55.7% of clicks. New is small and almost entirely unreached.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Reach: Save Max 87.6%, Existing 97.1%, New 19.5%. Click rate among viewers: 31.8%, 50.9%, 45.6%. New customers convert well when reached — the gap is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Priorities ranked by addressable volume: Save Max non-clickers (4,040) are the largest pool, New unreached (1,159) the cheapest lift, Existing the benchmark to protect.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17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EXPOSURE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810512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Organic, View, Click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21868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13,332 customers split across the funnel — and where each segment falls out.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4315968"/>
            <a:ext cx="2743200" cy="47548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31596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13,332 customers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0" y="1481328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23760" y="1938528"/>
            <a:ext cx="219456" cy="219456"/>
          </a:xfrm>
          <a:prstGeom prst="ellipse">
            <a:avLst/>
          </a:prstGeom>
          <a:solidFill>
            <a:srgbClr val="7E9AA1"/>
          </a:solidFill>
          <a:ln w="12700">
            <a:solidFill>
              <a:srgbClr val="7E9AA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71232" y="16459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070848" y="17007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— never saw it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070848" y="20482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2,148 customers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949440" y="2852928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23760" y="3310128"/>
            <a:ext cx="219456" cy="21945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71232" y="30175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49.8%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70848" y="30723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Viewed, did not click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070848" y="34198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6,637 customers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949440" y="4224528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0" y="4681728"/>
            <a:ext cx="219456" cy="21945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71232" y="43891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34.1%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070848" y="44439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Viewed and clicked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070848" y="47914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4,547 customers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Segments: Existing with Save Max · Existing · New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base divides three 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customer falls into exactly one bucket — no one clicked without first viewing.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474720" cy="1965960"/>
          </a:xfrm>
          <a:prstGeom prst="roundRect">
            <a:avLst>
              <a:gd name="adj" fmla="val 4651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57400"/>
            <a:ext cx="237744" cy="237744"/>
          </a:xfrm>
          <a:prstGeom prst="ellipse">
            <a:avLst/>
          </a:prstGeom>
          <a:solidFill>
            <a:srgbClr val="7E9AA1"/>
          </a:solidFill>
          <a:ln w="12700">
            <a:solidFill>
              <a:srgbClr val="7E9AA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00253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43230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7E9A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2,148</a:t>
            </a:r>
            <a:pPr indent="0" marL="0">
              <a:buNone/>
            </a:pPr>
            <a:r>
              <a:rPr lang="en-US" sz="1500" b="1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16.1%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841248" y="3127248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exposed to the campaign — no view, no click.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474720" cy="1965960"/>
          </a:xfrm>
          <a:prstGeom prst="roundRect">
            <a:avLst>
              <a:gd name="adj" fmla="val 4651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36008" y="2057400"/>
            <a:ext cx="237744" cy="23774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65192" y="200253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View, no click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36008" y="243230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6,637</a:t>
            </a:r>
            <a:pPr indent="0" marL="0">
              <a:buNone/>
            </a:pPr>
            <a:r>
              <a:rPr lang="en-US" sz="1500" b="1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49.8%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636008" y="3127248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 it and stopped there. The largest single group.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474720" cy="1965960"/>
          </a:xfrm>
          <a:prstGeom prst="roundRect">
            <a:avLst>
              <a:gd name="adj" fmla="val 4651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30768" y="2057400"/>
            <a:ext cx="237744" cy="23774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59952" y="200253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30768" y="243230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4,547</a:t>
            </a:r>
            <a:pPr indent="0" marL="0">
              <a:buNone/>
            </a:pPr>
            <a:r>
              <a:rPr lang="en-US" sz="1500" b="1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34.1%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8430768" y="3127248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Viewed and clicked through — the converted third.</a:t>
            </a:r>
            <a:endParaRPr lang="en-US" sz="11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48640" y="4023360"/>
          <a:ext cx="75895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8412480" y="402336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686800" y="426110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 a funnel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686800" y="459028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83.9%</a:t>
            </a:r>
            <a:endParaRPr lang="en-US" sz="3000" dirty="0"/>
          </a:p>
          <a:p>
            <a:pPr indent="0" marL="0">
              <a:buNone/>
            </a:pPr>
            <a:r>
              <a:rPr lang="en-US" sz="120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base was reached (11,184 viewed).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8686800" y="550468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40.7%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reached clicked.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 is not the problem — the click 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width is proportional to customer count.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9144000" cy="960120"/>
          </a:xfrm>
          <a:prstGeom prst="roundRect">
            <a:avLst>
              <a:gd name="adj" fmla="val 7619"/>
            </a:avLst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1920240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13,332</a:t>
            </a:r>
            <a:pPr indent="0" marL="0">
              <a:buNone/>
            </a:pPr>
            <a:r>
              <a:rPr lang="en-US" sz="140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All customers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3154680"/>
            <a:ext cx="7671816" cy="960120"/>
          </a:xfrm>
          <a:prstGeom prst="roundRect">
            <a:avLst>
              <a:gd name="adj" fmla="val 761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3154680"/>
            <a:ext cx="7214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11,184</a:t>
            </a:r>
            <a:pPr indent="0" marL="0">
              <a:buNone/>
            </a:pPr>
            <a:r>
              <a:rPr lang="en-US" sz="1400" dirty="0">
                <a:solidFill>
                  <a:srgbClr val="DC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Viewed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750808" y="315468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83.9% of the base was reached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4389120"/>
            <a:ext cx="3118104" cy="960120"/>
          </a:xfrm>
          <a:prstGeom prst="roundRect">
            <a:avLst>
              <a:gd name="adj" fmla="val 7619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4389120"/>
            <a:ext cx="2660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4,547</a:t>
            </a:r>
            <a:pPr indent="0" marL="0">
              <a:buNone/>
            </a:pPr>
            <a:r>
              <a:rPr lang="en-US" sz="1400" dirty="0">
                <a:solidFill>
                  <a:srgbClr val="DC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Clicked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197096" y="4389120"/>
            <a:ext cx="7415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40.7% of viewers clicked — the single biggest drop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623560"/>
            <a:ext cx="10789920" cy="804672"/>
          </a:xfrm>
          <a:prstGeom prst="roundRect">
            <a:avLst>
              <a:gd name="adj" fmla="val 11364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7280" y="5907024"/>
            <a:ext cx="237744" cy="23774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63040" y="5623560"/>
            <a:ext cx="9966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6,637 customers saw the campaign and did nothing — 3.1x the number who never saw it at all. The opportunity is in conversion, not in wider distribution.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SEGMENT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volume actually sits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counts in each bucket, by segment.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72237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46720" y="1783080"/>
            <a:ext cx="3566160" cy="1207008"/>
          </a:xfrm>
          <a:prstGeom prst="roundRect">
            <a:avLst>
              <a:gd name="adj" fmla="val 7576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321040" y="2029968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31936" y="192938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with Save Max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321040" y="23317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6,765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321040" y="2697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50.7% of the base · 1,886 clicks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46720" y="3200400"/>
            <a:ext cx="3566160" cy="1207008"/>
          </a:xfrm>
          <a:prstGeom prst="roundRect">
            <a:avLst>
              <a:gd name="adj" fmla="val 7576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321040" y="3447288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31936" y="334670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321040" y="3749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5,127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321040" y="41148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38.5% of the base · 2,533 clicks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4617720"/>
            <a:ext cx="3566160" cy="1207008"/>
          </a:xfrm>
          <a:prstGeom prst="roundRect">
            <a:avLst>
              <a:gd name="adj" fmla="val 7576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21040" y="4864608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31936" y="47640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321040" y="51663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1,440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21040" y="55321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10.8% of the base · 128 clicks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customers deliver 2,533 of all 4,547 clicks (55.7%) from only 38.5% of the base. New customers contribute 2.8%.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EXPOSURE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 and click quality pull apart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= share of segment that viewed. Click rate = share of viewers who clicked.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5943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766560" y="1783080"/>
            <a:ext cx="4846320" cy="1188720"/>
          </a:xfrm>
          <a:prstGeom prst="roundRect">
            <a:avLst>
              <a:gd name="adj" fmla="val 7692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040880" y="2039112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51776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with Save Max — seen, ignored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040880" y="231343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87.6% reached, but only 31.8% of those viewers clicked. The weakest conversion of the three, on the largest audience.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766560" y="3154680"/>
            <a:ext cx="4846320" cy="1188720"/>
          </a:xfrm>
          <a:prstGeom prst="roundRect">
            <a:avLst>
              <a:gd name="adj" fmla="val 7692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040880" y="3410712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51776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— the engine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040880" y="368503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 reached and a 50.9% click rate. Nearly every customer saw it and half acted on 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66560" y="4526280"/>
            <a:ext cx="4846320" cy="1188720"/>
          </a:xfrm>
          <a:prstGeom prst="roundRect">
            <a:avLst>
              <a:gd name="adj" fmla="val 7692"/>
            </a:avLst>
          </a:prstGeom>
          <a:solidFill>
            <a:srgbClr val="EEF5F5"/>
          </a:solidFill>
          <a:ln w="12700">
            <a:solidFill>
              <a:srgbClr val="DDE9E9"/>
            </a:solidFill>
            <a:prstDash val="solid"/>
          </a:ln>
          <a:effectLst>
            <a:outerShdw sx="100000" sy="100000" kx="0" ky="0" algn="bl" rotWithShape="0" blurRad="127000" dist="25400" dir="5400000">
              <a:srgbClr val="0C2B33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040880" y="4782312"/>
            <a:ext cx="201168" cy="201168"/>
          </a:xfrm>
          <a:prstGeom prst="ellipse">
            <a:avLst/>
          </a:prstGeom>
          <a:solidFill>
            <a:srgbClr val="0C2B33"/>
          </a:solidFill>
          <a:ln w="12700">
            <a:solidFill>
              <a:srgbClr val="0C2B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51776" y="46725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barely reached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040880" y="505663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19.5% ever saw the campaign, yet 45.6% of those who did clicked. Distribution, not appeal, is the constraint.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598932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87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83.9% reached · 40.7% click rate among those reached.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2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NEXT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moves the numbers point 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2121408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121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9536" y="2798064"/>
            <a:ext cx="2871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reach gap on New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59536" y="3547872"/>
            <a:ext cx="2871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1,159 of 1,440 new customers never saw the campaign. They click at 45.6% when they do — this is the cheapest incremental volume available.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4296" y="2121408"/>
            <a:ext cx="566928" cy="5669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2121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54296" y="2798064"/>
            <a:ext cx="2871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the creative for Save Max holders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54296" y="3547872"/>
            <a:ext cx="2871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4,040 saw it and did nothing. A 10pt lift in their 31.8% click rate is roughly 590 extra clicks — more than New can deliver in total.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828800"/>
            <a:ext cx="3474720" cy="3200400"/>
          </a:xfrm>
          <a:prstGeom prst="roundRect">
            <a:avLst>
              <a:gd name="adj" fmla="val 2857"/>
            </a:avLst>
          </a:prstGeom>
          <a:solidFill>
            <a:srgbClr val="143A45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49056" y="2121408"/>
            <a:ext cx="566928" cy="566928"/>
          </a:xfrm>
          <a:prstGeom prst="ellipse">
            <a:avLst/>
          </a:prstGeom>
          <a:solidFill>
            <a:srgbClr val="A9C9CE"/>
          </a:solidFill>
          <a:ln w="12700">
            <a:solidFill>
              <a:srgbClr val="A9C9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49056" y="2121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49056" y="2798064"/>
            <a:ext cx="28712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what works for Existing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49056" y="3547872"/>
            <a:ext cx="2871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9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 reach and a 50.9% click rate already. Treat this segment as the benchmark and the control, not a target for further push.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394960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0F343E"/>
          </a:solidFill>
          <a:ln w="12700">
            <a:solidFill>
              <a:srgbClr val="1E4A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39496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 is conversion, not coverage: 6,637 reached non-clickers versus 2,148 never reached.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Campaign Funnel Summary</dc:title>
  <dc:subject>PptxGenJS Presentation</dc:subject>
  <dc:creator>Analytics</dc:creator>
  <cp:lastModifiedBy>Analytics</cp:lastModifiedBy>
  <cp:revision>1</cp:revision>
  <dcterms:created xsi:type="dcterms:W3CDTF">2026-08-18T03:37:22Z</dcterms:created>
  <dcterms:modified xsi:type="dcterms:W3CDTF">2026-08-18T03:37:22Z</dcterms:modified>
</cp:coreProperties>
</file>
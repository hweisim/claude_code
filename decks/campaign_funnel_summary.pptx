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Customers</c:v>
                </c:pt>
              </c:strCache>
            </c:strRef>
          </c:tx>
          <c:spPr>
            <a:solidFill>
              <a:srgbClr val="02C39A"/>
            </a:solidFill>
            <a:effectLst/>
          </c:spPr>
          <c:invertIfNegative val="0"/>
          <c:dLbls>
            <c:numFmt formatCode="#,##0" sourceLinked="0"/>
            <c:txPr>
              <a:bodyPr/>
              <a:lstStyle/>
              <a:p>
                <a:pPr>
                  <a:defRPr b="1" i="0" strike="noStrike" sz="1200" u="none">
                    <a:solidFill>
                      <a:srgbClr val="33484F"/>
                    </a:solidFill>
                    <a:latin typeface="Calibri"/>
                  </a:defRPr>
                </a:pPr>
              </a:p>
            </c:txPr>
            <c:showLegendKey val="0"/>
            <c:showVal val="1"/>
            <c:showCatName val="0"/>
            <c:showSerName val="0"/>
            <c:showPercent val="0"/>
            <c:showBubbleSize val="0"/>
            <c:showLeaderLines val="0"/>
          </c:dLbls>
          <c:dPt>
            <c:idx val="0"/>
            <c:invertIfNegative val="0"/>
            <c:bubble3D val="0"/>
            <c:spPr>
              <a:solidFill>
                <a:srgbClr val="02C39A"/>
              </a:solidFill>
              <a:effectLst/>
            </c:spPr>
          </c:dPt>
          <c:dPt>
            <c:idx val="1"/>
            <c:invertIfNegative val="0"/>
            <c:bubble3D val="0"/>
            <c:spPr>
              <a:solidFill>
                <a:srgbClr val="028090"/>
              </a:solidFill>
              <a:effectLst/>
            </c:spPr>
          </c:dPt>
          <c:dPt>
            <c:idx val="2"/>
            <c:invertIfNegative val="0"/>
            <c:bubble3D val="0"/>
            <c:spPr>
              <a:solidFill>
                <a:srgbClr val="7E9AA1"/>
              </a:solidFill>
              <a:effectLst/>
            </c:spPr>
          </c:dPt>
          <c:cat>
            <c:multiLvlStrRef>
              <c:f>Sheet1!$A$2:$A$4</c:f>
              <c:multiLvlStrCache>
                <c:ptCount val="3"/>
                <c:lvl>
                  <c:pt idx="0">
                    <c:v>Click</c:v>
                  </c:pt>
                  <c:pt idx="1">
                    <c:v>View, no click</c:v>
                  </c:pt>
                  <c:pt idx="2">
                    <c:v>Organic</c:v>
                  </c:pt>
                </c:lvl>
              </c:multiLvlStrCache>
            </c:multiLvlStrRef>
          </c:cat>
          <c:val>
            <c:numRef>
              <c:f>Sheet1!$B$2:$B$4</c:f>
              <c:numCache>
                <c:formatCode>General</c:formatCode>
                <c:ptCount val="3"/>
                <c:pt idx="0">
                  <c:v>4547</c:v>
                </c:pt>
                <c:pt idx="1">
                  <c:v>6637</c:v>
                </c:pt>
                <c:pt idx="2">
                  <c:v>2148</c:v>
                </c:pt>
              </c:numCache>
            </c:numRef>
          </c:val>
        </c:ser>
        <c:dLbls>
          <c:numFmt formatCode="#,##0" sourceLinked="0"/>
          <c:txPr>
            <a:bodyPr/>
            <a:lstStyle/>
            <a:p>
              <a:pPr>
                <a:defRPr b="1" i="0" strike="noStrike" sz="1200" u="none">
                  <a:solidFill>
                    <a:srgbClr val="33484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B33"/>
                </a:solidFill>
                <a:latin typeface="Calibri"/>
              </a:defRPr>
            </a:pPr>
            <a:endParaRPr lang="en-US"/>
          </a:p>
        </c:txPr>
        <c:crossAx val="2094734552"/>
        <c:crosses val="autoZero"/>
        <c:auto val="1"/>
        <c:lblAlgn val="ctr"/>
        <c:noMultiLvlLbl val="1"/>
      </c:catAx>
      <c:valAx>
        <c:axId val="2094734552"/>
        <c:scaling>
          <c:orientation val="minMax"/>
          <c:max val="76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Click</c:v>
                </c:pt>
              </c:strCache>
            </c:strRef>
          </c:tx>
          <c:spPr>
            <a:solidFill>
              <a:srgbClr val="02C39A"/>
            </a:solidFill>
            <a:effectLst/>
          </c:spPr>
          <c:invertIfNegative val="0"/>
          <c:dLbls>
            <c:numFmt formatCode="#,##0" sourceLinked="0"/>
            <c:txPr>
              <a:bodyPr/>
              <a:lstStyle/>
              <a:p>
                <a:pPr>
                  <a:defRPr b="1" i="0" strike="noStrike" sz="1050" u="none">
                    <a:solidFill>
                      <a:srgbClr val="3348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New</c:v>
                  </c:pt>
                  <c:pt idx="1">
                    <c:v>Existing</c:v>
                  </c:pt>
                  <c:pt idx="2">
                    <c:v>Existing with Save Max</c:v>
                  </c:pt>
                </c:lvl>
              </c:multiLvlStrCache>
            </c:multiLvlStrRef>
          </c:cat>
          <c:val>
            <c:numRef>
              <c:f>Sheet1!$B$2:$B$4</c:f>
              <c:numCache>
                <c:formatCode>General</c:formatCode>
                <c:ptCount val="3"/>
                <c:pt idx="0">
                  <c:v>128</c:v>
                </c:pt>
                <c:pt idx="1">
                  <c:v>2533</c:v>
                </c:pt>
                <c:pt idx="2">
                  <c:v>1886</c:v>
                </c:pt>
              </c:numCache>
            </c:numRef>
          </c:val>
        </c:ser>
        <c:ser>
          <c:idx val="1"/>
          <c:order val="1"/>
          <c:tx>
            <c:strRef>
              <c:f>Sheet1!$C$1</c:f>
              <c:strCache>
                <c:ptCount val="1"/>
                <c:pt idx="0">
                  <c:v>View, no click</c:v>
                </c:pt>
              </c:strCache>
            </c:strRef>
          </c:tx>
          <c:spPr>
            <a:solidFill>
              <a:srgbClr val="028090"/>
            </a:solidFill>
            <a:effectLst/>
          </c:spPr>
          <c:invertIfNegative val="0"/>
          <c:dLbls>
            <c:numFmt formatCode="#,##0" sourceLinked="0"/>
            <c:txPr>
              <a:bodyPr/>
              <a:lstStyle/>
              <a:p>
                <a:pPr>
                  <a:defRPr b="1" i="0" strike="noStrike" sz="1050" u="none">
                    <a:solidFill>
                      <a:srgbClr val="3348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New</c:v>
                  </c:pt>
                  <c:pt idx="1">
                    <c:v>Existing</c:v>
                  </c:pt>
                  <c:pt idx="2">
                    <c:v>Existing with Save Max</c:v>
                  </c:pt>
                </c:lvl>
              </c:multiLvlStrCache>
            </c:multiLvlStrRef>
          </c:cat>
          <c:val>
            <c:numRef>
              <c:f>Sheet1!$C$2:$C$4</c:f>
              <c:numCache>
                <c:formatCode>General</c:formatCode>
                <c:ptCount val="3"/>
                <c:pt idx="0">
                  <c:v>153</c:v>
                </c:pt>
                <c:pt idx="1">
                  <c:v>2444</c:v>
                </c:pt>
                <c:pt idx="2">
                  <c:v>4040</c:v>
                </c:pt>
              </c:numCache>
            </c:numRef>
          </c:val>
        </c:ser>
        <c:ser>
          <c:idx val="2"/>
          <c:order val="2"/>
          <c:tx>
            <c:strRef>
              <c:f>Sheet1!$D$1</c:f>
              <c:strCache>
                <c:ptCount val="1"/>
                <c:pt idx="0">
                  <c:v>Organic</c:v>
                </c:pt>
              </c:strCache>
            </c:strRef>
          </c:tx>
          <c:spPr>
            <a:solidFill>
              <a:srgbClr val="7E9AA1"/>
            </a:solidFill>
            <a:effectLst/>
          </c:spPr>
          <c:invertIfNegative val="0"/>
          <c:dLbls>
            <c:numFmt formatCode="#,##0" sourceLinked="0"/>
            <c:txPr>
              <a:bodyPr/>
              <a:lstStyle/>
              <a:p>
                <a:pPr>
                  <a:defRPr b="1" i="0" strike="noStrike" sz="1050" u="none">
                    <a:solidFill>
                      <a:srgbClr val="3348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New</c:v>
                  </c:pt>
                  <c:pt idx="1">
                    <c:v>Existing</c:v>
                  </c:pt>
                  <c:pt idx="2">
                    <c:v>Existing with Save Max</c:v>
                  </c:pt>
                </c:lvl>
              </c:multiLvlStrCache>
            </c:multiLvlStrRef>
          </c:cat>
          <c:val>
            <c:numRef>
              <c:f>Sheet1!$D$2:$D$4</c:f>
              <c:numCache>
                <c:formatCode>General</c:formatCode>
                <c:ptCount val="3"/>
                <c:pt idx="0">
                  <c:v>1159</c:v>
                </c:pt>
                <c:pt idx="1">
                  <c:v>150</c:v>
                </c:pt>
                <c:pt idx="2">
                  <c:v>839</c:v>
                </c:pt>
              </c:numCache>
            </c:numRef>
          </c:val>
        </c:ser>
        <c:dLbls>
          <c:numFmt formatCode="#,##0" sourceLinked="0"/>
          <c:txPr>
            <a:bodyPr/>
            <a:lstStyle/>
            <a:p>
              <a:pPr>
                <a:defRPr b="1" i="0" strike="noStrike" sz="1050" u="none">
                  <a:solidFill>
                    <a:srgbClr val="33484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0C2B33"/>
                </a:solidFill>
                <a:latin typeface="Calibri"/>
              </a:defRPr>
            </a:pPr>
            <a:endParaRPr lang="en-US"/>
          </a:p>
        </c:txPr>
        <c:crossAx val="2094734552"/>
        <c:crosses val="autoZero"/>
        <c:auto val="1"/>
        <c:lblAlgn val="ctr"/>
        <c:noMultiLvlLbl val="1"/>
      </c:catAx>
      <c:valAx>
        <c:axId val="2094734552"/>
        <c:scaling>
          <c:orientation val="minMax"/>
          <c:max val="47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33484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Reached (viewed)</c:v>
                </c:pt>
              </c:strCache>
            </c:strRef>
          </c:tx>
          <c:spPr>
            <a:solidFill>
              <a:srgbClr val="028090"/>
            </a:solidFill>
            <a:effectLst/>
          </c:spPr>
          <c:invertIfNegative val="0"/>
          <c:dLbls>
            <c:numFmt formatCode="0.0&quot;%&quot;" sourceLinked="0"/>
            <c:txPr>
              <a:bodyPr/>
              <a:lstStyle/>
              <a:p>
                <a:pPr>
                  <a:defRPr b="1" i="0" strike="noStrike" sz="1100" u="none">
                    <a:solidFill>
                      <a:srgbClr val="3348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Existing with
Save Max</c:v>
                  </c:pt>
                  <c:pt idx="1">
                    <c:v>Existing</c:v>
                  </c:pt>
                  <c:pt idx="2">
                    <c:v>New</c:v>
                  </c:pt>
                </c:lvl>
              </c:multiLvlStrCache>
            </c:multiLvlStrRef>
          </c:cat>
          <c:val>
            <c:numRef>
              <c:f>Sheet1!$B$2:$B$4</c:f>
              <c:numCache>
                <c:formatCode>General</c:formatCode>
                <c:ptCount val="3"/>
                <c:pt idx="0">
                  <c:v>87.6</c:v>
                </c:pt>
                <c:pt idx="1">
                  <c:v>97.1</c:v>
                </c:pt>
                <c:pt idx="2">
                  <c:v>19.5</c:v>
                </c:pt>
              </c:numCache>
            </c:numRef>
          </c:val>
        </c:ser>
        <c:ser>
          <c:idx val="1"/>
          <c:order val="1"/>
          <c:tx>
            <c:strRef>
              <c:f>Sheet1!$C$1</c:f>
              <c:strCache>
                <c:ptCount val="1"/>
                <c:pt idx="0">
                  <c:v>Click rate of viewers</c:v>
                </c:pt>
              </c:strCache>
            </c:strRef>
          </c:tx>
          <c:spPr>
            <a:solidFill>
              <a:srgbClr val="02C39A"/>
            </a:solidFill>
            <a:effectLst/>
          </c:spPr>
          <c:invertIfNegative val="0"/>
          <c:dLbls>
            <c:numFmt formatCode="0.0&quot;%&quot;" sourceLinked="0"/>
            <c:txPr>
              <a:bodyPr/>
              <a:lstStyle/>
              <a:p>
                <a:pPr>
                  <a:defRPr b="1" i="0" strike="noStrike" sz="1100" u="none">
                    <a:solidFill>
                      <a:srgbClr val="33484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Existing with
Save Max</c:v>
                  </c:pt>
                  <c:pt idx="1">
                    <c:v>Existing</c:v>
                  </c:pt>
                  <c:pt idx="2">
                    <c:v>New</c:v>
                  </c:pt>
                </c:lvl>
              </c:multiLvlStrCache>
            </c:multiLvlStrRef>
          </c:cat>
          <c:val>
            <c:numRef>
              <c:f>Sheet1!$C$2:$C$4</c:f>
              <c:numCache>
                <c:formatCode>General</c:formatCode>
                <c:ptCount val="3"/>
                <c:pt idx="0">
                  <c:v>31.8</c:v>
                </c:pt>
                <c:pt idx="1">
                  <c:v>50.9</c:v>
                </c:pt>
                <c:pt idx="2">
                  <c:v>45.6</c:v>
                </c:pt>
              </c:numCache>
            </c:numRef>
          </c:val>
        </c:ser>
        <c:dLbls>
          <c:numFmt formatCode="0.0&quot;%&quot;" sourceLinked="0"/>
          <c:txPr>
            <a:bodyPr/>
            <a:lstStyle/>
            <a:p>
              <a:pPr>
                <a:defRPr b="1" i="0" strike="noStrike" sz="1100" u="none">
                  <a:solidFill>
                    <a:srgbClr val="33484F"/>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0C2B33"/>
                </a:solidFill>
                <a:latin typeface="Calibri"/>
              </a:defRPr>
            </a:pPr>
            <a:endParaRPr lang="en-US"/>
          </a:p>
        </c:txPr>
        <c:crossAx val="2094734552"/>
        <c:crosses val="autoZero"/>
        <c:auto val="1"/>
        <c:lblAlgn val="ctr"/>
        <c:noMultiLvlLbl val="1"/>
      </c:catAx>
      <c:valAx>
        <c:axId val="2094734552"/>
        <c:scaling>
          <c:orientation val="minMax"/>
          <c:max val="1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33484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C2B33"/>
                </a:solidFill>
                <a:latin typeface="Calibri"/>
              </a:defRPr>
            </a:pPr>
            <a:r>
              <a:rPr sz="1250" b="0" i="0" u="none" strike="noStrike">
                <a:solidFill>
                  <a:srgbClr val="0C2B33"/>
                </a:solidFill>
                <a:latin typeface="Calibri"/>
              </a:rPr>
              <a:t>Click rate among those reached</a:t>
            </a:r>
          </a:p>
        </c:rich>
      </c:tx>
      <c:layout/>
      <c:overlay val="0"/>
    </c:title>
    <c:autoTitleDeleted val="0"/>
    <c:plotArea>
      <c:layout/>
      <c:barChart>
        <c:barDir val="col"/>
        <c:grouping val="clustered"/>
        <c:varyColors val="0"/>
        <c:ser>
          <c:idx val="0"/>
          <c:order val="0"/>
          <c:tx>
            <c:strRef>
              <c:f>Sheet1!$B$1</c:f>
              <c:strCache>
                <c:ptCount val="1"/>
                <c:pt idx="0">
                  <c:v>Click rate</c:v>
                </c:pt>
              </c:strCache>
            </c:strRef>
          </c:tx>
          <c:spPr>
            <a:solidFill>
              <a:srgbClr val="028090"/>
            </a:solidFill>
            <a:effectLst/>
          </c:spPr>
          <c:invertIfNegative val="0"/>
          <c:dLbls>
            <c:numFmt formatCode="0.0&quot;%&quot;" sourceLinked="0"/>
            <c:txPr>
              <a:bodyPr/>
              <a:lstStyle/>
              <a:p>
                <a:pPr>
                  <a:defRPr b="1" i="0" strike="noStrike" sz="1200" u="none">
                    <a:solidFill>
                      <a:srgbClr val="33484F"/>
                    </a:solidFill>
                    <a:latin typeface="Calibri"/>
                  </a:defRPr>
                </a:pPr>
              </a:p>
            </c:txPr>
            <c:showLegendKey val="0"/>
            <c:showVal val="1"/>
            <c:showCatName val="0"/>
            <c:showSerName val="0"/>
            <c:showPercent val="0"/>
            <c:showBubbleSize val="0"/>
            <c:showLeaderLines val="0"/>
          </c:dLbls>
          <c:dPt>
            <c:idx val="0"/>
            <c:invertIfNegative val="0"/>
            <c:bubble3D val="0"/>
            <c:spPr>
              <a:solidFill>
                <a:srgbClr val="028090"/>
              </a:solidFill>
              <a:effectLst/>
            </c:spPr>
          </c:dPt>
          <c:dPt>
            <c:idx val="1"/>
            <c:invertIfNegative val="0"/>
            <c:bubble3D val="0"/>
            <c:spPr>
              <a:solidFill>
                <a:srgbClr val="02C39A"/>
              </a:solidFill>
              <a:effectLst/>
            </c:spPr>
          </c:dPt>
          <c:dPt>
            <c:idx val="2"/>
            <c:invertIfNegative val="0"/>
            <c:bubble3D val="0"/>
            <c:spPr>
              <a:solidFill>
                <a:srgbClr val="7E9AA1"/>
              </a:solidFill>
              <a:effectLst/>
            </c:spPr>
          </c:dPt>
          <c:cat>
            <c:multiLvlStrRef>
              <c:f>Sheet1!$A$2:$A$4</c:f>
              <c:multiLvlStrCache>
                <c:ptCount val="3"/>
                <c:lvl>
                  <c:pt idx="0">
                    <c:v>Banner</c:v>
                  </c:pt>
                  <c:pt idx="1">
                    <c:v>Push notification</c:v>
                  </c:pt>
                  <c:pt idx="2">
                    <c:v>All channels</c:v>
                  </c:pt>
                </c:lvl>
              </c:multiLvlStrCache>
            </c:multiLvlStrRef>
          </c:cat>
          <c:val>
            <c:numRef>
              <c:f>Sheet1!$B$2:$B$4</c:f>
              <c:numCache>
                <c:formatCode>General</c:formatCode>
                <c:ptCount val="3"/>
                <c:pt idx="0">
                  <c:v>40.2</c:v>
                </c:pt>
                <c:pt idx="1">
                  <c:v>87.2</c:v>
                </c:pt>
                <c:pt idx="2">
                  <c:v>40.7</c:v>
                </c:pt>
              </c:numCache>
            </c:numRef>
          </c:val>
        </c:ser>
        <c:dLbls>
          <c:numFmt formatCode="0.0&quot;%&quot;" sourceLinked="0"/>
          <c:txPr>
            <a:bodyPr/>
            <a:lstStyle/>
            <a:p>
              <a:pPr>
                <a:defRPr b="1" i="0" strike="noStrike" sz="1200" u="none">
                  <a:solidFill>
                    <a:srgbClr val="33484F"/>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0C2B33"/>
                </a:solidFill>
                <a:latin typeface="Calibri"/>
              </a:defRPr>
            </a:pPr>
            <a:endParaRPr lang="en-US"/>
          </a:p>
        </c:txPr>
        <c:crossAx val="2094734552"/>
        <c:crosses val="autoZero"/>
        <c:auto val="1"/>
        <c:lblAlgn val="ctr"/>
        <c:noMultiLvlLbl val="1"/>
      </c:catAx>
      <c:valAx>
        <c:axId val="2094734552"/>
        <c:scaling>
          <c:orientation val="minMax"/>
          <c:max val="1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of 13,332 customers, classified by view_f / click_f. Three mutually exclusive buckets: organic (no view, no click), viewed-only, and viewed-and-clicked. No customer clicked without a view, so the funnel is strictly sequential.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Organic 2,148 (16.1%); view-only 6,637 (49.8%); click 4,547 (34.1%). Reach = 11,184 of 13,332 = 83.9%. Click rate among those reached = 4,547 / 11,184 = 40.7%.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Strictly sequential funnel: 13,332 -&gt; 11,184 viewed (83.9%) -&gt; 4,547 clicked (40.7% of viewers, 34.1% of base). The view-to-click step loses 6,637 customers, far more than the 2,148 never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with Save Max is the biggest segment but converts least. Existing punches above its weight: 38.5% of the base, 55.7% of clicks. New is small and almost entirely unreached.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Save Max 87.6%, Existing 97.1%, New 19.5%. Click rate among viewers: 31.8%, 50.9%, 45.6%. New customers convert well when reached — the gap is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Banner: 11,183 viewers, 4,490 clicks, 40.2%. Push: 78 viewers, 68 clicks, 87.2%. Overlap is 77 viewers / 11 clickers, so the two channels do not sum to the totals. Push is 0.6% of the base but converts 2.2x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 push recipients had seen the banner without clicking; 57 clicked the push (89.1%). Within Save Max, push converts at 87.2% vs 30.9% on banner. Dual-channel viewers click at 90.9% vs 40.3% for banner-only. Caveat: n=78, non-random selection, no 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Banner Home is carrying the campaign: 127,981 of 138,637 views and 10,766 of 11,278 clicks. Living Room is a distant second and Pocket Landing has delivered nothing. The five push sends are near-identical cells of ~11.4k leads each but have produced only 104 views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Banner loses people at the click (8.1% of views) but reaches 7.3% of its pool. Push is the mirror image: 78.8% click rate but only 0.2% of assigned leads ever saw it. Two flags: the deep funnel is instrumented on push only, and the conversion metric is inconsistent across 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ranked by addressable volume: Save Max non-clickers (4,040) are the largest pool, New unreached (1,159) the cheapest lift, Existing the benchmark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B33"/>
        </a:solidFill>
      </p:bgPr>
    </p:bg>
    <p:spTree>
      <p:nvGrpSpPr>
        <p:cNvPr id="1" name=""/>
        <p:cNvGrpSpPr/>
        <p:nvPr/>
      </p:nvGrpSpPr>
      <p:grpSpPr>
        <a:xfrm>
          <a:off x="0" y="0"/>
          <a:ext cx="0" cy="0"/>
          <a:chOff x="0" y="0"/>
          <a:chExt cx="0" cy="0"/>
        </a:xfrm>
      </p:grpSpPr>
      <p:sp>
        <p:nvSpPr>
          <p:cNvPr id="2" name="Text 0"/>
          <p:cNvSpPr/>
          <p:nvPr/>
        </p:nvSpPr>
        <p:spPr>
          <a:xfrm>
            <a:off x="731520" y="1417320"/>
            <a:ext cx="5852160" cy="274320"/>
          </a:xfrm>
          <a:prstGeom prst="rect">
            <a:avLst/>
          </a:prstGeom>
          <a:noFill/>
          <a:ln/>
        </p:spPr>
        <p:txBody>
          <a:bodyPr wrap="square" lIns="0" tIns="0" rIns="0" bIns="0" rtlCol="0" anchor="ctr"/>
          <a:lstStyle/>
          <a:p>
            <a:pPr indent="0" marL="0">
              <a:buNone/>
            </a:pPr>
            <a:r>
              <a:rPr lang="en-US" sz="1200" b="1" spc="240" kern="0" dirty="0">
                <a:solidFill>
                  <a:srgbClr val="00A896"/>
                </a:solidFill>
                <a:latin typeface="Calibri" pitchFamily="34" charset="0"/>
                <a:ea typeface="Calibri" pitchFamily="34" charset="-122"/>
                <a:cs typeface="Calibri" pitchFamily="34" charset="-120"/>
              </a:rPr>
              <a:t>CAMPAIGN EXPOSURE ANALYSIS</a:t>
            </a:r>
            <a:endParaRPr lang="en-US" sz="1200" dirty="0"/>
          </a:p>
        </p:txBody>
      </p:sp>
      <p:sp>
        <p:nvSpPr>
          <p:cNvPr id="3" name="Text 1"/>
          <p:cNvSpPr/>
          <p:nvPr/>
        </p:nvSpPr>
        <p:spPr>
          <a:xfrm>
            <a:off x="731520" y="1810512"/>
            <a:ext cx="6035040" cy="1371600"/>
          </a:xfrm>
          <a:prstGeom prst="rect">
            <a:avLst/>
          </a:prstGeom>
          <a:noFill/>
          <a:ln/>
        </p:spPr>
        <p:txBody>
          <a:bodyPr wrap="square" lIns="0" tIns="0" rIns="0" bIns="0" rtlCol="0" anchor="ctr"/>
          <a:lstStyle/>
          <a:p>
            <a:pPr indent="0" marL="0">
              <a:lnSpc>
                <a:spcPts val="4200"/>
              </a:lnSpc>
              <a:buNone/>
            </a:pPr>
            <a:r>
              <a:rPr lang="en-US" sz="3800" b="1" dirty="0">
                <a:solidFill>
                  <a:srgbClr val="FFFFFF"/>
                </a:solidFill>
                <a:latin typeface="Cambria" pitchFamily="34" charset="0"/>
                <a:ea typeface="Cambria" pitchFamily="34" charset="-122"/>
                <a:cs typeface="Cambria" pitchFamily="34" charset="-120"/>
              </a:rPr>
              <a:t>Organic, View, Click</a:t>
            </a:r>
            <a:endParaRPr lang="en-US" sz="3800" dirty="0"/>
          </a:p>
        </p:txBody>
      </p:sp>
      <p:sp>
        <p:nvSpPr>
          <p:cNvPr id="4" name="Text 2"/>
          <p:cNvSpPr/>
          <p:nvPr/>
        </p:nvSpPr>
        <p:spPr>
          <a:xfrm>
            <a:off x="731520" y="3218688"/>
            <a:ext cx="5669280" cy="822960"/>
          </a:xfrm>
          <a:prstGeom prst="rect">
            <a:avLst/>
          </a:prstGeom>
          <a:noFill/>
          <a:ln/>
        </p:spPr>
        <p:txBody>
          <a:bodyPr wrap="square" lIns="0" tIns="0" rIns="0" bIns="0" rtlCol="0" anchor="ctr"/>
          <a:lstStyle/>
          <a:p>
            <a:pPr indent="0" marL="0">
              <a:lnSpc>
                <a:spcPts val="2200"/>
              </a:lnSpc>
              <a:buNone/>
            </a:pPr>
            <a:r>
              <a:rPr lang="en-US" sz="1500" dirty="0">
                <a:solidFill>
                  <a:srgbClr val="A9C9CE"/>
                </a:solidFill>
                <a:latin typeface="Calibri" pitchFamily="34" charset="0"/>
                <a:ea typeface="Calibri" pitchFamily="34" charset="-122"/>
                <a:cs typeface="Calibri" pitchFamily="34" charset="-120"/>
              </a:rPr>
              <a:t>How 13,332 customers split across the funnel — and where each segment falls out.</a:t>
            </a:r>
            <a:endParaRPr lang="en-US" sz="1500" dirty="0"/>
          </a:p>
        </p:txBody>
      </p:sp>
      <p:sp>
        <p:nvSpPr>
          <p:cNvPr id="5" name="Shape 3"/>
          <p:cNvSpPr/>
          <p:nvPr/>
        </p:nvSpPr>
        <p:spPr>
          <a:xfrm>
            <a:off x="731520" y="4315968"/>
            <a:ext cx="2743200" cy="475488"/>
          </a:xfrm>
          <a:prstGeom prst="roundRect">
            <a:avLst>
              <a:gd name="adj" fmla="val 50000"/>
            </a:avLst>
          </a:prstGeom>
          <a:solidFill>
            <a:srgbClr val="02C39A"/>
          </a:solidFill>
          <a:ln w="12700">
            <a:solidFill>
              <a:srgbClr val="02C39A"/>
            </a:solidFill>
            <a:prstDash val="solid"/>
          </a:ln>
        </p:spPr>
      </p:sp>
      <p:sp>
        <p:nvSpPr>
          <p:cNvPr id="6" name="Text 4"/>
          <p:cNvSpPr/>
          <p:nvPr/>
        </p:nvSpPr>
        <p:spPr>
          <a:xfrm>
            <a:off x="731520" y="4315968"/>
            <a:ext cx="2743200" cy="475488"/>
          </a:xfrm>
          <a:prstGeom prst="rect">
            <a:avLst/>
          </a:prstGeom>
          <a:noFill/>
          <a:ln/>
        </p:spPr>
        <p:txBody>
          <a:bodyPr wrap="square" lIns="0" tIns="0" rIns="0" bIns="0" rtlCol="0" anchor="ctr"/>
          <a:lstStyle/>
          <a:p>
            <a:pPr algn="ctr" indent="0" marL="0">
              <a:buNone/>
            </a:pPr>
            <a:r>
              <a:rPr lang="en-US" sz="1400" b="1" dirty="0">
                <a:solidFill>
                  <a:srgbClr val="0C2B33"/>
                </a:solidFill>
                <a:latin typeface="Calibri" pitchFamily="34" charset="0"/>
                <a:ea typeface="Calibri" pitchFamily="34" charset="-122"/>
                <a:cs typeface="Calibri" pitchFamily="34" charset="-120"/>
              </a:rPr>
              <a:t>13,332 customers</a:t>
            </a:r>
            <a:endParaRPr lang="en-US" sz="1400" dirty="0"/>
          </a:p>
        </p:txBody>
      </p:sp>
      <p:sp>
        <p:nvSpPr>
          <p:cNvPr id="7" name="Shape 5"/>
          <p:cNvSpPr/>
          <p:nvPr/>
        </p:nvSpPr>
        <p:spPr>
          <a:xfrm>
            <a:off x="6949440" y="1481328"/>
            <a:ext cx="4480560" cy="1143000"/>
          </a:xfrm>
          <a:prstGeom prst="roundRect">
            <a:avLst>
              <a:gd name="adj" fmla="val 8000"/>
            </a:avLst>
          </a:prstGeom>
          <a:solidFill>
            <a:srgbClr val="143A45"/>
          </a:solidFill>
          <a:ln w="12700">
            <a:solidFill>
              <a:srgbClr val="1E4A56"/>
            </a:solidFill>
            <a:prstDash val="solid"/>
          </a:ln>
        </p:spPr>
      </p:sp>
      <p:sp>
        <p:nvSpPr>
          <p:cNvPr id="8" name="Shape 6"/>
          <p:cNvSpPr/>
          <p:nvPr/>
        </p:nvSpPr>
        <p:spPr>
          <a:xfrm>
            <a:off x="7223760" y="1938528"/>
            <a:ext cx="219456" cy="219456"/>
          </a:xfrm>
          <a:prstGeom prst="ellipse">
            <a:avLst/>
          </a:prstGeom>
          <a:solidFill>
            <a:srgbClr val="7E9AA1"/>
          </a:solidFill>
          <a:ln w="12700">
            <a:solidFill>
              <a:srgbClr val="7E9AA1"/>
            </a:solidFill>
            <a:prstDash val="solid"/>
          </a:ln>
        </p:spPr>
      </p:sp>
      <p:sp>
        <p:nvSpPr>
          <p:cNvPr id="9" name="Text 7"/>
          <p:cNvSpPr/>
          <p:nvPr/>
        </p:nvSpPr>
        <p:spPr>
          <a:xfrm>
            <a:off x="7571232" y="1645920"/>
            <a:ext cx="14173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16.1%</a:t>
            </a:r>
            <a:endParaRPr lang="en-US" sz="3000" dirty="0"/>
          </a:p>
        </p:txBody>
      </p:sp>
      <p:sp>
        <p:nvSpPr>
          <p:cNvPr id="10" name="Text 8"/>
          <p:cNvSpPr/>
          <p:nvPr/>
        </p:nvSpPr>
        <p:spPr>
          <a:xfrm>
            <a:off x="9070848" y="1700784"/>
            <a:ext cx="219456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Organic — never saw it</a:t>
            </a:r>
            <a:endParaRPr lang="en-US" sz="1250" dirty="0"/>
          </a:p>
        </p:txBody>
      </p:sp>
      <p:sp>
        <p:nvSpPr>
          <p:cNvPr id="11" name="Text 9"/>
          <p:cNvSpPr/>
          <p:nvPr/>
        </p:nvSpPr>
        <p:spPr>
          <a:xfrm>
            <a:off x="9070848" y="2048256"/>
            <a:ext cx="2194560" cy="274320"/>
          </a:xfrm>
          <a:prstGeom prst="rect">
            <a:avLst/>
          </a:prstGeom>
          <a:noFill/>
          <a:ln/>
        </p:spPr>
        <p:txBody>
          <a:bodyPr wrap="square" lIns="0" tIns="0" rIns="0" bIns="0" rtlCol="0" anchor="ctr"/>
          <a:lstStyle/>
          <a:p>
            <a:pPr indent="0" marL="0">
              <a:buNone/>
            </a:pPr>
            <a:r>
              <a:rPr lang="en-US" sz="1150" dirty="0">
                <a:solidFill>
                  <a:srgbClr val="A9C9CE"/>
                </a:solidFill>
                <a:latin typeface="Calibri" pitchFamily="34" charset="0"/>
                <a:ea typeface="Calibri" pitchFamily="34" charset="-122"/>
                <a:cs typeface="Calibri" pitchFamily="34" charset="-120"/>
              </a:rPr>
              <a:t>2,148 customers</a:t>
            </a:r>
            <a:endParaRPr lang="en-US" sz="1150" dirty="0"/>
          </a:p>
        </p:txBody>
      </p:sp>
      <p:sp>
        <p:nvSpPr>
          <p:cNvPr id="12" name="Shape 10"/>
          <p:cNvSpPr/>
          <p:nvPr/>
        </p:nvSpPr>
        <p:spPr>
          <a:xfrm>
            <a:off x="6949440" y="2852928"/>
            <a:ext cx="4480560" cy="1143000"/>
          </a:xfrm>
          <a:prstGeom prst="roundRect">
            <a:avLst>
              <a:gd name="adj" fmla="val 8000"/>
            </a:avLst>
          </a:prstGeom>
          <a:solidFill>
            <a:srgbClr val="143A45"/>
          </a:solidFill>
          <a:ln w="12700">
            <a:solidFill>
              <a:srgbClr val="1E4A56"/>
            </a:solidFill>
            <a:prstDash val="solid"/>
          </a:ln>
        </p:spPr>
      </p:sp>
      <p:sp>
        <p:nvSpPr>
          <p:cNvPr id="13" name="Shape 11"/>
          <p:cNvSpPr/>
          <p:nvPr/>
        </p:nvSpPr>
        <p:spPr>
          <a:xfrm>
            <a:off x="7223760" y="3310128"/>
            <a:ext cx="219456" cy="219456"/>
          </a:xfrm>
          <a:prstGeom prst="ellipse">
            <a:avLst/>
          </a:prstGeom>
          <a:solidFill>
            <a:srgbClr val="028090"/>
          </a:solidFill>
          <a:ln w="12700">
            <a:solidFill>
              <a:srgbClr val="028090"/>
            </a:solidFill>
            <a:prstDash val="solid"/>
          </a:ln>
        </p:spPr>
      </p:sp>
      <p:sp>
        <p:nvSpPr>
          <p:cNvPr id="14" name="Text 12"/>
          <p:cNvSpPr/>
          <p:nvPr/>
        </p:nvSpPr>
        <p:spPr>
          <a:xfrm>
            <a:off x="7571232" y="3017520"/>
            <a:ext cx="14173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49.8%</a:t>
            </a:r>
            <a:endParaRPr lang="en-US" sz="3000" dirty="0"/>
          </a:p>
        </p:txBody>
      </p:sp>
      <p:sp>
        <p:nvSpPr>
          <p:cNvPr id="15" name="Text 13"/>
          <p:cNvSpPr/>
          <p:nvPr/>
        </p:nvSpPr>
        <p:spPr>
          <a:xfrm>
            <a:off x="9070848" y="3072384"/>
            <a:ext cx="219456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Viewed, did not click</a:t>
            </a:r>
            <a:endParaRPr lang="en-US" sz="1250" dirty="0"/>
          </a:p>
        </p:txBody>
      </p:sp>
      <p:sp>
        <p:nvSpPr>
          <p:cNvPr id="16" name="Text 14"/>
          <p:cNvSpPr/>
          <p:nvPr/>
        </p:nvSpPr>
        <p:spPr>
          <a:xfrm>
            <a:off x="9070848" y="3419856"/>
            <a:ext cx="2194560" cy="274320"/>
          </a:xfrm>
          <a:prstGeom prst="rect">
            <a:avLst/>
          </a:prstGeom>
          <a:noFill/>
          <a:ln/>
        </p:spPr>
        <p:txBody>
          <a:bodyPr wrap="square" lIns="0" tIns="0" rIns="0" bIns="0" rtlCol="0" anchor="ctr"/>
          <a:lstStyle/>
          <a:p>
            <a:pPr indent="0" marL="0">
              <a:buNone/>
            </a:pPr>
            <a:r>
              <a:rPr lang="en-US" sz="1150" dirty="0">
                <a:solidFill>
                  <a:srgbClr val="A9C9CE"/>
                </a:solidFill>
                <a:latin typeface="Calibri" pitchFamily="34" charset="0"/>
                <a:ea typeface="Calibri" pitchFamily="34" charset="-122"/>
                <a:cs typeface="Calibri" pitchFamily="34" charset="-120"/>
              </a:rPr>
              <a:t>6,637 customers</a:t>
            </a:r>
            <a:endParaRPr lang="en-US" sz="1150" dirty="0"/>
          </a:p>
        </p:txBody>
      </p:sp>
      <p:sp>
        <p:nvSpPr>
          <p:cNvPr id="17" name="Shape 15"/>
          <p:cNvSpPr/>
          <p:nvPr/>
        </p:nvSpPr>
        <p:spPr>
          <a:xfrm>
            <a:off x="6949440" y="4224528"/>
            <a:ext cx="4480560" cy="1143000"/>
          </a:xfrm>
          <a:prstGeom prst="roundRect">
            <a:avLst>
              <a:gd name="adj" fmla="val 8000"/>
            </a:avLst>
          </a:prstGeom>
          <a:solidFill>
            <a:srgbClr val="143A45"/>
          </a:solidFill>
          <a:ln w="12700">
            <a:solidFill>
              <a:srgbClr val="1E4A56"/>
            </a:solidFill>
            <a:prstDash val="solid"/>
          </a:ln>
        </p:spPr>
      </p:sp>
      <p:sp>
        <p:nvSpPr>
          <p:cNvPr id="18" name="Shape 16"/>
          <p:cNvSpPr/>
          <p:nvPr/>
        </p:nvSpPr>
        <p:spPr>
          <a:xfrm>
            <a:off x="7223760" y="4681728"/>
            <a:ext cx="219456" cy="219456"/>
          </a:xfrm>
          <a:prstGeom prst="ellipse">
            <a:avLst/>
          </a:prstGeom>
          <a:solidFill>
            <a:srgbClr val="02C39A"/>
          </a:solidFill>
          <a:ln w="12700">
            <a:solidFill>
              <a:srgbClr val="02C39A"/>
            </a:solidFill>
            <a:prstDash val="solid"/>
          </a:ln>
        </p:spPr>
      </p:sp>
      <p:sp>
        <p:nvSpPr>
          <p:cNvPr id="19" name="Text 17"/>
          <p:cNvSpPr/>
          <p:nvPr/>
        </p:nvSpPr>
        <p:spPr>
          <a:xfrm>
            <a:off x="7571232" y="4389120"/>
            <a:ext cx="14173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34.1%</a:t>
            </a:r>
            <a:endParaRPr lang="en-US" sz="3000" dirty="0"/>
          </a:p>
        </p:txBody>
      </p:sp>
      <p:sp>
        <p:nvSpPr>
          <p:cNvPr id="20" name="Text 18"/>
          <p:cNvSpPr/>
          <p:nvPr/>
        </p:nvSpPr>
        <p:spPr>
          <a:xfrm>
            <a:off x="9070848" y="4443984"/>
            <a:ext cx="219456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Viewed and clicked</a:t>
            </a:r>
            <a:endParaRPr lang="en-US" sz="1250" dirty="0"/>
          </a:p>
        </p:txBody>
      </p:sp>
      <p:sp>
        <p:nvSpPr>
          <p:cNvPr id="21" name="Text 19"/>
          <p:cNvSpPr/>
          <p:nvPr/>
        </p:nvSpPr>
        <p:spPr>
          <a:xfrm>
            <a:off x="9070848" y="4791456"/>
            <a:ext cx="2194560" cy="274320"/>
          </a:xfrm>
          <a:prstGeom prst="rect">
            <a:avLst/>
          </a:prstGeom>
          <a:noFill/>
          <a:ln/>
        </p:spPr>
        <p:txBody>
          <a:bodyPr wrap="square" lIns="0" tIns="0" rIns="0" bIns="0" rtlCol="0" anchor="ctr"/>
          <a:lstStyle/>
          <a:p>
            <a:pPr indent="0" marL="0">
              <a:buNone/>
            </a:pPr>
            <a:r>
              <a:rPr lang="en-US" sz="1150" dirty="0">
                <a:solidFill>
                  <a:srgbClr val="A9C9CE"/>
                </a:solidFill>
                <a:latin typeface="Calibri" pitchFamily="34" charset="0"/>
                <a:ea typeface="Calibri" pitchFamily="34" charset="-122"/>
                <a:cs typeface="Calibri" pitchFamily="34" charset="-120"/>
              </a:rPr>
              <a:t>4,547 customers</a:t>
            </a:r>
            <a:endParaRPr lang="en-US" sz="1150" dirty="0"/>
          </a:p>
        </p:txBody>
      </p:sp>
      <p:sp>
        <p:nvSpPr>
          <p:cNvPr id="22" name="Text 20"/>
          <p:cNvSpPr/>
          <p:nvPr/>
        </p:nvSpPr>
        <p:spPr>
          <a:xfrm>
            <a:off x="731520" y="5989320"/>
            <a:ext cx="6400800" cy="274320"/>
          </a:xfrm>
          <a:prstGeom prst="rect">
            <a:avLst/>
          </a:prstGeom>
          <a:noFill/>
          <a:ln/>
        </p:spPr>
        <p:txBody>
          <a:bodyPr wrap="square" lIns="0" tIns="0" rIns="0" bIns="0" rtlCol="0" anchor="ctr"/>
          <a:lstStyle/>
          <a:p>
            <a:pPr indent="0" marL="0">
              <a:buNone/>
            </a:pPr>
            <a:r>
              <a:rPr lang="en-US" sz="1100" dirty="0">
                <a:solidFill>
                  <a:srgbClr val="6E8B93"/>
                </a:solidFill>
                <a:latin typeface="Calibri" pitchFamily="34" charset="0"/>
                <a:ea typeface="Calibri" pitchFamily="34" charset="-122"/>
                <a:cs typeface="Calibri" pitchFamily="34" charset="-120"/>
              </a:rPr>
              <a:t>Segments: Existing with Save Max · Existing · New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THE SPLIT</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The base divides three ways</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Every customer falls into exactly one bucket — no one clicked without first viewing.</a:t>
            </a:r>
            <a:endParaRPr lang="en-US" sz="1400" dirty="0"/>
          </a:p>
        </p:txBody>
      </p:sp>
      <p:sp>
        <p:nvSpPr>
          <p:cNvPr id="5" name="Shape 3"/>
          <p:cNvSpPr/>
          <p:nvPr/>
        </p:nvSpPr>
        <p:spPr>
          <a:xfrm>
            <a:off x="548640" y="1783080"/>
            <a:ext cx="3474720" cy="1965960"/>
          </a:xfrm>
          <a:prstGeom prst="roundRect">
            <a:avLst>
              <a:gd name="adj" fmla="val 4651"/>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6" name="Shape 4"/>
          <p:cNvSpPr/>
          <p:nvPr/>
        </p:nvSpPr>
        <p:spPr>
          <a:xfrm>
            <a:off x="841248" y="2057400"/>
            <a:ext cx="237744" cy="237744"/>
          </a:xfrm>
          <a:prstGeom prst="ellipse">
            <a:avLst/>
          </a:prstGeom>
          <a:solidFill>
            <a:srgbClr val="7E9AA1"/>
          </a:solidFill>
          <a:ln w="12700">
            <a:solidFill>
              <a:srgbClr val="7E9AA1"/>
            </a:solidFill>
            <a:prstDash val="solid"/>
          </a:ln>
        </p:spPr>
      </p:sp>
      <p:sp>
        <p:nvSpPr>
          <p:cNvPr id="7" name="Text 5"/>
          <p:cNvSpPr/>
          <p:nvPr/>
        </p:nvSpPr>
        <p:spPr>
          <a:xfrm>
            <a:off x="1170432" y="2002536"/>
            <a:ext cx="2560320" cy="347472"/>
          </a:xfrm>
          <a:prstGeom prst="rect">
            <a:avLst/>
          </a:prstGeom>
          <a:noFill/>
          <a:ln/>
        </p:spPr>
        <p:txBody>
          <a:bodyPr wrap="square" lIns="0" tIns="0" rIns="0" bIns="0" rtlCol="0" anchor="ctr"/>
          <a:lstStyle/>
          <a:p>
            <a:pPr indent="0" marL="0">
              <a:buNone/>
            </a:pPr>
            <a:r>
              <a:rPr lang="en-US" sz="1400" b="1" dirty="0">
                <a:solidFill>
                  <a:srgbClr val="0C2B33"/>
                </a:solidFill>
                <a:latin typeface="Calibri" pitchFamily="34" charset="0"/>
                <a:ea typeface="Calibri" pitchFamily="34" charset="-122"/>
                <a:cs typeface="Calibri" pitchFamily="34" charset="-120"/>
              </a:rPr>
              <a:t>Organic</a:t>
            </a:r>
            <a:endParaRPr lang="en-US" sz="1400" dirty="0"/>
          </a:p>
        </p:txBody>
      </p:sp>
      <p:sp>
        <p:nvSpPr>
          <p:cNvPr id="8" name="Text 6"/>
          <p:cNvSpPr/>
          <p:nvPr/>
        </p:nvSpPr>
        <p:spPr>
          <a:xfrm>
            <a:off x="841248" y="2432304"/>
            <a:ext cx="2926080" cy="658368"/>
          </a:xfrm>
          <a:prstGeom prst="rect">
            <a:avLst/>
          </a:prstGeom>
          <a:noFill/>
          <a:ln/>
        </p:spPr>
        <p:txBody>
          <a:bodyPr wrap="square" lIns="0" tIns="0" rIns="0" bIns="0" rtlCol="0" anchor="ctr"/>
          <a:lstStyle/>
          <a:p>
            <a:pPr indent="0" marL="0">
              <a:buNone/>
            </a:pPr>
            <a:r>
              <a:rPr lang="en-US" sz="3800" b="1" dirty="0">
                <a:solidFill>
                  <a:srgbClr val="7E9AA1"/>
                </a:solidFill>
                <a:latin typeface="Cambria" pitchFamily="34" charset="0"/>
                <a:ea typeface="Cambria" pitchFamily="34" charset="-122"/>
                <a:cs typeface="Cambria" pitchFamily="34" charset="-120"/>
              </a:rPr>
              <a:t>2,148</a:t>
            </a:r>
            <a:pPr indent="0" marL="0">
              <a:buNone/>
            </a:pPr>
            <a:r>
              <a:rPr lang="en-US" sz="1500" b="1" dirty="0">
                <a:solidFill>
                  <a:srgbClr val="6E878E"/>
                </a:solidFill>
                <a:latin typeface="Calibri" pitchFamily="34" charset="0"/>
                <a:ea typeface="Calibri" pitchFamily="34" charset="-122"/>
                <a:cs typeface="Calibri" pitchFamily="34" charset="-120"/>
              </a:rPr>
              <a:t>   16.1%</a:t>
            </a:r>
            <a:endParaRPr lang="en-US" sz="3800" dirty="0"/>
          </a:p>
        </p:txBody>
      </p:sp>
      <p:sp>
        <p:nvSpPr>
          <p:cNvPr id="9" name="Text 7"/>
          <p:cNvSpPr/>
          <p:nvPr/>
        </p:nvSpPr>
        <p:spPr>
          <a:xfrm>
            <a:off x="841248" y="3127248"/>
            <a:ext cx="2889504" cy="548640"/>
          </a:xfrm>
          <a:prstGeom prst="rect">
            <a:avLst/>
          </a:prstGeom>
          <a:noFill/>
          <a:ln/>
        </p:spPr>
        <p:txBody>
          <a:bodyPr wrap="square" lIns="0" tIns="0" rIns="0" bIns="0" rtlCol="0" anchor="ctr"/>
          <a:lstStyle/>
          <a:p>
            <a:pPr indent="0" marL="0">
              <a:lnSpc>
                <a:spcPts val="1500"/>
              </a:lnSpc>
              <a:buNone/>
            </a:pPr>
            <a:r>
              <a:rPr lang="en-US" sz="1150" dirty="0">
                <a:solidFill>
                  <a:srgbClr val="33484F"/>
                </a:solidFill>
                <a:latin typeface="Calibri" pitchFamily="34" charset="0"/>
                <a:ea typeface="Calibri" pitchFamily="34" charset="-122"/>
                <a:cs typeface="Calibri" pitchFamily="34" charset="-120"/>
              </a:rPr>
              <a:t>Never exposed to the campaign — no view, no click.</a:t>
            </a:r>
            <a:endParaRPr lang="en-US" sz="1150" dirty="0"/>
          </a:p>
        </p:txBody>
      </p:sp>
      <p:sp>
        <p:nvSpPr>
          <p:cNvPr id="10" name="Shape 8"/>
          <p:cNvSpPr/>
          <p:nvPr/>
        </p:nvSpPr>
        <p:spPr>
          <a:xfrm>
            <a:off x="4343400" y="1783080"/>
            <a:ext cx="3474720" cy="1965960"/>
          </a:xfrm>
          <a:prstGeom prst="roundRect">
            <a:avLst>
              <a:gd name="adj" fmla="val 4651"/>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1" name="Shape 9"/>
          <p:cNvSpPr/>
          <p:nvPr/>
        </p:nvSpPr>
        <p:spPr>
          <a:xfrm>
            <a:off x="4636008" y="2057400"/>
            <a:ext cx="237744" cy="237744"/>
          </a:xfrm>
          <a:prstGeom prst="ellipse">
            <a:avLst/>
          </a:prstGeom>
          <a:solidFill>
            <a:srgbClr val="028090"/>
          </a:solidFill>
          <a:ln w="12700">
            <a:solidFill>
              <a:srgbClr val="028090"/>
            </a:solidFill>
            <a:prstDash val="solid"/>
          </a:ln>
        </p:spPr>
      </p:sp>
      <p:sp>
        <p:nvSpPr>
          <p:cNvPr id="12" name="Text 10"/>
          <p:cNvSpPr/>
          <p:nvPr/>
        </p:nvSpPr>
        <p:spPr>
          <a:xfrm>
            <a:off x="4965192" y="2002536"/>
            <a:ext cx="2560320" cy="347472"/>
          </a:xfrm>
          <a:prstGeom prst="rect">
            <a:avLst/>
          </a:prstGeom>
          <a:noFill/>
          <a:ln/>
        </p:spPr>
        <p:txBody>
          <a:bodyPr wrap="square" lIns="0" tIns="0" rIns="0" bIns="0" rtlCol="0" anchor="ctr"/>
          <a:lstStyle/>
          <a:p>
            <a:pPr indent="0" marL="0">
              <a:buNone/>
            </a:pPr>
            <a:r>
              <a:rPr lang="en-US" sz="1400" b="1" dirty="0">
                <a:solidFill>
                  <a:srgbClr val="0C2B33"/>
                </a:solidFill>
                <a:latin typeface="Calibri" pitchFamily="34" charset="0"/>
                <a:ea typeface="Calibri" pitchFamily="34" charset="-122"/>
                <a:cs typeface="Calibri" pitchFamily="34" charset="-120"/>
              </a:rPr>
              <a:t>View, no click</a:t>
            </a:r>
            <a:endParaRPr lang="en-US" sz="1400" dirty="0"/>
          </a:p>
        </p:txBody>
      </p:sp>
      <p:sp>
        <p:nvSpPr>
          <p:cNvPr id="13" name="Text 11"/>
          <p:cNvSpPr/>
          <p:nvPr/>
        </p:nvSpPr>
        <p:spPr>
          <a:xfrm>
            <a:off x="4636008" y="2432304"/>
            <a:ext cx="2926080" cy="658368"/>
          </a:xfrm>
          <a:prstGeom prst="rect">
            <a:avLst/>
          </a:prstGeom>
          <a:noFill/>
          <a:ln/>
        </p:spPr>
        <p:txBody>
          <a:bodyPr wrap="square" lIns="0" tIns="0" rIns="0" bIns="0" rtlCol="0" anchor="ctr"/>
          <a:lstStyle/>
          <a:p>
            <a:pPr indent="0" marL="0">
              <a:buNone/>
            </a:pPr>
            <a:r>
              <a:rPr lang="en-US" sz="3800" b="1" dirty="0">
                <a:solidFill>
                  <a:srgbClr val="028090"/>
                </a:solidFill>
                <a:latin typeface="Cambria" pitchFamily="34" charset="0"/>
                <a:ea typeface="Cambria" pitchFamily="34" charset="-122"/>
                <a:cs typeface="Cambria" pitchFamily="34" charset="-120"/>
              </a:rPr>
              <a:t>6,637</a:t>
            </a:r>
            <a:pPr indent="0" marL="0">
              <a:buNone/>
            </a:pPr>
            <a:r>
              <a:rPr lang="en-US" sz="1500" b="1" dirty="0">
                <a:solidFill>
                  <a:srgbClr val="6E878E"/>
                </a:solidFill>
                <a:latin typeface="Calibri" pitchFamily="34" charset="0"/>
                <a:ea typeface="Calibri" pitchFamily="34" charset="-122"/>
                <a:cs typeface="Calibri" pitchFamily="34" charset="-120"/>
              </a:rPr>
              <a:t>   49.8%</a:t>
            </a:r>
            <a:endParaRPr lang="en-US" sz="3800" dirty="0"/>
          </a:p>
        </p:txBody>
      </p:sp>
      <p:sp>
        <p:nvSpPr>
          <p:cNvPr id="14" name="Text 12"/>
          <p:cNvSpPr/>
          <p:nvPr/>
        </p:nvSpPr>
        <p:spPr>
          <a:xfrm>
            <a:off x="4636008" y="3127248"/>
            <a:ext cx="2889504" cy="548640"/>
          </a:xfrm>
          <a:prstGeom prst="rect">
            <a:avLst/>
          </a:prstGeom>
          <a:noFill/>
          <a:ln/>
        </p:spPr>
        <p:txBody>
          <a:bodyPr wrap="square" lIns="0" tIns="0" rIns="0" bIns="0" rtlCol="0" anchor="ctr"/>
          <a:lstStyle/>
          <a:p>
            <a:pPr indent="0" marL="0">
              <a:lnSpc>
                <a:spcPts val="1500"/>
              </a:lnSpc>
              <a:buNone/>
            </a:pPr>
            <a:r>
              <a:rPr lang="en-US" sz="1150" dirty="0">
                <a:solidFill>
                  <a:srgbClr val="33484F"/>
                </a:solidFill>
                <a:latin typeface="Calibri" pitchFamily="34" charset="0"/>
                <a:ea typeface="Calibri" pitchFamily="34" charset="-122"/>
                <a:cs typeface="Calibri" pitchFamily="34" charset="-120"/>
              </a:rPr>
              <a:t>Saw it and stopped there. The largest single group.</a:t>
            </a:r>
            <a:endParaRPr lang="en-US" sz="1150" dirty="0"/>
          </a:p>
        </p:txBody>
      </p:sp>
      <p:sp>
        <p:nvSpPr>
          <p:cNvPr id="15" name="Shape 13"/>
          <p:cNvSpPr/>
          <p:nvPr/>
        </p:nvSpPr>
        <p:spPr>
          <a:xfrm>
            <a:off x="8138160" y="1783080"/>
            <a:ext cx="3474720" cy="1965960"/>
          </a:xfrm>
          <a:prstGeom prst="roundRect">
            <a:avLst>
              <a:gd name="adj" fmla="val 4651"/>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6" name="Shape 14"/>
          <p:cNvSpPr/>
          <p:nvPr/>
        </p:nvSpPr>
        <p:spPr>
          <a:xfrm>
            <a:off x="8430768" y="2057400"/>
            <a:ext cx="237744" cy="237744"/>
          </a:xfrm>
          <a:prstGeom prst="ellipse">
            <a:avLst/>
          </a:prstGeom>
          <a:solidFill>
            <a:srgbClr val="02C39A"/>
          </a:solidFill>
          <a:ln w="12700">
            <a:solidFill>
              <a:srgbClr val="02C39A"/>
            </a:solidFill>
            <a:prstDash val="solid"/>
          </a:ln>
        </p:spPr>
      </p:sp>
      <p:sp>
        <p:nvSpPr>
          <p:cNvPr id="17" name="Text 15"/>
          <p:cNvSpPr/>
          <p:nvPr/>
        </p:nvSpPr>
        <p:spPr>
          <a:xfrm>
            <a:off x="8759952" y="2002536"/>
            <a:ext cx="2560320" cy="347472"/>
          </a:xfrm>
          <a:prstGeom prst="rect">
            <a:avLst/>
          </a:prstGeom>
          <a:noFill/>
          <a:ln/>
        </p:spPr>
        <p:txBody>
          <a:bodyPr wrap="square" lIns="0" tIns="0" rIns="0" bIns="0" rtlCol="0" anchor="ctr"/>
          <a:lstStyle/>
          <a:p>
            <a:pPr indent="0" marL="0">
              <a:buNone/>
            </a:pPr>
            <a:r>
              <a:rPr lang="en-US" sz="1400" b="1" dirty="0">
                <a:solidFill>
                  <a:srgbClr val="0C2B33"/>
                </a:solidFill>
                <a:latin typeface="Calibri" pitchFamily="34" charset="0"/>
                <a:ea typeface="Calibri" pitchFamily="34" charset="-122"/>
                <a:cs typeface="Calibri" pitchFamily="34" charset="-120"/>
              </a:rPr>
              <a:t>Click</a:t>
            </a:r>
            <a:endParaRPr lang="en-US" sz="1400" dirty="0"/>
          </a:p>
        </p:txBody>
      </p:sp>
      <p:sp>
        <p:nvSpPr>
          <p:cNvPr id="18" name="Text 16"/>
          <p:cNvSpPr/>
          <p:nvPr/>
        </p:nvSpPr>
        <p:spPr>
          <a:xfrm>
            <a:off x="8430768" y="2432304"/>
            <a:ext cx="2926080" cy="658368"/>
          </a:xfrm>
          <a:prstGeom prst="rect">
            <a:avLst/>
          </a:prstGeom>
          <a:noFill/>
          <a:ln/>
        </p:spPr>
        <p:txBody>
          <a:bodyPr wrap="square" lIns="0" tIns="0" rIns="0" bIns="0" rtlCol="0" anchor="ctr"/>
          <a:lstStyle/>
          <a:p>
            <a:pPr indent="0" marL="0">
              <a:buNone/>
            </a:pPr>
            <a:r>
              <a:rPr lang="en-US" sz="3800" b="1" dirty="0">
                <a:solidFill>
                  <a:srgbClr val="02C39A"/>
                </a:solidFill>
                <a:latin typeface="Cambria" pitchFamily="34" charset="0"/>
                <a:ea typeface="Cambria" pitchFamily="34" charset="-122"/>
                <a:cs typeface="Cambria" pitchFamily="34" charset="-120"/>
              </a:rPr>
              <a:t>4,547</a:t>
            </a:r>
            <a:pPr indent="0" marL="0">
              <a:buNone/>
            </a:pPr>
            <a:r>
              <a:rPr lang="en-US" sz="1500" b="1" dirty="0">
                <a:solidFill>
                  <a:srgbClr val="6E878E"/>
                </a:solidFill>
                <a:latin typeface="Calibri" pitchFamily="34" charset="0"/>
                <a:ea typeface="Calibri" pitchFamily="34" charset="-122"/>
                <a:cs typeface="Calibri" pitchFamily="34" charset="-120"/>
              </a:rPr>
              <a:t>   34.1%</a:t>
            </a:r>
            <a:endParaRPr lang="en-US" sz="3800" dirty="0"/>
          </a:p>
        </p:txBody>
      </p:sp>
      <p:sp>
        <p:nvSpPr>
          <p:cNvPr id="19" name="Text 17"/>
          <p:cNvSpPr/>
          <p:nvPr/>
        </p:nvSpPr>
        <p:spPr>
          <a:xfrm>
            <a:off x="8430768" y="3127248"/>
            <a:ext cx="2889504" cy="548640"/>
          </a:xfrm>
          <a:prstGeom prst="rect">
            <a:avLst/>
          </a:prstGeom>
          <a:noFill/>
          <a:ln/>
        </p:spPr>
        <p:txBody>
          <a:bodyPr wrap="square" lIns="0" tIns="0" rIns="0" bIns="0" rtlCol="0" anchor="ctr"/>
          <a:lstStyle/>
          <a:p>
            <a:pPr indent="0" marL="0">
              <a:lnSpc>
                <a:spcPts val="1500"/>
              </a:lnSpc>
              <a:buNone/>
            </a:pPr>
            <a:r>
              <a:rPr lang="en-US" sz="1150" dirty="0">
                <a:solidFill>
                  <a:srgbClr val="33484F"/>
                </a:solidFill>
                <a:latin typeface="Calibri" pitchFamily="34" charset="0"/>
                <a:ea typeface="Calibri" pitchFamily="34" charset="-122"/>
                <a:cs typeface="Calibri" pitchFamily="34" charset="-120"/>
              </a:rPr>
              <a:t>Viewed and clicked through — the converted third.</a:t>
            </a:r>
            <a:endParaRPr lang="en-US" sz="1150" dirty="0"/>
          </a:p>
        </p:txBody>
      </p:sp>
      <p:graphicFrame>
        <p:nvGraphicFramePr>
          <p:cNvPr id="20" name="Chart 0" descr=""/>
          <p:cNvGraphicFramePr/>
          <p:nvPr/>
        </p:nvGraphicFramePr>
        <p:xfrm>
          <a:off x="548640" y="4023360"/>
          <a:ext cx="7589520" cy="228600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8412480" y="4023360"/>
            <a:ext cx="3200400" cy="2286000"/>
          </a:xfrm>
          <a:prstGeom prst="roundRect">
            <a:avLst>
              <a:gd name="adj" fmla="val 4000"/>
            </a:avLst>
          </a:prstGeom>
          <a:solidFill>
            <a:srgbClr val="0C2B33"/>
          </a:solidFill>
          <a:ln w="12700">
            <a:solidFill>
              <a:srgbClr val="0C2B33"/>
            </a:solidFill>
            <a:prstDash val="solid"/>
          </a:ln>
          <a:effectLst>
            <a:outerShdw sx="100000" sy="100000" kx="0" ky="0" algn="bl" rotWithShape="0" blurRad="127000" dist="25400" dir="5400000">
              <a:srgbClr val="0C2B33">
                <a:alpha val="10000"/>
              </a:srgbClr>
            </a:outerShdw>
          </a:effectLst>
        </p:spPr>
      </p:sp>
      <p:sp>
        <p:nvSpPr>
          <p:cNvPr id="22" name="Text 19"/>
          <p:cNvSpPr/>
          <p:nvPr/>
        </p:nvSpPr>
        <p:spPr>
          <a:xfrm>
            <a:off x="8686800" y="4261104"/>
            <a:ext cx="2651760" cy="292608"/>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Read it as a funnel</a:t>
            </a:r>
            <a:endParaRPr lang="en-US" sz="1250" dirty="0"/>
          </a:p>
        </p:txBody>
      </p:sp>
      <p:sp>
        <p:nvSpPr>
          <p:cNvPr id="23" name="Text 20"/>
          <p:cNvSpPr/>
          <p:nvPr/>
        </p:nvSpPr>
        <p:spPr>
          <a:xfrm>
            <a:off x="8686800" y="4590288"/>
            <a:ext cx="265176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83.9%</a:t>
            </a:r>
            <a:endParaRPr lang="en-US" sz="3000" dirty="0"/>
          </a:p>
          <a:p>
            <a:pPr indent="0" marL="0">
              <a:buNone/>
            </a:pPr>
            <a:r>
              <a:rPr lang="en-US" sz="1200" dirty="0">
                <a:solidFill>
                  <a:srgbClr val="A9C9CE"/>
                </a:solidFill>
                <a:latin typeface="Calibri" pitchFamily="34" charset="0"/>
                <a:ea typeface="Calibri" pitchFamily="34" charset="-122"/>
                <a:cs typeface="Calibri" pitchFamily="34" charset="-120"/>
              </a:rPr>
              <a:t>of the base was reached (11,184 viewed).</a:t>
            </a:r>
            <a:endParaRPr lang="en-US" sz="3000" dirty="0"/>
          </a:p>
        </p:txBody>
      </p:sp>
      <p:sp>
        <p:nvSpPr>
          <p:cNvPr id="24" name="Text 21"/>
          <p:cNvSpPr/>
          <p:nvPr/>
        </p:nvSpPr>
        <p:spPr>
          <a:xfrm>
            <a:off x="8686800" y="5504688"/>
            <a:ext cx="2651760" cy="658368"/>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40.7%</a:t>
            </a:r>
            <a:endParaRPr lang="en-US" sz="2200" dirty="0"/>
          </a:p>
          <a:p>
            <a:pPr indent="0" marL="0">
              <a:buNone/>
            </a:pPr>
            <a:r>
              <a:rPr lang="en-US" sz="1200" dirty="0">
                <a:solidFill>
                  <a:srgbClr val="A9C9CE"/>
                </a:solidFill>
                <a:latin typeface="Calibri" pitchFamily="34" charset="0"/>
                <a:ea typeface="Calibri" pitchFamily="34" charset="-122"/>
                <a:cs typeface="Calibri" pitchFamily="34" charset="-120"/>
              </a:rPr>
              <a:t>of those reached clicked.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FUNNEL</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Reach is not the problem — the click is</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Bar width is proportional to customer count.</a:t>
            </a:r>
            <a:endParaRPr lang="en-US" sz="1400" dirty="0"/>
          </a:p>
        </p:txBody>
      </p:sp>
      <p:sp>
        <p:nvSpPr>
          <p:cNvPr id="5" name="Shape 3"/>
          <p:cNvSpPr/>
          <p:nvPr/>
        </p:nvSpPr>
        <p:spPr>
          <a:xfrm>
            <a:off x="822960" y="1920240"/>
            <a:ext cx="9144000" cy="960120"/>
          </a:xfrm>
          <a:prstGeom prst="roundRect">
            <a:avLst>
              <a:gd name="adj" fmla="val 7619"/>
            </a:avLst>
          </a:prstGeom>
          <a:solidFill>
            <a:srgbClr val="0C2B33"/>
          </a:solidFill>
          <a:ln w="12700">
            <a:solidFill>
              <a:srgbClr val="0C2B33"/>
            </a:solidFill>
            <a:prstDash val="solid"/>
          </a:ln>
          <a:effectLst>
            <a:outerShdw sx="100000" sy="100000" kx="0" ky="0" algn="bl" rotWithShape="0" blurRad="127000" dist="25400" dir="5400000">
              <a:srgbClr val="0C2B33">
                <a:alpha val="10000"/>
              </a:srgbClr>
            </a:outerShdw>
          </a:effectLst>
        </p:spPr>
      </p:sp>
      <p:sp>
        <p:nvSpPr>
          <p:cNvPr id="6" name="Text 4"/>
          <p:cNvSpPr/>
          <p:nvPr/>
        </p:nvSpPr>
        <p:spPr>
          <a:xfrm>
            <a:off x="1097280" y="1920240"/>
            <a:ext cx="8686800" cy="9601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13,332</a:t>
            </a:r>
            <a:pPr indent="0" marL="0">
              <a:buNone/>
            </a:pPr>
            <a:r>
              <a:rPr lang="en-US" sz="1400" dirty="0">
                <a:solidFill>
                  <a:srgbClr val="A9C9CE"/>
                </a:solidFill>
                <a:latin typeface="Calibri" pitchFamily="34" charset="0"/>
                <a:ea typeface="Calibri" pitchFamily="34" charset="-122"/>
                <a:cs typeface="Calibri" pitchFamily="34" charset="-120"/>
              </a:rPr>
              <a:t>    All customers</a:t>
            </a:r>
            <a:endParaRPr lang="en-US" sz="2400" dirty="0"/>
          </a:p>
        </p:txBody>
      </p:sp>
      <p:sp>
        <p:nvSpPr>
          <p:cNvPr id="7" name="Shape 5"/>
          <p:cNvSpPr/>
          <p:nvPr/>
        </p:nvSpPr>
        <p:spPr>
          <a:xfrm>
            <a:off x="822960" y="3154680"/>
            <a:ext cx="7671816" cy="960120"/>
          </a:xfrm>
          <a:prstGeom prst="roundRect">
            <a:avLst>
              <a:gd name="adj" fmla="val 7619"/>
            </a:avLst>
          </a:prstGeom>
          <a:solidFill>
            <a:srgbClr val="028090"/>
          </a:solidFill>
          <a:ln w="12700">
            <a:solidFill>
              <a:srgbClr val="028090"/>
            </a:solidFill>
            <a:prstDash val="solid"/>
          </a:ln>
          <a:effectLst>
            <a:outerShdw sx="100000" sy="100000" kx="0" ky="0" algn="bl" rotWithShape="0" blurRad="127000" dist="25400" dir="5400000">
              <a:srgbClr val="0C2B33">
                <a:alpha val="10000"/>
              </a:srgbClr>
            </a:outerShdw>
          </a:effectLst>
        </p:spPr>
      </p:sp>
      <p:sp>
        <p:nvSpPr>
          <p:cNvPr id="8" name="Text 6"/>
          <p:cNvSpPr/>
          <p:nvPr/>
        </p:nvSpPr>
        <p:spPr>
          <a:xfrm>
            <a:off x="1097280" y="3154680"/>
            <a:ext cx="7214616" cy="9601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11,184</a:t>
            </a:r>
            <a:pPr indent="0" marL="0">
              <a:buNone/>
            </a:pPr>
            <a:r>
              <a:rPr lang="en-US" sz="1400" dirty="0">
                <a:solidFill>
                  <a:srgbClr val="DCF2EE"/>
                </a:solidFill>
                <a:latin typeface="Calibri" pitchFamily="34" charset="0"/>
                <a:ea typeface="Calibri" pitchFamily="34" charset="-122"/>
                <a:cs typeface="Calibri" pitchFamily="34" charset="-120"/>
              </a:rPr>
              <a:t>    Viewed</a:t>
            </a:r>
            <a:endParaRPr lang="en-US" sz="2400" dirty="0"/>
          </a:p>
        </p:txBody>
      </p:sp>
      <p:sp>
        <p:nvSpPr>
          <p:cNvPr id="9" name="Text 7"/>
          <p:cNvSpPr/>
          <p:nvPr/>
        </p:nvSpPr>
        <p:spPr>
          <a:xfrm>
            <a:off x="8750808" y="3154680"/>
            <a:ext cx="2862072" cy="960120"/>
          </a:xfrm>
          <a:prstGeom prst="rect">
            <a:avLst/>
          </a:prstGeom>
          <a:noFill/>
          <a:ln/>
        </p:spPr>
        <p:txBody>
          <a:bodyPr wrap="square" lIns="0" tIns="0" rIns="0" bIns="0" rtlCol="0" anchor="ctr"/>
          <a:lstStyle/>
          <a:p>
            <a:pPr indent="0" marL="0">
              <a:lnSpc>
                <a:spcPts val="1700"/>
              </a:lnSpc>
              <a:buNone/>
            </a:pPr>
            <a:r>
              <a:rPr lang="en-US" sz="1250" dirty="0">
                <a:solidFill>
                  <a:srgbClr val="33484F"/>
                </a:solidFill>
                <a:latin typeface="Calibri" pitchFamily="34" charset="0"/>
                <a:ea typeface="Calibri" pitchFamily="34" charset="-122"/>
                <a:cs typeface="Calibri" pitchFamily="34" charset="-120"/>
              </a:rPr>
              <a:t>83.9% of the base was reached</a:t>
            </a:r>
            <a:endParaRPr lang="en-US" sz="1250" dirty="0"/>
          </a:p>
        </p:txBody>
      </p:sp>
      <p:sp>
        <p:nvSpPr>
          <p:cNvPr id="10" name="Shape 8"/>
          <p:cNvSpPr/>
          <p:nvPr/>
        </p:nvSpPr>
        <p:spPr>
          <a:xfrm>
            <a:off x="822960" y="4389120"/>
            <a:ext cx="3118104" cy="960120"/>
          </a:xfrm>
          <a:prstGeom prst="roundRect">
            <a:avLst>
              <a:gd name="adj" fmla="val 7619"/>
            </a:avLst>
          </a:prstGeom>
          <a:solidFill>
            <a:srgbClr val="02C39A"/>
          </a:solidFill>
          <a:ln w="12700">
            <a:solidFill>
              <a:srgbClr val="02C39A"/>
            </a:solidFill>
            <a:prstDash val="solid"/>
          </a:ln>
          <a:effectLst>
            <a:outerShdw sx="100000" sy="100000" kx="0" ky="0" algn="bl" rotWithShape="0" blurRad="127000" dist="25400" dir="5400000">
              <a:srgbClr val="0C2B33">
                <a:alpha val="10000"/>
              </a:srgbClr>
            </a:outerShdw>
          </a:effectLst>
        </p:spPr>
      </p:sp>
      <p:sp>
        <p:nvSpPr>
          <p:cNvPr id="11" name="Text 9"/>
          <p:cNvSpPr/>
          <p:nvPr/>
        </p:nvSpPr>
        <p:spPr>
          <a:xfrm>
            <a:off x="1097280" y="4389120"/>
            <a:ext cx="2660904" cy="9601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4,547</a:t>
            </a:r>
            <a:pPr indent="0" marL="0">
              <a:buNone/>
            </a:pPr>
            <a:r>
              <a:rPr lang="en-US" sz="1400" dirty="0">
                <a:solidFill>
                  <a:srgbClr val="DCF2EE"/>
                </a:solidFill>
                <a:latin typeface="Calibri" pitchFamily="34" charset="0"/>
                <a:ea typeface="Calibri" pitchFamily="34" charset="-122"/>
                <a:cs typeface="Calibri" pitchFamily="34" charset="-120"/>
              </a:rPr>
              <a:t>    Clicked</a:t>
            </a:r>
            <a:endParaRPr lang="en-US" sz="2400" dirty="0"/>
          </a:p>
        </p:txBody>
      </p:sp>
      <p:sp>
        <p:nvSpPr>
          <p:cNvPr id="12" name="Text 10"/>
          <p:cNvSpPr/>
          <p:nvPr/>
        </p:nvSpPr>
        <p:spPr>
          <a:xfrm>
            <a:off x="4197096" y="4389120"/>
            <a:ext cx="7415784" cy="960120"/>
          </a:xfrm>
          <a:prstGeom prst="rect">
            <a:avLst/>
          </a:prstGeom>
          <a:noFill/>
          <a:ln/>
        </p:spPr>
        <p:txBody>
          <a:bodyPr wrap="square" lIns="0" tIns="0" rIns="0" bIns="0" rtlCol="0" anchor="ctr"/>
          <a:lstStyle/>
          <a:p>
            <a:pPr indent="0" marL="0">
              <a:lnSpc>
                <a:spcPts val="1700"/>
              </a:lnSpc>
              <a:buNone/>
            </a:pPr>
            <a:r>
              <a:rPr lang="en-US" sz="1250" dirty="0">
                <a:solidFill>
                  <a:srgbClr val="33484F"/>
                </a:solidFill>
                <a:latin typeface="Calibri" pitchFamily="34" charset="0"/>
                <a:ea typeface="Calibri" pitchFamily="34" charset="-122"/>
                <a:cs typeface="Calibri" pitchFamily="34" charset="-120"/>
              </a:rPr>
              <a:t>40.7% of viewers clicked — the single biggest drop</a:t>
            </a:r>
            <a:endParaRPr lang="en-US" sz="1250" dirty="0"/>
          </a:p>
        </p:txBody>
      </p:sp>
      <p:sp>
        <p:nvSpPr>
          <p:cNvPr id="13" name="Shape 11"/>
          <p:cNvSpPr/>
          <p:nvPr/>
        </p:nvSpPr>
        <p:spPr>
          <a:xfrm>
            <a:off x="822960" y="5623560"/>
            <a:ext cx="10789920" cy="804672"/>
          </a:xfrm>
          <a:prstGeom prst="roundRect">
            <a:avLst>
              <a:gd name="adj" fmla="val 11364"/>
            </a:avLst>
          </a:prstGeom>
          <a:solidFill>
            <a:srgbClr val="EEF5F5"/>
          </a:solidFill>
          <a:ln w="12700">
            <a:solidFill>
              <a:srgbClr val="DDE9E9"/>
            </a:solidFill>
            <a:prstDash val="solid"/>
          </a:ln>
        </p:spPr>
      </p:sp>
      <p:sp>
        <p:nvSpPr>
          <p:cNvPr id="14" name="Shape 12"/>
          <p:cNvSpPr/>
          <p:nvPr/>
        </p:nvSpPr>
        <p:spPr>
          <a:xfrm>
            <a:off x="1097280" y="5907024"/>
            <a:ext cx="237744" cy="237744"/>
          </a:xfrm>
          <a:prstGeom prst="ellipse">
            <a:avLst/>
          </a:prstGeom>
          <a:solidFill>
            <a:srgbClr val="02C39A"/>
          </a:solidFill>
          <a:ln w="12700">
            <a:solidFill>
              <a:srgbClr val="02C39A"/>
            </a:solidFill>
            <a:prstDash val="solid"/>
          </a:ln>
        </p:spPr>
      </p:sp>
      <p:sp>
        <p:nvSpPr>
          <p:cNvPr id="15" name="Text 13"/>
          <p:cNvSpPr/>
          <p:nvPr/>
        </p:nvSpPr>
        <p:spPr>
          <a:xfrm>
            <a:off x="1463040" y="5623560"/>
            <a:ext cx="9966960" cy="804672"/>
          </a:xfrm>
          <a:prstGeom prst="rect">
            <a:avLst/>
          </a:prstGeom>
          <a:noFill/>
          <a:ln/>
        </p:spPr>
        <p:txBody>
          <a:bodyPr wrap="square" lIns="0" tIns="0" rIns="0" bIns="0" rtlCol="0" anchor="ctr"/>
          <a:lstStyle/>
          <a:p>
            <a:pPr indent="0" marL="0">
              <a:buNone/>
            </a:pPr>
            <a:r>
              <a:rPr lang="en-US" sz="1300" dirty="0">
                <a:solidFill>
                  <a:srgbClr val="0C2B33"/>
                </a:solidFill>
                <a:latin typeface="Calibri" pitchFamily="34" charset="0"/>
                <a:ea typeface="Calibri" pitchFamily="34" charset="-122"/>
                <a:cs typeface="Calibri" pitchFamily="34" charset="-120"/>
              </a:rPr>
              <a:t>6,637 customers saw the campaign and did nothing — 3.1x the number who never saw it at all. The opportunity is in conversion, not in wider distribution.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BY SEGMENT</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Where the volume actually sits</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Customer counts in each bucket, by segment.</a:t>
            </a:r>
            <a:endParaRPr lang="en-US" sz="1400" dirty="0"/>
          </a:p>
        </p:txBody>
      </p:sp>
      <p:graphicFrame>
        <p:nvGraphicFramePr>
          <p:cNvPr id="5" name="Chart 0" descr=""/>
          <p:cNvGraphicFramePr/>
          <p:nvPr/>
        </p:nvGraphicFramePr>
        <p:xfrm>
          <a:off x="548640" y="173736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46720" y="1783080"/>
            <a:ext cx="3566160" cy="1207008"/>
          </a:xfrm>
          <a:prstGeom prst="roundRect">
            <a:avLst>
              <a:gd name="adj" fmla="val 7576"/>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7" name="Shape 4"/>
          <p:cNvSpPr/>
          <p:nvPr/>
        </p:nvSpPr>
        <p:spPr>
          <a:xfrm>
            <a:off x="8321040" y="2029968"/>
            <a:ext cx="201168" cy="201168"/>
          </a:xfrm>
          <a:prstGeom prst="ellipse">
            <a:avLst/>
          </a:prstGeom>
          <a:solidFill>
            <a:srgbClr val="0C2B33"/>
          </a:solidFill>
          <a:ln w="12700">
            <a:solidFill>
              <a:srgbClr val="0C2B33"/>
            </a:solidFill>
            <a:prstDash val="solid"/>
          </a:ln>
        </p:spPr>
      </p:sp>
      <p:sp>
        <p:nvSpPr>
          <p:cNvPr id="8" name="Text 5"/>
          <p:cNvSpPr/>
          <p:nvPr/>
        </p:nvSpPr>
        <p:spPr>
          <a:xfrm>
            <a:off x="8631936" y="1929384"/>
            <a:ext cx="2834640" cy="402336"/>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Existing with Save Max</a:t>
            </a:r>
            <a:endParaRPr lang="en-US" sz="1250" dirty="0"/>
          </a:p>
        </p:txBody>
      </p:sp>
      <p:sp>
        <p:nvSpPr>
          <p:cNvPr id="9" name="Text 6"/>
          <p:cNvSpPr/>
          <p:nvPr/>
        </p:nvSpPr>
        <p:spPr>
          <a:xfrm>
            <a:off x="8321040" y="2331720"/>
            <a:ext cx="1463040" cy="384048"/>
          </a:xfrm>
          <a:prstGeom prst="rect">
            <a:avLst/>
          </a:prstGeom>
          <a:noFill/>
          <a:ln/>
        </p:spPr>
        <p:txBody>
          <a:bodyPr wrap="square" lIns="0" tIns="0" rIns="0" bIns="0" rtlCol="0" anchor="ctr"/>
          <a:lstStyle/>
          <a:p>
            <a:pPr indent="0" marL="0">
              <a:buNone/>
            </a:pPr>
            <a:r>
              <a:rPr lang="en-US" sz="2200" b="1" dirty="0">
                <a:solidFill>
                  <a:srgbClr val="0C2B33"/>
                </a:solidFill>
                <a:latin typeface="Cambria" pitchFamily="34" charset="0"/>
                <a:ea typeface="Cambria" pitchFamily="34" charset="-122"/>
                <a:cs typeface="Cambria" pitchFamily="34" charset="-120"/>
              </a:rPr>
              <a:t>6,765</a:t>
            </a:r>
            <a:endParaRPr lang="en-US" sz="2200" dirty="0"/>
          </a:p>
        </p:txBody>
      </p:sp>
      <p:sp>
        <p:nvSpPr>
          <p:cNvPr id="10" name="Text 7"/>
          <p:cNvSpPr/>
          <p:nvPr/>
        </p:nvSpPr>
        <p:spPr>
          <a:xfrm>
            <a:off x="8321040" y="2697480"/>
            <a:ext cx="3200400" cy="237744"/>
          </a:xfrm>
          <a:prstGeom prst="rect">
            <a:avLst/>
          </a:prstGeom>
          <a:noFill/>
          <a:ln/>
        </p:spPr>
        <p:txBody>
          <a:bodyPr wrap="square" lIns="0" tIns="0" rIns="0" bIns="0" rtlCol="0" anchor="ctr"/>
          <a:lstStyle/>
          <a:p>
            <a:pPr indent="0" marL="0">
              <a:buNone/>
            </a:pPr>
            <a:r>
              <a:rPr lang="en-US" sz="1050" dirty="0">
                <a:solidFill>
                  <a:srgbClr val="6E878E"/>
                </a:solidFill>
                <a:latin typeface="Calibri" pitchFamily="34" charset="0"/>
                <a:ea typeface="Calibri" pitchFamily="34" charset="-122"/>
                <a:cs typeface="Calibri" pitchFamily="34" charset="-120"/>
              </a:rPr>
              <a:t>50.7% of the base · 1,886 clicks</a:t>
            </a:r>
            <a:endParaRPr lang="en-US" sz="1050" dirty="0"/>
          </a:p>
        </p:txBody>
      </p:sp>
      <p:sp>
        <p:nvSpPr>
          <p:cNvPr id="11" name="Shape 8"/>
          <p:cNvSpPr/>
          <p:nvPr/>
        </p:nvSpPr>
        <p:spPr>
          <a:xfrm>
            <a:off x="8046720" y="3200400"/>
            <a:ext cx="3566160" cy="1207008"/>
          </a:xfrm>
          <a:prstGeom prst="roundRect">
            <a:avLst>
              <a:gd name="adj" fmla="val 7576"/>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2" name="Shape 9"/>
          <p:cNvSpPr/>
          <p:nvPr/>
        </p:nvSpPr>
        <p:spPr>
          <a:xfrm>
            <a:off x="8321040" y="3447288"/>
            <a:ext cx="201168" cy="201168"/>
          </a:xfrm>
          <a:prstGeom prst="ellipse">
            <a:avLst/>
          </a:prstGeom>
          <a:solidFill>
            <a:srgbClr val="0C2B33"/>
          </a:solidFill>
          <a:ln w="12700">
            <a:solidFill>
              <a:srgbClr val="0C2B33"/>
            </a:solidFill>
            <a:prstDash val="solid"/>
          </a:ln>
        </p:spPr>
      </p:sp>
      <p:sp>
        <p:nvSpPr>
          <p:cNvPr id="13" name="Text 10"/>
          <p:cNvSpPr/>
          <p:nvPr/>
        </p:nvSpPr>
        <p:spPr>
          <a:xfrm>
            <a:off x="8631936" y="3346704"/>
            <a:ext cx="2834640" cy="402336"/>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Existing</a:t>
            </a:r>
            <a:endParaRPr lang="en-US" sz="1250" dirty="0"/>
          </a:p>
        </p:txBody>
      </p:sp>
      <p:sp>
        <p:nvSpPr>
          <p:cNvPr id="14" name="Text 11"/>
          <p:cNvSpPr/>
          <p:nvPr/>
        </p:nvSpPr>
        <p:spPr>
          <a:xfrm>
            <a:off x="8321040" y="3749040"/>
            <a:ext cx="1463040" cy="384048"/>
          </a:xfrm>
          <a:prstGeom prst="rect">
            <a:avLst/>
          </a:prstGeom>
          <a:noFill/>
          <a:ln/>
        </p:spPr>
        <p:txBody>
          <a:bodyPr wrap="square" lIns="0" tIns="0" rIns="0" bIns="0" rtlCol="0" anchor="ctr"/>
          <a:lstStyle/>
          <a:p>
            <a:pPr indent="0" marL="0">
              <a:buNone/>
            </a:pPr>
            <a:r>
              <a:rPr lang="en-US" sz="2200" b="1" dirty="0">
                <a:solidFill>
                  <a:srgbClr val="0C2B33"/>
                </a:solidFill>
                <a:latin typeface="Cambria" pitchFamily="34" charset="0"/>
                <a:ea typeface="Cambria" pitchFamily="34" charset="-122"/>
                <a:cs typeface="Cambria" pitchFamily="34" charset="-120"/>
              </a:rPr>
              <a:t>5,127</a:t>
            </a:r>
            <a:endParaRPr lang="en-US" sz="2200" dirty="0"/>
          </a:p>
        </p:txBody>
      </p:sp>
      <p:sp>
        <p:nvSpPr>
          <p:cNvPr id="15" name="Text 12"/>
          <p:cNvSpPr/>
          <p:nvPr/>
        </p:nvSpPr>
        <p:spPr>
          <a:xfrm>
            <a:off x="8321040" y="4114800"/>
            <a:ext cx="3200400" cy="237744"/>
          </a:xfrm>
          <a:prstGeom prst="rect">
            <a:avLst/>
          </a:prstGeom>
          <a:noFill/>
          <a:ln/>
        </p:spPr>
        <p:txBody>
          <a:bodyPr wrap="square" lIns="0" tIns="0" rIns="0" bIns="0" rtlCol="0" anchor="ctr"/>
          <a:lstStyle/>
          <a:p>
            <a:pPr indent="0" marL="0">
              <a:buNone/>
            </a:pPr>
            <a:r>
              <a:rPr lang="en-US" sz="1050" dirty="0">
                <a:solidFill>
                  <a:srgbClr val="6E878E"/>
                </a:solidFill>
                <a:latin typeface="Calibri" pitchFamily="34" charset="0"/>
                <a:ea typeface="Calibri" pitchFamily="34" charset="-122"/>
                <a:cs typeface="Calibri" pitchFamily="34" charset="-120"/>
              </a:rPr>
              <a:t>38.5% of the base · 2,533 clicks</a:t>
            </a:r>
            <a:endParaRPr lang="en-US" sz="1050" dirty="0"/>
          </a:p>
        </p:txBody>
      </p:sp>
      <p:sp>
        <p:nvSpPr>
          <p:cNvPr id="16" name="Shape 13"/>
          <p:cNvSpPr/>
          <p:nvPr/>
        </p:nvSpPr>
        <p:spPr>
          <a:xfrm>
            <a:off x="8046720" y="4617720"/>
            <a:ext cx="3566160" cy="1207008"/>
          </a:xfrm>
          <a:prstGeom prst="roundRect">
            <a:avLst>
              <a:gd name="adj" fmla="val 7576"/>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7" name="Shape 14"/>
          <p:cNvSpPr/>
          <p:nvPr/>
        </p:nvSpPr>
        <p:spPr>
          <a:xfrm>
            <a:off x="8321040" y="4864608"/>
            <a:ext cx="201168" cy="201168"/>
          </a:xfrm>
          <a:prstGeom prst="ellipse">
            <a:avLst/>
          </a:prstGeom>
          <a:solidFill>
            <a:srgbClr val="0C2B33"/>
          </a:solidFill>
          <a:ln w="12700">
            <a:solidFill>
              <a:srgbClr val="0C2B33"/>
            </a:solidFill>
            <a:prstDash val="solid"/>
          </a:ln>
        </p:spPr>
      </p:sp>
      <p:sp>
        <p:nvSpPr>
          <p:cNvPr id="18" name="Text 15"/>
          <p:cNvSpPr/>
          <p:nvPr/>
        </p:nvSpPr>
        <p:spPr>
          <a:xfrm>
            <a:off x="8631936" y="4764024"/>
            <a:ext cx="2834640" cy="402336"/>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New</a:t>
            </a:r>
            <a:endParaRPr lang="en-US" sz="1250" dirty="0"/>
          </a:p>
        </p:txBody>
      </p:sp>
      <p:sp>
        <p:nvSpPr>
          <p:cNvPr id="19" name="Text 16"/>
          <p:cNvSpPr/>
          <p:nvPr/>
        </p:nvSpPr>
        <p:spPr>
          <a:xfrm>
            <a:off x="8321040" y="5166360"/>
            <a:ext cx="1463040" cy="384048"/>
          </a:xfrm>
          <a:prstGeom prst="rect">
            <a:avLst/>
          </a:prstGeom>
          <a:noFill/>
          <a:ln/>
        </p:spPr>
        <p:txBody>
          <a:bodyPr wrap="square" lIns="0" tIns="0" rIns="0" bIns="0" rtlCol="0" anchor="ctr"/>
          <a:lstStyle/>
          <a:p>
            <a:pPr indent="0" marL="0">
              <a:buNone/>
            </a:pPr>
            <a:r>
              <a:rPr lang="en-US" sz="2200" b="1" dirty="0">
                <a:solidFill>
                  <a:srgbClr val="0C2B33"/>
                </a:solidFill>
                <a:latin typeface="Cambria" pitchFamily="34" charset="0"/>
                <a:ea typeface="Cambria" pitchFamily="34" charset="-122"/>
                <a:cs typeface="Cambria" pitchFamily="34" charset="-120"/>
              </a:rPr>
              <a:t>1,440</a:t>
            </a:r>
            <a:endParaRPr lang="en-US" sz="2200" dirty="0"/>
          </a:p>
        </p:txBody>
      </p:sp>
      <p:sp>
        <p:nvSpPr>
          <p:cNvPr id="20" name="Text 17"/>
          <p:cNvSpPr/>
          <p:nvPr/>
        </p:nvSpPr>
        <p:spPr>
          <a:xfrm>
            <a:off x="8321040" y="5532120"/>
            <a:ext cx="3200400" cy="237744"/>
          </a:xfrm>
          <a:prstGeom prst="rect">
            <a:avLst/>
          </a:prstGeom>
          <a:noFill/>
          <a:ln/>
        </p:spPr>
        <p:txBody>
          <a:bodyPr wrap="square" lIns="0" tIns="0" rIns="0" bIns="0" rtlCol="0" anchor="ctr"/>
          <a:lstStyle/>
          <a:p>
            <a:pPr indent="0" marL="0">
              <a:buNone/>
            </a:pPr>
            <a:r>
              <a:rPr lang="en-US" sz="1050" dirty="0">
                <a:solidFill>
                  <a:srgbClr val="6E878E"/>
                </a:solidFill>
                <a:latin typeface="Calibri" pitchFamily="34" charset="0"/>
                <a:ea typeface="Calibri" pitchFamily="34" charset="-122"/>
                <a:cs typeface="Calibri" pitchFamily="34" charset="-120"/>
              </a:rPr>
              <a:t>10.8% of the base · 128 clicks</a:t>
            </a:r>
            <a:endParaRPr lang="en-US" sz="1050" dirty="0"/>
          </a:p>
        </p:txBody>
      </p:sp>
      <p:sp>
        <p:nvSpPr>
          <p:cNvPr id="21" name="Text 18"/>
          <p:cNvSpPr/>
          <p:nvPr/>
        </p:nvSpPr>
        <p:spPr>
          <a:xfrm>
            <a:off x="548640" y="6053328"/>
            <a:ext cx="11064240" cy="365760"/>
          </a:xfrm>
          <a:prstGeom prst="rect">
            <a:avLst/>
          </a:prstGeom>
          <a:noFill/>
          <a:ln/>
        </p:spPr>
        <p:txBody>
          <a:bodyPr wrap="square" lIns="0" tIns="0" rIns="0" bIns="0" rtlCol="0" anchor="ctr"/>
          <a:lstStyle/>
          <a:p>
            <a:pPr indent="0" marL="0">
              <a:buNone/>
            </a:pPr>
            <a:r>
              <a:rPr lang="en-US" sz="1200" dirty="0">
                <a:solidFill>
                  <a:srgbClr val="33484F"/>
                </a:solidFill>
                <a:latin typeface="Calibri" pitchFamily="34" charset="0"/>
                <a:ea typeface="Calibri" pitchFamily="34" charset="-122"/>
                <a:cs typeface="Calibri" pitchFamily="34" charset="-120"/>
              </a:rPr>
              <a:t>Existing customers deliver 2,533 of all 4,547 clicks (55.7%) from only 38.5% of the base. New customers contribute 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QUALITY OF EXPOSURE</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Reach and click quality pull apart</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Reach = share of segment that viewed. Click rate = share of viewers who clicked.</a:t>
            </a:r>
            <a:endParaRPr lang="en-US" sz="1400" dirty="0"/>
          </a:p>
        </p:txBody>
      </p:sp>
      <p:graphicFrame>
        <p:nvGraphicFramePr>
          <p:cNvPr id="5" name="Chart 0" descr=""/>
          <p:cNvGraphicFramePr/>
          <p:nvPr/>
        </p:nvGraphicFramePr>
        <p:xfrm>
          <a:off x="548640" y="1783080"/>
          <a:ext cx="594360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66560" y="1783080"/>
            <a:ext cx="4846320" cy="1188720"/>
          </a:xfrm>
          <a:prstGeom prst="roundRect">
            <a:avLst>
              <a:gd name="adj" fmla="val 7692"/>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7" name="Shape 4"/>
          <p:cNvSpPr/>
          <p:nvPr/>
        </p:nvSpPr>
        <p:spPr>
          <a:xfrm>
            <a:off x="7040880" y="2039112"/>
            <a:ext cx="201168" cy="201168"/>
          </a:xfrm>
          <a:prstGeom prst="ellipse">
            <a:avLst/>
          </a:prstGeom>
          <a:solidFill>
            <a:srgbClr val="0C2B33"/>
          </a:solidFill>
          <a:ln w="12700">
            <a:solidFill>
              <a:srgbClr val="0C2B33"/>
            </a:solidFill>
            <a:prstDash val="solid"/>
          </a:ln>
        </p:spPr>
      </p:sp>
      <p:sp>
        <p:nvSpPr>
          <p:cNvPr id="8" name="Text 5"/>
          <p:cNvSpPr/>
          <p:nvPr/>
        </p:nvSpPr>
        <p:spPr>
          <a:xfrm>
            <a:off x="7351776" y="1929384"/>
            <a:ext cx="4023360" cy="384048"/>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Existing with Save Max — seen, ignored</a:t>
            </a:r>
            <a:endParaRPr lang="en-US" sz="1250" dirty="0"/>
          </a:p>
        </p:txBody>
      </p:sp>
      <p:sp>
        <p:nvSpPr>
          <p:cNvPr id="9" name="Text 6"/>
          <p:cNvSpPr/>
          <p:nvPr/>
        </p:nvSpPr>
        <p:spPr>
          <a:xfrm>
            <a:off x="7040880" y="2313432"/>
            <a:ext cx="4389120" cy="566928"/>
          </a:xfrm>
          <a:prstGeom prst="rect">
            <a:avLst/>
          </a:prstGeom>
          <a:noFill/>
          <a:ln/>
        </p:spPr>
        <p:txBody>
          <a:bodyPr wrap="square" lIns="0" tIns="0" rIns="0" bIns="0" rtlCol="0" anchor="ctr"/>
          <a:lstStyle/>
          <a:p>
            <a:pPr indent="0" marL="0">
              <a:lnSpc>
                <a:spcPts val="1400"/>
              </a:lnSpc>
              <a:buNone/>
            </a:pPr>
            <a:r>
              <a:rPr lang="en-US" sz="1100" dirty="0">
                <a:solidFill>
                  <a:srgbClr val="33484F"/>
                </a:solidFill>
                <a:latin typeface="Calibri" pitchFamily="34" charset="0"/>
                <a:ea typeface="Calibri" pitchFamily="34" charset="-122"/>
                <a:cs typeface="Calibri" pitchFamily="34" charset="-120"/>
              </a:rPr>
              <a:t>87.6% reached, but only 31.8% of those viewers clicked. The weakest conversion of the three, on the largest audience.</a:t>
            </a:r>
            <a:endParaRPr lang="en-US" sz="1100" dirty="0"/>
          </a:p>
        </p:txBody>
      </p:sp>
      <p:sp>
        <p:nvSpPr>
          <p:cNvPr id="10" name="Shape 7"/>
          <p:cNvSpPr/>
          <p:nvPr/>
        </p:nvSpPr>
        <p:spPr>
          <a:xfrm>
            <a:off x="6766560" y="3154680"/>
            <a:ext cx="4846320" cy="1188720"/>
          </a:xfrm>
          <a:prstGeom prst="roundRect">
            <a:avLst>
              <a:gd name="adj" fmla="val 7692"/>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1" name="Shape 8"/>
          <p:cNvSpPr/>
          <p:nvPr/>
        </p:nvSpPr>
        <p:spPr>
          <a:xfrm>
            <a:off x="7040880" y="3410712"/>
            <a:ext cx="201168" cy="201168"/>
          </a:xfrm>
          <a:prstGeom prst="ellipse">
            <a:avLst/>
          </a:prstGeom>
          <a:solidFill>
            <a:srgbClr val="0C2B33"/>
          </a:solidFill>
          <a:ln w="12700">
            <a:solidFill>
              <a:srgbClr val="0C2B33"/>
            </a:solidFill>
            <a:prstDash val="solid"/>
          </a:ln>
        </p:spPr>
      </p:sp>
      <p:sp>
        <p:nvSpPr>
          <p:cNvPr id="12" name="Text 9"/>
          <p:cNvSpPr/>
          <p:nvPr/>
        </p:nvSpPr>
        <p:spPr>
          <a:xfrm>
            <a:off x="7351776" y="3300984"/>
            <a:ext cx="4023360" cy="384048"/>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Existing — the engine</a:t>
            </a:r>
            <a:endParaRPr lang="en-US" sz="1250" dirty="0"/>
          </a:p>
        </p:txBody>
      </p:sp>
      <p:sp>
        <p:nvSpPr>
          <p:cNvPr id="13" name="Text 10"/>
          <p:cNvSpPr/>
          <p:nvPr/>
        </p:nvSpPr>
        <p:spPr>
          <a:xfrm>
            <a:off x="7040880" y="3685032"/>
            <a:ext cx="4389120" cy="566928"/>
          </a:xfrm>
          <a:prstGeom prst="rect">
            <a:avLst/>
          </a:prstGeom>
          <a:noFill/>
          <a:ln/>
        </p:spPr>
        <p:txBody>
          <a:bodyPr wrap="square" lIns="0" tIns="0" rIns="0" bIns="0" rtlCol="0" anchor="ctr"/>
          <a:lstStyle/>
          <a:p>
            <a:pPr indent="0" marL="0">
              <a:lnSpc>
                <a:spcPts val="1400"/>
              </a:lnSpc>
              <a:buNone/>
            </a:pPr>
            <a:r>
              <a:rPr lang="en-US" sz="1100" dirty="0">
                <a:solidFill>
                  <a:srgbClr val="33484F"/>
                </a:solidFill>
                <a:latin typeface="Calibri" pitchFamily="34" charset="0"/>
                <a:ea typeface="Calibri" pitchFamily="34" charset="-122"/>
                <a:cs typeface="Calibri" pitchFamily="34" charset="-120"/>
              </a:rPr>
              <a:t>97.1% reached and a 50.9% click rate. Nearly every customer saw it and half acted on it.</a:t>
            </a:r>
            <a:endParaRPr lang="en-US" sz="1100" dirty="0"/>
          </a:p>
        </p:txBody>
      </p:sp>
      <p:sp>
        <p:nvSpPr>
          <p:cNvPr id="14" name="Shape 11"/>
          <p:cNvSpPr/>
          <p:nvPr/>
        </p:nvSpPr>
        <p:spPr>
          <a:xfrm>
            <a:off x="6766560" y="4526280"/>
            <a:ext cx="4846320" cy="1188720"/>
          </a:xfrm>
          <a:prstGeom prst="roundRect">
            <a:avLst>
              <a:gd name="adj" fmla="val 7692"/>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5" name="Shape 12"/>
          <p:cNvSpPr/>
          <p:nvPr/>
        </p:nvSpPr>
        <p:spPr>
          <a:xfrm>
            <a:off x="7040880" y="4782312"/>
            <a:ext cx="201168" cy="201168"/>
          </a:xfrm>
          <a:prstGeom prst="ellipse">
            <a:avLst/>
          </a:prstGeom>
          <a:solidFill>
            <a:srgbClr val="0C2B33"/>
          </a:solidFill>
          <a:ln w="12700">
            <a:solidFill>
              <a:srgbClr val="0C2B33"/>
            </a:solidFill>
            <a:prstDash val="solid"/>
          </a:ln>
        </p:spPr>
      </p:sp>
      <p:sp>
        <p:nvSpPr>
          <p:cNvPr id="16" name="Text 13"/>
          <p:cNvSpPr/>
          <p:nvPr/>
        </p:nvSpPr>
        <p:spPr>
          <a:xfrm>
            <a:off x="7351776" y="4672584"/>
            <a:ext cx="4023360" cy="384048"/>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New — barely reached</a:t>
            </a:r>
            <a:endParaRPr lang="en-US" sz="1250" dirty="0"/>
          </a:p>
        </p:txBody>
      </p:sp>
      <p:sp>
        <p:nvSpPr>
          <p:cNvPr id="17" name="Text 14"/>
          <p:cNvSpPr/>
          <p:nvPr/>
        </p:nvSpPr>
        <p:spPr>
          <a:xfrm>
            <a:off x="7040880" y="5056632"/>
            <a:ext cx="4389120" cy="566928"/>
          </a:xfrm>
          <a:prstGeom prst="rect">
            <a:avLst/>
          </a:prstGeom>
          <a:noFill/>
          <a:ln/>
        </p:spPr>
        <p:txBody>
          <a:bodyPr wrap="square" lIns="0" tIns="0" rIns="0" bIns="0" rtlCol="0" anchor="ctr"/>
          <a:lstStyle/>
          <a:p>
            <a:pPr indent="0" marL="0">
              <a:lnSpc>
                <a:spcPts val="1400"/>
              </a:lnSpc>
              <a:buNone/>
            </a:pPr>
            <a:r>
              <a:rPr lang="en-US" sz="1100" dirty="0">
                <a:solidFill>
                  <a:srgbClr val="33484F"/>
                </a:solidFill>
                <a:latin typeface="Calibri" pitchFamily="34" charset="0"/>
                <a:ea typeface="Calibri" pitchFamily="34" charset="-122"/>
                <a:cs typeface="Calibri" pitchFamily="34" charset="-120"/>
              </a:rPr>
              <a:t>Only 19.5% ever saw the campaign, yet 45.6% of those who did clicked. Distribution, not appeal, is the constraint.</a:t>
            </a:r>
            <a:endParaRPr lang="en-US" sz="1100" dirty="0"/>
          </a:p>
        </p:txBody>
      </p:sp>
      <p:sp>
        <p:nvSpPr>
          <p:cNvPr id="18" name="Text 15"/>
          <p:cNvSpPr/>
          <p:nvPr/>
        </p:nvSpPr>
        <p:spPr>
          <a:xfrm>
            <a:off x="548640" y="5989320"/>
            <a:ext cx="11064240" cy="310896"/>
          </a:xfrm>
          <a:prstGeom prst="rect">
            <a:avLst/>
          </a:prstGeom>
          <a:noFill/>
          <a:ln/>
        </p:spPr>
        <p:txBody>
          <a:bodyPr wrap="square" lIns="0" tIns="0" rIns="0" bIns="0" rtlCol="0" anchor="ctr"/>
          <a:lstStyle/>
          <a:p>
            <a:pPr indent="0" marL="0">
              <a:buNone/>
            </a:pPr>
            <a:r>
              <a:rPr lang="en-US" sz="1200" b="1" dirty="0">
                <a:solidFill>
                  <a:srgbClr val="6E878E"/>
                </a:solidFill>
                <a:latin typeface="Calibri" pitchFamily="34" charset="0"/>
                <a:ea typeface="Calibri" pitchFamily="34" charset="-122"/>
                <a:cs typeface="Calibri" pitchFamily="34" charset="-120"/>
              </a:rPr>
              <a:t>Overall: 83.9% reached · 40.7% click rate among those reached.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CHANNEL MIX</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Two channels, opposite profiles</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Banner carried the reach. Push notification carried the conversion.</a:t>
            </a:r>
            <a:endParaRPr lang="en-US" sz="1400" dirty="0"/>
          </a:p>
        </p:txBody>
      </p:sp>
      <p:sp>
        <p:nvSpPr>
          <p:cNvPr id="5" name="Shape 3"/>
          <p:cNvSpPr/>
          <p:nvPr/>
        </p:nvSpPr>
        <p:spPr>
          <a:xfrm>
            <a:off x="548640" y="1737360"/>
            <a:ext cx="5394960" cy="2011680"/>
          </a:xfrm>
          <a:prstGeom prst="roundRect">
            <a:avLst>
              <a:gd name="adj" fmla="val 4545"/>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6" name="Shape 4"/>
          <p:cNvSpPr/>
          <p:nvPr/>
        </p:nvSpPr>
        <p:spPr>
          <a:xfrm>
            <a:off x="841248" y="2011680"/>
            <a:ext cx="237744" cy="237744"/>
          </a:xfrm>
          <a:prstGeom prst="ellipse">
            <a:avLst/>
          </a:prstGeom>
          <a:solidFill>
            <a:srgbClr val="028090"/>
          </a:solidFill>
          <a:ln w="12700">
            <a:solidFill>
              <a:srgbClr val="028090"/>
            </a:solidFill>
            <a:prstDash val="solid"/>
          </a:ln>
        </p:spPr>
      </p:sp>
      <p:sp>
        <p:nvSpPr>
          <p:cNvPr id="7" name="Text 5"/>
          <p:cNvSpPr/>
          <p:nvPr/>
        </p:nvSpPr>
        <p:spPr>
          <a:xfrm>
            <a:off x="1170432" y="1956816"/>
            <a:ext cx="4480560" cy="347472"/>
          </a:xfrm>
          <a:prstGeom prst="rect">
            <a:avLst/>
          </a:prstGeom>
          <a:noFill/>
          <a:ln/>
        </p:spPr>
        <p:txBody>
          <a:bodyPr wrap="square" lIns="0" tIns="0" rIns="0" bIns="0" rtlCol="0" anchor="ctr"/>
          <a:lstStyle/>
          <a:p>
            <a:pPr indent="0" marL="0">
              <a:buNone/>
            </a:pPr>
            <a:r>
              <a:rPr lang="en-US" sz="1500" b="1" dirty="0">
                <a:solidFill>
                  <a:srgbClr val="0C2B33"/>
                </a:solidFill>
                <a:latin typeface="Calibri" pitchFamily="34" charset="0"/>
                <a:ea typeface="Calibri" pitchFamily="34" charset="-122"/>
                <a:cs typeface="Calibri" pitchFamily="34" charset="-120"/>
              </a:rPr>
              <a:t>Banner</a:t>
            </a:r>
            <a:endParaRPr lang="en-US" sz="1500" dirty="0"/>
          </a:p>
        </p:txBody>
      </p:sp>
      <p:sp>
        <p:nvSpPr>
          <p:cNvPr id="8" name="Text 6"/>
          <p:cNvSpPr/>
          <p:nvPr/>
        </p:nvSpPr>
        <p:spPr>
          <a:xfrm>
            <a:off x="841248" y="2395728"/>
            <a:ext cx="1645920" cy="548640"/>
          </a:xfrm>
          <a:prstGeom prst="rect">
            <a:avLst/>
          </a:prstGeom>
          <a:noFill/>
          <a:ln/>
        </p:spPr>
        <p:txBody>
          <a:bodyPr wrap="square" lIns="0" tIns="0" rIns="0" bIns="0" rtlCol="0" anchor="ctr"/>
          <a:lstStyle/>
          <a:p>
            <a:pPr indent="0" marL="0">
              <a:buNone/>
            </a:pPr>
            <a:r>
              <a:rPr lang="en-US" sz="2600" b="1" dirty="0">
                <a:solidFill>
                  <a:srgbClr val="0C2B33"/>
                </a:solidFill>
                <a:latin typeface="Cambria" pitchFamily="34" charset="0"/>
                <a:ea typeface="Cambria" pitchFamily="34" charset="-122"/>
                <a:cs typeface="Cambria" pitchFamily="34" charset="-120"/>
              </a:rPr>
              <a:t>11,183</a:t>
            </a:r>
            <a:endParaRPr lang="en-US" sz="2600" dirty="0"/>
          </a:p>
        </p:txBody>
      </p:sp>
      <p:sp>
        <p:nvSpPr>
          <p:cNvPr id="9" name="Text 7"/>
          <p:cNvSpPr/>
          <p:nvPr/>
        </p:nvSpPr>
        <p:spPr>
          <a:xfrm>
            <a:off x="84124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viewers</a:t>
            </a:r>
            <a:endParaRPr lang="en-US" sz="1100" dirty="0"/>
          </a:p>
        </p:txBody>
      </p:sp>
      <p:sp>
        <p:nvSpPr>
          <p:cNvPr id="10" name="Text 8"/>
          <p:cNvSpPr/>
          <p:nvPr/>
        </p:nvSpPr>
        <p:spPr>
          <a:xfrm>
            <a:off x="2532888" y="2395728"/>
            <a:ext cx="1645920" cy="548640"/>
          </a:xfrm>
          <a:prstGeom prst="rect">
            <a:avLst/>
          </a:prstGeom>
          <a:noFill/>
          <a:ln/>
        </p:spPr>
        <p:txBody>
          <a:bodyPr wrap="square" lIns="0" tIns="0" rIns="0" bIns="0" rtlCol="0" anchor="ctr"/>
          <a:lstStyle/>
          <a:p>
            <a:pPr indent="0" marL="0">
              <a:buNone/>
            </a:pPr>
            <a:r>
              <a:rPr lang="en-US" sz="2600" b="1" dirty="0">
                <a:solidFill>
                  <a:srgbClr val="0C2B33"/>
                </a:solidFill>
                <a:latin typeface="Cambria" pitchFamily="34" charset="0"/>
                <a:ea typeface="Cambria" pitchFamily="34" charset="-122"/>
                <a:cs typeface="Cambria" pitchFamily="34" charset="-120"/>
              </a:rPr>
              <a:t>4,490</a:t>
            </a:r>
            <a:endParaRPr lang="en-US" sz="2600" dirty="0"/>
          </a:p>
        </p:txBody>
      </p:sp>
      <p:sp>
        <p:nvSpPr>
          <p:cNvPr id="11" name="Text 9"/>
          <p:cNvSpPr/>
          <p:nvPr/>
        </p:nvSpPr>
        <p:spPr>
          <a:xfrm>
            <a:off x="253288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clicks</a:t>
            </a:r>
            <a:endParaRPr lang="en-US" sz="1100" dirty="0"/>
          </a:p>
        </p:txBody>
      </p:sp>
      <p:sp>
        <p:nvSpPr>
          <p:cNvPr id="12" name="Text 10"/>
          <p:cNvSpPr/>
          <p:nvPr/>
        </p:nvSpPr>
        <p:spPr>
          <a:xfrm>
            <a:off x="4224528" y="2395728"/>
            <a:ext cx="1645920" cy="548640"/>
          </a:xfrm>
          <a:prstGeom prst="rect">
            <a:avLst/>
          </a:prstGeom>
          <a:noFill/>
          <a:ln/>
        </p:spPr>
        <p:txBody>
          <a:bodyPr wrap="square" lIns="0" tIns="0" rIns="0" bIns="0" rtlCol="0" anchor="ctr"/>
          <a:lstStyle/>
          <a:p>
            <a:pPr indent="0" marL="0">
              <a:buNone/>
            </a:pPr>
            <a:r>
              <a:rPr lang="en-US" sz="2600" b="1" dirty="0">
                <a:solidFill>
                  <a:srgbClr val="028090"/>
                </a:solidFill>
                <a:latin typeface="Cambria" pitchFamily="34" charset="0"/>
                <a:ea typeface="Cambria" pitchFamily="34" charset="-122"/>
                <a:cs typeface="Cambria" pitchFamily="34" charset="-120"/>
              </a:rPr>
              <a:t>40.2%</a:t>
            </a:r>
            <a:endParaRPr lang="en-US" sz="2600" dirty="0"/>
          </a:p>
        </p:txBody>
      </p:sp>
      <p:sp>
        <p:nvSpPr>
          <p:cNvPr id="13" name="Text 11"/>
          <p:cNvSpPr/>
          <p:nvPr/>
        </p:nvSpPr>
        <p:spPr>
          <a:xfrm>
            <a:off x="422452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click rate</a:t>
            </a:r>
            <a:endParaRPr lang="en-US" sz="1100" dirty="0"/>
          </a:p>
        </p:txBody>
      </p:sp>
      <p:sp>
        <p:nvSpPr>
          <p:cNvPr id="14" name="Text 12"/>
          <p:cNvSpPr/>
          <p:nvPr/>
        </p:nvSpPr>
        <p:spPr>
          <a:xfrm>
            <a:off x="841248" y="3255264"/>
            <a:ext cx="4809744" cy="40233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Reached 83.9% of the base and delivered 98.7% of every click.</a:t>
            </a:r>
            <a:endParaRPr lang="en-US" sz="1150" dirty="0"/>
          </a:p>
        </p:txBody>
      </p:sp>
      <p:sp>
        <p:nvSpPr>
          <p:cNvPr id="15" name="Shape 13"/>
          <p:cNvSpPr/>
          <p:nvPr/>
        </p:nvSpPr>
        <p:spPr>
          <a:xfrm>
            <a:off x="6217920" y="1737360"/>
            <a:ext cx="5394960" cy="2011680"/>
          </a:xfrm>
          <a:prstGeom prst="roundRect">
            <a:avLst>
              <a:gd name="adj" fmla="val 4545"/>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6" name="Shape 14"/>
          <p:cNvSpPr/>
          <p:nvPr/>
        </p:nvSpPr>
        <p:spPr>
          <a:xfrm>
            <a:off x="6510528" y="2011680"/>
            <a:ext cx="237744" cy="237744"/>
          </a:xfrm>
          <a:prstGeom prst="ellipse">
            <a:avLst/>
          </a:prstGeom>
          <a:solidFill>
            <a:srgbClr val="02C39A"/>
          </a:solidFill>
          <a:ln w="12700">
            <a:solidFill>
              <a:srgbClr val="02C39A"/>
            </a:solidFill>
            <a:prstDash val="solid"/>
          </a:ln>
        </p:spPr>
      </p:sp>
      <p:sp>
        <p:nvSpPr>
          <p:cNvPr id="17" name="Text 15"/>
          <p:cNvSpPr/>
          <p:nvPr/>
        </p:nvSpPr>
        <p:spPr>
          <a:xfrm>
            <a:off x="6839712" y="1956816"/>
            <a:ext cx="4480560" cy="347472"/>
          </a:xfrm>
          <a:prstGeom prst="rect">
            <a:avLst/>
          </a:prstGeom>
          <a:noFill/>
          <a:ln/>
        </p:spPr>
        <p:txBody>
          <a:bodyPr wrap="square" lIns="0" tIns="0" rIns="0" bIns="0" rtlCol="0" anchor="ctr"/>
          <a:lstStyle/>
          <a:p>
            <a:pPr indent="0" marL="0">
              <a:buNone/>
            </a:pPr>
            <a:r>
              <a:rPr lang="en-US" sz="1500" b="1" dirty="0">
                <a:solidFill>
                  <a:srgbClr val="0C2B33"/>
                </a:solidFill>
                <a:latin typeface="Calibri" pitchFamily="34" charset="0"/>
                <a:ea typeface="Calibri" pitchFamily="34" charset="-122"/>
                <a:cs typeface="Calibri" pitchFamily="34" charset="-120"/>
              </a:rPr>
              <a:t>Push notification</a:t>
            </a:r>
            <a:endParaRPr lang="en-US" sz="1500" dirty="0"/>
          </a:p>
        </p:txBody>
      </p:sp>
      <p:sp>
        <p:nvSpPr>
          <p:cNvPr id="18" name="Text 16"/>
          <p:cNvSpPr/>
          <p:nvPr/>
        </p:nvSpPr>
        <p:spPr>
          <a:xfrm>
            <a:off x="6510528" y="2395728"/>
            <a:ext cx="1645920" cy="548640"/>
          </a:xfrm>
          <a:prstGeom prst="rect">
            <a:avLst/>
          </a:prstGeom>
          <a:noFill/>
          <a:ln/>
        </p:spPr>
        <p:txBody>
          <a:bodyPr wrap="square" lIns="0" tIns="0" rIns="0" bIns="0" rtlCol="0" anchor="ctr"/>
          <a:lstStyle/>
          <a:p>
            <a:pPr indent="0" marL="0">
              <a:buNone/>
            </a:pPr>
            <a:r>
              <a:rPr lang="en-US" sz="2600" b="1" dirty="0">
                <a:solidFill>
                  <a:srgbClr val="0C2B33"/>
                </a:solidFill>
                <a:latin typeface="Cambria" pitchFamily="34" charset="0"/>
                <a:ea typeface="Cambria" pitchFamily="34" charset="-122"/>
                <a:cs typeface="Cambria" pitchFamily="34" charset="-120"/>
              </a:rPr>
              <a:t>78</a:t>
            </a:r>
            <a:endParaRPr lang="en-US" sz="2600" dirty="0"/>
          </a:p>
        </p:txBody>
      </p:sp>
      <p:sp>
        <p:nvSpPr>
          <p:cNvPr id="19" name="Text 17"/>
          <p:cNvSpPr/>
          <p:nvPr/>
        </p:nvSpPr>
        <p:spPr>
          <a:xfrm>
            <a:off x="651052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viewers</a:t>
            </a:r>
            <a:endParaRPr lang="en-US" sz="1100" dirty="0"/>
          </a:p>
        </p:txBody>
      </p:sp>
      <p:sp>
        <p:nvSpPr>
          <p:cNvPr id="20" name="Text 18"/>
          <p:cNvSpPr/>
          <p:nvPr/>
        </p:nvSpPr>
        <p:spPr>
          <a:xfrm>
            <a:off x="8202168" y="2395728"/>
            <a:ext cx="1645920" cy="548640"/>
          </a:xfrm>
          <a:prstGeom prst="rect">
            <a:avLst/>
          </a:prstGeom>
          <a:noFill/>
          <a:ln/>
        </p:spPr>
        <p:txBody>
          <a:bodyPr wrap="square" lIns="0" tIns="0" rIns="0" bIns="0" rtlCol="0" anchor="ctr"/>
          <a:lstStyle/>
          <a:p>
            <a:pPr indent="0" marL="0">
              <a:buNone/>
            </a:pPr>
            <a:r>
              <a:rPr lang="en-US" sz="2600" b="1" dirty="0">
                <a:solidFill>
                  <a:srgbClr val="0C2B33"/>
                </a:solidFill>
                <a:latin typeface="Cambria" pitchFamily="34" charset="0"/>
                <a:ea typeface="Cambria" pitchFamily="34" charset="-122"/>
                <a:cs typeface="Cambria" pitchFamily="34" charset="-120"/>
              </a:rPr>
              <a:t>68</a:t>
            </a:r>
            <a:endParaRPr lang="en-US" sz="2600" dirty="0"/>
          </a:p>
        </p:txBody>
      </p:sp>
      <p:sp>
        <p:nvSpPr>
          <p:cNvPr id="21" name="Text 19"/>
          <p:cNvSpPr/>
          <p:nvPr/>
        </p:nvSpPr>
        <p:spPr>
          <a:xfrm>
            <a:off x="820216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clicks</a:t>
            </a:r>
            <a:endParaRPr lang="en-US" sz="1100" dirty="0"/>
          </a:p>
        </p:txBody>
      </p:sp>
      <p:sp>
        <p:nvSpPr>
          <p:cNvPr id="22" name="Text 20"/>
          <p:cNvSpPr/>
          <p:nvPr/>
        </p:nvSpPr>
        <p:spPr>
          <a:xfrm>
            <a:off x="9893808" y="2395728"/>
            <a:ext cx="1645920" cy="54864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87.2%</a:t>
            </a:r>
            <a:endParaRPr lang="en-US" sz="2600" dirty="0"/>
          </a:p>
        </p:txBody>
      </p:sp>
      <p:sp>
        <p:nvSpPr>
          <p:cNvPr id="23" name="Text 21"/>
          <p:cNvSpPr/>
          <p:nvPr/>
        </p:nvSpPr>
        <p:spPr>
          <a:xfrm>
            <a:off x="9893808" y="2926080"/>
            <a:ext cx="1645920" cy="256032"/>
          </a:xfrm>
          <a:prstGeom prst="rect">
            <a:avLst/>
          </a:prstGeom>
          <a:noFill/>
          <a:ln/>
        </p:spPr>
        <p:txBody>
          <a:bodyPr wrap="square" lIns="0" tIns="0" rIns="0" bIns="0" rtlCol="0" anchor="ctr"/>
          <a:lstStyle/>
          <a:p>
            <a:pPr indent="0" marL="0">
              <a:buNone/>
            </a:pPr>
            <a:r>
              <a:rPr lang="en-US" sz="1100" dirty="0">
                <a:solidFill>
                  <a:srgbClr val="6E878E"/>
                </a:solidFill>
                <a:latin typeface="Calibri" pitchFamily="34" charset="0"/>
                <a:ea typeface="Calibri" pitchFamily="34" charset="-122"/>
                <a:cs typeface="Calibri" pitchFamily="34" charset="-120"/>
              </a:rPr>
              <a:t>click rate</a:t>
            </a:r>
            <a:endParaRPr lang="en-US" sz="1100" dirty="0"/>
          </a:p>
        </p:txBody>
      </p:sp>
      <p:sp>
        <p:nvSpPr>
          <p:cNvPr id="24" name="Text 22"/>
          <p:cNvSpPr/>
          <p:nvPr/>
        </p:nvSpPr>
        <p:spPr>
          <a:xfrm>
            <a:off x="6510528" y="3255264"/>
            <a:ext cx="4809744" cy="40233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Reached 0.6% of the base — but almost everyone who got it clicked.</a:t>
            </a:r>
            <a:endParaRPr lang="en-US" sz="1150" dirty="0"/>
          </a:p>
        </p:txBody>
      </p:sp>
      <p:graphicFrame>
        <p:nvGraphicFramePr>
          <p:cNvPr id="25" name="Chart 0" descr=""/>
          <p:cNvGraphicFramePr/>
          <p:nvPr/>
        </p:nvGraphicFramePr>
        <p:xfrm>
          <a:off x="548640" y="3931920"/>
          <a:ext cx="5394960" cy="210312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6217920" y="3931920"/>
            <a:ext cx="5394960" cy="2103120"/>
          </a:xfrm>
          <a:prstGeom prst="roundRect">
            <a:avLst>
              <a:gd name="adj" fmla="val 4348"/>
            </a:avLst>
          </a:prstGeom>
          <a:solidFill>
            <a:srgbClr val="0C2B33"/>
          </a:solidFill>
          <a:ln w="12700">
            <a:solidFill>
              <a:srgbClr val="0C2B33"/>
            </a:solidFill>
            <a:prstDash val="solid"/>
          </a:ln>
          <a:effectLst>
            <a:outerShdw sx="100000" sy="100000" kx="0" ky="0" algn="bl" rotWithShape="0" blurRad="127000" dist="25400" dir="5400000">
              <a:srgbClr val="0C2B33">
                <a:alpha val="10000"/>
              </a:srgbClr>
            </a:outerShdw>
          </a:effectLst>
        </p:spPr>
      </p:sp>
      <p:sp>
        <p:nvSpPr>
          <p:cNvPr id="27" name="Text 24"/>
          <p:cNvSpPr/>
          <p:nvPr/>
        </p:nvSpPr>
        <p:spPr>
          <a:xfrm>
            <a:off x="6537960" y="4169664"/>
            <a:ext cx="4754880" cy="292608"/>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Scale is the gap, not quality</a:t>
            </a:r>
            <a:endParaRPr lang="en-US" sz="1300" dirty="0"/>
          </a:p>
        </p:txBody>
      </p:sp>
      <p:sp>
        <p:nvSpPr>
          <p:cNvPr id="28" name="Text 25"/>
          <p:cNvSpPr/>
          <p:nvPr/>
        </p:nvSpPr>
        <p:spPr>
          <a:xfrm>
            <a:off x="6537960" y="4517136"/>
            <a:ext cx="4754880" cy="1005840"/>
          </a:xfrm>
          <a:prstGeom prst="rect">
            <a:avLst/>
          </a:prstGeom>
          <a:noFill/>
          <a:ln/>
        </p:spPr>
        <p:txBody>
          <a:bodyPr wrap="square" lIns="0" tIns="0" rIns="0" bIns="0" rtlCol="0" anchor="ctr"/>
          <a:lstStyle/>
          <a:p>
            <a:pPr indent="0" marL="0">
              <a:lnSpc>
                <a:spcPts val="1700"/>
              </a:lnSpc>
              <a:buNone/>
            </a:pPr>
            <a:r>
              <a:rPr lang="en-US" sz="3200" b="1" dirty="0">
                <a:solidFill>
                  <a:srgbClr val="FFFFFF"/>
                </a:solidFill>
                <a:latin typeface="Cambria" pitchFamily="34" charset="0"/>
                <a:ea typeface="Cambria" pitchFamily="34" charset="-122"/>
                <a:cs typeface="Cambria" pitchFamily="34" charset="-120"/>
              </a:rPr>
              <a:t>143 : 1</a:t>
            </a:r>
            <a:endParaRPr lang="en-US" sz="3200" dirty="0"/>
          </a:p>
          <a:p>
            <a:pPr indent="0" marL="0">
              <a:lnSpc>
                <a:spcPts val="1700"/>
              </a:lnSpc>
              <a:buNone/>
            </a:pPr>
            <a:r>
              <a:rPr lang="en-US" sz="1250" dirty="0">
                <a:solidFill>
                  <a:srgbClr val="A9C9CE"/>
                </a:solidFill>
                <a:latin typeface="Calibri" pitchFamily="34" charset="0"/>
                <a:ea typeface="Calibri" pitchFamily="34" charset="-122"/>
                <a:cs typeface="Calibri" pitchFamily="34" charset="-120"/>
              </a:rPr>
              <a:t>banner viewers for every push recipient — while push converts at 2.2x the banner's rate.</a:t>
            </a:r>
            <a:endParaRPr lang="en-US" sz="3200" dirty="0"/>
          </a:p>
        </p:txBody>
      </p:sp>
      <p:sp>
        <p:nvSpPr>
          <p:cNvPr id="29" name="Text 26"/>
          <p:cNvSpPr/>
          <p:nvPr/>
        </p:nvSpPr>
        <p:spPr>
          <a:xfrm>
            <a:off x="6537960" y="5541264"/>
            <a:ext cx="4754880" cy="274320"/>
          </a:xfrm>
          <a:prstGeom prst="rect">
            <a:avLst/>
          </a:prstGeom>
          <a:noFill/>
          <a:ln/>
        </p:spPr>
        <p:txBody>
          <a:bodyPr wrap="square" lIns="0" tIns="0" rIns="0" bIns="0" rtlCol="0" anchor="ctr"/>
          <a:lstStyle/>
          <a:p>
            <a:pPr indent="0" marL="0">
              <a:buNone/>
            </a:pPr>
            <a:r>
              <a:rPr lang="en-US" sz="1150" i="1" dirty="0">
                <a:solidFill>
                  <a:srgbClr val="8FB4BA"/>
                </a:solidFill>
                <a:latin typeface="Calibri" pitchFamily="34" charset="0"/>
                <a:ea typeface="Calibri" pitchFamily="34" charset="-122"/>
                <a:cs typeface="Calibri" pitchFamily="34" charset="-120"/>
              </a:rPr>
              <a:t>The overall 40.7% click rate is, in practice, the banner's number.</a:t>
            </a:r>
            <a:endParaRPr lang="en-US" sz="1150" dirty="0"/>
          </a:p>
        </p:txBody>
      </p:sp>
      <p:sp>
        <p:nvSpPr>
          <p:cNvPr id="30" name="Text 27"/>
          <p:cNvSpPr/>
          <p:nvPr/>
        </p:nvSpPr>
        <p:spPr>
          <a:xfrm>
            <a:off x="548640" y="6144768"/>
            <a:ext cx="11064240" cy="310896"/>
          </a:xfrm>
          <a:prstGeom prst="rect">
            <a:avLst/>
          </a:prstGeom>
          <a:noFill/>
          <a:ln/>
        </p:spPr>
        <p:txBody>
          <a:bodyPr wrap="square" lIns="0" tIns="0" rIns="0" bIns="0" rtlCol="0" anchor="ctr"/>
          <a:lstStyle/>
          <a:p>
            <a:pPr indent="0" marL="0">
              <a:buNone/>
            </a:pPr>
            <a:r>
              <a:rPr lang="en-US" sz="1050" dirty="0">
                <a:solidFill>
                  <a:srgbClr val="6E878E"/>
                </a:solidFill>
                <a:latin typeface="Calibri" pitchFamily="34" charset="0"/>
                <a:ea typeface="Calibri" pitchFamily="34" charset="-122"/>
                <a:cs typeface="Calibri" pitchFamily="34" charset="-120"/>
              </a:rPr>
              <a:t>77 customers saw both channels and 11 clicked both, so channel figures sum to more than the 11,184 total viewers and 4,547 total clicks.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PUSH IN DETAIL</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Push rescued the clicks the banner lost</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Push went only to Existing with Save Max — 78 of that segment's 6,765 customers.</a:t>
            </a:r>
            <a:endParaRPr lang="en-US" sz="1400" dirty="0"/>
          </a:p>
        </p:txBody>
      </p:sp>
      <p:sp>
        <p:nvSpPr>
          <p:cNvPr id="5" name="Shape 3"/>
          <p:cNvSpPr/>
          <p:nvPr/>
        </p:nvSpPr>
        <p:spPr>
          <a:xfrm>
            <a:off x="548640" y="1783080"/>
            <a:ext cx="2423160" cy="1051560"/>
          </a:xfrm>
          <a:prstGeom prst="roundRect">
            <a:avLst>
              <a:gd name="adj" fmla="val 7826"/>
            </a:avLst>
          </a:prstGeom>
          <a:solidFill>
            <a:srgbClr val="0C2B33"/>
          </a:solidFill>
          <a:ln w="12700">
            <a:solidFill>
              <a:srgbClr val="0C2B33"/>
            </a:solidFill>
            <a:prstDash val="solid"/>
          </a:ln>
        </p:spPr>
      </p:sp>
      <p:sp>
        <p:nvSpPr>
          <p:cNvPr id="6" name="Text 4"/>
          <p:cNvSpPr/>
          <p:nvPr/>
        </p:nvSpPr>
        <p:spPr>
          <a:xfrm>
            <a:off x="731520" y="1883664"/>
            <a:ext cx="2057400" cy="47548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6,765</a:t>
            </a:r>
            <a:endParaRPr lang="en-US" sz="2500" dirty="0"/>
          </a:p>
        </p:txBody>
      </p:sp>
      <p:sp>
        <p:nvSpPr>
          <p:cNvPr id="7" name="Text 5"/>
          <p:cNvSpPr/>
          <p:nvPr/>
        </p:nvSpPr>
        <p:spPr>
          <a:xfrm>
            <a:off x="731520" y="2340864"/>
            <a:ext cx="2057400" cy="292608"/>
          </a:xfrm>
          <a:prstGeom prst="rect">
            <a:avLst/>
          </a:prstGeom>
          <a:noFill/>
          <a:ln/>
        </p:spPr>
        <p:txBody>
          <a:bodyPr wrap="square" lIns="0" tIns="0" rIns="0" bIns="0" rtlCol="0" anchor="ctr"/>
          <a:lstStyle/>
          <a:p>
            <a:pPr indent="0" marL="0">
              <a:buNone/>
            </a:pPr>
            <a:r>
              <a:rPr lang="en-US" sz="1150" dirty="0">
                <a:solidFill>
                  <a:srgbClr val="A9C9CE"/>
                </a:solidFill>
                <a:latin typeface="Calibri" pitchFamily="34" charset="0"/>
                <a:ea typeface="Calibri" pitchFamily="34" charset="-122"/>
                <a:cs typeface="Calibri" pitchFamily="34" charset="-120"/>
              </a:rPr>
              <a:t>Save Max base</a:t>
            </a:r>
            <a:endParaRPr lang="en-US" sz="1150" dirty="0"/>
          </a:p>
        </p:txBody>
      </p:sp>
      <p:sp>
        <p:nvSpPr>
          <p:cNvPr id="8" name="Text 6"/>
          <p:cNvSpPr/>
          <p:nvPr/>
        </p:nvSpPr>
        <p:spPr>
          <a:xfrm>
            <a:off x="2971800" y="1783080"/>
            <a:ext cx="457200" cy="1051560"/>
          </a:xfrm>
          <a:prstGeom prst="rect">
            <a:avLst/>
          </a:prstGeom>
          <a:noFill/>
          <a:ln/>
        </p:spPr>
        <p:txBody>
          <a:bodyPr wrap="square" lIns="0" tIns="0" rIns="0" bIns="0" rtlCol="0" anchor="ctr"/>
          <a:lstStyle/>
          <a:p>
            <a:pPr algn="ctr" indent="0" marL="0">
              <a:buNone/>
            </a:pPr>
            <a:r>
              <a:rPr lang="en-US" sz="2000" b="1" dirty="0">
                <a:solidFill>
                  <a:srgbClr val="7E9AA1"/>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29000" y="1783080"/>
            <a:ext cx="2423160" cy="1051560"/>
          </a:xfrm>
          <a:prstGeom prst="roundRect">
            <a:avLst>
              <a:gd name="adj" fmla="val 7826"/>
            </a:avLst>
          </a:prstGeom>
          <a:solidFill>
            <a:srgbClr val="028090"/>
          </a:solidFill>
          <a:ln w="12700">
            <a:solidFill>
              <a:srgbClr val="028090"/>
            </a:solidFill>
            <a:prstDash val="solid"/>
          </a:ln>
        </p:spPr>
      </p:sp>
      <p:sp>
        <p:nvSpPr>
          <p:cNvPr id="10" name="Text 8"/>
          <p:cNvSpPr/>
          <p:nvPr/>
        </p:nvSpPr>
        <p:spPr>
          <a:xfrm>
            <a:off x="3611880" y="1883664"/>
            <a:ext cx="2057400" cy="47548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5,925</a:t>
            </a:r>
            <a:endParaRPr lang="en-US" sz="2500" dirty="0"/>
          </a:p>
        </p:txBody>
      </p:sp>
      <p:sp>
        <p:nvSpPr>
          <p:cNvPr id="11" name="Text 9"/>
          <p:cNvSpPr/>
          <p:nvPr/>
        </p:nvSpPr>
        <p:spPr>
          <a:xfrm>
            <a:off x="3611880" y="2340864"/>
            <a:ext cx="2057400" cy="292608"/>
          </a:xfrm>
          <a:prstGeom prst="rect">
            <a:avLst/>
          </a:prstGeom>
          <a:noFill/>
          <a:ln/>
        </p:spPr>
        <p:txBody>
          <a:bodyPr wrap="square" lIns="0" tIns="0" rIns="0" bIns="0" rtlCol="0" anchor="ctr"/>
          <a:lstStyle/>
          <a:p>
            <a:pPr indent="0" marL="0">
              <a:buNone/>
            </a:pPr>
            <a:r>
              <a:rPr lang="en-US" sz="1150" dirty="0">
                <a:solidFill>
                  <a:srgbClr val="A9C9CE"/>
                </a:solidFill>
                <a:latin typeface="Calibri" pitchFamily="34" charset="0"/>
                <a:ea typeface="Calibri" pitchFamily="34" charset="-122"/>
                <a:cs typeface="Calibri" pitchFamily="34" charset="-120"/>
              </a:rPr>
              <a:t>saw the banner</a:t>
            </a:r>
            <a:endParaRPr lang="en-US" sz="1150" dirty="0"/>
          </a:p>
        </p:txBody>
      </p:sp>
      <p:sp>
        <p:nvSpPr>
          <p:cNvPr id="12" name="Text 10"/>
          <p:cNvSpPr/>
          <p:nvPr/>
        </p:nvSpPr>
        <p:spPr>
          <a:xfrm>
            <a:off x="5852160" y="1783080"/>
            <a:ext cx="457200" cy="1051560"/>
          </a:xfrm>
          <a:prstGeom prst="rect">
            <a:avLst/>
          </a:prstGeom>
          <a:noFill/>
          <a:ln/>
        </p:spPr>
        <p:txBody>
          <a:bodyPr wrap="square" lIns="0" tIns="0" rIns="0" bIns="0" rtlCol="0" anchor="ctr"/>
          <a:lstStyle/>
          <a:p>
            <a:pPr algn="ctr" indent="0" marL="0">
              <a:buNone/>
            </a:pPr>
            <a:r>
              <a:rPr lang="en-US" sz="2000" b="1" dirty="0">
                <a:solidFill>
                  <a:srgbClr val="7E9AA1"/>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309360" y="1783080"/>
            <a:ext cx="2423160" cy="1051560"/>
          </a:xfrm>
          <a:prstGeom prst="roundRect">
            <a:avLst>
              <a:gd name="adj" fmla="val 7826"/>
            </a:avLst>
          </a:prstGeom>
          <a:solidFill>
            <a:srgbClr val="00A896"/>
          </a:solidFill>
          <a:ln w="12700">
            <a:solidFill>
              <a:srgbClr val="00A896"/>
            </a:solidFill>
            <a:prstDash val="solid"/>
          </a:ln>
        </p:spPr>
      </p:sp>
      <p:sp>
        <p:nvSpPr>
          <p:cNvPr id="14" name="Text 12"/>
          <p:cNvSpPr/>
          <p:nvPr/>
        </p:nvSpPr>
        <p:spPr>
          <a:xfrm>
            <a:off x="6492240" y="1883664"/>
            <a:ext cx="2057400" cy="475488"/>
          </a:xfrm>
          <a:prstGeom prst="rect">
            <a:avLst/>
          </a:prstGeom>
          <a:noFill/>
          <a:ln/>
        </p:spPr>
        <p:txBody>
          <a:bodyPr wrap="square" lIns="0" tIns="0" rIns="0" bIns="0" rtlCol="0" anchor="ctr"/>
          <a:lstStyle/>
          <a:p>
            <a:pPr indent="0" marL="0">
              <a:buNone/>
            </a:pPr>
            <a:r>
              <a:rPr lang="en-US" sz="2500" b="1" dirty="0">
                <a:solidFill>
                  <a:srgbClr val="0C2B33"/>
                </a:solidFill>
                <a:latin typeface="Cambria" pitchFamily="34" charset="0"/>
                <a:ea typeface="Cambria" pitchFamily="34" charset="-122"/>
                <a:cs typeface="Cambria" pitchFamily="34" charset="-120"/>
              </a:rPr>
              <a:t>78</a:t>
            </a:r>
            <a:endParaRPr lang="en-US" sz="2500" dirty="0"/>
          </a:p>
        </p:txBody>
      </p:sp>
      <p:sp>
        <p:nvSpPr>
          <p:cNvPr id="15" name="Text 13"/>
          <p:cNvSpPr/>
          <p:nvPr/>
        </p:nvSpPr>
        <p:spPr>
          <a:xfrm>
            <a:off x="6492240" y="2340864"/>
            <a:ext cx="2057400" cy="292608"/>
          </a:xfrm>
          <a:prstGeom prst="rect">
            <a:avLst/>
          </a:prstGeom>
          <a:noFill/>
          <a:ln/>
        </p:spPr>
        <p:txBody>
          <a:bodyPr wrap="square" lIns="0" tIns="0" rIns="0" bIns="0" rtlCol="0" anchor="ctr"/>
          <a:lstStyle/>
          <a:p>
            <a:pPr indent="0" marL="0">
              <a:buNone/>
            </a:pPr>
            <a:r>
              <a:rPr lang="en-US" sz="1150" dirty="0">
                <a:solidFill>
                  <a:srgbClr val="0A3B42"/>
                </a:solidFill>
                <a:latin typeface="Calibri" pitchFamily="34" charset="0"/>
                <a:ea typeface="Calibri" pitchFamily="34" charset="-122"/>
                <a:cs typeface="Calibri" pitchFamily="34" charset="-120"/>
              </a:rPr>
              <a:t>also got push</a:t>
            </a:r>
            <a:endParaRPr lang="en-US" sz="1150" dirty="0"/>
          </a:p>
        </p:txBody>
      </p:sp>
      <p:sp>
        <p:nvSpPr>
          <p:cNvPr id="16" name="Text 14"/>
          <p:cNvSpPr/>
          <p:nvPr/>
        </p:nvSpPr>
        <p:spPr>
          <a:xfrm>
            <a:off x="8732520" y="1783080"/>
            <a:ext cx="457200" cy="1051560"/>
          </a:xfrm>
          <a:prstGeom prst="rect">
            <a:avLst/>
          </a:prstGeom>
          <a:noFill/>
          <a:ln/>
        </p:spPr>
        <p:txBody>
          <a:bodyPr wrap="square" lIns="0" tIns="0" rIns="0" bIns="0" rtlCol="0" anchor="ctr"/>
          <a:lstStyle/>
          <a:p>
            <a:pPr algn="ctr" indent="0" marL="0">
              <a:buNone/>
            </a:pPr>
            <a:r>
              <a:rPr lang="en-US" sz="2000" b="1" dirty="0">
                <a:solidFill>
                  <a:srgbClr val="7E9AA1"/>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9189720" y="1783080"/>
            <a:ext cx="2423160" cy="1051560"/>
          </a:xfrm>
          <a:prstGeom prst="roundRect">
            <a:avLst>
              <a:gd name="adj" fmla="val 7826"/>
            </a:avLst>
          </a:prstGeom>
          <a:solidFill>
            <a:srgbClr val="02C39A"/>
          </a:solidFill>
          <a:ln w="12700">
            <a:solidFill>
              <a:srgbClr val="02C39A"/>
            </a:solidFill>
            <a:prstDash val="solid"/>
          </a:ln>
        </p:spPr>
      </p:sp>
      <p:sp>
        <p:nvSpPr>
          <p:cNvPr id="18" name="Text 16"/>
          <p:cNvSpPr/>
          <p:nvPr/>
        </p:nvSpPr>
        <p:spPr>
          <a:xfrm>
            <a:off x="9372600" y="1883664"/>
            <a:ext cx="2057400" cy="475488"/>
          </a:xfrm>
          <a:prstGeom prst="rect">
            <a:avLst/>
          </a:prstGeom>
          <a:noFill/>
          <a:ln/>
        </p:spPr>
        <p:txBody>
          <a:bodyPr wrap="square" lIns="0" tIns="0" rIns="0" bIns="0" rtlCol="0" anchor="ctr"/>
          <a:lstStyle/>
          <a:p>
            <a:pPr indent="0" marL="0">
              <a:buNone/>
            </a:pPr>
            <a:r>
              <a:rPr lang="en-US" sz="2500" b="1" dirty="0">
                <a:solidFill>
                  <a:srgbClr val="0C2B33"/>
                </a:solidFill>
                <a:latin typeface="Cambria" pitchFamily="34" charset="0"/>
                <a:ea typeface="Cambria" pitchFamily="34" charset="-122"/>
                <a:cs typeface="Cambria" pitchFamily="34" charset="-120"/>
              </a:rPr>
              <a:t>68</a:t>
            </a:r>
            <a:endParaRPr lang="en-US" sz="2500" dirty="0"/>
          </a:p>
        </p:txBody>
      </p:sp>
      <p:sp>
        <p:nvSpPr>
          <p:cNvPr id="19" name="Text 17"/>
          <p:cNvSpPr/>
          <p:nvPr/>
        </p:nvSpPr>
        <p:spPr>
          <a:xfrm>
            <a:off x="9372600" y="2340864"/>
            <a:ext cx="2057400" cy="292608"/>
          </a:xfrm>
          <a:prstGeom prst="rect">
            <a:avLst/>
          </a:prstGeom>
          <a:noFill/>
          <a:ln/>
        </p:spPr>
        <p:txBody>
          <a:bodyPr wrap="square" lIns="0" tIns="0" rIns="0" bIns="0" rtlCol="0" anchor="ctr"/>
          <a:lstStyle/>
          <a:p>
            <a:pPr indent="0" marL="0">
              <a:buNone/>
            </a:pPr>
            <a:r>
              <a:rPr lang="en-US" sz="1150" dirty="0">
                <a:solidFill>
                  <a:srgbClr val="0A3B42"/>
                </a:solidFill>
                <a:latin typeface="Calibri" pitchFamily="34" charset="0"/>
                <a:ea typeface="Calibri" pitchFamily="34" charset="-122"/>
                <a:cs typeface="Calibri" pitchFamily="34" charset="-120"/>
              </a:rPr>
              <a:t>clicked the push</a:t>
            </a:r>
            <a:endParaRPr lang="en-US" sz="1150" dirty="0"/>
          </a:p>
        </p:txBody>
      </p:sp>
      <p:sp>
        <p:nvSpPr>
          <p:cNvPr id="20" name="Shape 18"/>
          <p:cNvSpPr/>
          <p:nvPr/>
        </p:nvSpPr>
        <p:spPr>
          <a:xfrm>
            <a:off x="548640" y="3063240"/>
            <a:ext cx="5394960" cy="1737360"/>
          </a:xfrm>
          <a:prstGeom prst="roundRect">
            <a:avLst>
              <a:gd name="adj" fmla="val 5263"/>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21" name="Text 19"/>
          <p:cNvSpPr/>
          <p:nvPr/>
        </p:nvSpPr>
        <p:spPr>
          <a:xfrm>
            <a:off x="841248" y="3246120"/>
            <a:ext cx="1600200" cy="566928"/>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89.1%</a:t>
            </a:r>
            <a:endParaRPr lang="en-US" sz="3000" dirty="0"/>
          </a:p>
        </p:txBody>
      </p:sp>
      <p:sp>
        <p:nvSpPr>
          <p:cNvPr id="22" name="Text 20"/>
          <p:cNvSpPr/>
          <p:nvPr/>
        </p:nvSpPr>
        <p:spPr>
          <a:xfrm>
            <a:off x="2423160" y="3246120"/>
            <a:ext cx="3227832" cy="566928"/>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of eligible recipients were rescued</a:t>
            </a:r>
            <a:endParaRPr lang="en-US" sz="1250" dirty="0"/>
          </a:p>
        </p:txBody>
      </p:sp>
      <p:sp>
        <p:nvSpPr>
          <p:cNvPr id="23" name="Text 21"/>
          <p:cNvSpPr/>
          <p:nvPr/>
        </p:nvSpPr>
        <p:spPr>
          <a:xfrm>
            <a:off x="841248" y="3886200"/>
            <a:ext cx="4809744" cy="777240"/>
          </a:xfrm>
          <a:prstGeom prst="rect">
            <a:avLst/>
          </a:prstGeom>
          <a:noFill/>
          <a:ln/>
        </p:spPr>
        <p:txBody>
          <a:bodyPr wrap="square" lIns="0" tIns="0" rIns="0" bIns="0" rtlCol="0" anchor="ctr"/>
          <a:lstStyle/>
          <a:p>
            <a:pPr indent="0" marL="0">
              <a:lnSpc>
                <a:spcPts val="1500"/>
              </a:lnSpc>
              <a:buNone/>
            </a:pPr>
            <a:r>
              <a:rPr lang="en-US" sz="1150" dirty="0">
                <a:solidFill>
                  <a:srgbClr val="33484F"/>
                </a:solidFill>
                <a:latin typeface="Calibri" pitchFamily="34" charset="0"/>
                <a:ea typeface="Calibri" pitchFamily="34" charset="-122"/>
                <a:cs typeface="Calibri" pitchFamily="34" charset="-120"/>
              </a:rPr>
              <a:t>64 push recipients had already seen the banner and not clicked it. 57 of them clicked the push — clicks the banner had failed to convert.</a:t>
            </a:r>
            <a:endParaRPr lang="en-US" sz="1150" dirty="0"/>
          </a:p>
        </p:txBody>
      </p:sp>
      <p:sp>
        <p:nvSpPr>
          <p:cNvPr id="24" name="Shape 22"/>
          <p:cNvSpPr/>
          <p:nvPr/>
        </p:nvSpPr>
        <p:spPr>
          <a:xfrm>
            <a:off x="6217920" y="3063240"/>
            <a:ext cx="5394960" cy="1737360"/>
          </a:xfrm>
          <a:prstGeom prst="roundRect">
            <a:avLst>
              <a:gd name="adj" fmla="val 5263"/>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25" name="Text 23"/>
          <p:cNvSpPr/>
          <p:nvPr/>
        </p:nvSpPr>
        <p:spPr>
          <a:xfrm>
            <a:off x="6510528" y="3246120"/>
            <a:ext cx="1600200" cy="566928"/>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2.8x</a:t>
            </a:r>
            <a:endParaRPr lang="en-US" sz="3000" dirty="0"/>
          </a:p>
        </p:txBody>
      </p:sp>
      <p:sp>
        <p:nvSpPr>
          <p:cNvPr id="26" name="Text 24"/>
          <p:cNvSpPr/>
          <p:nvPr/>
        </p:nvSpPr>
        <p:spPr>
          <a:xfrm>
            <a:off x="8092440" y="3246120"/>
            <a:ext cx="3227832" cy="566928"/>
          </a:xfrm>
          <a:prstGeom prst="rect">
            <a:avLst/>
          </a:prstGeom>
          <a:noFill/>
          <a:ln/>
        </p:spPr>
        <p:txBody>
          <a:bodyPr wrap="square" lIns="0" tIns="0" rIns="0" bIns="0" rtlCol="0" anchor="ctr"/>
          <a:lstStyle/>
          <a:p>
            <a:pPr indent="0" marL="0">
              <a:buNone/>
            </a:pPr>
            <a:r>
              <a:rPr lang="en-US" sz="1250" b="1" dirty="0">
                <a:solidFill>
                  <a:srgbClr val="0C2B33"/>
                </a:solidFill>
                <a:latin typeface="Calibri" pitchFamily="34" charset="0"/>
                <a:ea typeface="Calibri" pitchFamily="34" charset="-122"/>
                <a:cs typeface="Calibri" pitchFamily="34" charset="-120"/>
              </a:rPr>
              <a:t>the response, same customers</a:t>
            </a:r>
            <a:endParaRPr lang="en-US" sz="1250" dirty="0"/>
          </a:p>
        </p:txBody>
      </p:sp>
      <p:sp>
        <p:nvSpPr>
          <p:cNvPr id="27" name="Text 25"/>
          <p:cNvSpPr/>
          <p:nvPr/>
        </p:nvSpPr>
        <p:spPr>
          <a:xfrm>
            <a:off x="6510528" y="3886200"/>
            <a:ext cx="4809744" cy="777240"/>
          </a:xfrm>
          <a:prstGeom prst="rect">
            <a:avLst/>
          </a:prstGeom>
          <a:noFill/>
          <a:ln/>
        </p:spPr>
        <p:txBody>
          <a:bodyPr wrap="square" lIns="0" tIns="0" rIns="0" bIns="0" rtlCol="0" anchor="ctr"/>
          <a:lstStyle/>
          <a:p>
            <a:pPr indent="0" marL="0">
              <a:lnSpc>
                <a:spcPts val="1500"/>
              </a:lnSpc>
              <a:buNone/>
            </a:pPr>
            <a:r>
              <a:rPr lang="en-US" sz="1150" dirty="0">
                <a:solidFill>
                  <a:srgbClr val="33484F"/>
                </a:solidFill>
                <a:latin typeface="Calibri" pitchFamily="34" charset="0"/>
                <a:ea typeface="Calibri" pitchFamily="34" charset="-122"/>
                <a:cs typeface="Calibri" pitchFamily="34" charset="-120"/>
              </a:rPr>
              <a:t>Within Existing with Save Max: 30.9% click rate on banner, 87.2% on push. The audience is identical, so channel explains the gap.</a:t>
            </a:r>
            <a:endParaRPr lang="en-US" sz="1150" dirty="0"/>
          </a:p>
        </p:txBody>
      </p:sp>
      <p:sp>
        <p:nvSpPr>
          <p:cNvPr id="28" name="Shape 26"/>
          <p:cNvSpPr/>
          <p:nvPr/>
        </p:nvSpPr>
        <p:spPr>
          <a:xfrm>
            <a:off x="548640" y="4983480"/>
            <a:ext cx="11064240" cy="868680"/>
          </a:xfrm>
          <a:prstGeom prst="roundRect">
            <a:avLst>
              <a:gd name="adj" fmla="val 10526"/>
            </a:avLst>
          </a:prstGeom>
          <a:solidFill>
            <a:srgbClr val="0C2B33"/>
          </a:solidFill>
          <a:ln w="12700">
            <a:solidFill>
              <a:srgbClr val="0C2B33"/>
            </a:solidFill>
            <a:prstDash val="solid"/>
          </a:ln>
          <a:effectLst>
            <a:outerShdw sx="100000" sy="100000" kx="0" ky="0" algn="bl" rotWithShape="0" blurRad="127000" dist="25400" dir="5400000">
              <a:srgbClr val="0C2B33">
                <a:alpha val="10000"/>
              </a:srgbClr>
            </a:outerShdw>
          </a:effectLst>
        </p:spPr>
      </p:sp>
      <p:sp>
        <p:nvSpPr>
          <p:cNvPr id="29" name="Text 27"/>
          <p:cNvSpPr/>
          <p:nvPr/>
        </p:nvSpPr>
        <p:spPr>
          <a:xfrm>
            <a:off x="914400" y="4983480"/>
            <a:ext cx="10332720" cy="868680"/>
          </a:xfrm>
          <a:prstGeom prst="rect">
            <a:avLst/>
          </a:prstGeom>
          <a:noFill/>
          <a:ln/>
        </p:spPr>
        <p:txBody>
          <a:bodyPr wrap="square" lIns="0" tIns="0" rIns="0" bIns="0" rtlCol="0" anchor="ctr"/>
          <a:lstStyle/>
          <a:p>
            <a:pPr indent="0" marL="0">
              <a:buNone/>
            </a:pPr>
            <a:r>
              <a:rPr lang="en-US" sz="1300" dirty="0">
                <a:solidFill>
                  <a:srgbClr val="A9C9CE"/>
                </a:solidFill>
                <a:latin typeface="Calibri" pitchFamily="34" charset="0"/>
                <a:ea typeface="Calibri" pitchFamily="34" charset="-122"/>
                <a:cs typeface="Calibri" pitchFamily="34" charset="-120"/>
              </a:rPr>
              <a:t>Banner only:  </a:t>
            </a:r>
            <a:pPr indent="0" marL="0">
              <a:buNone/>
            </a:pPr>
            <a:r>
              <a:rPr lang="en-US" sz="1300" b="1" dirty="0">
                <a:solidFill>
                  <a:srgbClr val="FFFFFF"/>
                </a:solidFill>
                <a:latin typeface="Calibri" pitchFamily="34" charset="0"/>
                <a:ea typeface="Calibri" pitchFamily="34" charset="-122"/>
                <a:cs typeface="Calibri" pitchFamily="34" charset="-120"/>
              </a:rPr>
              <a:t>40.3% clicked</a:t>
            </a:r>
            <a:pPr indent="0" marL="0">
              <a:buNone/>
            </a:pPr>
            <a:r>
              <a:rPr lang="en-US" sz="1200" dirty="0">
                <a:solidFill>
                  <a:srgbClr val="8FB4BA"/>
                </a:solidFill>
                <a:latin typeface="Calibri" pitchFamily="34" charset="0"/>
                <a:ea typeface="Calibri" pitchFamily="34" charset="-122"/>
                <a:cs typeface="Calibri" pitchFamily="34" charset="-120"/>
              </a:rPr>
              <a:t>  (11,106 viewers)          </a:t>
            </a:r>
            <a:pPr indent="0" marL="0">
              <a:buNone/>
            </a:pPr>
            <a:r>
              <a:rPr lang="en-US" sz="1300" dirty="0">
                <a:solidFill>
                  <a:srgbClr val="A9C9CE"/>
                </a:solidFill>
                <a:latin typeface="Calibri" pitchFamily="34" charset="0"/>
                <a:ea typeface="Calibri" pitchFamily="34" charset="-122"/>
                <a:cs typeface="Calibri" pitchFamily="34" charset="-120"/>
              </a:rPr>
              <a:t>Saw both channels:  </a:t>
            </a:r>
            <a:pPr indent="0" marL="0">
              <a:buNone/>
            </a:pPr>
            <a:r>
              <a:rPr lang="en-US" sz="1300" b="1" dirty="0">
                <a:solidFill>
                  <a:srgbClr val="02C39A"/>
                </a:solidFill>
                <a:latin typeface="Calibri" pitchFamily="34" charset="0"/>
                <a:ea typeface="Calibri" pitchFamily="34" charset="-122"/>
                <a:cs typeface="Calibri" pitchFamily="34" charset="-120"/>
              </a:rPr>
              <a:t>90.9% clicked</a:t>
            </a:r>
            <a:pPr indent="0" marL="0">
              <a:buNone/>
            </a:pPr>
            <a:r>
              <a:rPr lang="en-US" sz="1200" dirty="0">
                <a:solidFill>
                  <a:srgbClr val="8FB4BA"/>
                </a:solidFill>
                <a:latin typeface="Calibri" pitchFamily="34" charset="0"/>
                <a:ea typeface="Calibri" pitchFamily="34" charset="-122"/>
                <a:cs typeface="Calibri" pitchFamily="34" charset="-120"/>
              </a:rPr>
              <a:t>  (77 viewers)</a:t>
            </a:r>
            <a:endParaRPr lang="en-US" sz="1300" dirty="0"/>
          </a:p>
        </p:txBody>
      </p:sp>
      <p:sp>
        <p:nvSpPr>
          <p:cNvPr id="30" name="Text 28"/>
          <p:cNvSpPr/>
          <p:nvPr/>
        </p:nvSpPr>
        <p:spPr>
          <a:xfrm>
            <a:off x="548640" y="6035040"/>
            <a:ext cx="11064240" cy="365760"/>
          </a:xfrm>
          <a:prstGeom prst="rect">
            <a:avLst/>
          </a:prstGeom>
          <a:noFill/>
          <a:ln/>
        </p:spPr>
        <p:txBody>
          <a:bodyPr wrap="square" lIns="0" tIns="0" rIns="0" bIns="0" rtlCol="0" anchor="ctr"/>
          <a:lstStyle/>
          <a:p>
            <a:pPr indent="0" marL="0">
              <a:buNone/>
            </a:pPr>
            <a:r>
              <a:rPr lang="en-US" sz="1050" i="1" dirty="0">
                <a:solidFill>
                  <a:srgbClr val="6E878E"/>
                </a:solidFill>
                <a:latin typeface="Calibri" pitchFamily="34" charset="0"/>
                <a:ea typeface="Calibri" pitchFamily="34" charset="-122"/>
                <a:cs typeface="Calibri" pitchFamily="34" charset="-120"/>
              </a:rPr>
              <a:t>Directional only: push reached 78 people, recipients were not randomly selected and there was no holdout, so part of the gap may be targeting rather than channel.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CAMPAIGN PERFORMANCE</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Eight campaigns, two very different engines</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CLICX SaveMore, live 17 Aug 2026 — banner placements run to 30 Sep, push sends to 31 Aug.</a:t>
            </a:r>
            <a:endParaRPr lang="en-US" sz="1400" dirty="0"/>
          </a:p>
        </p:txBody>
      </p:sp>
      <p:sp>
        <p:nvSpPr>
          <p:cNvPr id="5" name="Shape 3"/>
          <p:cNvSpPr/>
          <p:nvPr/>
        </p:nvSpPr>
        <p:spPr>
          <a:xfrm>
            <a:off x="548640" y="1737360"/>
            <a:ext cx="2615184" cy="960120"/>
          </a:xfrm>
          <a:prstGeom prst="roundRect">
            <a:avLst>
              <a:gd name="adj" fmla="val 9524"/>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6" name="Text 4"/>
          <p:cNvSpPr/>
          <p:nvPr/>
        </p:nvSpPr>
        <p:spPr>
          <a:xfrm>
            <a:off x="786384" y="1810512"/>
            <a:ext cx="2139696" cy="457200"/>
          </a:xfrm>
          <a:prstGeom prst="rect">
            <a:avLst/>
          </a:prstGeom>
          <a:noFill/>
          <a:ln/>
        </p:spPr>
        <p:txBody>
          <a:bodyPr wrap="square" lIns="0" tIns="0" rIns="0" bIns="0" rtlCol="0" anchor="ctr"/>
          <a:lstStyle/>
          <a:p>
            <a:pPr indent="0" marL="0">
              <a:buNone/>
            </a:pPr>
            <a:r>
              <a:rPr lang="en-US" sz="2400" b="1" dirty="0">
                <a:solidFill>
                  <a:srgbClr val="0C2B33"/>
                </a:solidFill>
                <a:latin typeface="Cambria" pitchFamily="34" charset="0"/>
                <a:ea typeface="Cambria" pitchFamily="34" charset="-122"/>
                <a:cs typeface="Cambria" pitchFamily="34" charset="-120"/>
              </a:rPr>
              <a:t>8</a:t>
            </a:r>
            <a:endParaRPr lang="en-US" sz="2400" dirty="0"/>
          </a:p>
        </p:txBody>
      </p:sp>
      <p:sp>
        <p:nvSpPr>
          <p:cNvPr id="7" name="Text 5"/>
          <p:cNvSpPr/>
          <p:nvPr/>
        </p:nvSpPr>
        <p:spPr>
          <a:xfrm>
            <a:off x="786384" y="2267712"/>
            <a:ext cx="2139696" cy="274320"/>
          </a:xfrm>
          <a:prstGeom prst="rect">
            <a:avLst/>
          </a:prstGeom>
          <a:noFill/>
          <a:ln/>
        </p:spPr>
        <p:txBody>
          <a:bodyPr wrap="square" lIns="0" tIns="0" rIns="0" bIns="0" rtlCol="0" anchor="ctr"/>
          <a:lstStyle/>
          <a:p>
            <a:pPr indent="0" marL="0">
              <a:buNone/>
            </a:pPr>
            <a:r>
              <a:rPr lang="en-US" sz="1150" b="1" dirty="0">
                <a:solidFill>
                  <a:srgbClr val="0C2B33"/>
                </a:solidFill>
                <a:latin typeface="Calibri" pitchFamily="34" charset="0"/>
                <a:ea typeface="Calibri" pitchFamily="34" charset="-122"/>
                <a:cs typeface="Calibri" pitchFamily="34" charset="-120"/>
              </a:rPr>
              <a:t>campaigns live</a:t>
            </a:r>
            <a:pPr indent="0" marL="0">
              <a:buNone/>
            </a:pPr>
            <a:r>
              <a:rPr lang="en-US" sz="1000" dirty="0">
                <a:solidFill>
                  <a:srgbClr val="6E878E"/>
                </a:solidFill>
                <a:latin typeface="Calibri" pitchFamily="34" charset="0"/>
                <a:ea typeface="Calibri" pitchFamily="34" charset="-122"/>
                <a:cs typeface="Calibri" pitchFamily="34" charset="-120"/>
              </a:rPr>
              <a:t>   7 delivering</a:t>
            </a:r>
            <a:endParaRPr lang="en-US" sz="1150" dirty="0"/>
          </a:p>
        </p:txBody>
      </p:sp>
      <p:sp>
        <p:nvSpPr>
          <p:cNvPr id="8" name="Shape 6"/>
          <p:cNvSpPr/>
          <p:nvPr/>
        </p:nvSpPr>
        <p:spPr>
          <a:xfrm>
            <a:off x="3364992" y="1737360"/>
            <a:ext cx="2615184" cy="960120"/>
          </a:xfrm>
          <a:prstGeom prst="roundRect">
            <a:avLst>
              <a:gd name="adj" fmla="val 9524"/>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9" name="Text 7"/>
          <p:cNvSpPr/>
          <p:nvPr/>
        </p:nvSpPr>
        <p:spPr>
          <a:xfrm>
            <a:off x="3602736" y="1810512"/>
            <a:ext cx="2139696" cy="457200"/>
          </a:xfrm>
          <a:prstGeom prst="rect">
            <a:avLst/>
          </a:prstGeom>
          <a:noFill/>
          <a:ln/>
        </p:spPr>
        <p:txBody>
          <a:bodyPr wrap="square" lIns="0" tIns="0" rIns="0" bIns="0"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138,637</a:t>
            </a:r>
            <a:endParaRPr lang="en-US" sz="2400" dirty="0"/>
          </a:p>
        </p:txBody>
      </p:sp>
      <p:sp>
        <p:nvSpPr>
          <p:cNvPr id="10" name="Text 8"/>
          <p:cNvSpPr/>
          <p:nvPr/>
        </p:nvSpPr>
        <p:spPr>
          <a:xfrm>
            <a:off x="3602736" y="2267712"/>
            <a:ext cx="2139696" cy="274320"/>
          </a:xfrm>
          <a:prstGeom prst="rect">
            <a:avLst/>
          </a:prstGeom>
          <a:noFill/>
          <a:ln/>
        </p:spPr>
        <p:txBody>
          <a:bodyPr wrap="square" lIns="0" tIns="0" rIns="0" bIns="0" rtlCol="0" anchor="ctr"/>
          <a:lstStyle/>
          <a:p>
            <a:pPr indent="0" marL="0">
              <a:buNone/>
            </a:pPr>
            <a:r>
              <a:rPr lang="en-US" sz="1150" b="1" dirty="0">
                <a:solidFill>
                  <a:srgbClr val="0C2B33"/>
                </a:solidFill>
                <a:latin typeface="Calibri" pitchFamily="34" charset="0"/>
                <a:ea typeface="Calibri" pitchFamily="34" charset="-122"/>
                <a:cs typeface="Calibri" pitchFamily="34" charset="-120"/>
              </a:rPr>
              <a:t>views</a:t>
            </a:r>
            <a:pPr indent="0" marL="0">
              <a:buNone/>
            </a:pPr>
            <a:r>
              <a:rPr lang="en-US" sz="1000" dirty="0">
                <a:solidFill>
                  <a:srgbClr val="6E878E"/>
                </a:solidFill>
                <a:latin typeface="Calibri" pitchFamily="34" charset="0"/>
                <a:ea typeface="Calibri" pitchFamily="34" charset="-122"/>
                <a:cs typeface="Calibri" pitchFamily="34" charset="-120"/>
              </a:rPr>
              <a:t>   99.9% from banner</a:t>
            </a:r>
            <a:endParaRPr lang="en-US" sz="1150" dirty="0"/>
          </a:p>
        </p:txBody>
      </p:sp>
      <p:sp>
        <p:nvSpPr>
          <p:cNvPr id="11" name="Shape 9"/>
          <p:cNvSpPr/>
          <p:nvPr/>
        </p:nvSpPr>
        <p:spPr>
          <a:xfrm>
            <a:off x="6181344" y="1737360"/>
            <a:ext cx="2615184" cy="960120"/>
          </a:xfrm>
          <a:prstGeom prst="roundRect">
            <a:avLst>
              <a:gd name="adj" fmla="val 9524"/>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2" name="Text 10"/>
          <p:cNvSpPr/>
          <p:nvPr/>
        </p:nvSpPr>
        <p:spPr>
          <a:xfrm>
            <a:off x="6419088" y="1810512"/>
            <a:ext cx="2139696" cy="457200"/>
          </a:xfrm>
          <a:prstGeom prst="rect">
            <a:avLst/>
          </a:prstGeom>
          <a:noFill/>
          <a:ln/>
        </p:spPr>
        <p:txBody>
          <a:bodyPr wrap="square" lIns="0" tIns="0" rIns="0" bIns="0"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11,278</a:t>
            </a:r>
            <a:endParaRPr lang="en-US" sz="2400" dirty="0"/>
          </a:p>
        </p:txBody>
      </p:sp>
      <p:sp>
        <p:nvSpPr>
          <p:cNvPr id="13" name="Text 11"/>
          <p:cNvSpPr/>
          <p:nvPr/>
        </p:nvSpPr>
        <p:spPr>
          <a:xfrm>
            <a:off x="6419088" y="2267712"/>
            <a:ext cx="2139696" cy="274320"/>
          </a:xfrm>
          <a:prstGeom prst="rect">
            <a:avLst/>
          </a:prstGeom>
          <a:noFill/>
          <a:ln/>
        </p:spPr>
        <p:txBody>
          <a:bodyPr wrap="square" lIns="0" tIns="0" rIns="0" bIns="0" rtlCol="0" anchor="ctr"/>
          <a:lstStyle/>
          <a:p>
            <a:pPr indent="0" marL="0">
              <a:buNone/>
            </a:pPr>
            <a:r>
              <a:rPr lang="en-US" sz="1150" b="1" dirty="0">
                <a:solidFill>
                  <a:srgbClr val="0C2B33"/>
                </a:solidFill>
                <a:latin typeface="Calibri" pitchFamily="34" charset="0"/>
                <a:ea typeface="Calibri" pitchFamily="34" charset="-122"/>
                <a:cs typeface="Calibri" pitchFamily="34" charset="-120"/>
              </a:rPr>
              <a:t>clicks</a:t>
            </a:r>
            <a:pPr indent="0" marL="0">
              <a:buNone/>
            </a:pPr>
            <a:r>
              <a:rPr lang="en-US" sz="1000" dirty="0">
                <a:solidFill>
                  <a:srgbClr val="6E878E"/>
                </a:solidFill>
                <a:latin typeface="Calibri" pitchFamily="34" charset="0"/>
                <a:ea typeface="Calibri" pitchFamily="34" charset="-122"/>
                <a:cs typeface="Calibri" pitchFamily="34" charset="-120"/>
              </a:rPr>
              <a:t>   99.3% from banner</a:t>
            </a:r>
            <a:endParaRPr lang="en-US" sz="1150" dirty="0"/>
          </a:p>
        </p:txBody>
      </p:sp>
      <p:sp>
        <p:nvSpPr>
          <p:cNvPr id="14" name="Shape 12"/>
          <p:cNvSpPr/>
          <p:nvPr/>
        </p:nvSpPr>
        <p:spPr>
          <a:xfrm>
            <a:off x="8997696" y="1737360"/>
            <a:ext cx="2615184" cy="960120"/>
          </a:xfrm>
          <a:prstGeom prst="roundRect">
            <a:avLst>
              <a:gd name="adj" fmla="val 9524"/>
            </a:avLst>
          </a:prstGeom>
          <a:solidFill>
            <a:srgbClr val="EEF5F5"/>
          </a:solidFill>
          <a:ln w="12700">
            <a:solidFill>
              <a:srgbClr val="DDE9E9"/>
            </a:solidFill>
            <a:prstDash val="solid"/>
          </a:ln>
          <a:effectLst>
            <a:outerShdw sx="100000" sy="100000" kx="0" ky="0" algn="bl" rotWithShape="0" blurRad="127000" dist="25400" dir="5400000">
              <a:srgbClr val="0C2B33">
                <a:alpha val="10000"/>
              </a:srgbClr>
            </a:outerShdw>
          </a:effectLst>
        </p:spPr>
      </p:sp>
      <p:sp>
        <p:nvSpPr>
          <p:cNvPr id="15" name="Text 13"/>
          <p:cNvSpPr/>
          <p:nvPr/>
        </p:nvSpPr>
        <p:spPr>
          <a:xfrm>
            <a:off x="9235440" y="1810512"/>
            <a:ext cx="2139696" cy="457200"/>
          </a:xfrm>
          <a:prstGeom prst="rect">
            <a:avLst/>
          </a:prstGeom>
          <a:noFill/>
          <a:ln/>
        </p:spPr>
        <p:txBody>
          <a:bodyPr wrap="square" lIns="0" tIns="0" rIns="0" bIns="0"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11,485</a:t>
            </a:r>
            <a:endParaRPr lang="en-US" sz="2400" dirty="0"/>
          </a:p>
        </p:txBody>
      </p:sp>
      <p:sp>
        <p:nvSpPr>
          <p:cNvPr id="16" name="Text 14"/>
          <p:cNvSpPr/>
          <p:nvPr/>
        </p:nvSpPr>
        <p:spPr>
          <a:xfrm>
            <a:off x="9235440" y="2267712"/>
            <a:ext cx="2139696" cy="274320"/>
          </a:xfrm>
          <a:prstGeom prst="rect">
            <a:avLst/>
          </a:prstGeom>
          <a:noFill/>
          <a:ln/>
        </p:spPr>
        <p:txBody>
          <a:bodyPr wrap="square" lIns="0" tIns="0" rIns="0" bIns="0" rtlCol="0" anchor="ctr"/>
          <a:lstStyle/>
          <a:p>
            <a:pPr indent="0" marL="0">
              <a:buNone/>
            </a:pPr>
            <a:r>
              <a:rPr lang="en-US" sz="1150" b="1" dirty="0">
                <a:solidFill>
                  <a:srgbClr val="0C2B33"/>
                </a:solidFill>
                <a:latin typeface="Calibri" pitchFamily="34" charset="0"/>
                <a:ea typeface="Calibri" pitchFamily="34" charset="-122"/>
                <a:cs typeface="Calibri" pitchFamily="34" charset="-120"/>
              </a:rPr>
              <a:t>conversions</a:t>
            </a:r>
            <a:pPr indent="0" marL="0">
              <a:buNone/>
            </a:pPr>
            <a:r>
              <a:rPr lang="en-US" sz="1000" dirty="0">
                <a:solidFill>
                  <a:srgbClr val="6E878E"/>
                </a:solidFill>
                <a:latin typeface="Calibri" pitchFamily="34" charset="0"/>
                <a:ea typeface="Calibri" pitchFamily="34" charset="-122"/>
                <a:cs typeface="Calibri" pitchFamily="34" charset="-120"/>
              </a:rPr>
              <a:t>   definition unconfirmed</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64240" cy="914400"/>
        </p:xfrm>
        <a:graphic>
          <a:graphicData uri="http://schemas.openxmlformats.org/drawingml/2006/table">
            <a:tbl>
              <a:tblPr/>
              <a:tblGrid>
                <a:gridCol w="3108960"/>
                <a:gridCol w="1737360"/>
                <a:gridCol w="1645920"/>
                <a:gridCol w="1463040"/>
                <a:gridCol w="1097280"/>
                <a:gridCol w="2011680"/>
              </a:tblGrid>
              <a:tr h="26060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Campaign</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Leads</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Views</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Clicks</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CTR</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Conversions</a:t>
                      </a:r>
                      <a:endParaRPr lang="en-US" sz="110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0C2B33"/>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Banner — Home</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1,891,142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127,981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10,766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11,183</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Banner — Living Room</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1,891,142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10,552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223</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Banner — Pocket Landing</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1,891,142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6E878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6E878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6E878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6E878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Push — ID89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11,499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75.0%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Push — ID23</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11,339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73.1%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Push — ID01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11,469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84.2%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Push — ID45</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11,481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87.5%</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FFFFF"/>
                    </a:solidFill>
                  </a:tcPr>
                </a:tc>
              </a:tr>
              <a:tr h="260604">
                <a:tc>
                  <a:txBody>
                    <a:bodyPr/>
                    <a:lstStyle/>
                    <a:p>
                      <a:pPr algn="l" indent="0" marL="0">
                        <a:buNone/>
                      </a:pPr>
                      <a:r>
                        <a:rPr lang="en-US" sz="1050" b="1" dirty="0">
                          <a:solidFill>
                            <a:srgbClr val="33484F"/>
                          </a:solidFill>
                          <a:latin typeface="Calibri" pitchFamily="34" charset="0"/>
                          <a:ea typeface="Calibri" pitchFamily="34" charset="-122"/>
                          <a:cs typeface="Calibri" pitchFamily="34" charset="-120"/>
                        </a:rPr>
                        <a:t>Push — ID67</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11,367</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80.0%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c>
                  <a:txBody>
                    <a:bodyPr/>
                    <a:lstStyle/>
                    <a:p>
                      <a:pPr algn="r" indent="0" marL="0">
                        <a:buNone/>
                      </a:pPr>
                      <a:r>
                        <a:rPr lang="en-US" sz="1050" dirty="0">
                          <a:solidFill>
                            <a:srgbClr val="33484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F7FAFA"/>
                    </a:solidFill>
                  </a:tcPr>
                </a:tc>
              </a:tr>
              <a:tr h="260604">
                <a:tc>
                  <a:txBody>
                    <a:bodyPr/>
                    <a:lstStyle/>
                    <a:p>
                      <a:pPr algn="l" indent="0" marL="0">
                        <a:buNone/>
                      </a:pPr>
                      <a:r>
                        <a:rPr lang="en-US" sz="1050" b="1" dirty="0">
                          <a:solidFill>
                            <a:srgbClr val="0C2B33"/>
                          </a:solidFill>
                          <a:latin typeface="Calibri" pitchFamily="34" charset="0"/>
                          <a:ea typeface="Calibri" pitchFamily="34" charset="-122"/>
                          <a:cs typeface="Calibri" pitchFamily="34" charset="-120"/>
                        </a:rPr>
                        <a:t>All banner (3 placements)</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1,891,142*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138,533</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11,196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8.1%</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11,406</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r>
              <a:tr h="260604">
                <a:tc>
                  <a:txBody>
                    <a:bodyPr/>
                    <a:lstStyle/>
                    <a:p>
                      <a:pPr algn="l" indent="0" marL="0">
                        <a:buNone/>
                      </a:pPr>
                      <a:r>
                        <a:rPr lang="en-US" sz="1050" b="1" dirty="0">
                          <a:solidFill>
                            <a:srgbClr val="0C2B33"/>
                          </a:solidFill>
                          <a:latin typeface="Calibri" pitchFamily="34" charset="0"/>
                          <a:ea typeface="Calibri" pitchFamily="34" charset="-122"/>
                          <a:cs typeface="Calibri" pitchFamily="34" charset="-120"/>
                        </a:rPr>
                        <a:t>All push (5 sends)</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57,155</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82</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78.8%</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c>
                  <a:txBody>
                    <a:bodyPr/>
                    <a:lstStyle/>
                    <a:p>
                      <a:pPr algn="r" indent="0" marL="0">
                        <a:buNone/>
                      </a:pPr>
                      <a:r>
                        <a:rPr lang="en-US" sz="1050" b="1" dirty="0">
                          <a:solidFill>
                            <a:srgbClr val="0C2B33"/>
                          </a:solidFill>
                          <a:latin typeface="Calibri" pitchFamily="34" charset="0"/>
                          <a:ea typeface="Calibri" pitchFamily="34" charset="-122"/>
                          <a:cs typeface="Calibri" pitchFamily="34" charset="-120"/>
                        </a:rPr>
                        <a:t>79</a:t>
                      </a:r>
                      <a:endParaRPr lang="en-US" sz="1050" dirty="0">
                        <a:latin typeface="Calibri" charset="0"/>
                        <a:ea typeface="Calibri" charset="0"/>
                        <a:cs typeface="Calibri" charset="0"/>
                      </a:endParaRPr>
                    </a:p>
                  </a:txBody>
                  <a:tcPr marL="82296" marR="82296" marT="36576" marB="36576" anchor="ctr">
                    <a:lnL w="12700" cap="flat" cmpd="sng" algn="ctr">
                      <a:solidFill>
                        <a:srgbClr val="DDE9E9"/>
                      </a:solidFill>
                      <a:prstDash val="solid"/>
                      <a:round/>
                      <a:headEnd type="none" w="med" len="med"/>
                      <a:tailEnd type="none" w="med" len="med"/>
                    </a:lnL>
                    <a:lnR w="12700" cap="flat" cmpd="sng" algn="ctr">
                      <a:solidFill>
                        <a:srgbClr val="DDE9E9"/>
                      </a:solidFill>
                      <a:prstDash val="solid"/>
                      <a:round/>
                      <a:headEnd type="none" w="med" len="med"/>
                      <a:tailEnd type="none" w="med" len="med"/>
                    </a:lnR>
                    <a:lnT w="12700" cap="flat" cmpd="sng" algn="ctr">
                      <a:solidFill>
                        <a:srgbClr val="DDE9E9"/>
                      </a:solidFill>
                      <a:prstDash val="solid"/>
                      <a:round/>
                      <a:headEnd type="none" w="med" len="med"/>
                      <a:tailEnd type="none" w="med" len="med"/>
                    </a:lnT>
                    <a:lnB w="12700" cap="flat" cmpd="sng" algn="ctr">
                      <a:solidFill>
                        <a:srgbClr val="DDE9E9"/>
                      </a:solidFill>
                      <a:prstDash val="solid"/>
                      <a:round/>
                      <a:headEnd type="none" w="med" len="med"/>
                      <a:tailEnd type="none" w="med" len="med"/>
                    </a:lnB>
                    <a:solidFill>
                      <a:srgbClr val="E3EEEE"/>
                    </a:solidFill>
                  </a:tcPr>
                </a:tc>
              </a:tr>
            </a:tbl>
          </a:graphicData>
        </a:graphic>
      </p:graphicFrame>
      <p:sp>
        <p:nvSpPr>
          <p:cNvPr id="18" name="Text 15"/>
          <p:cNvSpPr/>
          <p:nvPr/>
        </p:nvSpPr>
        <p:spPr>
          <a:xfrm>
            <a:off x="548640" y="6016752"/>
            <a:ext cx="11064240" cy="457200"/>
          </a:xfrm>
          <a:prstGeom prst="rect">
            <a:avLst/>
          </a:prstGeom>
          <a:noFill/>
          <a:ln/>
        </p:spPr>
        <p:txBody>
          <a:bodyPr wrap="square" lIns="0" tIns="0" rIns="0" bIns="0" rtlCol="0" anchor="ctr"/>
          <a:lstStyle/>
          <a:p>
            <a:pPr indent="0" marL="0">
              <a:lnSpc>
                <a:spcPts val="1400"/>
              </a:lnSpc>
              <a:buNone/>
            </a:pPr>
            <a:r>
              <a:rPr lang="en-US" sz="1050" dirty="0">
                <a:solidFill>
                  <a:srgbClr val="6E878E"/>
                </a:solidFill>
                <a:latin typeface="Calibri" pitchFamily="34" charset="0"/>
                <a:ea typeface="Calibri" pitchFamily="34" charset="-122"/>
                <a:cs typeface="Calibri" pitchFamily="34" charset="-120"/>
              </a:rPr>
              <a:t>*The three banner placements share one audience pool of 1,891,142, so their leads are not additive. Pocket Landing has recorded no delivery at all. No applications, approvals or bookings have been recorded on any campaign yet.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LEAD TO CONVERSION</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0C2B33"/>
                </a:solidFill>
                <a:latin typeface="Cambria" pitchFamily="34" charset="0"/>
                <a:ea typeface="Cambria" pitchFamily="34" charset="-122"/>
                <a:cs typeface="Cambria" pitchFamily="34" charset="-120"/>
              </a:rPr>
              <a:t>Lead → View → Click → Conversion</a:t>
            </a:r>
            <a:endParaRPr lang="en-US" sz="3200" dirty="0"/>
          </a:p>
        </p:txBody>
      </p:sp>
      <p:sp>
        <p:nvSpPr>
          <p:cNvPr id="4" name="Text 2"/>
          <p:cNvSpPr/>
          <p:nvPr/>
        </p:nvSpPr>
        <p:spPr>
          <a:xfrm>
            <a:off x="548640" y="1335024"/>
            <a:ext cx="10607040" cy="310896"/>
          </a:xfrm>
          <a:prstGeom prst="rect">
            <a:avLst/>
          </a:prstGeom>
          <a:noFill/>
          <a:ln/>
        </p:spPr>
        <p:txBody>
          <a:bodyPr wrap="square" lIns="0" tIns="0" rIns="0" bIns="0" rtlCol="0" anchor="ctr"/>
          <a:lstStyle/>
          <a:p>
            <a:pPr indent="0" marL="0">
              <a:buNone/>
            </a:pPr>
            <a:r>
              <a:rPr lang="en-US" sz="1400" dirty="0">
                <a:solidFill>
                  <a:srgbClr val="6E878E"/>
                </a:solidFill>
                <a:latin typeface="Calibri" pitchFamily="34" charset="0"/>
                <a:ea typeface="Calibri" pitchFamily="34" charset="-122"/>
                <a:cs typeface="Calibri" pitchFamily="34" charset="-120"/>
              </a:rPr>
              <a:t>Same four stages, two channels that fail and succeed at opposite ends of the funnel.</a:t>
            </a:r>
            <a:endParaRPr lang="en-US" sz="1400" dirty="0"/>
          </a:p>
        </p:txBody>
      </p:sp>
      <p:sp>
        <p:nvSpPr>
          <p:cNvPr id="5" name="Shape 3"/>
          <p:cNvSpPr/>
          <p:nvPr/>
        </p:nvSpPr>
        <p:spPr>
          <a:xfrm>
            <a:off x="548640" y="1810512"/>
            <a:ext cx="219456" cy="219456"/>
          </a:xfrm>
          <a:prstGeom prst="ellipse">
            <a:avLst/>
          </a:prstGeom>
          <a:solidFill>
            <a:srgbClr val="028090"/>
          </a:solidFill>
          <a:ln w="12700">
            <a:solidFill>
              <a:srgbClr val="028090"/>
            </a:solidFill>
            <a:prstDash val="solid"/>
          </a:ln>
        </p:spPr>
      </p:sp>
      <p:sp>
        <p:nvSpPr>
          <p:cNvPr id="6" name="Text 4"/>
          <p:cNvSpPr/>
          <p:nvPr/>
        </p:nvSpPr>
        <p:spPr>
          <a:xfrm>
            <a:off x="877824" y="1755648"/>
            <a:ext cx="2743200" cy="329184"/>
          </a:xfrm>
          <a:prstGeom prst="rect">
            <a:avLst/>
          </a:prstGeom>
          <a:noFill/>
          <a:ln/>
        </p:spPr>
        <p:txBody>
          <a:bodyPr wrap="square" lIns="0" tIns="0" rIns="0" bIns="0" rtlCol="0" anchor="ctr"/>
          <a:lstStyle/>
          <a:p>
            <a:pPr indent="0" marL="0">
              <a:buNone/>
            </a:pPr>
            <a:r>
              <a:rPr lang="en-US" sz="1500" b="1" dirty="0">
                <a:solidFill>
                  <a:srgbClr val="0C2B33"/>
                </a:solidFill>
                <a:latin typeface="Calibri" pitchFamily="34" charset="0"/>
                <a:ea typeface="Calibri" pitchFamily="34" charset="-122"/>
                <a:cs typeface="Calibri" pitchFamily="34" charset="-120"/>
              </a:rPr>
              <a:t>Banner</a:t>
            </a:r>
            <a:endParaRPr lang="en-US" sz="1500" dirty="0"/>
          </a:p>
        </p:txBody>
      </p:sp>
      <p:sp>
        <p:nvSpPr>
          <p:cNvPr id="7" name="Text 5"/>
          <p:cNvSpPr/>
          <p:nvPr/>
        </p:nvSpPr>
        <p:spPr>
          <a:xfrm>
            <a:off x="3657600" y="1755648"/>
            <a:ext cx="2377440" cy="329184"/>
          </a:xfrm>
          <a:prstGeom prst="rect">
            <a:avLst/>
          </a:prstGeom>
          <a:noFill/>
          <a:ln/>
        </p:spPr>
        <p:txBody>
          <a:bodyPr wrap="square" lIns="0" tIns="0" rIns="0" bIns="0" rtlCol="0" anchor="ctr"/>
          <a:lstStyle/>
          <a:p>
            <a:pPr algn="r" indent="0" marL="0">
              <a:buNone/>
            </a:pPr>
            <a:r>
              <a:rPr lang="en-US" sz="1100" dirty="0">
                <a:solidFill>
                  <a:srgbClr val="6E878E"/>
                </a:solidFill>
                <a:latin typeface="Calibri" pitchFamily="34" charset="0"/>
                <a:ea typeface="Calibri" pitchFamily="34" charset="-122"/>
                <a:cs typeface="Calibri" pitchFamily="34" charset="-120"/>
              </a:rPr>
              <a:t>3 placements, one shared pool</a:t>
            </a:r>
            <a:endParaRPr lang="en-US" sz="1100" dirty="0"/>
          </a:p>
        </p:txBody>
      </p:sp>
      <p:sp>
        <p:nvSpPr>
          <p:cNvPr id="8" name="Shape 6"/>
          <p:cNvSpPr/>
          <p:nvPr/>
        </p:nvSpPr>
        <p:spPr>
          <a:xfrm>
            <a:off x="548640" y="2212848"/>
            <a:ext cx="5486400" cy="585216"/>
          </a:xfrm>
          <a:prstGeom prst="roundRect">
            <a:avLst>
              <a:gd name="adj" fmla="val 15625"/>
            </a:avLst>
          </a:prstGeom>
          <a:solidFill>
            <a:srgbClr val="E3EEEE"/>
          </a:solidFill>
          <a:ln w="12700">
            <a:solidFill>
              <a:srgbClr val="DDE9E9"/>
            </a:solidFill>
            <a:prstDash val="solid"/>
          </a:ln>
        </p:spPr>
      </p:sp>
      <p:sp>
        <p:nvSpPr>
          <p:cNvPr id="9" name="Text 7"/>
          <p:cNvSpPr/>
          <p:nvPr/>
        </p:nvSpPr>
        <p:spPr>
          <a:xfrm>
            <a:off x="804672" y="2212848"/>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Leads assigned</a:t>
            </a:r>
            <a:endParaRPr lang="en-US" sz="1150" dirty="0"/>
          </a:p>
        </p:txBody>
      </p:sp>
      <p:sp>
        <p:nvSpPr>
          <p:cNvPr id="10" name="Text 8"/>
          <p:cNvSpPr/>
          <p:nvPr/>
        </p:nvSpPr>
        <p:spPr>
          <a:xfrm>
            <a:off x="2468880" y="2212848"/>
            <a:ext cx="1691640" cy="585216"/>
          </a:xfrm>
          <a:prstGeom prst="rect">
            <a:avLst/>
          </a:prstGeom>
          <a:noFill/>
          <a:ln/>
        </p:spPr>
        <p:txBody>
          <a:bodyPr wrap="square" lIns="0" tIns="0" rIns="0" bIns="0" rtlCol="0" anchor="ctr"/>
          <a:lstStyle/>
          <a:p>
            <a:pPr algn="r" indent="0" marL="0">
              <a:buNone/>
            </a:pPr>
            <a:r>
              <a:rPr lang="en-US" sz="1900" b="1" dirty="0">
                <a:solidFill>
                  <a:srgbClr val="6E878E"/>
                </a:solidFill>
                <a:latin typeface="Cambria" pitchFamily="34" charset="0"/>
                <a:ea typeface="Cambria" pitchFamily="34" charset="-122"/>
                <a:cs typeface="Cambria" pitchFamily="34" charset="-120"/>
              </a:rPr>
              <a:t>1,891,142</a:t>
            </a:r>
            <a:endParaRPr lang="en-US" sz="1900" dirty="0"/>
          </a:p>
        </p:txBody>
      </p:sp>
      <p:sp>
        <p:nvSpPr>
          <p:cNvPr id="11" name="Text 9"/>
          <p:cNvSpPr/>
          <p:nvPr/>
        </p:nvSpPr>
        <p:spPr>
          <a:xfrm>
            <a:off x="4251960" y="2212848"/>
            <a:ext cx="1527048" cy="585216"/>
          </a:xfrm>
          <a:prstGeom prst="rect">
            <a:avLst/>
          </a:prstGeom>
          <a:noFill/>
          <a:ln/>
        </p:spPr>
        <p:txBody>
          <a:bodyPr wrap="square" lIns="0" tIns="0" rIns="0" bIns="0" rtlCol="0" anchor="ctr"/>
          <a:lstStyle/>
          <a:p>
            <a:pPr algn="r" indent="0" marL="0">
              <a:buNone/>
            </a:pPr>
            <a:r>
              <a:rPr lang="en-US" sz="1100" dirty="0">
                <a:solidFill>
                  <a:srgbClr val="6E878E"/>
                </a:solidFill>
                <a:latin typeface="Calibri" pitchFamily="34" charset="0"/>
                <a:ea typeface="Calibri" pitchFamily="34" charset="-122"/>
                <a:cs typeface="Calibri" pitchFamily="34" charset="-120"/>
              </a:rPr>
              <a:t>shared pool</a:t>
            </a:r>
            <a:endParaRPr lang="en-US" sz="1100" dirty="0"/>
          </a:p>
        </p:txBody>
      </p:sp>
      <p:sp>
        <p:nvSpPr>
          <p:cNvPr id="12" name="Shape 10"/>
          <p:cNvSpPr/>
          <p:nvPr/>
        </p:nvSpPr>
        <p:spPr>
          <a:xfrm>
            <a:off x="548640" y="2889504"/>
            <a:ext cx="5486400" cy="585216"/>
          </a:xfrm>
          <a:prstGeom prst="roundRect">
            <a:avLst>
              <a:gd name="adj" fmla="val 15625"/>
            </a:avLst>
          </a:prstGeom>
          <a:solidFill>
            <a:srgbClr val="EEF5F5"/>
          </a:solidFill>
          <a:ln w="12700">
            <a:solidFill>
              <a:srgbClr val="DDE9E9"/>
            </a:solidFill>
            <a:prstDash val="solid"/>
          </a:ln>
        </p:spPr>
      </p:sp>
      <p:sp>
        <p:nvSpPr>
          <p:cNvPr id="13" name="Text 11"/>
          <p:cNvSpPr/>
          <p:nvPr/>
        </p:nvSpPr>
        <p:spPr>
          <a:xfrm>
            <a:off x="804672" y="2889504"/>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Views</a:t>
            </a:r>
            <a:endParaRPr lang="en-US" sz="1150" dirty="0"/>
          </a:p>
        </p:txBody>
      </p:sp>
      <p:sp>
        <p:nvSpPr>
          <p:cNvPr id="14" name="Text 12"/>
          <p:cNvSpPr/>
          <p:nvPr/>
        </p:nvSpPr>
        <p:spPr>
          <a:xfrm>
            <a:off x="2468880" y="2889504"/>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138,533</a:t>
            </a:r>
            <a:endParaRPr lang="en-US" sz="1900" dirty="0"/>
          </a:p>
        </p:txBody>
      </p:sp>
      <p:sp>
        <p:nvSpPr>
          <p:cNvPr id="15" name="Text 13"/>
          <p:cNvSpPr/>
          <p:nvPr/>
        </p:nvSpPr>
        <p:spPr>
          <a:xfrm>
            <a:off x="4251960" y="2889504"/>
            <a:ext cx="1527048" cy="585216"/>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7.3% of leads</a:t>
            </a:r>
            <a:endParaRPr lang="en-US" sz="1100" dirty="0"/>
          </a:p>
        </p:txBody>
      </p:sp>
      <p:sp>
        <p:nvSpPr>
          <p:cNvPr id="16" name="Shape 14"/>
          <p:cNvSpPr/>
          <p:nvPr/>
        </p:nvSpPr>
        <p:spPr>
          <a:xfrm>
            <a:off x="548640" y="3566160"/>
            <a:ext cx="5486400" cy="585216"/>
          </a:xfrm>
          <a:prstGeom prst="roundRect">
            <a:avLst>
              <a:gd name="adj" fmla="val 15625"/>
            </a:avLst>
          </a:prstGeom>
          <a:solidFill>
            <a:srgbClr val="EEF5F5"/>
          </a:solidFill>
          <a:ln w="12700">
            <a:solidFill>
              <a:srgbClr val="DDE9E9"/>
            </a:solidFill>
            <a:prstDash val="solid"/>
          </a:ln>
        </p:spPr>
      </p:sp>
      <p:sp>
        <p:nvSpPr>
          <p:cNvPr id="17" name="Text 15"/>
          <p:cNvSpPr/>
          <p:nvPr/>
        </p:nvSpPr>
        <p:spPr>
          <a:xfrm>
            <a:off x="804672" y="3566160"/>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Clicks</a:t>
            </a:r>
            <a:endParaRPr lang="en-US" sz="1150" dirty="0"/>
          </a:p>
        </p:txBody>
      </p:sp>
      <p:sp>
        <p:nvSpPr>
          <p:cNvPr id="18" name="Text 16"/>
          <p:cNvSpPr/>
          <p:nvPr/>
        </p:nvSpPr>
        <p:spPr>
          <a:xfrm>
            <a:off x="2468880" y="3566160"/>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11,196</a:t>
            </a:r>
            <a:endParaRPr lang="en-US" sz="1900" dirty="0"/>
          </a:p>
        </p:txBody>
      </p:sp>
      <p:sp>
        <p:nvSpPr>
          <p:cNvPr id="19" name="Text 17"/>
          <p:cNvSpPr/>
          <p:nvPr/>
        </p:nvSpPr>
        <p:spPr>
          <a:xfrm>
            <a:off x="4251960" y="3566160"/>
            <a:ext cx="1527048" cy="585216"/>
          </a:xfrm>
          <a:prstGeom prst="rect">
            <a:avLst/>
          </a:prstGeom>
          <a:noFill/>
          <a:ln/>
        </p:spPr>
        <p:txBody>
          <a:bodyPr wrap="square" lIns="0" tIns="0" rIns="0" bIns="0" rtlCol="0" anchor="ctr"/>
          <a:lstStyle/>
          <a:p>
            <a:pPr algn="r" indent="0" marL="0">
              <a:buNone/>
            </a:pPr>
            <a:r>
              <a:rPr lang="en-US" sz="1100" b="1" dirty="0">
                <a:solidFill>
                  <a:srgbClr val="028090"/>
                </a:solidFill>
                <a:latin typeface="Calibri" pitchFamily="34" charset="0"/>
                <a:ea typeface="Calibri" pitchFamily="34" charset="-122"/>
                <a:cs typeface="Calibri" pitchFamily="34" charset="-120"/>
              </a:rPr>
              <a:t>8.1% of views</a:t>
            </a:r>
            <a:endParaRPr lang="en-US" sz="1100" dirty="0"/>
          </a:p>
        </p:txBody>
      </p:sp>
      <p:sp>
        <p:nvSpPr>
          <p:cNvPr id="20" name="Shape 18"/>
          <p:cNvSpPr/>
          <p:nvPr/>
        </p:nvSpPr>
        <p:spPr>
          <a:xfrm>
            <a:off x="548640" y="4242816"/>
            <a:ext cx="5486400" cy="585216"/>
          </a:xfrm>
          <a:prstGeom prst="roundRect">
            <a:avLst>
              <a:gd name="adj" fmla="val 15625"/>
            </a:avLst>
          </a:prstGeom>
          <a:solidFill>
            <a:srgbClr val="EEF5F5"/>
          </a:solidFill>
          <a:ln w="12700">
            <a:solidFill>
              <a:srgbClr val="DDE9E9"/>
            </a:solidFill>
            <a:prstDash val="solid"/>
          </a:ln>
        </p:spPr>
      </p:sp>
      <p:sp>
        <p:nvSpPr>
          <p:cNvPr id="21" name="Text 19"/>
          <p:cNvSpPr/>
          <p:nvPr/>
        </p:nvSpPr>
        <p:spPr>
          <a:xfrm>
            <a:off x="804672" y="4242816"/>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Conversions</a:t>
            </a:r>
            <a:endParaRPr lang="en-US" sz="1150" dirty="0"/>
          </a:p>
        </p:txBody>
      </p:sp>
      <p:sp>
        <p:nvSpPr>
          <p:cNvPr id="22" name="Text 20"/>
          <p:cNvSpPr/>
          <p:nvPr/>
        </p:nvSpPr>
        <p:spPr>
          <a:xfrm>
            <a:off x="2468880" y="4242816"/>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11,406</a:t>
            </a:r>
            <a:endParaRPr lang="en-US" sz="1900" dirty="0"/>
          </a:p>
        </p:txBody>
      </p:sp>
      <p:sp>
        <p:nvSpPr>
          <p:cNvPr id="23" name="Text 21"/>
          <p:cNvSpPr/>
          <p:nvPr/>
        </p:nvSpPr>
        <p:spPr>
          <a:xfrm>
            <a:off x="4251960" y="4242816"/>
            <a:ext cx="1527048" cy="585216"/>
          </a:xfrm>
          <a:prstGeom prst="rect">
            <a:avLst/>
          </a:prstGeom>
          <a:noFill/>
          <a:ln/>
        </p:spPr>
        <p:txBody>
          <a:bodyPr wrap="square" lIns="0" tIns="0" rIns="0" bIns="0" rtlCol="0" anchor="ctr"/>
          <a:lstStyle/>
          <a:p>
            <a:pPr algn="r" indent="0" marL="0">
              <a:buNone/>
            </a:pPr>
            <a:r>
              <a:rPr lang="en-US" sz="1100" dirty="0">
                <a:solidFill>
                  <a:srgbClr val="B4552F"/>
                </a:solidFill>
                <a:latin typeface="Calibri" pitchFamily="34" charset="0"/>
                <a:ea typeface="Calibri" pitchFamily="34" charset="-122"/>
                <a:cs typeface="Calibri" pitchFamily="34" charset="-120"/>
              </a:rPr>
              <a:t>101.9% of clicks</a:t>
            </a:r>
            <a:endParaRPr lang="en-US" sz="1100" dirty="0"/>
          </a:p>
        </p:txBody>
      </p:sp>
      <p:sp>
        <p:nvSpPr>
          <p:cNvPr id="24" name="Shape 22"/>
          <p:cNvSpPr/>
          <p:nvPr/>
        </p:nvSpPr>
        <p:spPr>
          <a:xfrm>
            <a:off x="6309360" y="1810512"/>
            <a:ext cx="219456" cy="219456"/>
          </a:xfrm>
          <a:prstGeom prst="ellipse">
            <a:avLst/>
          </a:prstGeom>
          <a:solidFill>
            <a:srgbClr val="02C39A"/>
          </a:solidFill>
          <a:ln w="12700">
            <a:solidFill>
              <a:srgbClr val="02C39A"/>
            </a:solidFill>
            <a:prstDash val="solid"/>
          </a:ln>
        </p:spPr>
      </p:sp>
      <p:sp>
        <p:nvSpPr>
          <p:cNvPr id="25" name="Text 23"/>
          <p:cNvSpPr/>
          <p:nvPr/>
        </p:nvSpPr>
        <p:spPr>
          <a:xfrm>
            <a:off x="6638544" y="1755648"/>
            <a:ext cx="2743200" cy="329184"/>
          </a:xfrm>
          <a:prstGeom prst="rect">
            <a:avLst/>
          </a:prstGeom>
          <a:noFill/>
          <a:ln/>
        </p:spPr>
        <p:txBody>
          <a:bodyPr wrap="square" lIns="0" tIns="0" rIns="0" bIns="0" rtlCol="0" anchor="ctr"/>
          <a:lstStyle/>
          <a:p>
            <a:pPr indent="0" marL="0">
              <a:buNone/>
            </a:pPr>
            <a:r>
              <a:rPr lang="en-US" sz="1500" b="1" dirty="0">
                <a:solidFill>
                  <a:srgbClr val="0C2B33"/>
                </a:solidFill>
                <a:latin typeface="Calibri" pitchFamily="34" charset="0"/>
                <a:ea typeface="Calibri" pitchFamily="34" charset="-122"/>
                <a:cs typeface="Calibri" pitchFamily="34" charset="-120"/>
              </a:rPr>
              <a:t>Push notification</a:t>
            </a:r>
            <a:endParaRPr lang="en-US" sz="1500" dirty="0"/>
          </a:p>
        </p:txBody>
      </p:sp>
      <p:sp>
        <p:nvSpPr>
          <p:cNvPr id="26" name="Text 24"/>
          <p:cNvSpPr/>
          <p:nvPr/>
        </p:nvSpPr>
        <p:spPr>
          <a:xfrm>
            <a:off x="9235440" y="1755648"/>
            <a:ext cx="2377440" cy="329184"/>
          </a:xfrm>
          <a:prstGeom prst="rect">
            <a:avLst/>
          </a:prstGeom>
          <a:noFill/>
          <a:ln/>
        </p:spPr>
        <p:txBody>
          <a:bodyPr wrap="square" lIns="0" tIns="0" rIns="0" bIns="0" rtlCol="0" anchor="ctr"/>
          <a:lstStyle/>
          <a:p>
            <a:pPr algn="r" indent="0" marL="0">
              <a:buNone/>
            </a:pPr>
            <a:r>
              <a:rPr lang="en-US" sz="1100" dirty="0">
                <a:solidFill>
                  <a:srgbClr val="6E878E"/>
                </a:solidFill>
                <a:latin typeface="Calibri" pitchFamily="34" charset="0"/>
                <a:ea typeface="Calibri" pitchFamily="34" charset="-122"/>
                <a:cs typeface="Calibri" pitchFamily="34" charset="-120"/>
              </a:rPr>
              <a:t>5 sends, ~11.4k leads each</a:t>
            </a:r>
            <a:endParaRPr lang="en-US" sz="1100" dirty="0"/>
          </a:p>
        </p:txBody>
      </p:sp>
      <p:sp>
        <p:nvSpPr>
          <p:cNvPr id="27" name="Shape 25"/>
          <p:cNvSpPr/>
          <p:nvPr/>
        </p:nvSpPr>
        <p:spPr>
          <a:xfrm>
            <a:off x="6309360" y="2212848"/>
            <a:ext cx="5303520" cy="585216"/>
          </a:xfrm>
          <a:prstGeom prst="roundRect">
            <a:avLst>
              <a:gd name="adj" fmla="val 15625"/>
            </a:avLst>
          </a:prstGeom>
          <a:solidFill>
            <a:srgbClr val="E3EEEE"/>
          </a:solidFill>
          <a:ln w="12700">
            <a:solidFill>
              <a:srgbClr val="DDE9E9"/>
            </a:solidFill>
            <a:prstDash val="solid"/>
          </a:ln>
        </p:spPr>
      </p:sp>
      <p:sp>
        <p:nvSpPr>
          <p:cNvPr id="28" name="Text 26"/>
          <p:cNvSpPr/>
          <p:nvPr/>
        </p:nvSpPr>
        <p:spPr>
          <a:xfrm>
            <a:off x="6565392" y="2212848"/>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Leads assigned</a:t>
            </a:r>
            <a:endParaRPr lang="en-US" sz="1150" dirty="0"/>
          </a:p>
        </p:txBody>
      </p:sp>
      <p:sp>
        <p:nvSpPr>
          <p:cNvPr id="29" name="Text 27"/>
          <p:cNvSpPr/>
          <p:nvPr/>
        </p:nvSpPr>
        <p:spPr>
          <a:xfrm>
            <a:off x="8229600" y="2212848"/>
            <a:ext cx="1691640" cy="585216"/>
          </a:xfrm>
          <a:prstGeom prst="rect">
            <a:avLst/>
          </a:prstGeom>
          <a:noFill/>
          <a:ln/>
        </p:spPr>
        <p:txBody>
          <a:bodyPr wrap="square" lIns="0" tIns="0" rIns="0" bIns="0" rtlCol="0" anchor="ctr"/>
          <a:lstStyle/>
          <a:p>
            <a:pPr algn="r" indent="0" marL="0">
              <a:buNone/>
            </a:pPr>
            <a:r>
              <a:rPr lang="en-US" sz="1900" b="1" dirty="0">
                <a:solidFill>
                  <a:srgbClr val="6E878E"/>
                </a:solidFill>
                <a:latin typeface="Cambria" pitchFamily="34" charset="0"/>
                <a:ea typeface="Cambria" pitchFamily="34" charset="-122"/>
                <a:cs typeface="Cambria" pitchFamily="34" charset="-120"/>
              </a:rPr>
              <a:t>57,155</a:t>
            </a:r>
            <a:endParaRPr lang="en-US" sz="1900" dirty="0"/>
          </a:p>
        </p:txBody>
      </p:sp>
      <p:sp>
        <p:nvSpPr>
          <p:cNvPr id="30" name="Text 28"/>
          <p:cNvSpPr/>
          <p:nvPr/>
        </p:nvSpPr>
        <p:spPr>
          <a:xfrm>
            <a:off x="10012680" y="2212848"/>
            <a:ext cx="1344168" cy="585216"/>
          </a:xfrm>
          <a:prstGeom prst="rect">
            <a:avLst/>
          </a:prstGeom>
          <a:noFill/>
          <a:ln/>
        </p:spPr>
        <p:txBody>
          <a:bodyPr wrap="square" lIns="0" tIns="0" rIns="0" bIns="0" rtlCol="0" anchor="ctr"/>
          <a:lstStyle/>
          <a:p>
            <a:pPr algn="r" indent="0" marL="0">
              <a:buNone/>
            </a:pPr>
            <a:r>
              <a:rPr lang="en-US" sz="1100" dirty="0">
                <a:solidFill>
                  <a:srgbClr val="6E878E"/>
                </a:solidFill>
                <a:latin typeface="Calibri" pitchFamily="34" charset="0"/>
                <a:ea typeface="Calibri" pitchFamily="34" charset="-122"/>
                <a:cs typeface="Calibri" pitchFamily="34" charset="-120"/>
              </a:rPr>
              <a:t>5 cells combined</a:t>
            </a:r>
            <a:endParaRPr lang="en-US" sz="1100" dirty="0"/>
          </a:p>
        </p:txBody>
      </p:sp>
      <p:sp>
        <p:nvSpPr>
          <p:cNvPr id="31" name="Shape 29"/>
          <p:cNvSpPr/>
          <p:nvPr/>
        </p:nvSpPr>
        <p:spPr>
          <a:xfrm>
            <a:off x="6309360" y="2889504"/>
            <a:ext cx="5303520" cy="585216"/>
          </a:xfrm>
          <a:prstGeom prst="roundRect">
            <a:avLst>
              <a:gd name="adj" fmla="val 15625"/>
            </a:avLst>
          </a:prstGeom>
          <a:solidFill>
            <a:srgbClr val="EEF5F5"/>
          </a:solidFill>
          <a:ln w="12700">
            <a:solidFill>
              <a:srgbClr val="DDE9E9"/>
            </a:solidFill>
            <a:prstDash val="solid"/>
          </a:ln>
        </p:spPr>
      </p:sp>
      <p:sp>
        <p:nvSpPr>
          <p:cNvPr id="32" name="Text 30"/>
          <p:cNvSpPr/>
          <p:nvPr/>
        </p:nvSpPr>
        <p:spPr>
          <a:xfrm>
            <a:off x="6565392" y="2889504"/>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Views</a:t>
            </a:r>
            <a:endParaRPr lang="en-US" sz="1150" dirty="0"/>
          </a:p>
        </p:txBody>
      </p:sp>
      <p:sp>
        <p:nvSpPr>
          <p:cNvPr id="33" name="Text 31"/>
          <p:cNvSpPr/>
          <p:nvPr/>
        </p:nvSpPr>
        <p:spPr>
          <a:xfrm>
            <a:off x="8229600" y="2889504"/>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104</a:t>
            </a:r>
            <a:endParaRPr lang="en-US" sz="1900" dirty="0"/>
          </a:p>
        </p:txBody>
      </p:sp>
      <p:sp>
        <p:nvSpPr>
          <p:cNvPr id="34" name="Text 32"/>
          <p:cNvSpPr/>
          <p:nvPr/>
        </p:nvSpPr>
        <p:spPr>
          <a:xfrm>
            <a:off x="10012680" y="2889504"/>
            <a:ext cx="1344168" cy="585216"/>
          </a:xfrm>
          <a:prstGeom prst="rect">
            <a:avLst/>
          </a:prstGeom>
          <a:noFill/>
          <a:ln/>
        </p:spPr>
        <p:txBody>
          <a:bodyPr wrap="square" lIns="0" tIns="0" rIns="0" bIns="0" rtlCol="0" anchor="ctr"/>
          <a:lstStyle/>
          <a:p>
            <a:pPr algn="r" indent="0" marL="0">
              <a:buNone/>
            </a:pPr>
            <a:r>
              <a:rPr lang="en-US" sz="1100" b="1" dirty="0">
                <a:solidFill>
                  <a:srgbClr val="02C39A"/>
                </a:solidFill>
                <a:latin typeface="Calibri" pitchFamily="34" charset="0"/>
                <a:ea typeface="Calibri" pitchFamily="34" charset="-122"/>
                <a:cs typeface="Calibri" pitchFamily="34" charset="-120"/>
              </a:rPr>
              <a:t>0.2% of leads</a:t>
            </a:r>
            <a:endParaRPr lang="en-US" sz="1100" dirty="0"/>
          </a:p>
        </p:txBody>
      </p:sp>
      <p:sp>
        <p:nvSpPr>
          <p:cNvPr id="35" name="Shape 33"/>
          <p:cNvSpPr/>
          <p:nvPr/>
        </p:nvSpPr>
        <p:spPr>
          <a:xfrm>
            <a:off x="6309360" y="3566160"/>
            <a:ext cx="5303520" cy="585216"/>
          </a:xfrm>
          <a:prstGeom prst="roundRect">
            <a:avLst>
              <a:gd name="adj" fmla="val 15625"/>
            </a:avLst>
          </a:prstGeom>
          <a:solidFill>
            <a:srgbClr val="EEF5F5"/>
          </a:solidFill>
          <a:ln w="12700">
            <a:solidFill>
              <a:srgbClr val="DDE9E9"/>
            </a:solidFill>
            <a:prstDash val="solid"/>
          </a:ln>
        </p:spPr>
      </p:sp>
      <p:sp>
        <p:nvSpPr>
          <p:cNvPr id="36" name="Text 34"/>
          <p:cNvSpPr/>
          <p:nvPr/>
        </p:nvSpPr>
        <p:spPr>
          <a:xfrm>
            <a:off x="6565392" y="3566160"/>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Clicks</a:t>
            </a:r>
            <a:endParaRPr lang="en-US" sz="1150" dirty="0"/>
          </a:p>
        </p:txBody>
      </p:sp>
      <p:sp>
        <p:nvSpPr>
          <p:cNvPr id="37" name="Text 35"/>
          <p:cNvSpPr/>
          <p:nvPr/>
        </p:nvSpPr>
        <p:spPr>
          <a:xfrm>
            <a:off x="8229600" y="3566160"/>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82</a:t>
            </a:r>
            <a:endParaRPr lang="en-US" sz="1900" dirty="0"/>
          </a:p>
        </p:txBody>
      </p:sp>
      <p:sp>
        <p:nvSpPr>
          <p:cNvPr id="38" name="Text 36"/>
          <p:cNvSpPr/>
          <p:nvPr/>
        </p:nvSpPr>
        <p:spPr>
          <a:xfrm>
            <a:off x="10012680" y="3566160"/>
            <a:ext cx="1344168" cy="585216"/>
          </a:xfrm>
          <a:prstGeom prst="rect">
            <a:avLst/>
          </a:prstGeom>
          <a:noFill/>
          <a:ln/>
        </p:spPr>
        <p:txBody>
          <a:bodyPr wrap="square" lIns="0" tIns="0" rIns="0" bIns="0" rtlCol="0" anchor="ctr"/>
          <a:lstStyle/>
          <a:p>
            <a:pPr algn="r" indent="0" marL="0">
              <a:buNone/>
            </a:pPr>
            <a:r>
              <a:rPr lang="en-US" sz="1100" b="1" dirty="0">
                <a:solidFill>
                  <a:srgbClr val="02C39A"/>
                </a:solidFill>
                <a:latin typeface="Calibri" pitchFamily="34" charset="0"/>
                <a:ea typeface="Calibri" pitchFamily="34" charset="-122"/>
                <a:cs typeface="Calibri" pitchFamily="34" charset="-120"/>
              </a:rPr>
              <a:t>78.8% of views</a:t>
            </a:r>
            <a:endParaRPr lang="en-US" sz="1100" dirty="0"/>
          </a:p>
        </p:txBody>
      </p:sp>
      <p:sp>
        <p:nvSpPr>
          <p:cNvPr id="39" name="Shape 37"/>
          <p:cNvSpPr/>
          <p:nvPr/>
        </p:nvSpPr>
        <p:spPr>
          <a:xfrm>
            <a:off x="6309360" y="4242816"/>
            <a:ext cx="5303520" cy="585216"/>
          </a:xfrm>
          <a:prstGeom prst="roundRect">
            <a:avLst>
              <a:gd name="adj" fmla="val 15625"/>
            </a:avLst>
          </a:prstGeom>
          <a:solidFill>
            <a:srgbClr val="EEF5F5"/>
          </a:solidFill>
          <a:ln w="12700">
            <a:solidFill>
              <a:srgbClr val="DDE9E9"/>
            </a:solidFill>
            <a:prstDash val="solid"/>
          </a:ln>
        </p:spPr>
      </p:sp>
      <p:sp>
        <p:nvSpPr>
          <p:cNvPr id="40" name="Text 38"/>
          <p:cNvSpPr/>
          <p:nvPr/>
        </p:nvSpPr>
        <p:spPr>
          <a:xfrm>
            <a:off x="6565392" y="4242816"/>
            <a:ext cx="1691640" cy="585216"/>
          </a:xfrm>
          <a:prstGeom prst="rect">
            <a:avLst/>
          </a:prstGeom>
          <a:noFill/>
          <a:ln/>
        </p:spPr>
        <p:txBody>
          <a:bodyPr wrap="square" lIns="0" tIns="0" rIns="0" bIns="0" rtlCol="0" anchor="ctr"/>
          <a:lstStyle/>
          <a:p>
            <a:pPr indent="0" marL="0">
              <a:buNone/>
            </a:pPr>
            <a:r>
              <a:rPr lang="en-US" sz="1150" dirty="0">
                <a:solidFill>
                  <a:srgbClr val="33484F"/>
                </a:solidFill>
                <a:latin typeface="Calibri" pitchFamily="34" charset="0"/>
                <a:ea typeface="Calibri" pitchFamily="34" charset="-122"/>
                <a:cs typeface="Calibri" pitchFamily="34" charset="-120"/>
              </a:rPr>
              <a:t>Conversions</a:t>
            </a:r>
            <a:endParaRPr lang="en-US" sz="1150" dirty="0"/>
          </a:p>
        </p:txBody>
      </p:sp>
      <p:sp>
        <p:nvSpPr>
          <p:cNvPr id="41" name="Text 39"/>
          <p:cNvSpPr/>
          <p:nvPr/>
        </p:nvSpPr>
        <p:spPr>
          <a:xfrm>
            <a:off x="8229600" y="4242816"/>
            <a:ext cx="1691640" cy="585216"/>
          </a:xfrm>
          <a:prstGeom prst="rect">
            <a:avLst/>
          </a:prstGeom>
          <a:noFill/>
          <a:ln/>
        </p:spPr>
        <p:txBody>
          <a:bodyPr wrap="square" lIns="0" tIns="0" rIns="0" bIns="0" rtlCol="0" anchor="ctr"/>
          <a:lstStyle/>
          <a:p>
            <a:pPr algn="r" indent="0" marL="0">
              <a:buNone/>
            </a:pPr>
            <a:r>
              <a:rPr lang="en-US" sz="1900" b="1" dirty="0">
                <a:solidFill>
                  <a:srgbClr val="0C2B33"/>
                </a:solidFill>
                <a:latin typeface="Cambria" pitchFamily="34" charset="0"/>
                <a:ea typeface="Cambria" pitchFamily="34" charset="-122"/>
                <a:cs typeface="Cambria" pitchFamily="34" charset="-120"/>
              </a:rPr>
              <a:t>79</a:t>
            </a:r>
            <a:endParaRPr lang="en-US" sz="1900" dirty="0"/>
          </a:p>
        </p:txBody>
      </p:sp>
      <p:sp>
        <p:nvSpPr>
          <p:cNvPr id="42" name="Text 40"/>
          <p:cNvSpPr/>
          <p:nvPr/>
        </p:nvSpPr>
        <p:spPr>
          <a:xfrm>
            <a:off x="10012680" y="4242816"/>
            <a:ext cx="1344168" cy="585216"/>
          </a:xfrm>
          <a:prstGeom prst="rect">
            <a:avLst/>
          </a:prstGeom>
          <a:noFill/>
          <a:ln/>
        </p:spPr>
        <p:txBody>
          <a:bodyPr wrap="square" lIns="0" tIns="0" rIns="0" bIns="0" rtlCol="0" anchor="ctr"/>
          <a:lstStyle/>
          <a:p>
            <a:pPr algn="r" indent="0" marL="0">
              <a:buNone/>
            </a:pPr>
            <a:r>
              <a:rPr lang="en-US" sz="1100" dirty="0">
                <a:solidFill>
                  <a:srgbClr val="B4552F"/>
                </a:solidFill>
                <a:latin typeface="Calibri" pitchFamily="34" charset="0"/>
                <a:ea typeface="Calibri" pitchFamily="34" charset="-122"/>
                <a:cs typeface="Calibri" pitchFamily="34" charset="-120"/>
              </a:rPr>
              <a:t>96.3% of clicks</a:t>
            </a:r>
            <a:endParaRPr lang="en-US" sz="1100" dirty="0"/>
          </a:p>
        </p:txBody>
      </p:sp>
      <p:sp>
        <p:nvSpPr>
          <p:cNvPr id="43" name="Shape 41"/>
          <p:cNvSpPr/>
          <p:nvPr/>
        </p:nvSpPr>
        <p:spPr>
          <a:xfrm>
            <a:off x="548640" y="5029200"/>
            <a:ext cx="5486400" cy="1051560"/>
          </a:xfrm>
          <a:prstGeom prst="roundRect">
            <a:avLst>
              <a:gd name="adj" fmla="val 8696"/>
            </a:avLst>
          </a:prstGeom>
          <a:solidFill>
            <a:srgbClr val="0C2B33"/>
          </a:solidFill>
          <a:ln w="12700">
            <a:solidFill>
              <a:srgbClr val="0C2B33"/>
            </a:solidFill>
            <a:prstDash val="solid"/>
          </a:ln>
          <a:effectLst>
            <a:outerShdw sx="100000" sy="100000" kx="0" ky="0" algn="bl" rotWithShape="0" blurRad="127000" dist="25400" dir="5400000">
              <a:srgbClr val="0C2B33">
                <a:alpha val="10000"/>
              </a:srgbClr>
            </a:outerShdw>
          </a:effectLst>
        </p:spPr>
      </p:sp>
      <p:sp>
        <p:nvSpPr>
          <p:cNvPr id="44" name="Text 42"/>
          <p:cNvSpPr/>
          <p:nvPr/>
        </p:nvSpPr>
        <p:spPr>
          <a:xfrm>
            <a:off x="841248" y="5175504"/>
            <a:ext cx="4937760" cy="256032"/>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Only push tracks the deep funnel</a:t>
            </a:r>
            <a:endParaRPr lang="en-US" sz="1250" dirty="0"/>
          </a:p>
        </p:txBody>
      </p:sp>
      <p:sp>
        <p:nvSpPr>
          <p:cNvPr id="45" name="Text 43"/>
          <p:cNvSpPr/>
          <p:nvPr/>
        </p:nvSpPr>
        <p:spPr>
          <a:xfrm>
            <a:off x="841248" y="5449824"/>
            <a:ext cx="4937760" cy="548640"/>
          </a:xfrm>
          <a:prstGeom prst="rect">
            <a:avLst/>
          </a:prstGeom>
          <a:noFill/>
          <a:ln/>
        </p:spPr>
        <p:txBody>
          <a:bodyPr wrap="square" lIns="0" tIns="0" rIns="0" bIns="0" rtlCol="0" anchor="ctr"/>
          <a:lstStyle/>
          <a:p>
            <a:pPr indent="0" marL="0">
              <a:lnSpc>
                <a:spcPts val="1400"/>
              </a:lnSpc>
              <a:buNone/>
            </a:pPr>
            <a:r>
              <a:rPr lang="en-US" sz="1100" dirty="0">
                <a:solidFill>
                  <a:srgbClr val="A9C9CE"/>
                </a:solidFill>
                <a:latin typeface="Calibri" pitchFamily="34" charset="0"/>
                <a:ea typeface="Calibri" pitchFamily="34" charset="-122"/>
                <a:cs typeface="Calibri" pitchFamily="34" charset="-120"/>
              </a:rPr>
              <a:t>82 clicks → 51 detail-page views (62.2%) → 29 through the door (56.9%). The banner placements record none of these events, so nothing below the click can be compared.</a:t>
            </a:r>
            <a:endParaRPr lang="en-US" sz="1100" dirty="0"/>
          </a:p>
        </p:txBody>
      </p:sp>
      <p:sp>
        <p:nvSpPr>
          <p:cNvPr id="46" name="Shape 44"/>
          <p:cNvSpPr/>
          <p:nvPr/>
        </p:nvSpPr>
        <p:spPr>
          <a:xfrm>
            <a:off x="6309360" y="5029200"/>
            <a:ext cx="5303520" cy="1051560"/>
          </a:xfrm>
          <a:prstGeom prst="roundRect">
            <a:avLst>
              <a:gd name="adj" fmla="val 8696"/>
            </a:avLst>
          </a:prstGeom>
          <a:solidFill>
            <a:srgbClr val="FBF0EA"/>
          </a:solidFill>
          <a:ln w="12700">
            <a:solidFill>
              <a:srgbClr val="F0D9CB"/>
            </a:solidFill>
            <a:prstDash val="solid"/>
          </a:ln>
          <a:effectLst>
            <a:outerShdw sx="100000" sy="100000" kx="0" ky="0" algn="bl" rotWithShape="0" blurRad="127000" dist="25400" dir="5400000">
              <a:srgbClr val="0C2B33">
                <a:alpha val="10000"/>
              </a:srgbClr>
            </a:outerShdw>
          </a:effectLst>
        </p:spPr>
      </p:sp>
      <p:sp>
        <p:nvSpPr>
          <p:cNvPr id="47" name="Text 45"/>
          <p:cNvSpPr/>
          <p:nvPr/>
        </p:nvSpPr>
        <p:spPr>
          <a:xfrm>
            <a:off x="6601968" y="5175504"/>
            <a:ext cx="4754880" cy="256032"/>
          </a:xfrm>
          <a:prstGeom prst="rect">
            <a:avLst/>
          </a:prstGeom>
          <a:noFill/>
          <a:ln/>
        </p:spPr>
        <p:txBody>
          <a:bodyPr wrap="square" lIns="0" tIns="0" rIns="0" bIns="0" rtlCol="0" anchor="ctr"/>
          <a:lstStyle/>
          <a:p>
            <a:pPr indent="0" marL="0">
              <a:buNone/>
            </a:pPr>
            <a:r>
              <a:rPr lang="en-US" sz="1250" b="1" dirty="0">
                <a:solidFill>
                  <a:srgbClr val="B4552F"/>
                </a:solidFill>
                <a:latin typeface="Calibri" pitchFamily="34" charset="0"/>
                <a:ea typeface="Calibri" pitchFamily="34" charset="-122"/>
                <a:cs typeface="Calibri" pitchFamily="34" charset="-120"/>
              </a:rPr>
              <a:t>Conversion needs a definition</a:t>
            </a:r>
            <a:endParaRPr lang="en-US" sz="1250" dirty="0"/>
          </a:p>
        </p:txBody>
      </p:sp>
      <p:sp>
        <p:nvSpPr>
          <p:cNvPr id="48" name="Text 46"/>
          <p:cNvSpPr/>
          <p:nvPr/>
        </p:nvSpPr>
        <p:spPr>
          <a:xfrm>
            <a:off x="6601968" y="5449824"/>
            <a:ext cx="4754880" cy="548640"/>
          </a:xfrm>
          <a:prstGeom prst="rect">
            <a:avLst/>
          </a:prstGeom>
          <a:noFill/>
          <a:ln/>
        </p:spPr>
        <p:txBody>
          <a:bodyPr wrap="square" lIns="0" tIns="0" rIns="0" bIns="0" rtlCol="0" anchor="ctr"/>
          <a:lstStyle/>
          <a:p>
            <a:pPr indent="0" marL="0">
              <a:lnSpc>
                <a:spcPts val="1400"/>
              </a:lnSpc>
              <a:buNone/>
            </a:pPr>
            <a:r>
              <a:rPr lang="en-US" sz="1100" dirty="0">
                <a:solidFill>
                  <a:srgbClr val="6B4636"/>
                </a:solidFill>
                <a:latin typeface="Calibri" pitchFamily="34" charset="0"/>
                <a:ea typeface="Calibri" pitchFamily="34" charset="-122"/>
                <a:cs typeface="Calibri" pitchFamily="34" charset="-120"/>
              </a:rPr>
              <a:t>It exceeds clicks on Home (103.9%) and on three of five push sends, but reaches only 51.9% on Living Room. Settle what it counts before the number is reported anywhere.</a:t>
            </a:r>
            <a:endParaRPr lang="en-US" sz="1100" dirty="0"/>
          </a:p>
        </p:txBody>
      </p:sp>
      <p:sp>
        <p:nvSpPr>
          <p:cNvPr id="49" name="Text 47"/>
          <p:cNvSpPr/>
          <p:nvPr/>
        </p:nvSpPr>
        <p:spPr>
          <a:xfrm>
            <a:off x="548640" y="6199632"/>
            <a:ext cx="11064240" cy="384048"/>
          </a:xfrm>
          <a:prstGeom prst="rect">
            <a:avLst/>
          </a:prstGeom>
          <a:noFill/>
          <a:ln/>
        </p:spPr>
        <p:txBody>
          <a:bodyPr wrap="square" lIns="0" tIns="0" rIns="0" bIns="0" rtlCol="0" anchor="ctr"/>
          <a:lstStyle/>
          <a:p>
            <a:pPr indent="0" marL="0">
              <a:lnSpc>
                <a:spcPts val="1400"/>
              </a:lnSpc>
              <a:buNone/>
            </a:pPr>
            <a:r>
              <a:rPr lang="en-US" sz="1050" dirty="0">
                <a:solidFill>
                  <a:srgbClr val="6E878E"/>
                </a:solidFill>
                <a:latin typeface="Calibri" pitchFamily="34" charset="0"/>
                <a:ea typeface="Calibri" pitchFamily="34" charset="-122"/>
                <a:cs typeface="Calibri" pitchFamily="34" charset="-120"/>
              </a:rPr>
              <a:t>Campaign-system event counts. These are a different unit from the customer-level pivot earlier in this deck, which counts unique customers — the two sets of figures should not be added together or reconciled line for line.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2B33"/>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50" b="1" spc="200" kern="0" dirty="0">
                <a:solidFill>
                  <a:srgbClr val="00A896"/>
                </a:solidFill>
                <a:latin typeface="Calibri" pitchFamily="34" charset="0"/>
                <a:ea typeface="Calibri" pitchFamily="34" charset="-122"/>
                <a:cs typeface="Calibri" pitchFamily="34" charset="-120"/>
              </a:rPr>
              <a:t>WHAT TO DO NEXT</a:t>
            </a:r>
            <a:endParaRPr lang="en-US" sz="1150" dirty="0"/>
          </a:p>
        </p:txBody>
      </p:sp>
      <p:sp>
        <p:nvSpPr>
          <p:cNvPr id="3" name="Text 1"/>
          <p:cNvSpPr/>
          <p:nvPr/>
        </p:nvSpPr>
        <p:spPr>
          <a:xfrm>
            <a:off x="548640" y="694944"/>
            <a:ext cx="106070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moves the numbers point to</a:t>
            </a:r>
            <a:endParaRPr lang="en-US" sz="3200" dirty="0"/>
          </a:p>
        </p:txBody>
      </p:sp>
      <p:sp>
        <p:nvSpPr>
          <p:cNvPr id="4" name="Shape 2"/>
          <p:cNvSpPr/>
          <p:nvPr/>
        </p:nvSpPr>
        <p:spPr>
          <a:xfrm>
            <a:off x="548640" y="1828800"/>
            <a:ext cx="3474720" cy="3200400"/>
          </a:xfrm>
          <a:prstGeom prst="roundRect">
            <a:avLst>
              <a:gd name="adj" fmla="val 2857"/>
            </a:avLst>
          </a:prstGeom>
          <a:solidFill>
            <a:srgbClr val="143A45"/>
          </a:solidFill>
          <a:ln w="12700">
            <a:solidFill>
              <a:srgbClr val="1E4A56"/>
            </a:solidFill>
            <a:prstDash val="solid"/>
          </a:ln>
        </p:spPr>
      </p:sp>
      <p:sp>
        <p:nvSpPr>
          <p:cNvPr id="5" name="Shape 3"/>
          <p:cNvSpPr/>
          <p:nvPr/>
        </p:nvSpPr>
        <p:spPr>
          <a:xfrm>
            <a:off x="859536" y="2121408"/>
            <a:ext cx="566928" cy="566928"/>
          </a:xfrm>
          <a:prstGeom prst="ellipse">
            <a:avLst/>
          </a:prstGeom>
          <a:solidFill>
            <a:srgbClr val="02C39A"/>
          </a:solidFill>
          <a:ln w="12700">
            <a:solidFill>
              <a:srgbClr val="02C39A"/>
            </a:solidFill>
            <a:prstDash val="solid"/>
          </a:ln>
        </p:spPr>
      </p:sp>
      <p:sp>
        <p:nvSpPr>
          <p:cNvPr id="6" name="Text 4"/>
          <p:cNvSpPr/>
          <p:nvPr/>
        </p:nvSpPr>
        <p:spPr>
          <a:xfrm>
            <a:off x="859536" y="2121408"/>
            <a:ext cx="566928" cy="566928"/>
          </a:xfrm>
          <a:prstGeom prst="rect">
            <a:avLst/>
          </a:prstGeom>
          <a:noFill/>
          <a:ln/>
        </p:spPr>
        <p:txBody>
          <a:bodyPr wrap="square" lIns="0" tIns="0" rIns="0" bIns="0" rtlCol="0" anchor="ctr"/>
          <a:lstStyle/>
          <a:p>
            <a:pPr algn="ctr" indent="0" marL="0">
              <a:buNone/>
            </a:pPr>
            <a:r>
              <a:rPr lang="en-US" sz="1600" b="1" dirty="0">
                <a:solidFill>
                  <a:srgbClr val="0C2B33"/>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859536" y="2798064"/>
            <a:ext cx="2871216" cy="713232"/>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Close the reach gap on New</a:t>
            </a:r>
            <a:endParaRPr lang="en-US" sz="1700" dirty="0"/>
          </a:p>
        </p:txBody>
      </p:sp>
      <p:sp>
        <p:nvSpPr>
          <p:cNvPr id="8" name="Text 6"/>
          <p:cNvSpPr/>
          <p:nvPr/>
        </p:nvSpPr>
        <p:spPr>
          <a:xfrm>
            <a:off x="859536" y="3547872"/>
            <a:ext cx="2871216" cy="1188720"/>
          </a:xfrm>
          <a:prstGeom prst="rect">
            <a:avLst/>
          </a:prstGeom>
          <a:noFill/>
          <a:ln/>
        </p:spPr>
        <p:txBody>
          <a:bodyPr wrap="square" lIns="0" tIns="0" rIns="0" bIns="0" rtlCol="0" anchor="ctr"/>
          <a:lstStyle/>
          <a:p>
            <a:pPr indent="0" marL="0">
              <a:lnSpc>
                <a:spcPts val="1600"/>
              </a:lnSpc>
              <a:buNone/>
            </a:pPr>
            <a:r>
              <a:rPr lang="en-US" sz="1150" dirty="0">
                <a:solidFill>
                  <a:srgbClr val="A9C9CE"/>
                </a:solidFill>
                <a:latin typeface="Calibri" pitchFamily="34" charset="0"/>
                <a:ea typeface="Calibri" pitchFamily="34" charset="-122"/>
                <a:cs typeface="Calibri" pitchFamily="34" charset="-120"/>
              </a:rPr>
              <a:t>1,159 of 1,440 never saw the campaign, and none received a push. They click at 45.6% when reached — the cheapest incremental volume available.</a:t>
            </a:r>
            <a:endParaRPr lang="en-US" sz="1150" dirty="0"/>
          </a:p>
        </p:txBody>
      </p:sp>
      <p:sp>
        <p:nvSpPr>
          <p:cNvPr id="9" name="Shape 7"/>
          <p:cNvSpPr/>
          <p:nvPr/>
        </p:nvSpPr>
        <p:spPr>
          <a:xfrm>
            <a:off x="4343400" y="1828800"/>
            <a:ext cx="3474720" cy="3200400"/>
          </a:xfrm>
          <a:prstGeom prst="roundRect">
            <a:avLst>
              <a:gd name="adj" fmla="val 2857"/>
            </a:avLst>
          </a:prstGeom>
          <a:solidFill>
            <a:srgbClr val="143A45"/>
          </a:solidFill>
          <a:ln w="12700">
            <a:solidFill>
              <a:srgbClr val="1E4A56"/>
            </a:solidFill>
            <a:prstDash val="solid"/>
          </a:ln>
        </p:spPr>
      </p:sp>
      <p:sp>
        <p:nvSpPr>
          <p:cNvPr id="10" name="Shape 8"/>
          <p:cNvSpPr/>
          <p:nvPr/>
        </p:nvSpPr>
        <p:spPr>
          <a:xfrm>
            <a:off x="4654296" y="2121408"/>
            <a:ext cx="566928" cy="566928"/>
          </a:xfrm>
          <a:prstGeom prst="ellipse">
            <a:avLst/>
          </a:prstGeom>
          <a:solidFill>
            <a:srgbClr val="00A896"/>
          </a:solidFill>
          <a:ln w="12700">
            <a:solidFill>
              <a:srgbClr val="00A896"/>
            </a:solidFill>
            <a:prstDash val="solid"/>
          </a:ln>
        </p:spPr>
      </p:sp>
      <p:sp>
        <p:nvSpPr>
          <p:cNvPr id="11" name="Text 9"/>
          <p:cNvSpPr/>
          <p:nvPr/>
        </p:nvSpPr>
        <p:spPr>
          <a:xfrm>
            <a:off x="4654296" y="2121408"/>
            <a:ext cx="566928" cy="566928"/>
          </a:xfrm>
          <a:prstGeom prst="rect">
            <a:avLst/>
          </a:prstGeom>
          <a:noFill/>
          <a:ln/>
        </p:spPr>
        <p:txBody>
          <a:bodyPr wrap="square" lIns="0" tIns="0" rIns="0" bIns="0" rtlCol="0" anchor="ctr"/>
          <a:lstStyle/>
          <a:p>
            <a:pPr algn="ctr" indent="0" marL="0">
              <a:buNone/>
            </a:pPr>
            <a:r>
              <a:rPr lang="en-US" sz="1600" b="1" dirty="0">
                <a:solidFill>
                  <a:srgbClr val="0C2B33"/>
                </a:solidFill>
                <a:latin typeface="Cambria" pitchFamily="34" charset="0"/>
                <a:ea typeface="Cambria" pitchFamily="34" charset="-122"/>
                <a:cs typeface="Cambria" pitchFamily="34" charset="-120"/>
              </a:rPr>
              <a:t>02</a:t>
            </a:r>
            <a:endParaRPr lang="en-US" sz="1600" dirty="0"/>
          </a:p>
        </p:txBody>
      </p:sp>
      <p:sp>
        <p:nvSpPr>
          <p:cNvPr id="12" name="Text 10"/>
          <p:cNvSpPr/>
          <p:nvPr/>
        </p:nvSpPr>
        <p:spPr>
          <a:xfrm>
            <a:off x="4654296" y="2798064"/>
            <a:ext cx="2871216" cy="713232"/>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Scale the push test on Save Max</a:t>
            </a:r>
            <a:endParaRPr lang="en-US" sz="1700" dirty="0"/>
          </a:p>
        </p:txBody>
      </p:sp>
      <p:sp>
        <p:nvSpPr>
          <p:cNvPr id="13" name="Text 11"/>
          <p:cNvSpPr/>
          <p:nvPr/>
        </p:nvSpPr>
        <p:spPr>
          <a:xfrm>
            <a:off x="4654296" y="3547872"/>
            <a:ext cx="2871216" cy="1188720"/>
          </a:xfrm>
          <a:prstGeom prst="rect">
            <a:avLst/>
          </a:prstGeom>
          <a:noFill/>
          <a:ln/>
        </p:spPr>
        <p:txBody>
          <a:bodyPr wrap="square" lIns="0" tIns="0" rIns="0" bIns="0" rtlCol="0" anchor="ctr"/>
          <a:lstStyle/>
          <a:p>
            <a:pPr indent="0" marL="0">
              <a:lnSpc>
                <a:spcPts val="1600"/>
              </a:lnSpc>
              <a:buNone/>
            </a:pPr>
            <a:r>
              <a:rPr lang="en-US" sz="1150" dirty="0">
                <a:solidFill>
                  <a:srgbClr val="A9C9CE"/>
                </a:solidFill>
                <a:latin typeface="Calibri" pitchFamily="34" charset="0"/>
                <a:ea typeface="Calibri" pitchFamily="34" charset="-122"/>
                <a:cs typeface="Calibri" pitchFamily="34" charset="-120"/>
              </a:rPr>
              <a:t>4,040 saw the banner and did nothing. Push already converts this exact segment at 87.2% versus 30.9% — but only 78 have ever received one.</a:t>
            </a:r>
            <a:endParaRPr lang="en-US" sz="1150" dirty="0"/>
          </a:p>
        </p:txBody>
      </p:sp>
      <p:sp>
        <p:nvSpPr>
          <p:cNvPr id="14" name="Shape 12"/>
          <p:cNvSpPr/>
          <p:nvPr/>
        </p:nvSpPr>
        <p:spPr>
          <a:xfrm>
            <a:off x="8138160" y="1828800"/>
            <a:ext cx="3474720" cy="3200400"/>
          </a:xfrm>
          <a:prstGeom prst="roundRect">
            <a:avLst>
              <a:gd name="adj" fmla="val 2857"/>
            </a:avLst>
          </a:prstGeom>
          <a:solidFill>
            <a:srgbClr val="143A45"/>
          </a:solidFill>
          <a:ln w="12700">
            <a:solidFill>
              <a:srgbClr val="1E4A56"/>
            </a:solidFill>
            <a:prstDash val="solid"/>
          </a:ln>
        </p:spPr>
      </p:sp>
      <p:sp>
        <p:nvSpPr>
          <p:cNvPr id="15" name="Shape 13"/>
          <p:cNvSpPr/>
          <p:nvPr/>
        </p:nvSpPr>
        <p:spPr>
          <a:xfrm>
            <a:off x="8449056" y="2121408"/>
            <a:ext cx="566928" cy="566928"/>
          </a:xfrm>
          <a:prstGeom prst="ellipse">
            <a:avLst/>
          </a:prstGeom>
          <a:solidFill>
            <a:srgbClr val="A9C9CE"/>
          </a:solidFill>
          <a:ln w="12700">
            <a:solidFill>
              <a:srgbClr val="A9C9CE"/>
            </a:solidFill>
            <a:prstDash val="solid"/>
          </a:ln>
        </p:spPr>
      </p:sp>
      <p:sp>
        <p:nvSpPr>
          <p:cNvPr id="16" name="Text 14"/>
          <p:cNvSpPr/>
          <p:nvPr/>
        </p:nvSpPr>
        <p:spPr>
          <a:xfrm>
            <a:off x="8449056" y="2121408"/>
            <a:ext cx="566928" cy="566928"/>
          </a:xfrm>
          <a:prstGeom prst="rect">
            <a:avLst/>
          </a:prstGeom>
          <a:noFill/>
          <a:ln/>
        </p:spPr>
        <p:txBody>
          <a:bodyPr wrap="square" lIns="0" tIns="0" rIns="0" bIns="0" rtlCol="0" anchor="ctr"/>
          <a:lstStyle/>
          <a:p>
            <a:pPr algn="ctr" indent="0" marL="0">
              <a:buNone/>
            </a:pPr>
            <a:r>
              <a:rPr lang="en-US" sz="1600" b="1" dirty="0">
                <a:solidFill>
                  <a:srgbClr val="0C2B33"/>
                </a:solidFill>
                <a:latin typeface="Cambria" pitchFamily="34" charset="0"/>
                <a:ea typeface="Cambria" pitchFamily="34" charset="-122"/>
                <a:cs typeface="Cambria" pitchFamily="34" charset="-120"/>
              </a:rPr>
              <a:t>03</a:t>
            </a:r>
            <a:endParaRPr lang="en-US" sz="1600" dirty="0"/>
          </a:p>
        </p:txBody>
      </p:sp>
      <p:sp>
        <p:nvSpPr>
          <p:cNvPr id="17" name="Text 15"/>
          <p:cNvSpPr/>
          <p:nvPr/>
        </p:nvSpPr>
        <p:spPr>
          <a:xfrm>
            <a:off x="8449056" y="2798064"/>
            <a:ext cx="2871216" cy="713232"/>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Protect what works for Existing</a:t>
            </a:r>
            <a:endParaRPr lang="en-US" sz="1700" dirty="0"/>
          </a:p>
        </p:txBody>
      </p:sp>
      <p:sp>
        <p:nvSpPr>
          <p:cNvPr id="18" name="Text 16"/>
          <p:cNvSpPr/>
          <p:nvPr/>
        </p:nvSpPr>
        <p:spPr>
          <a:xfrm>
            <a:off x="8449056" y="3547872"/>
            <a:ext cx="2871216" cy="1188720"/>
          </a:xfrm>
          <a:prstGeom prst="rect">
            <a:avLst/>
          </a:prstGeom>
          <a:noFill/>
          <a:ln/>
        </p:spPr>
        <p:txBody>
          <a:bodyPr wrap="square" lIns="0" tIns="0" rIns="0" bIns="0" rtlCol="0" anchor="ctr"/>
          <a:lstStyle/>
          <a:p>
            <a:pPr indent="0" marL="0">
              <a:lnSpc>
                <a:spcPts val="1600"/>
              </a:lnSpc>
              <a:buNone/>
            </a:pPr>
            <a:r>
              <a:rPr lang="en-US" sz="1150" dirty="0">
                <a:solidFill>
                  <a:srgbClr val="A9C9CE"/>
                </a:solidFill>
                <a:latin typeface="Calibri" pitchFamily="34" charset="0"/>
                <a:ea typeface="Calibri" pitchFamily="34" charset="-122"/>
                <a:cs typeface="Calibri" pitchFamily="34" charset="-120"/>
              </a:rPr>
              <a:t>97.1% reach and a 50.9% click rate on banner alone, with no push at all. Treat it as the benchmark and the holdout, not a target for more spend.</a:t>
            </a:r>
            <a:endParaRPr lang="en-US" sz="1150" dirty="0"/>
          </a:p>
        </p:txBody>
      </p:sp>
      <p:sp>
        <p:nvSpPr>
          <p:cNvPr id="19" name="Shape 17"/>
          <p:cNvSpPr/>
          <p:nvPr/>
        </p:nvSpPr>
        <p:spPr>
          <a:xfrm>
            <a:off x="548640" y="5394960"/>
            <a:ext cx="11064240" cy="749808"/>
          </a:xfrm>
          <a:prstGeom prst="roundRect">
            <a:avLst>
              <a:gd name="adj" fmla="val 12195"/>
            </a:avLst>
          </a:prstGeom>
          <a:solidFill>
            <a:srgbClr val="0F343E"/>
          </a:solidFill>
          <a:ln w="12700">
            <a:solidFill>
              <a:srgbClr val="1E4A56"/>
            </a:solidFill>
            <a:prstDash val="solid"/>
          </a:ln>
        </p:spPr>
      </p:sp>
      <p:sp>
        <p:nvSpPr>
          <p:cNvPr id="20" name="Text 18"/>
          <p:cNvSpPr/>
          <p:nvPr/>
        </p:nvSpPr>
        <p:spPr>
          <a:xfrm>
            <a:off x="914400" y="5394960"/>
            <a:ext cx="10332720" cy="7498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Conversion is the constraint, not coverage — and the best channel has reached only 78 people.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Funnel Summary</dc:title>
  <dc:subject>PptxGenJS Presentation</dc:subject>
  <dc:creator>Analytics</dc:creator>
  <cp:lastModifiedBy>Analytics</cp:lastModifiedBy>
  <cp:revision>1</cp:revision>
  <dcterms:created xsi:type="dcterms:W3CDTF">2026-08-18T04:04:04Z</dcterms:created>
  <dcterms:modified xsi:type="dcterms:W3CDTF">2026-08-18T04:04:04Z</dcterms:modified>
</cp:coreProperties>
</file>
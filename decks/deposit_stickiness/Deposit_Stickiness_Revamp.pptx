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3c752cf-d507-749c-2552-e99833d6828c}">
          <p14:sldIdLst>
            <p14:sldId id="256"/>
            <p14:sldId id="257"/>
          </p14:sldIdLst>
        </p14:section>
        <p14:section name="Segmentation concept" id="{5b14781b-ec00-f7a8-9467-f30bba62f94f}">
          <p14:sldIdLst>
            <p14:sldId id="258"/>
            <p14:sldId id="259"/>
            <p14:sldId id="260"/>
            <p14:sldId id="261"/>
          </p14:sldIdLst>
        </p14:section>
        <p14:section name="October validation" id="{13848fd7-0864-0f3a-0e51-70aba2d64085}">
          <p14:sldIdLst>
            <p14:sldId id="262"/>
            <p14:sldId id="263"/>
            <p14:sldId id="264"/>
          </p14:sldIdLst>
        </p14:section>
        <p14:section name="Implications" id="{ea8695da-fb1c-bb31-502e-5de315fea977}">
          <p14:sldIdLst>
            <p14:sldId id="265"/>
          </p14:sldIdLst>
        </p14:section>
        <p14:section name="Appendix" id="{adb00a3b-b777-a56a-0681-35975912fefd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balance (THB k)</c:v>
                </c:pt>
              </c:strCache>
            </c:strRef>
          </c:tx>
          <c:spPr>
            <a:solidFill>
              <a:srgbClr val="4A7FC1"/>
            </a:solidFill>
            <a:effectLst/>
          </c:spPr>
          <c:invertIfNegative val="0"/>
          <c:dLbls>
            <c:numFmt formatCode="&quot;THB &quot;0&quot;k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A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7F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F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1F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Jul (M1)</c:v>
                  </c:pt>
                  <c:pt idx="1">
                    <c:v>Aug (M2)</c:v>
                  </c:pt>
                  <c:pt idx="2">
                    <c:v>Sep (M3)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52</c:v>
                </c:pt>
                <c:pt idx="2">
                  <c:v>40</c:v>
                </c:pt>
              </c:numCache>
            </c:numRef>
          </c:val>
        </c:ser>
        <c:dLbls>
          <c:numFmt formatCode="&quot;THB &quot;0&quot;k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E2A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runoff</c:v>
                </c:pt>
              </c:strCache>
            </c:strRef>
          </c:tx>
          <c:spPr>
            <a:solidFill>
              <a:srgbClr val="0E8A85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A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A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A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1F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1F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D1D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D1D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Increase</c:v>
                  </c:pt>
                  <c:pt idx="1">
                    <c:v>Stable</c:v>
                  </c:pt>
                  <c:pt idx="2">
                    <c:v>Mixed</c:v>
                  </c:pt>
                  <c:pt idx="3">
                    <c:v>Decrease</c:v>
                  </c:pt>
                  <c:pt idx="4">
                    <c:v>New</c:v>
                  </c:pt>
                  <c:pt idx="5">
                    <c:v>Low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0.076</c:v>
                </c:pt>
                <c:pt idx="1">
                  <c:v>0.223</c:v>
                </c:pt>
                <c:pt idx="2">
                  <c:v>0.357</c:v>
                </c:pt>
                <c:pt idx="3">
                  <c:v>0.335</c:v>
                </c:pt>
                <c:pt idx="4">
                  <c:v>0.095</c:v>
                </c:pt>
                <c:pt idx="5">
                  <c:v>0.171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1E2A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E8A85"/>
            </a:solidFill>
            <a:effectLst/>
          </c:spPr>
          <c:invertIfNegative val="0"/>
          <c:dLbls>
            <c:numFmt formatCode="[&lt;0.05]&quot;&quot;;0%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Increase</c:v>
                  </c:pt>
                  <c:pt idx="1">
                    <c:v>Stable</c:v>
                  </c:pt>
                  <c:pt idx="2">
                    <c:v>Mixed</c:v>
                  </c:pt>
                  <c:pt idx="3">
                    <c:v>Decrease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0.04</c:v>
                </c:pt>
                <c:pt idx="2">
                  <c:v>0.21</c:v>
                </c:pt>
                <c:pt idx="3">
                  <c:v>0.13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Stable</c:v>
                </c:pt>
              </c:strCache>
            </c:strRef>
          </c:tx>
          <c:spPr>
            <a:solidFill>
              <a:srgbClr val="6B7A8F"/>
            </a:solidFill>
            <a:effectLst/>
          </c:spPr>
          <c:invertIfNegative val="0"/>
          <c:dLbls>
            <c:numFmt formatCode="[&lt;0.05]&quot;&quot;;0%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Increase</c:v>
                  </c:pt>
                  <c:pt idx="1">
                    <c:v>Stable</c:v>
                  </c:pt>
                  <c:pt idx="2">
                    <c:v>Mixed</c:v>
                  </c:pt>
                  <c:pt idx="3">
                    <c:v>Decrease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0.48</c:v>
                </c:pt>
                <c:pt idx="1">
                  <c:v>0.72</c:v>
                </c:pt>
                <c:pt idx="2">
                  <c:v>0.3</c:v>
                </c:pt>
                <c:pt idx="3">
                  <c:v>0.51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 / depleted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[&lt;0.05]&quot;&quot;;0%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Increase</c:v>
                  </c:pt>
                  <c:pt idx="1">
                    <c:v>Stable</c:v>
                  </c:pt>
                  <c:pt idx="2">
                    <c:v>Mixed</c:v>
                  </c:pt>
                  <c:pt idx="3">
                    <c:v>Decrease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0.34</c:v>
                </c:pt>
                <c:pt idx="1">
                  <c:v>0.24</c:v>
                </c:pt>
                <c:pt idx="2">
                  <c:v>0.49</c:v>
                </c:pt>
                <c:pt idx="3">
                  <c:v>0.36</c:v>
                </c:pt>
              </c:numCache>
            </c:numRef>
          </c:val>
        </c:ser>
        <c:dLbls>
          <c:numFmt formatCode="[&lt;0.05]&quot;&quot;;0%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A3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E8A85"/>
            </a:solidFill>
            <a:effectLst/>
          </c:spPr>
          <c:invertIfNegative val="0"/>
          <c:dLbls>
            <c:numFmt formatCode="[&lt;0.05]&quot;&quot;;0%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Increase</c:v>
                  </c:pt>
                  <c:pt idx="1">
                    <c:v>Stable</c:v>
                  </c:pt>
                  <c:pt idx="2">
                    <c:v>Mixed</c:v>
                  </c:pt>
                  <c:pt idx="3">
                    <c:v>Decrease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</c:v>
                </c:pt>
                <c:pt idx="1">
                  <c:v>0.03</c:v>
                </c:pt>
                <c:pt idx="2">
                  <c:v>0.15</c:v>
                </c:pt>
                <c:pt idx="3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Stable</c:v>
                </c:pt>
              </c:strCache>
            </c:strRef>
          </c:tx>
          <c:spPr>
            <a:solidFill>
              <a:srgbClr val="6B7A8F"/>
            </a:solidFill>
            <a:effectLst/>
          </c:spPr>
          <c:invertIfNegative val="0"/>
          <c:dLbls>
            <c:numFmt formatCode="[&lt;0.05]&quot;&quot;;0%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Increase</c:v>
                  </c:pt>
                  <c:pt idx="1">
                    <c:v>Stable</c:v>
                  </c:pt>
                  <c:pt idx="2">
                    <c:v>Mixed</c:v>
                  </c:pt>
                  <c:pt idx="3">
                    <c:v>Decrease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0.74</c:v>
                </c:pt>
                <c:pt idx="1">
                  <c:v>0.71</c:v>
                </c:pt>
                <c:pt idx="2">
                  <c:v>0.3</c:v>
                </c:pt>
                <c:pt idx="3">
                  <c:v>0.39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 / depleted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[&lt;0.05]&quot;&quot;;0%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Increase</c:v>
                  </c:pt>
                  <c:pt idx="1">
                    <c:v>Stable</c:v>
                  </c:pt>
                  <c:pt idx="2">
                    <c:v>Mixed</c:v>
                  </c:pt>
                  <c:pt idx="3">
                    <c:v>Decrease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0.26</c:v>
                </c:pt>
                <c:pt idx="2">
                  <c:v>0.55</c:v>
                </c:pt>
                <c:pt idx="3">
                  <c:v>0.51</c:v>
                </c:pt>
              </c:numCache>
            </c:numRef>
          </c:val>
        </c:ser>
        <c:dLbls>
          <c:numFmt formatCode="[&lt;0.05]&quot;&quot;;0%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A3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E8A85"/>
            </a:solidFill>
            <a:effectLst/>
          </c:spPr>
          <c:invertIfNegative val="0"/>
          <c:dLbls>
            <c:numFmt formatCode="[&lt;0.05]&quot;&quot;;0%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New (1,301.7k)</c:v>
                  </c:pt>
                  <c:pt idx="1">
                    <c:v>Zero (51.9k)</c:v>
                  </c:pt>
                  <c:pt idx="2">
                    <c:v>Low (40.8k)</c:v>
                  </c:pt>
                  <c:pt idx="3">
                    <c:v>Increase (15.0k)</c:v>
                  </c:pt>
                  <c:pt idx="4">
                    <c:v>Stable (29.8k)</c:v>
                  </c:pt>
                  <c:pt idx="5">
                    <c:v>Mixed (4.3k)</c:v>
                  </c:pt>
                  <c:pt idx="6">
                    <c:v>Decrease (5.6k)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</c:v>
                </c:pt>
                <c:pt idx="1">
                  <c:v>0.01</c:v>
                </c:pt>
                <c:pt idx="2">
                  <c:v>0.04</c:v>
                </c:pt>
                <c:pt idx="3">
                  <c:v>0.18</c:v>
                </c:pt>
                <c:pt idx="4">
                  <c:v>0.04</c:v>
                </c:pt>
                <c:pt idx="5">
                  <c:v>0.21</c:v>
                </c:pt>
                <c:pt idx="6">
                  <c:v>0.13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Stable</c:v>
                </c:pt>
              </c:strCache>
            </c:strRef>
          </c:tx>
          <c:spPr>
            <a:solidFill>
              <a:srgbClr val="6B7A8F"/>
            </a:solidFill>
            <a:effectLst/>
          </c:spPr>
          <c:invertIfNegative val="0"/>
          <c:dLbls>
            <c:numFmt formatCode="[&lt;0.05]&quot;&quot;;0%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New (1,301.7k)</c:v>
                  </c:pt>
                  <c:pt idx="1">
                    <c:v>Zero (51.9k)</c:v>
                  </c:pt>
                  <c:pt idx="2">
                    <c:v>Low (40.8k)</c:v>
                  </c:pt>
                  <c:pt idx="3">
                    <c:v>Increase (15.0k)</c:v>
                  </c:pt>
                  <c:pt idx="4">
                    <c:v>Stable (29.8k)</c:v>
                  </c:pt>
                  <c:pt idx="5">
                    <c:v>Mixed (4.3k)</c:v>
                  </c:pt>
                  <c:pt idx="6">
                    <c:v>Decrease (5.6k)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0.03</c:v>
                </c:pt>
                <c:pt idx="1">
                  <c:v>0.01</c:v>
                </c:pt>
                <c:pt idx="2">
                  <c:v>0.05</c:v>
                </c:pt>
                <c:pt idx="3">
                  <c:v>0.48</c:v>
                </c:pt>
                <c:pt idx="4">
                  <c:v>0.72</c:v>
                </c:pt>
                <c:pt idx="5">
                  <c:v>0.3</c:v>
                </c:pt>
                <c:pt idx="6">
                  <c:v>0.51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 / depleted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[&lt;0.05]&quot;&quot;;0%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New (1,301.7k)</c:v>
                  </c:pt>
                  <c:pt idx="1">
                    <c:v>Zero (51.9k)</c:v>
                  </c:pt>
                  <c:pt idx="2">
                    <c:v>Low (40.8k)</c:v>
                  </c:pt>
                  <c:pt idx="3">
                    <c:v>Increase (15.0k)</c:v>
                  </c:pt>
                  <c:pt idx="4">
                    <c:v>Stable (29.8k)</c:v>
                  </c:pt>
                  <c:pt idx="5">
                    <c:v>Mixed (4.3k)</c:v>
                  </c:pt>
                  <c:pt idx="6">
                    <c:v>Decrease (5.6k)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0.96</c:v>
                </c:pt>
                <c:pt idx="1">
                  <c:v>0.98</c:v>
                </c:pt>
                <c:pt idx="2">
                  <c:v>0.91</c:v>
                </c:pt>
                <c:pt idx="3">
                  <c:v>0.34</c:v>
                </c:pt>
                <c:pt idx="4">
                  <c:v>0.24</c:v>
                </c:pt>
                <c:pt idx="5">
                  <c:v>0.49</c:v>
                </c:pt>
                <c:pt idx="6">
                  <c:v>0.36</c:v>
                </c:pt>
              </c:numCache>
            </c:numRef>
          </c:val>
        </c:ser>
        <c:dLbls>
          <c:numFmt formatCode="[&lt;0.05]&quot;&quot;;0%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A3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102412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25196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1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DEPOSIT STICKINESS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months of balance behavior tells us which deposits will stay — and which will run off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251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Segmentation concept (Jul–Sep) and October validation across 1.45m CLICX customers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Conceptual framework · thresholds subject to recalibration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Behavior-based segments separate sticky deposits from runoff risk; most customers, however, still need activation</a:t>
            </a:r>
            <a:endParaRPr lang="en-US" sz="2400" dirty="0"/>
          </a:p>
        </p:txBody>
      </p:sp>
      <p:sp>
        <p:nvSpPr>
          <p:cNvPr id="4" name="exec-num-1"/>
          <p:cNvSpPr/>
          <p:nvPr/>
        </p:nvSpPr>
        <p:spPr>
          <a:xfrm>
            <a:off x="548640" y="1801368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approach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73736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customer is assigned one segment at end-Sep from Jul–Sep monthly average balances, then frozen and tested against end-Oct balances.</a:t>
            </a:r>
            <a:endParaRPr lang="en-US" sz="1400" dirty="0"/>
          </a:p>
        </p:txBody>
      </p:sp>
      <p:sp>
        <p:nvSpPr>
          <p:cNvPr id="8" name="exec-sep-1"/>
          <p:cNvSpPr/>
          <p:nvPr/>
        </p:nvSpPr>
        <p:spPr>
          <a:xfrm>
            <a:off x="1188720" y="2487168"/>
            <a:ext cx="104241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exec-num-2"/>
          <p:cNvSpPr/>
          <p:nvPr/>
        </p:nvSpPr>
        <p:spPr>
          <a:xfrm>
            <a:off x="548640" y="2670048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Where customers sit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60604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96% of customers fall into priority segments (New, Zero, Low); the 3.8% with a full funded history hold 51% of balances (THB 3.0bn of 5.85bn).</a:t>
            </a:r>
            <a:endParaRPr lang="en-US" sz="1400" dirty="0"/>
          </a:p>
        </p:txBody>
      </p:sp>
      <p:sp>
        <p:nvSpPr>
          <p:cNvPr id="13" name="exec-sep-2"/>
          <p:cNvSpPr/>
          <p:nvPr/>
        </p:nvSpPr>
        <p:spPr>
          <a:xfrm>
            <a:off x="1188720" y="3355848"/>
            <a:ext cx="104241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exec-num-3"/>
          <p:cNvSpPr/>
          <p:nvPr/>
        </p:nvSpPr>
        <p:spPr>
          <a:xfrm>
            <a:off x="548640" y="353872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20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It predicts runoff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47472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Mixed (35.7%) and Decrease (33.5%) lose balances at ~4.5× the rate of Increase (7.6%) — the segmentation ranks risk correctly.</a:t>
            </a:r>
            <a:endParaRPr lang="en-US" sz="1400" dirty="0"/>
          </a:p>
        </p:txBody>
      </p:sp>
      <p:sp>
        <p:nvSpPr>
          <p:cNvPr id="18" name="exec-sep-3"/>
          <p:cNvSpPr/>
          <p:nvPr/>
        </p:nvSpPr>
        <p:spPr>
          <a:xfrm>
            <a:off x="1188720" y="4224528"/>
            <a:ext cx="104241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exec-num-4"/>
          <p:cNvSpPr/>
          <p:nvPr/>
        </p:nvSpPr>
        <p:spPr>
          <a:xfrm>
            <a:off x="548640" y="4407408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407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389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Stable and Increase are the core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34340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72% of Stable customers stayed within band; 85% of Increase-segment balances stayed or grew in October.</a:t>
            </a:r>
            <a:endParaRPr lang="en-US" sz="1400" dirty="0"/>
          </a:p>
        </p:txBody>
      </p:sp>
      <p:sp>
        <p:nvSpPr>
          <p:cNvPr id="23" name="exec-sep-4"/>
          <p:cNvSpPr/>
          <p:nvPr/>
        </p:nvSpPr>
        <p:spPr>
          <a:xfrm>
            <a:off x="1188720" y="5093208"/>
            <a:ext cx="104241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4" name="exec-num-5"/>
          <p:cNvSpPr/>
          <p:nvPr/>
        </p:nvSpPr>
        <p:spPr>
          <a:xfrm>
            <a:off x="548640" y="5276088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276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Activation is the bigger gap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52120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95% of New customers remain at ≤THB 100 — a funding-activation issue, not a retention signal.</a:t>
            </a:r>
            <a:endParaRPr lang="en-US" sz="1400" dirty="0"/>
          </a:p>
        </p:txBody>
      </p:sp>
      <p:sp>
        <p:nvSpPr>
          <p:cNvPr id="28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CONCEPT | APPROACH ON A PAGE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Stickiness is inferred from three months of behavior, frozen in September, then checked against October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Monthly average balance is used for segmentation; M3 (Sep) end balance is the baseline for end-Oct validation.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Observation window — builds the segment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Validation window</a:t>
            </a:r>
            <a:endParaRPr lang="en-US" sz="1200" dirty="0"/>
          </a:p>
        </p:txBody>
      </p:sp>
      <p:sp>
        <p:nvSpPr>
          <p:cNvPr id="7" name="tl-M1"/>
          <p:cNvSpPr/>
          <p:nvPr/>
        </p:nvSpPr>
        <p:spPr>
          <a:xfrm>
            <a:off x="548640" y="2240280"/>
            <a:ext cx="2606040" cy="777240"/>
          </a:xfrm>
          <a:prstGeom prst="rect">
            <a:avLst/>
          </a:prstGeom>
          <a:solidFill>
            <a:srgbClr val="E4ECF7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M1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July</a:t>
            </a:r>
            <a:endParaRPr lang="en-US" sz="1400" dirty="0"/>
          </a:p>
        </p:txBody>
      </p:sp>
      <p:sp>
        <p:nvSpPr>
          <p:cNvPr id="9" name="tl-M2"/>
          <p:cNvSpPr/>
          <p:nvPr/>
        </p:nvSpPr>
        <p:spPr>
          <a:xfrm>
            <a:off x="3246120" y="2240280"/>
            <a:ext cx="2606040" cy="777240"/>
          </a:xfrm>
          <a:prstGeom prst="rect">
            <a:avLst/>
          </a:prstGeom>
          <a:solidFill>
            <a:srgbClr val="E4ECF7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M2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August</a:t>
            </a:r>
            <a:endParaRPr lang="en-US" sz="1400" dirty="0"/>
          </a:p>
        </p:txBody>
      </p:sp>
      <p:sp>
        <p:nvSpPr>
          <p:cNvPr id="11" name="tl-M3"/>
          <p:cNvSpPr/>
          <p:nvPr/>
        </p:nvSpPr>
        <p:spPr>
          <a:xfrm>
            <a:off x="5943600" y="2240280"/>
            <a:ext cx="260604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M3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September</a:t>
            </a:r>
            <a:endParaRPr lang="en-US" sz="1400" dirty="0"/>
          </a:p>
        </p:txBody>
      </p:sp>
      <p:sp>
        <p:nvSpPr>
          <p:cNvPr id="13" name="tl-oct"/>
          <p:cNvSpPr/>
          <p:nvPr/>
        </p:nvSpPr>
        <p:spPr>
          <a:xfrm>
            <a:off x="8732520" y="2240280"/>
            <a:ext cx="2907792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2240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October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end balance</a:t>
            </a:r>
            <a:endParaRPr lang="en-US" sz="1400" dirty="0"/>
          </a:p>
        </p:txBody>
      </p:sp>
      <p:sp>
        <p:nvSpPr>
          <p:cNvPr id="15" name="freeze-marker"/>
          <p:cNvSpPr/>
          <p:nvPr/>
        </p:nvSpPr>
        <p:spPr>
          <a:xfrm>
            <a:off x="8476488" y="2441448"/>
            <a:ext cx="365760" cy="365760"/>
          </a:xfrm>
          <a:prstGeom prst="diamond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3108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Segment frozen at 30 Sep — never recalculated with October data</a:t>
            </a:r>
            <a:endParaRPr lang="en-US" sz="1100" dirty="0"/>
          </a:p>
        </p:txBody>
      </p:sp>
      <p:sp>
        <p:nvSpPr>
          <p:cNvPr id="17" name="step-card-1"/>
          <p:cNvSpPr/>
          <p:nvPr/>
        </p:nvSpPr>
        <p:spPr>
          <a:xfrm>
            <a:off x="548640" y="3611880"/>
            <a:ext cx="361188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step-icon-bg-1"/>
          <p:cNvSpPr/>
          <p:nvPr/>
        </p:nvSpPr>
        <p:spPr>
          <a:xfrm>
            <a:off x="822960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step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02336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  Observe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177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total CLICX balance for Jul, Aug, Sep (M1–M3)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monthly averages to remove payday and one-day transaction noise</a:t>
            </a:r>
            <a:endParaRPr lang="en-US" sz="1400" dirty="0"/>
          </a:p>
        </p:txBody>
      </p:sp>
      <p:sp>
        <p:nvSpPr>
          <p:cNvPr id="22" name="step-card-2"/>
          <p:cNvSpPr/>
          <p:nvPr/>
        </p:nvSpPr>
        <p:spPr>
          <a:xfrm>
            <a:off x="4283964" y="3611880"/>
            <a:ext cx="361188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step-icon-bg-2"/>
          <p:cNvSpPr/>
          <p:nvPr/>
        </p:nvSpPr>
        <p:spPr>
          <a:xfrm>
            <a:off x="4558284" y="3886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4" name="step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402336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89804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  Assign one segment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4558284" y="46177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Apply 7 segments in priority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History first, then current balance, then 3-month direction</a:t>
            </a:r>
            <a:endParaRPr lang="en-US" sz="1400" dirty="0"/>
          </a:p>
        </p:txBody>
      </p:sp>
      <p:sp>
        <p:nvSpPr>
          <p:cNvPr id="27" name="step-card-3"/>
          <p:cNvSpPr/>
          <p:nvPr/>
        </p:nvSpPr>
        <p:spPr>
          <a:xfrm>
            <a:off x="8019288" y="3611880"/>
            <a:ext cx="361188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step-icon-bg-3"/>
          <p:cNvSpPr/>
          <p:nvPr/>
        </p:nvSpPr>
        <p:spPr>
          <a:xfrm>
            <a:off x="8293608" y="3886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step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402336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25128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  Validate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293608" y="46177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Sep end balance with Oct end balance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Success = Stable / Increase retain better; Decrease / Zero run off more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CONCEPT | WHAT COUNTS AS A REAL MOVE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balance only “moves” if it changes by more than 10% or THB 1,000, whichever is larger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Illustrative customer; figures are monthly average balances in THB. Threshold is applied to each month-on-month change separately.</a:t>
            </a:r>
            <a:endParaRPr lang="en-US" sz="900" dirty="0"/>
          </a:p>
        </p:txBody>
      </p:sp>
      <p:sp>
        <p:nvSpPr>
          <p:cNvPr id="5" name="rule-box"/>
          <p:cNvSpPr/>
          <p:nvPr/>
        </p:nvSpPr>
        <p:spPr>
          <a:xfrm>
            <a:off x="548640" y="1691640"/>
            <a:ext cx="4937760" cy="1417320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THE RULE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move counts if the change is greater than max (10% × prior-month balance, THB 1,000)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Threshold by prior-month balance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Prior-month balance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THB 5,000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A85"/>
                          </a:solidFill>
                        </a:rPr>
                        <a:t>± 1,000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Floor applies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THB 10,000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A85"/>
                          </a:solidFill>
                        </a:rPr>
                        <a:t>± 1,000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10% = floor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THB 50,000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A85"/>
                          </a:solidFill>
                        </a:rPr>
                        <a:t>± 5,000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10% applies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THB 100,000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A85"/>
                          </a:solidFill>
                        </a:rPr>
                        <a:t>± 10,000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10% applies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035040" y="16916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Worked example: how one customer gets a segment</a:t>
            </a:r>
            <a:endParaRPr lang="en-US" sz="1300" dirty="0"/>
          </a:p>
        </p:txBody>
      </p:sp>
      <p:graphicFrame>
        <p:nvGraphicFramePr>
          <p:cNvPr id="11" name="example-chart" descr=""/>
          <p:cNvGraphicFramePr/>
          <p:nvPr/>
        </p:nvGraphicFramePr>
        <p:xfrm>
          <a:off x="6035040" y="2011680"/>
          <a:ext cx="55778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xample-step-1"/>
          <p:cNvSpPr/>
          <p:nvPr/>
        </p:nvSpPr>
        <p:spPr>
          <a:xfrm>
            <a:off x="6035040" y="4160520"/>
            <a:ext cx="269748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1792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Jul → Aug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4526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+2.0k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within ± 5.0k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21792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→ Stable</a:t>
            </a:r>
            <a:endParaRPr lang="en-US" sz="1300" dirty="0"/>
          </a:p>
        </p:txBody>
      </p:sp>
      <p:sp>
        <p:nvSpPr>
          <p:cNvPr id="16" name="example-step-2"/>
          <p:cNvSpPr/>
          <p:nvPr/>
        </p:nvSpPr>
        <p:spPr>
          <a:xfrm>
            <a:off x="8869680" y="4160520"/>
            <a:ext cx="269748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5256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Aug → Sep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052560" y="4526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–12.0k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beyond ± 5.2k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05256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→ Decrease</a:t>
            </a:r>
            <a:endParaRPr lang="en-US" sz="1300" dirty="0"/>
          </a:p>
        </p:txBody>
      </p:sp>
      <p:sp>
        <p:nvSpPr>
          <p:cNvPr id="20" name="example-result"/>
          <p:cNvSpPr/>
          <p:nvPr/>
        </p:nvSpPr>
        <p:spPr>
          <a:xfrm>
            <a:off x="6035040" y="5257800"/>
            <a:ext cx="553212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63640" y="5257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Result: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Stable → Decrease  =  Segment 5 “Decrease”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CONCEPT | SEVEN SEGMENTS, ASSIGNED IN PRIORITY ORDER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checks route 96% of customers to activation segments; the 4% with full history hold half of balances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Customer counts and balances as of 30 Sep. Behavioral segments require an account opened on or before 1 Jul and Sep end balance &gt; THB 100.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Segment and rule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4652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Customers, 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Sep balance, THB m</a:t>
            </a:r>
            <a:endParaRPr lang="en-US" sz="1200" dirty="0"/>
          </a:p>
        </p:txBody>
      </p:sp>
      <p:sp>
        <p:nvSpPr>
          <p:cNvPr id="8" name="ladder-num-1"/>
          <p:cNvSpPr/>
          <p:nvPr/>
        </p:nvSpPr>
        <p:spPr>
          <a:xfrm>
            <a:off x="1280160" y="2057400"/>
            <a:ext cx="347472" cy="347472"/>
          </a:xfrm>
          <a:prstGeom prst="ellipse">
            <a:avLst/>
          </a:prstGeom>
          <a:solidFill>
            <a:srgbClr val="6B7A8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19842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New customer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2402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Opened after 1 Jul (&lt;3 months history)</a:t>
            </a:r>
            <a:endParaRPr lang="en-US" sz="1100" dirty="0"/>
          </a:p>
        </p:txBody>
      </p:sp>
      <p:sp>
        <p:nvSpPr>
          <p:cNvPr id="12" name="cust-bar-1"/>
          <p:cNvSpPr/>
          <p:nvPr/>
        </p:nvSpPr>
        <p:spPr>
          <a:xfrm>
            <a:off x="6446520" y="2075688"/>
            <a:ext cx="1737360" cy="310896"/>
          </a:xfrm>
          <a:prstGeom prst="rect">
            <a:avLst/>
          </a:prstGeom>
          <a:solidFill>
            <a:srgbClr val="C9D1DB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57032" y="20756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1,301.7</a:t>
            </a:r>
            <a:endParaRPr lang="en-US" sz="1200" dirty="0"/>
          </a:p>
        </p:txBody>
      </p:sp>
      <p:sp>
        <p:nvSpPr>
          <p:cNvPr id="14" name="bal-bar-1"/>
          <p:cNvSpPr/>
          <p:nvPr/>
        </p:nvSpPr>
        <p:spPr>
          <a:xfrm>
            <a:off x="9144000" y="2075688"/>
            <a:ext cx="1920240" cy="310896"/>
          </a:xfrm>
          <a:prstGeom prst="rect">
            <a:avLst/>
          </a:prstGeom>
          <a:solidFill>
            <a:srgbClr val="C9D1DB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137392" y="207568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2,853</a:t>
            </a:r>
            <a:endParaRPr lang="en-US" sz="1200" dirty="0"/>
          </a:p>
        </p:txBody>
      </p:sp>
      <p:sp>
        <p:nvSpPr>
          <p:cNvPr id="16" name="ladder-num-2"/>
          <p:cNvSpPr/>
          <p:nvPr/>
        </p:nvSpPr>
        <p:spPr>
          <a:xfrm>
            <a:off x="1280160" y="2560320"/>
            <a:ext cx="347472" cy="347472"/>
          </a:xfrm>
          <a:prstGeom prst="ellipse">
            <a:avLst/>
          </a:prstGeom>
          <a:solidFill>
            <a:srgbClr val="6B7A8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8016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24871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Zero balance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2743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Sep end balance = THB 0</a:t>
            </a:r>
            <a:endParaRPr lang="en-US" sz="1100" dirty="0"/>
          </a:p>
        </p:txBody>
      </p:sp>
      <p:sp>
        <p:nvSpPr>
          <p:cNvPr id="20" name="cust-bar-2"/>
          <p:cNvSpPr/>
          <p:nvPr/>
        </p:nvSpPr>
        <p:spPr>
          <a:xfrm>
            <a:off x="6446520" y="2578608"/>
            <a:ext cx="69270" cy="310896"/>
          </a:xfrm>
          <a:prstGeom prst="rect">
            <a:avLst/>
          </a:prstGeom>
          <a:solidFill>
            <a:srgbClr val="C9D1DB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8942" y="257860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51.9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5786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</a:t>
            </a:r>
            <a:endParaRPr lang="en-US" sz="1200" dirty="0"/>
          </a:p>
        </p:txBody>
      </p:sp>
      <p:sp>
        <p:nvSpPr>
          <p:cNvPr id="23" name="ladder-num-3"/>
          <p:cNvSpPr/>
          <p:nvPr/>
        </p:nvSpPr>
        <p:spPr>
          <a:xfrm>
            <a:off x="1280160" y="3063240"/>
            <a:ext cx="347472" cy="347472"/>
          </a:xfrm>
          <a:prstGeom prst="ellipse">
            <a:avLst/>
          </a:prstGeom>
          <a:solidFill>
            <a:srgbClr val="6B7A8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8016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29900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Low balance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783080" y="32461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Sep end balance &gt; 0 and ≤ THB 100</a:t>
            </a:r>
            <a:endParaRPr lang="en-US" sz="1100" dirty="0"/>
          </a:p>
        </p:txBody>
      </p:sp>
      <p:sp>
        <p:nvSpPr>
          <p:cNvPr id="27" name="cust-bar-3"/>
          <p:cNvSpPr/>
          <p:nvPr/>
        </p:nvSpPr>
        <p:spPr>
          <a:xfrm>
            <a:off x="6446520" y="3081528"/>
            <a:ext cx="54455" cy="310896"/>
          </a:xfrm>
          <a:prstGeom prst="rect">
            <a:avLst/>
          </a:prstGeom>
          <a:solidFill>
            <a:srgbClr val="C9D1DB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74127" y="30815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40.8</a:t>
            </a:r>
            <a:endParaRPr lang="en-US" sz="1200" dirty="0"/>
          </a:p>
        </p:txBody>
      </p:sp>
      <p:sp>
        <p:nvSpPr>
          <p:cNvPr id="29" name="bal-bar-3"/>
          <p:cNvSpPr/>
          <p:nvPr/>
        </p:nvSpPr>
        <p:spPr>
          <a:xfrm>
            <a:off x="9144000" y="3081528"/>
            <a:ext cx="23043" cy="310896"/>
          </a:xfrm>
          <a:prstGeom prst="rect">
            <a:avLst/>
          </a:prstGeom>
          <a:solidFill>
            <a:srgbClr val="C9D1DB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40195" y="30815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0.6</a:t>
            </a:r>
            <a:endParaRPr lang="en-US" sz="1200" dirty="0"/>
          </a:p>
        </p:txBody>
      </p:sp>
      <p:sp>
        <p:nvSpPr>
          <p:cNvPr id="31" name="ladder-num-4"/>
          <p:cNvSpPr/>
          <p:nvPr/>
        </p:nvSpPr>
        <p:spPr>
          <a:xfrm>
            <a:off x="1280160" y="3749040"/>
            <a:ext cx="347472" cy="347472"/>
          </a:xfrm>
          <a:prstGeom prst="ellipse">
            <a:avLst/>
          </a:prstGeom>
          <a:solidFill>
            <a:srgbClr val="0E8A85"/>
          </a:solidFill>
          <a:ln w="12700">
            <a:solidFill>
              <a:srgbClr val="0E8A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8016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783080" y="36758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Increase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783080" y="39319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Rising across M1→M2→M3, never falling</a:t>
            </a:r>
            <a:endParaRPr lang="en-US" sz="1100" dirty="0"/>
          </a:p>
        </p:txBody>
      </p:sp>
      <p:sp>
        <p:nvSpPr>
          <p:cNvPr id="35" name="cust-bar-4"/>
          <p:cNvSpPr/>
          <p:nvPr/>
        </p:nvSpPr>
        <p:spPr>
          <a:xfrm>
            <a:off x="6446520" y="3767328"/>
            <a:ext cx="20848" cy="310896"/>
          </a:xfrm>
          <a:prstGeom prst="rect">
            <a:avLst/>
          </a:prstGeom>
          <a:solidFill>
            <a:srgbClr val="0E8A8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40520" y="37673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15.0</a:t>
            </a:r>
            <a:endParaRPr lang="en-US" sz="1200" dirty="0"/>
          </a:p>
        </p:txBody>
      </p:sp>
      <p:sp>
        <p:nvSpPr>
          <p:cNvPr id="37" name="bal-bar-4"/>
          <p:cNvSpPr/>
          <p:nvPr/>
        </p:nvSpPr>
        <p:spPr>
          <a:xfrm>
            <a:off x="9144000" y="3767328"/>
            <a:ext cx="1731783" cy="310896"/>
          </a:xfrm>
          <a:prstGeom prst="rect">
            <a:avLst/>
          </a:prstGeom>
          <a:solidFill>
            <a:srgbClr val="0E8A8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948935" y="37673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2,573</a:t>
            </a:r>
            <a:endParaRPr lang="en-US" sz="1200" dirty="0"/>
          </a:p>
        </p:txBody>
      </p:sp>
      <p:sp>
        <p:nvSpPr>
          <p:cNvPr id="39" name="ladder-num-6"/>
          <p:cNvSpPr/>
          <p:nvPr/>
        </p:nvSpPr>
        <p:spPr>
          <a:xfrm>
            <a:off x="1280160" y="4251960"/>
            <a:ext cx="347472" cy="347472"/>
          </a:xfrm>
          <a:prstGeom prst="ellipse">
            <a:avLst/>
          </a:prstGeom>
          <a:solidFill>
            <a:srgbClr val="6B7A8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8016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783080" y="4178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Stable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783080" y="44348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Both monthly moves within threshold</a:t>
            </a:r>
            <a:endParaRPr lang="en-US" sz="1100" dirty="0"/>
          </a:p>
        </p:txBody>
      </p:sp>
      <p:sp>
        <p:nvSpPr>
          <p:cNvPr id="43" name="cust-bar-6"/>
          <p:cNvSpPr/>
          <p:nvPr/>
        </p:nvSpPr>
        <p:spPr>
          <a:xfrm>
            <a:off x="6446520" y="4270248"/>
            <a:ext cx="39774" cy="310896"/>
          </a:xfrm>
          <a:prstGeom prst="rect">
            <a:avLst/>
          </a:prstGeom>
          <a:solidFill>
            <a:srgbClr val="6B7A8F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59446" y="42702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29.8</a:t>
            </a:r>
            <a:endParaRPr lang="en-US" sz="1200" dirty="0"/>
          </a:p>
        </p:txBody>
      </p:sp>
      <p:sp>
        <p:nvSpPr>
          <p:cNvPr id="45" name="bal-bar-6"/>
          <p:cNvSpPr/>
          <p:nvPr/>
        </p:nvSpPr>
        <p:spPr>
          <a:xfrm>
            <a:off x="9144000" y="4270248"/>
            <a:ext cx="199899" cy="310896"/>
          </a:xfrm>
          <a:prstGeom prst="rect">
            <a:avLst/>
          </a:prstGeom>
          <a:solidFill>
            <a:srgbClr val="6B7A8F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417051" y="4270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297</a:t>
            </a:r>
            <a:endParaRPr lang="en-US" sz="1200" dirty="0"/>
          </a:p>
        </p:txBody>
      </p:sp>
      <p:sp>
        <p:nvSpPr>
          <p:cNvPr id="47" name="ladder-num-7"/>
          <p:cNvSpPr/>
          <p:nvPr/>
        </p:nvSpPr>
        <p:spPr>
          <a:xfrm>
            <a:off x="1280160" y="4754880"/>
            <a:ext cx="347472" cy="347472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280160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783080" y="46817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Mixed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783080" y="49377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Direction reverses (up then down, or down then up)</a:t>
            </a:r>
            <a:endParaRPr lang="en-US" sz="1100" dirty="0"/>
          </a:p>
        </p:txBody>
      </p:sp>
      <p:sp>
        <p:nvSpPr>
          <p:cNvPr id="51" name="cust-bar-7"/>
          <p:cNvSpPr/>
          <p:nvPr/>
        </p:nvSpPr>
        <p:spPr>
          <a:xfrm>
            <a:off x="6446520" y="4773168"/>
            <a:ext cx="20848" cy="310896"/>
          </a:xfrm>
          <a:prstGeom prst="rect">
            <a:avLst/>
          </a:prstGeom>
          <a:solidFill>
            <a:srgbClr val="4A7FC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40520" y="47731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4.3</a:t>
            </a:r>
            <a:endParaRPr lang="en-US" sz="1200" dirty="0"/>
          </a:p>
        </p:txBody>
      </p:sp>
      <p:sp>
        <p:nvSpPr>
          <p:cNvPr id="53" name="bal-bar-7"/>
          <p:cNvSpPr/>
          <p:nvPr/>
        </p:nvSpPr>
        <p:spPr>
          <a:xfrm>
            <a:off x="9144000" y="4773168"/>
            <a:ext cx="57883" cy="310896"/>
          </a:xfrm>
          <a:prstGeom prst="rect">
            <a:avLst/>
          </a:prstGeom>
          <a:solidFill>
            <a:srgbClr val="4A7FC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275035" y="4773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86</a:t>
            </a:r>
            <a:endParaRPr lang="en-US" sz="1200" dirty="0"/>
          </a:p>
        </p:txBody>
      </p:sp>
      <p:sp>
        <p:nvSpPr>
          <p:cNvPr id="55" name="ladder-num-5"/>
          <p:cNvSpPr/>
          <p:nvPr/>
        </p:nvSpPr>
        <p:spPr>
          <a:xfrm>
            <a:off x="1280160" y="5257800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280160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1783080" y="51846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Decrease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1783080" y="54406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Falling across M1→M2→M3, never rising</a:t>
            </a:r>
            <a:endParaRPr lang="en-US" sz="1100" dirty="0"/>
          </a:p>
        </p:txBody>
      </p:sp>
      <p:sp>
        <p:nvSpPr>
          <p:cNvPr id="59" name="cust-bar-5"/>
          <p:cNvSpPr/>
          <p:nvPr/>
        </p:nvSpPr>
        <p:spPr>
          <a:xfrm>
            <a:off x="6446520" y="5276088"/>
            <a:ext cx="20848" cy="310896"/>
          </a:xfrm>
          <a:prstGeom prst="rect">
            <a:avLst/>
          </a:prstGeom>
          <a:solidFill>
            <a:srgbClr val="0B1F3A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540520" y="52760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5.6</a:t>
            </a:r>
            <a:endParaRPr lang="en-US" sz="1200" dirty="0"/>
          </a:p>
        </p:txBody>
      </p:sp>
      <p:sp>
        <p:nvSpPr>
          <p:cNvPr id="61" name="bal-bar-5"/>
          <p:cNvSpPr/>
          <p:nvPr/>
        </p:nvSpPr>
        <p:spPr>
          <a:xfrm>
            <a:off x="9144000" y="5276088"/>
            <a:ext cx="28942" cy="310896"/>
          </a:xfrm>
          <a:prstGeom prst="rect">
            <a:avLst/>
          </a:prstGeom>
          <a:solidFill>
            <a:srgbClr val="0B1F3A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246094" y="527608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43</a:t>
            </a:r>
            <a:endParaRPr lang="en-US" sz="1200" dirty="0"/>
          </a:p>
        </p:txBody>
      </p:sp>
      <p:sp>
        <p:nvSpPr>
          <p:cNvPr id="63" name="group-priority"/>
          <p:cNvSpPr/>
          <p:nvPr/>
        </p:nvSpPr>
        <p:spPr>
          <a:xfrm>
            <a:off x="548640" y="1965960"/>
            <a:ext cx="548640" cy="1463040"/>
          </a:xfrm>
          <a:prstGeom prst="rect">
            <a:avLst/>
          </a:prstGeom>
          <a:solidFill>
            <a:srgbClr val="EEF1F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8640" y="1965960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Priority checks</a:t>
            </a:r>
            <a:endParaRPr lang="en-US" sz="1000" dirty="0"/>
          </a:p>
        </p:txBody>
      </p:sp>
      <p:sp>
        <p:nvSpPr>
          <p:cNvPr id="65" name="group-behavior"/>
          <p:cNvSpPr/>
          <p:nvPr/>
        </p:nvSpPr>
        <p:spPr>
          <a:xfrm>
            <a:off x="548640" y="3657600"/>
            <a:ext cx="548640" cy="1965960"/>
          </a:xfrm>
          <a:prstGeom prst="rect">
            <a:avLst/>
          </a:prstGeom>
          <a:solidFill>
            <a:srgbClr val="E3F3F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8640" y="3657600"/>
            <a:ext cx="548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3-month behavior</a:t>
            </a:r>
            <a:endParaRPr lang="en-US" sz="1000" dirty="0"/>
          </a:p>
        </p:txBody>
      </p:sp>
      <p:sp>
        <p:nvSpPr>
          <p:cNvPr id="67" name="totals-strip"/>
          <p:cNvSpPr/>
          <p:nvPr/>
        </p:nvSpPr>
        <p:spPr>
          <a:xfrm>
            <a:off x="1280160" y="5742432"/>
            <a:ext cx="10332720" cy="384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463040" y="57424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Priority 1–3: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1,394k customers (96%) · THB 2.85bn (49%)    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Behavioral 4–7: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55k customers (4%) · THB 3.00bn (51%)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CONCEPT | BEHAVIORAL SEGMENTS 4–7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funded customers, the two monthly moves combine into four behavior patterns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Move = change in monthly average balance beyond ± max(10% × prior-month balance, THB 1,000). Original segment numbers retained.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600200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Second move: Aug → Sep (M2 → M3)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36576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First move: Jul → Aug (M1 → M2)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470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Decrease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8470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18470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Increase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103120"/>
            <a:ext cx="1051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Decrease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64992"/>
            <a:ext cx="1051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Stable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626864"/>
            <a:ext cx="1051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Increase</a:t>
            </a:r>
            <a:endParaRPr lang="en-US" sz="1200" dirty="0"/>
          </a:p>
        </p:txBody>
      </p:sp>
      <p:sp>
        <p:nvSpPr>
          <p:cNvPr id="13" name="cell-0-0"/>
          <p:cNvSpPr/>
          <p:nvPr/>
        </p:nvSpPr>
        <p:spPr>
          <a:xfrm>
            <a:off x="2194560" y="2148840"/>
            <a:ext cx="2240280" cy="1170432"/>
          </a:xfrm>
          <a:prstGeom prst="rect">
            <a:avLst/>
          </a:prstGeom>
          <a:solidFill>
            <a:srgbClr val="DCE2EB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4" name="spark-0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258568"/>
            <a:ext cx="1097280" cy="51206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331720" y="2862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5  Decrease</a:t>
            </a:r>
            <a:endParaRPr lang="en-US" sz="1500" dirty="0"/>
          </a:p>
        </p:txBody>
      </p:sp>
      <p:sp>
        <p:nvSpPr>
          <p:cNvPr id="16" name="cell-0-1"/>
          <p:cNvSpPr/>
          <p:nvPr/>
        </p:nvSpPr>
        <p:spPr>
          <a:xfrm>
            <a:off x="4526280" y="2148840"/>
            <a:ext cx="2240280" cy="1170432"/>
          </a:xfrm>
          <a:prstGeom prst="rect">
            <a:avLst/>
          </a:prstGeom>
          <a:solidFill>
            <a:srgbClr val="DCE2EB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7" name="spark-0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58568"/>
            <a:ext cx="1097280" cy="51206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63440" y="2862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5  Decrease</a:t>
            </a:r>
            <a:endParaRPr lang="en-US" sz="1500" dirty="0"/>
          </a:p>
        </p:txBody>
      </p:sp>
      <p:sp>
        <p:nvSpPr>
          <p:cNvPr id="19" name="cell-0-2"/>
          <p:cNvSpPr/>
          <p:nvPr/>
        </p:nvSpPr>
        <p:spPr>
          <a:xfrm>
            <a:off x="6858000" y="2148840"/>
            <a:ext cx="2240280" cy="1170432"/>
          </a:xfrm>
          <a:prstGeom prst="rect">
            <a:avLst/>
          </a:prstGeom>
          <a:solidFill>
            <a:srgbClr val="E4ECF7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0" name="spark-0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258568"/>
            <a:ext cx="1097280" cy="5120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95160" y="2862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8C"/>
                </a:solidFill>
              </a:rPr>
              <a:t>7  Mixed</a:t>
            </a:r>
            <a:endParaRPr lang="en-US" sz="1500" dirty="0"/>
          </a:p>
        </p:txBody>
      </p:sp>
      <p:sp>
        <p:nvSpPr>
          <p:cNvPr id="22" name="cell-1-0"/>
          <p:cNvSpPr/>
          <p:nvPr/>
        </p:nvSpPr>
        <p:spPr>
          <a:xfrm>
            <a:off x="2194560" y="3410712"/>
            <a:ext cx="2240280" cy="1170432"/>
          </a:xfrm>
          <a:prstGeom prst="rect">
            <a:avLst/>
          </a:prstGeom>
          <a:solidFill>
            <a:srgbClr val="DCE2EB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3" name="spark-1-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3520440"/>
            <a:ext cx="1097280" cy="5120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331720" y="4123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5  Decrease</a:t>
            </a:r>
            <a:endParaRPr lang="en-US" sz="1500" dirty="0"/>
          </a:p>
        </p:txBody>
      </p:sp>
      <p:sp>
        <p:nvSpPr>
          <p:cNvPr id="25" name="cell-1-1"/>
          <p:cNvSpPr/>
          <p:nvPr/>
        </p:nvSpPr>
        <p:spPr>
          <a:xfrm>
            <a:off x="4526280" y="3410712"/>
            <a:ext cx="2240280" cy="1170432"/>
          </a:xfrm>
          <a:prstGeom prst="rect">
            <a:avLst/>
          </a:prstGeom>
          <a:solidFill>
            <a:srgbClr val="EEF1F4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6" name="spark-1-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520440"/>
            <a:ext cx="1097280" cy="5120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63440" y="4123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7A8F"/>
                </a:solidFill>
              </a:rPr>
              <a:t>6  Stable</a:t>
            </a:r>
            <a:endParaRPr lang="en-US" sz="1500" dirty="0"/>
          </a:p>
        </p:txBody>
      </p:sp>
      <p:sp>
        <p:nvSpPr>
          <p:cNvPr id="28" name="cell-1-2"/>
          <p:cNvSpPr/>
          <p:nvPr/>
        </p:nvSpPr>
        <p:spPr>
          <a:xfrm>
            <a:off x="6858000" y="3410712"/>
            <a:ext cx="2240280" cy="1170432"/>
          </a:xfrm>
          <a:prstGeom prst="rect">
            <a:avLst/>
          </a:prstGeom>
          <a:solidFill>
            <a:srgbClr val="E3F3F2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9" name="spark-1-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3520440"/>
            <a:ext cx="1097280" cy="51206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995160" y="4123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8A85"/>
                </a:solidFill>
              </a:rPr>
              <a:t>4  Increase</a:t>
            </a:r>
            <a:endParaRPr lang="en-US" sz="1500" dirty="0"/>
          </a:p>
        </p:txBody>
      </p:sp>
      <p:sp>
        <p:nvSpPr>
          <p:cNvPr id="31" name="cell-2-0"/>
          <p:cNvSpPr/>
          <p:nvPr/>
        </p:nvSpPr>
        <p:spPr>
          <a:xfrm>
            <a:off x="2194560" y="4672584"/>
            <a:ext cx="2240280" cy="1170432"/>
          </a:xfrm>
          <a:prstGeom prst="rect">
            <a:avLst/>
          </a:prstGeom>
          <a:solidFill>
            <a:srgbClr val="E4ECF7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2" name="spark-2-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1720" y="4782312"/>
            <a:ext cx="1097280" cy="51206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331720" y="53858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8C"/>
                </a:solidFill>
              </a:rPr>
              <a:t>7  Mixed</a:t>
            </a:r>
            <a:endParaRPr lang="en-US" sz="1500" dirty="0"/>
          </a:p>
        </p:txBody>
      </p:sp>
      <p:sp>
        <p:nvSpPr>
          <p:cNvPr id="34" name="cell-2-1"/>
          <p:cNvSpPr/>
          <p:nvPr/>
        </p:nvSpPr>
        <p:spPr>
          <a:xfrm>
            <a:off x="4526280" y="4672584"/>
            <a:ext cx="2240280" cy="1170432"/>
          </a:xfrm>
          <a:prstGeom prst="rect">
            <a:avLst/>
          </a:prstGeom>
          <a:solidFill>
            <a:srgbClr val="E3F3F2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5" name="spark-2-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4782312"/>
            <a:ext cx="1097280" cy="51206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663440" y="53858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8A85"/>
                </a:solidFill>
              </a:rPr>
              <a:t>4  Increase</a:t>
            </a:r>
            <a:endParaRPr lang="en-US" sz="1500" dirty="0"/>
          </a:p>
        </p:txBody>
      </p:sp>
      <p:sp>
        <p:nvSpPr>
          <p:cNvPr id="37" name="cell-2-2"/>
          <p:cNvSpPr/>
          <p:nvPr/>
        </p:nvSpPr>
        <p:spPr>
          <a:xfrm>
            <a:off x="6858000" y="4672584"/>
            <a:ext cx="2240280" cy="1170432"/>
          </a:xfrm>
          <a:prstGeom prst="rect">
            <a:avLst/>
          </a:prstGeom>
          <a:solidFill>
            <a:srgbClr val="E3F3F2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8" name="spark-2-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4782312"/>
            <a:ext cx="1097280" cy="51206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995160" y="53858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8A85"/>
                </a:solidFill>
              </a:rPr>
              <a:t>4  Increase</a:t>
            </a:r>
            <a:endParaRPr lang="en-US" sz="1500" dirty="0"/>
          </a:p>
        </p:txBody>
      </p:sp>
      <p:sp>
        <p:nvSpPr>
          <p:cNvPr id="40" name="Text 29"/>
          <p:cNvSpPr txBox="1"/>
          <p:nvPr/>
        </p:nvSpPr>
        <p:spPr>
          <a:xfrm>
            <a:off x="93268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How to read it</a:t>
            </a:r>
            <a:endParaRPr lang="en-US" sz="1300" dirty="0"/>
          </a:p>
        </p:txBody>
      </p:sp>
      <p:sp>
        <p:nvSpPr>
          <p:cNvPr id="41" name="legend-dot-0"/>
          <p:cNvSpPr/>
          <p:nvPr/>
        </p:nvSpPr>
        <p:spPr>
          <a:xfrm>
            <a:off x="9326880" y="2112264"/>
            <a:ext cx="182880" cy="182880"/>
          </a:xfrm>
          <a:prstGeom prst="ellipse">
            <a:avLst/>
          </a:prstGeom>
          <a:solidFill>
            <a:srgbClr val="0E8A85"/>
          </a:solidFill>
          <a:ln w="12700">
            <a:solidFill>
              <a:srgbClr val="0E8A85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96012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Increase</a:t>
            </a:r>
            <a:endParaRPr lang="en-US" sz="1400" dirty="0"/>
          </a:p>
        </p:txBody>
      </p:sp>
      <p:sp>
        <p:nvSpPr>
          <p:cNvPr id="43" name="Text 32"/>
          <p:cNvSpPr txBox="1"/>
          <p:nvPr/>
        </p:nvSpPr>
        <p:spPr>
          <a:xfrm>
            <a:off x="9601200" y="23500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Grew at least once and never fell</a:t>
            </a:r>
            <a:endParaRPr lang="en-US" sz="1200" dirty="0"/>
          </a:p>
        </p:txBody>
      </p:sp>
      <p:sp>
        <p:nvSpPr>
          <p:cNvPr id="44" name="legend-dot-1"/>
          <p:cNvSpPr/>
          <p:nvPr/>
        </p:nvSpPr>
        <p:spPr>
          <a:xfrm>
            <a:off x="9326880" y="3072384"/>
            <a:ext cx="182880" cy="182880"/>
          </a:xfrm>
          <a:prstGeom prst="ellipse">
            <a:avLst/>
          </a:prstGeom>
          <a:solidFill>
            <a:srgbClr val="6B7A8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960120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Stable</a:t>
            </a:r>
            <a:endParaRPr lang="en-US" sz="1400" dirty="0"/>
          </a:p>
        </p:txBody>
      </p:sp>
      <p:sp>
        <p:nvSpPr>
          <p:cNvPr id="46" name="Text 35"/>
          <p:cNvSpPr txBox="1"/>
          <p:nvPr/>
        </p:nvSpPr>
        <p:spPr>
          <a:xfrm>
            <a:off x="9601200" y="33101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meaningful move in either month</a:t>
            </a:r>
            <a:endParaRPr lang="en-US" sz="1200" dirty="0"/>
          </a:p>
        </p:txBody>
      </p:sp>
      <p:sp>
        <p:nvSpPr>
          <p:cNvPr id="47" name="legend-dot-2"/>
          <p:cNvSpPr/>
          <p:nvPr/>
        </p:nvSpPr>
        <p:spPr>
          <a:xfrm>
            <a:off x="9326880" y="4032504"/>
            <a:ext cx="182880" cy="182880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960120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Mixed</a:t>
            </a:r>
            <a:endParaRPr lang="en-US" sz="1400" dirty="0"/>
          </a:p>
        </p:txBody>
      </p:sp>
      <p:sp>
        <p:nvSpPr>
          <p:cNvPr id="49" name="Text 38"/>
          <p:cNvSpPr txBox="1"/>
          <p:nvPr/>
        </p:nvSpPr>
        <p:spPr>
          <a:xfrm>
            <a:off x="9601200" y="42702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Direction reversed — up then down, or down then up</a:t>
            </a:r>
            <a:endParaRPr lang="en-US" sz="1200" dirty="0"/>
          </a:p>
        </p:txBody>
      </p:sp>
      <p:sp>
        <p:nvSpPr>
          <p:cNvPr id="50" name="legend-dot-3"/>
          <p:cNvSpPr/>
          <p:nvPr/>
        </p:nvSpPr>
        <p:spPr>
          <a:xfrm>
            <a:off x="9326880" y="4992624"/>
            <a:ext cx="182880" cy="1828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9601200" y="4937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Decrease</a:t>
            </a:r>
            <a:endParaRPr lang="en-US" sz="1400" dirty="0"/>
          </a:p>
        </p:txBody>
      </p:sp>
      <p:sp>
        <p:nvSpPr>
          <p:cNvPr id="52" name="Text 41"/>
          <p:cNvSpPr txBox="1"/>
          <p:nvPr/>
        </p:nvSpPr>
        <p:spPr>
          <a:xfrm>
            <a:off x="9601200" y="52303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Fell at least once and never rose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VALIDATION | GROSS RUNOFF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and Decrease segments ran off ~4.5x faster than Increase — the segmentation ranks risk correctly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Gross runoff = sum of customer-level balance declines Sep → Oct ÷ 30 Sep segment balance. Zero balance excluded (Sep base = 0). October data as supplied.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Gross runoff rate, Sep → Oct, % of 30 Sep segment balance</a:t>
            </a:r>
            <a:endParaRPr lang="en-US" sz="1300" dirty="0"/>
          </a:p>
        </p:txBody>
      </p:sp>
      <p:graphicFrame>
        <p:nvGraphicFramePr>
          <p:cNvPr id="6" name="runoff-chart" descr=""/>
          <p:cNvGraphicFramePr/>
          <p:nvPr/>
        </p:nvGraphicFramePr>
        <p:xfrm>
          <a:off x="548640" y="196596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llout-multiple"/>
          <p:cNvSpPr/>
          <p:nvPr/>
        </p:nvSpPr>
        <p:spPr>
          <a:xfrm>
            <a:off x="8778240" y="1691640"/>
            <a:ext cx="2834640" cy="2057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00684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4.7×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2697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Mixed runoff (35.7%) vs Increase (7.6%); Decrease is 4.4×</a:t>
            </a:r>
            <a:endParaRPr lang="en-US" sz="1300" dirty="0"/>
          </a:p>
        </p:txBody>
      </p:sp>
      <p:sp>
        <p:nvSpPr>
          <p:cNvPr id="10" name="callout-thb"/>
          <p:cNvSpPr/>
          <p:nvPr/>
        </p:nvSpPr>
        <p:spPr>
          <a:xfrm>
            <a:off x="8778240" y="3931920"/>
            <a:ext cx="283464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06840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THB runoff in October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43434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Increase  THB 195.6m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Stable  THB 66.3m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Mixed  THB 30.6m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Decrease  THB 14.4m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760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Largest absolute runoff sits in the large Increase book, even at the lowest rate.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VALIDATION | FUNDED CUSTOMERS (SEGMENTS 4–7)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Among 54.6k funded customers, Mixed deteriorated most — 49% of customers and 55% of balances declined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Outcome based on October end balance vs September end balance. Decreased / depleted includes October Decrease, Zero and Low balance outcomes.</a:t>
            </a:r>
            <a:endParaRPr lang="en-US" sz="900" dirty="0"/>
          </a:p>
        </p:txBody>
      </p:sp>
      <p:sp>
        <p:nvSpPr>
          <p:cNvPr id="5" name="kpi-beh-1"/>
          <p:cNvSpPr/>
          <p:nvPr/>
        </p:nvSpPr>
        <p:spPr>
          <a:xfrm>
            <a:off x="548640" y="1600200"/>
            <a:ext cx="2633472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10.2%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134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Increased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786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+THB 221m added</a:t>
            </a:r>
            <a:endParaRPr lang="en-US" sz="1100" dirty="0"/>
          </a:p>
        </p:txBody>
      </p:sp>
      <p:sp>
        <p:nvSpPr>
          <p:cNvPr id="9" name="kpi-beh-2"/>
          <p:cNvSpPr/>
          <p:nvPr/>
        </p:nvSpPr>
        <p:spPr>
          <a:xfrm>
            <a:off x="3364992" y="1600200"/>
            <a:ext cx="2633472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17373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7A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60.1%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3134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Stable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5786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32,804 customers within band</a:t>
            </a:r>
            <a:endParaRPr lang="en-US" sz="1100" dirty="0"/>
          </a:p>
        </p:txBody>
      </p:sp>
      <p:sp>
        <p:nvSpPr>
          <p:cNvPr id="13" name="kpi-beh-3"/>
          <p:cNvSpPr/>
          <p:nvPr/>
        </p:nvSpPr>
        <p:spPr>
          <a:xfrm>
            <a:off x="6181344" y="1600200"/>
            <a:ext cx="2633472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9944" y="17373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29.7%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23134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Decreased / depleted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5786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–THB 294m lost</a:t>
            </a:r>
            <a:endParaRPr lang="en-US" sz="1100" dirty="0"/>
          </a:p>
        </p:txBody>
      </p:sp>
      <p:sp>
        <p:nvSpPr>
          <p:cNvPr id="17" name="kpi-beh-4"/>
          <p:cNvSpPr/>
          <p:nvPr/>
        </p:nvSpPr>
        <p:spPr>
          <a:xfrm>
            <a:off x="8997696" y="1600200"/>
            <a:ext cx="2633472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26296" y="17373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–THB 73m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23134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Net balance change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25786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–2.4% of Sep THB 3.00bn base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154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Share of customers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41071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15.0k · 29.8k · 4.3k · 5.6k customers</a:t>
            </a:r>
            <a:endParaRPr lang="en-US" sz="1000" dirty="0"/>
          </a:p>
        </p:txBody>
      </p:sp>
      <p:graphicFrame>
        <p:nvGraphicFramePr>
          <p:cNvPr id="23" name="mix-chart-1" descr=""/>
          <p:cNvGraphicFramePr/>
          <p:nvPr/>
        </p:nvGraphicFramePr>
        <p:xfrm>
          <a:off x="548640" y="3657600"/>
          <a:ext cx="5394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6263640" y="3154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Share of Sep balance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341071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THB 2,573m · 297m · 86m · 43m</a:t>
            </a:r>
            <a:endParaRPr lang="en-US" sz="1000" dirty="0"/>
          </a:p>
        </p:txBody>
      </p:sp>
      <p:graphicFrame>
        <p:nvGraphicFramePr>
          <p:cNvPr id="26" name="mix-chart-2" descr=""/>
          <p:cNvGraphicFramePr/>
          <p:nvPr/>
        </p:nvGraphicFramePr>
        <p:xfrm>
          <a:off x="6263640" y="3657600"/>
          <a:ext cx="5394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VALIDATION | ALL 1.45M CUSTOMERS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the full base, 93% ended October decreased or depleted — driven by New customers who never funded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Outcome based on October end balance. Decreased / depleted includes October Zero, Low balance and Decrease outcomes. Net change as supplied.</a:t>
            </a:r>
            <a:endParaRPr lang="en-US" sz="900" dirty="0"/>
          </a:p>
        </p:txBody>
      </p:sp>
      <p:graphicFrame>
        <p:nvGraphicFramePr>
          <p:cNvPr id="5" name="full-mix-chart" descr=""/>
          <p:cNvGraphicFramePr/>
          <p:nvPr/>
        </p:nvGraphicFramePr>
        <p:xfrm>
          <a:off x="548640" y="1920240"/>
          <a:ext cx="7223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16002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Oct outcome, % of customers in each Sep segment</a:t>
            </a:r>
            <a:endParaRPr lang="en-US" sz="1300" dirty="0"/>
          </a:p>
        </p:txBody>
      </p:sp>
      <p:sp>
        <p:nvSpPr>
          <p:cNvPr id="7" name="full-kpi-1"/>
          <p:cNvSpPr/>
          <p:nvPr/>
        </p:nvSpPr>
        <p:spPr>
          <a:xfrm>
            <a:off x="8138160" y="1691640"/>
            <a:ext cx="34747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21040" y="18013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 | 5.4% | 93.0%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Increased | Stable | Decreased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Net –THB 6m, –0.1% of Sep THB 5.85bn base</a:t>
            </a:r>
            <a:endParaRPr lang="en-US" sz="1100" dirty="0"/>
          </a:p>
        </p:txBody>
      </p:sp>
      <p:sp>
        <p:nvSpPr>
          <p:cNvPr id="11" name="full-kpi-2"/>
          <p:cNvSpPr/>
          <p:nvPr/>
        </p:nvSpPr>
        <p:spPr>
          <a:xfrm>
            <a:off x="8138160" y="3154680"/>
            <a:ext cx="347472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264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94.9%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of New customers stay ≤ THB 100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1.30m customers need a first funding trigger</a:t>
            </a:r>
            <a:endParaRPr lang="en-US" sz="1100" dirty="0"/>
          </a:p>
        </p:txBody>
      </p:sp>
      <p:sp>
        <p:nvSpPr>
          <p:cNvPr id="15" name="full-kpi-3"/>
          <p:cNvSpPr/>
          <p:nvPr/>
        </p:nvSpPr>
        <p:spPr>
          <a:xfrm>
            <a:off x="8138160" y="4617720"/>
            <a:ext cx="34747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47274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of New-customer balances held stable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The few who fund behave like core customers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IMPLICATIONS | PROPOSED NEXT STEPS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segment group calls for a different action: retain, protect or activate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Proposed actions for discussion. Customer counts and balances as of 30 Sep.</a:t>
            </a:r>
            <a:endParaRPr lang="en-US" sz="900" dirty="0"/>
          </a:p>
        </p:txBody>
      </p:sp>
      <p:sp>
        <p:nvSpPr>
          <p:cNvPr id="5" name="impl-card-1"/>
          <p:cNvSpPr/>
          <p:nvPr/>
        </p:nvSpPr>
        <p:spPr>
          <a:xfrm>
            <a:off x="548640" y="1691640"/>
            <a:ext cx="3611880" cy="3611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impl-icon-bg-1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pl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295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Mixed + Decrease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9.8k customers · THB 129m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63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34–36% gross runoff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204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Early-warning list from the Sep segment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Targeted retention offers before balances fall further</a:t>
            </a:r>
            <a:endParaRPr lang="en-US" sz="1400" dirty="0"/>
          </a:p>
        </p:txBody>
      </p:sp>
      <p:sp>
        <p:nvSpPr>
          <p:cNvPr id="13" name="impl-card-2"/>
          <p:cNvSpPr/>
          <p:nvPr/>
        </p:nvSpPr>
        <p:spPr>
          <a:xfrm>
            <a:off x="4283964" y="1691640"/>
            <a:ext cx="3611880" cy="3611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impl-icon-bg-2"/>
          <p:cNvSpPr/>
          <p:nvPr/>
        </p:nvSpPr>
        <p:spPr>
          <a:xfrm>
            <a:off x="4558284" y="1965960"/>
            <a:ext cx="594360" cy="594360"/>
          </a:xfrm>
          <a:prstGeom prst="ellipse">
            <a:avLst/>
          </a:prstGeom>
          <a:solidFill>
            <a:srgbClr val="0E8A85"/>
          </a:solidFill>
          <a:ln w="12700">
            <a:solidFill>
              <a:srgbClr val="0E8A85"/>
            </a:solidFill>
            <a:prstDash val="solid"/>
          </a:ln>
        </p:spPr>
      </p:sp>
      <p:pic>
        <p:nvPicPr>
          <p:cNvPr id="15" name="impl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211226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35524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5335524" y="2295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8A85"/>
                </a:solidFill>
              </a:rPr>
              <a:t>Increase + Stable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558284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44.8k customers · THB 2.87bn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58284" y="3063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8–22% gross runoff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558284" y="35204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the core book sticky; watch large Increase balances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 Stable customers drifting to Decrease</a:t>
            </a:r>
            <a:endParaRPr lang="en-US" sz="1400" dirty="0"/>
          </a:p>
        </p:txBody>
      </p:sp>
      <p:sp>
        <p:nvSpPr>
          <p:cNvPr id="21" name="impl-card-3"/>
          <p:cNvSpPr/>
          <p:nvPr/>
        </p:nvSpPr>
        <p:spPr>
          <a:xfrm>
            <a:off x="8019288" y="1691640"/>
            <a:ext cx="3611880" cy="3611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impl-icon-bg-3"/>
          <p:cNvSpPr/>
          <p:nvPr/>
        </p:nvSpPr>
        <p:spPr>
          <a:xfrm>
            <a:off x="8293608" y="1965960"/>
            <a:ext cx="594360" cy="594360"/>
          </a:xfrm>
          <a:prstGeom prst="ellipse">
            <a:avLst/>
          </a:prstGeom>
          <a:solidFill>
            <a:srgbClr val="6B7A8F"/>
          </a:solidFill>
          <a:ln w="12700">
            <a:solidFill>
              <a:srgbClr val="6B7A8F"/>
            </a:solidFill>
            <a:prstDash val="solid"/>
          </a:ln>
        </p:spPr>
      </p:sp>
      <p:pic>
        <p:nvPicPr>
          <p:cNvPr id="23" name="impl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112264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070848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Activate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9070848" y="2295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New + Zero + Low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293608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1.39m customers · THB 2.85bn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293608" y="3063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91–98% unfunded or depleted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8293608" y="35204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Funding-activation journeys for new accounts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Re-score once 3 months of history exist</a:t>
            </a:r>
            <a:endParaRPr lang="en-US" sz="1400" dirty="0"/>
          </a:p>
        </p:txBody>
      </p:sp>
      <p:sp>
        <p:nvSpPr>
          <p:cNvPr id="29" name="refine-strip"/>
          <p:cNvSpPr/>
          <p:nvPr/>
        </p:nvSpPr>
        <p:spPr>
          <a:xfrm>
            <a:off x="548640" y="5486400"/>
            <a:ext cx="11082528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refine-icon-bg"/>
          <p:cNvSpPr/>
          <p:nvPr/>
        </p:nvSpPr>
        <p:spPr>
          <a:xfrm>
            <a:off x="777240" y="5577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refine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5701284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554480" y="54864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Refine the model: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recalibrate the 10% / THB 1,000 threshold after reviewing segment distribution, and repeat validation over further months before operational 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APPENDIX | SEGMENT FACT BASE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seven segments at a glance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09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* Low: Sep end balance THB 0.62m → Oct THB 15.61m. Zero end-balance % undefined (Sep = 0). Outcome mix for New, Zero and Low derived from bar lengths in source; may not sum exactly. October data as supplied.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8252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51560"/>
                <a:gridCol w="1234440"/>
                <a:gridCol w="1005840"/>
                <a:gridCol w="1051560"/>
                <a:gridCol w="960120"/>
                <a:gridCol w="1051560"/>
                <a:gridCol w="1069848"/>
                <a:gridCol w="1069848"/>
                <a:gridCol w="112471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Sep segment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Customers, k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Sep balance, THB m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Gross runoff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Runoff, THB m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bal Δ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End bal Δ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Oct: Increase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Oct: Stable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Oct: Decr./depl.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1 New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1,301.7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2,853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9.5%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270.0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8A85"/>
                          </a:solidFill>
                        </a:rPr>
                        <a:t>+5.5%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8A85"/>
                          </a:solidFill>
                        </a:rPr>
                        <a:t>+1.5%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3%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96%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2 Zero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51.9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–79.1%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98%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3 Low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40.8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0.6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17.1%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0.1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–36.1%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8A85"/>
                          </a:solidFill>
                        </a:rPr>
                        <a:t>+2,404%*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4%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5%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91%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4 Increase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15.0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2,573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7.6%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195.6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8A85"/>
                          </a:solidFill>
                        </a:rPr>
                        <a:t>+3.7%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–0.7%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18%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48%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34%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6 Stable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29.8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297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22.3%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66.3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–10.0%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–13.9%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4%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72%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24%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7 Mixed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4.3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86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35.7%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30.6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–4.0%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–9.1%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21%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49%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5 Decrease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5.6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43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33.5%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14.4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–26.4%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–11.4%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13%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51%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</a:rPr>
                        <a:t>36%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1,448.9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5,850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1.5%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5.4%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</a:rPr>
                        <a:t>93.0%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Shaded rows = priority segments (activation focus). Highlighted = highest runoff.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osit Stickiness">
  <a:themeElements>
    <a:clrScheme name="Deposit Stickiness">
      <a:dk1>
        <a:srgbClr val="1E2A38"/>
      </a:dk1>
      <a:lt1>
        <a:srgbClr val="FFFFFF"/>
      </a:lt1>
      <a:dk2>
        <a:srgbClr val="0B1F3A"/>
      </a:dk2>
      <a:lt2>
        <a:srgbClr val="F2F5F8"/>
      </a:lt2>
      <a:accent1>
        <a:srgbClr val="1F4E8C"/>
      </a:accent1>
      <a:accent2>
        <a:srgbClr val="0E8A85"/>
      </a:accent2>
      <a:accent3>
        <a:srgbClr val="6B7A8F"/>
      </a:accent3>
      <a:accent4>
        <a:srgbClr val="4A7FC1"/>
      </a:accent4>
      <a:accent5>
        <a:srgbClr val="C9D1DB"/>
      </a:accent5>
      <a:accent6>
        <a:srgbClr val="A8DCD9"/>
      </a:accent6>
      <a:hlink>
        <a:srgbClr val="1F4E8C"/>
      </a:hlink>
      <a:folHlink>
        <a:srgbClr val="6B7A8F"/>
      </a:folHlink>
    </a:clrScheme>
    <a:fontScheme name="Deposit Stickines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Deposit stickiness segmentation</dc:title>
  <dc:subject>PptxGenJS Presentation</dc:subject>
  <dc:creator>PptxGenJS</dc:creator>
  <cp:lastModifiedBy>PptxGenJS</cp:lastModifiedBy>
  <cp:revision>1</cp:revision>
  <dcterms:created xsi:type="dcterms:W3CDTF">2026-10-30T06:30:55Z</dcterms:created>
  <dcterms:modified xsi:type="dcterms:W3CDTF">2026-10-30T06:30:55Z</dcterms:modified>
</cp:coreProperties>
</file>